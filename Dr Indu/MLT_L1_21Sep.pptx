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704" r:id="rId5"/>
  </p:sldMasterIdLst>
  <p:notesMasterIdLst>
    <p:notesMasterId r:id="rId35"/>
  </p:notesMasterIdLst>
  <p:handoutMasterIdLst>
    <p:handoutMasterId r:id="rId36"/>
  </p:handoutMasterIdLst>
  <p:sldIdLst>
    <p:sldId id="256" r:id="rId6"/>
    <p:sldId id="284" r:id="rId7"/>
    <p:sldId id="257" r:id="rId8"/>
    <p:sldId id="285" r:id="rId9"/>
    <p:sldId id="258" r:id="rId10"/>
    <p:sldId id="259" r:id="rId11"/>
    <p:sldId id="294" r:id="rId12"/>
    <p:sldId id="260" r:id="rId13"/>
    <p:sldId id="262" r:id="rId14"/>
    <p:sldId id="261" r:id="rId15"/>
    <p:sldId id="263" r:id="rId16"/>
    <p:sldId id="267" r:id="rId17"/>
    <p:sldId id="275" r:id="rId18"/>
    <p:sldId id="276" r:id="rId19"/>
    <p:sldId id="277" r:id="rId20"/>
    <p:sldId id="278" r:id="rId21"/>
    <p:sldId id="279" r:id="rId22"/>
    <p:sldId id="286" r:id="rId23"/>
    <p:sldId id="280" r:id="rId24"/>
    <p:sldId id="287" r:id="rId25"/>
    <p:sldId id="282" r:id="rId26"/>
    <p:sldId id="264" r:id="rId27"/>
    <p:sldId id="265" r:id="rId28"/>
    <p:sldId id="266" r:id="rId29"/>
    <p:sldId id="288" r:id="rId30"/>
    <p:sldId id="291" r:id="rId31"/>
    <p:sldId id="290" r:id="rId32"/>
    <p:sldId id="281" r:id="rId33"/>
    <p:sldId id="283" r:id="rId34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7"/>
    </p:embeddedFont>
    <p:embeddedFont>
      <p:font typeface="Helvetica" panose="020B0604020202020204" pitchFamily="34" charset="0"/>
      <p:regular r:id="rId38"/>
      <p:bold r:id="rId39"/>
      <p:italic r:id="rId40"/>
      <p:boldItalic r:id="rId41"/>
    </p:embeddedFont>
    <p:embeddedFont>
      <p:font typeface="Lucida Sans" panose="020B060203050402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84"/>
    <a:srgbClr val="063D5F"/>
    <a:srgbClr val="495961"/>
    <a:srgbClr val="8D3970"/>
    <a:srgbClr val="662953"/>
    <a:srgbClr val="F9FBFF"/>
    <a:srgbClr val="CA287A"/>
    <a:srgbClr val="DE2B32"/>
    <a:srgbClr val="4AAD87"/>
    <a:srgbClr val="AAC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03AB8-7A77-EB40-3C51-BA0C656467CA}" v="154" dt="2026-09-21T10:18:56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3.fntdata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handoutMaster" Target="handoutMasters/handoutMaster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FDFB9A-CD4B-324B-A242-F9B49A97268F}" type="doc">
      <dgm:prSet loTypeId="urn:microsoft.com/office/officeart/2008/layout/VerticalCurvedLis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78359A46-A421-E648-8EBA-5789D88CE224}">
      <dgm:prSet phldrT="[Text]" custT="1"/>
      <dgm:spPr/>
      <dgm:t>
        <a:bodyPr anchor="ctr"/>
        <a:lstStyle/>
        <a:p>
          <a:r>
            <a:rPr lang="en-US" sz="1200">
              <a:latin typeface="+mn-lt"/>
              <a:cs typeface="Helvetica"/>
            </a:rPr>
            <a:t>PhD @ NUS Graduate School of Integrative Sciences and Engineering</a:t>
          </a:r>
          <a:endParaRPr lang="en-GB" sz="1200">
            <a:latin typeface="+mn-lt"/>
            <a:cs typeface="Helvetica"/>
          </a:endParaRPr>
        </a:p>
      </dgm:t>
    </dgm:pt>
    <dgm:pt modelId="{0AFCC76E-66DD-B244-BC55-51FEFD9D41D5}" type="parTrans" cxnId="{4CCDB15C-7EDA-364D-8E6B-19973D071D70}">
      <dgm:prSet/>
      <dgm:spPr/>
      <dgm:t>
        <a:bodyPr/>
        <a:lstStyle/>
        <a:p>
          <a:endParaRPr lang="en-GB"/>
        </a:p>
      </dgm:t>
    </dgm:pt>
    <dgm:pt modelId="{2BD32D47-CD10-D941-A6DF-977E02B391DF}" type="sibTrans" cxnId="{4CCDB15C-7EDA-364D-8E6B-19973D071D70}">
      <dgm:prSet/>
      <dgm:spPr/>
      <dgm:t>
        <a:bodyPr/>
        <a:lstStyle/>
        <a:p>
          <a:endParaRPr lang="en-GB"/>
        </a:p>
      </dgm:t>
    </dgm:pt>
    <dgm:pt modelId="{EB6C568B-71D2-9D45-AAE8-E9130091237F}">
      <dgm:prSet phldrT="[Text]" custT="1"/>
      <dgm:spPr/>
      <dgm:t>
        <a:bodyPr anchor="ctr"/>
        <a:lstStyle/>
        <a:p>
          <a:pPr rtl="0"/>
          <a:r>
            <a:rPr lang="en-US" sz="1000">
              <a:latin typeface="+mn-lt"/>
              <a:cs typeface="Helvetica"/>
            </a:rPr>
            <a:t>Brain-Computer Interfaces</a:t>
          </a:r>
          <a:endParaRPr lang="en-GB" sz="1000">
            <a:latin typeface="+mn-lt"/>
          </a:endParaRPr>
        </a:p>
      </dgm:t>
    </dgm:pt>
    <dgm:pt modelId="{6D5D7641-91D9-AA4F-996F-D3DB0A224D7F}" type="parTrans" cxnId="{78649FB8-5251-F743-8944-6C95C62A9DB1}">
      <dgm:prSet/>
      <dgm:spPr/>
      <dgm:t>
        <a:bodyPr/>
        <a:lstStyle/>
        <a:p>
          <a:endParaRPr lang="en-GB"/>
        </a:p>
      </dgm:t>
    </dgm:pt>
    <dgm:pt modelId="{71C42B7A-919D-104E-9B44-8712E24454D2}" type="sibTrans" cxnId="{78649FB8-5251-F743-8944-6C95C62A9DB1}">
      <dgm:prSet/>
      <dgm:spPr/>
      <dgm:t>
        <a:bodyPr/>
        <a:lstStyle/>
        <a:p>
          <a:endParaRPr lang="en-GB"/>
        </a:p>
      </dgm:t>
    </dgm:pt>
    <dgm:pt modelId="{AD752CE7-76E7-9844-8D68-21842ADE92F2}">
      <dgm:prSet phldrT="[Text]" custT="1"/>
      <dgm:spPr/>
      <dgm:t>
        <a:bodyPr anchor="ctr"/>
        <a:lstStyle/>
        <a:p>
          <a:pPr>
            <a:buNone/>
          </a:pPr>
          <a:r>
            <a:rPr lang="en-US" sz="1100">
              <a:latin typeface="Helvetica"/>
              <a:cs typeface="Helvetica"/>
            </a:rPr>
            <a:t>Post-doc @ School of Computing, NUS</a:t>
          </a:r>
          <a:endParaRPr lang="en-GB" sz="1100">
            <a:latin typeface="Helvetica"/>
            <a:cs typeface="Helvetica"/>
          </a:endParaRPr>
        </a:p>
      </dgm:t>
    </dgm:pt>
    <dgm:pt modelId="{C4B37029-FCC1-FB45-ADE1-D79A5DFA12CC}" type="parTrans" cxnId="{17D90C31-4818-5D4F-85EA-5B52E1E348E4}">
      <dgm:prSet/>
      <dgm:spPr/>
      <dgm:t>
        <a:bodyPr/>
        <a:lstStyle/>
        <a:p>
          <a:endParaRPr lang="en-GB"/>
        </a:p>
      </dgm:t>
    </dgm:pt>
    <dgm:pt modelId="{9642772D-9AC8-B948-9D6F-2147F835CD9D}" type="sibTrans" cxnId="{17D90C31-4818-5D4F-85EA-5B52E1E348E4}">
      <dgm:prSet/>
      <dgm:spPr/>
      <dgm:t>
        <a:bodyPr/>
        <a:lstStyle/>
        <a:p>
          <a:endParaRPr lang="en-GB"/>
        </a:p>
      </dgm:t>
    </dgm:pt>
    <dgm:pt modelId="{CB9D04F0-1BD9-BA42-8162-68D4C0B4768D}">
      <dgm:prSet phldrT="[Text]" custT="1"/>
      <dgm:spPr/>
      <dgm:t>
        <a:bodyPr anchor="ctr"/>
        <a:lstStyle/>
        <a:p>
          <a:pPr rtl="0">
            <a:buFont typeface="Arial" panose="020B0604020202020204" pitchFamily="34" charset="0"/>
            <a:buChar char="•"/>
          </a:pPr>
          <a:r>
            <a:rPr lang="en-US" sz="1050">
              <a:latin typeface="Helvetica"/>
              <a:cs typeface="Helvetica"/>
            </a:rPr>
            <a:t>Human-robot interaction</a:t>
          </a:r>
          <a:endParaRPr lang="en-GB" sz="1050">
            <a:latin typeface="Helvetica"/>
            <a:cs typeface="Helvetica"/>
          </a:endParaRPr>
        </a:p>
      </dgm:t>
    </dgm:pt>
    <dgm:pt modelId="{F812FC49-5574-1745-BF46-992D29E4DB8C}" type="parTrans" cxnId="{698EF83A-C23E-D149-9D6F-1CA00AE50C36}">
      <dgm:prSet/>
      <dgm:spPr/>
      <dgm:t>
        <a:bodyPr/>
        <a:lstStyle/>
        <a:p>
          <a:endParaRPr lang="en-GB"/>
        </a:p>
      </dgm:t>
    </dgm:pt>
    <dgm:pt modelId="{1F6CF2E6-A47D-A54C-AB18-F9461E5E8F58}" type="sibTrans" cxnId="{698EF83A-C23E-D149-9D6F-1CA00AE50C36}">
      <dgm:prSet/>
      <dgm:spPr/>
      <dgm:t>
        <a:bodyPr/>
        <a:lstStyle/>
        <a:p>
          <a:endParaRPr lang="en-GB"/>
        </a:p>
      </dgm:t>
    </dgm:pt>
    <dgm:pt modelId="{96B3381C-2705-F446-AA96-743431F5330D}">
      <dgm:prSet phldrT="[Text]" custT="1"/>
      <dgm:spPr/>
      <dgm:t>
        <a:bodyPr anchor="ctr"/>
        <a:lstStyle/>
        <a:p>
          <a:r>
            <a:rPr lang="en-GB" sz="1200"/>
            <a:t>Postdoc @ Computer Lab, University of Cambridge</a:t>
          </a:r>
        </a:p>
      </dgm:t>
    </dgm:pt>
    <dgm:pt modelId="{73DFC41C-36F4-F541-9AA6-5F2E36E3A78A}" type="parTrans" cxnId="{63D4053F-88BB-BE41-AD99-87B74027689A}">
      <dgm:prSet/>
      <dgm:spPr/>
      <dgm:t>
        <a:bodyPr/>
        <a:lstStyle/>
        <a:p>
          <a:endParaRPr lang="en-GB"/>
        </a:p>
      </dgm:t>
    </dgm:pt>
    <dgm:pt modelId="{C8E3E429-5E43-3C44-B919-F63DF8C84CE8}" type="sibTrans" cxnId="{63D4053F-88BB-BE41-AD99-87B74027689A}">
      <dgm:prSet/>
      <dgm:spPr/>
      <dgm:t>
        <a:bodyPr/>
        <a:lstStyle/>
        <a:p>
          <a:endParaRPr lang="en-GB"/>
        </a:p>
      </dgm:t>
    </dgm:pt>
    <dgm:pt modelId="{EE128646-BF85-7846-A2D5-AFBD1A8B76FD}">
      <dgm:prSet phldrT="[Text]" custT="1"/>
      <dgm:spPr/>
      <dgm:t>
        <a:bodyPr anchor="ctr"/>
        <a:lstStyle/>
        <a:p>
          <a:r>
            <a:rPr lang="en-GB" sz="1000"/>
            <a:t>Designing social robots for wellbeing</a:t>
          </a:r>
        </a:p>
      </dgm:t>
    </dgm:pt>
    <dgm:pt modelId="{38AFE4F1-E3FB-6F47-99B7-E094991C6C53}" type="parTrans" cxnId="{1363F597-D630-1844-8E0C-DC6EF675A7C9}">
      <dgm:prSet/>
      <dgm:spPr/>
      <dgm:t>
        <a:bodyPr/>
        <a:lstStyle/>
        <a:p>
          <a:endParaRPr lang="en-GB"/>
        </a:p>
      </dgm:t>
    </dgm:pt>
    <dgm:pt modelId="{B59195EB-53F2-ED4D-B78B-DD4C4FC94B1F}" type="sibTrans" cxnId="{1363F597-D630-1844-8E0C-DC6EF675A7C9}">
      <dgm:prSet/>
      <dgm:spPr/>
      <dgm:t>
        <a:bodyPr/>
        <a:lstStyle/>
        <a:p>
          <a:endParaRPr lang="en-GB"/>
        </a:p>
      </dgm:t>
    </dgm:pt>
    <dgm:pt modelId="{49CEAC89-B9F3-934D-A3E3-D7EAF390F921}">
      <dgm:prSet custT="1"/>
      <dgm:spPr/>
      <dgm:t>
        <a:bodyPr anchor="ctr"/>
        <a:lstStyle/>
        <a:p>
          <a:r>
            <a:rPr lang="en-GB" sz="1200"/>
            <a:t>Lecturer @ University of Southampton</a:t>
          </a:r>
        </a:p>
      </dgm:t>
    </dgm:pt>
    <dgm:pt modelId="{5D042848-EA44-3F44-B3E7-B1CA6DE82054}" type="parTrans" cxnId="{43A9B8C3-3D76-8B4C-B407-A41C740009CA}">
      <dgm:prSet/>
      <dgm:spPr/>
      <dgm:t>
        <a:bodyPr/>
        <a:lstStyle/>
        <a:p>
          <a:endParaRPr lang="en-GB"/>
        </a:p>
      </dgm:t>
    </dgm:pt>
    <dgm:pt modelId="{E1B928D7-7517-C64B-AE4F-4F5D42C3955B}" type="sibTrans" cxnId="{43A9B8C3-3D76-8B4C-B407-A41C740009CA}">
      <dgm:prSet/>
      <dgm:spPr/>
      <dgm:t>
        <a:bodyPr/>
        <a:lstStyle/>
        <a:p>
          <a:endParaRPr lang="en-GB"/>
        </a:p>
      </dgm:t>
    </dgm:pt>
    <dgm:pt modelId="{24EC6C59-D7EC-FA44-A0B8-909C6A3AEC37}">
      <dgm:prSet custT="1"/>
      <dgm:spPr/>
      <dgm:t>
        <a:bodyPr anchor="ctr"/>
        <a:lstStyle/>
        <a:p>
          <a:r>
            <a:rPr lang="en-GB" sz="1000"/>
            <a:t>Agents, Interaction and Complexity (AIC) group, Computer Science.</a:t>
          </a:r>
          <a:endParaRPr lang="en-GB" sz="1050"/>
        </a:p>
      </dgm:t>
    </dgm:pt>
    <dgm:pt modelId="{BFD5E82D-2808-184F-BA7A-AFC344CF4D67}" type="parTrans" cxnId="{EEA05442-F505-B14E-A14E-FF9CFCBE04EB}">
      <dgm:prSet/>
      <dgm:spPr/>
      <dgm:t>
        <a:bodyPr/>
        <a:lstStyle/>
        <a:p>
          <a:endParaRPr lang="en-GB"/>
        </a:p>
      </dgm:t>
    </dgm:pt>
    <dgm:pt modelId="{14FF9A46-B299-7C41-BA17-59A5B848FF31}" type="sibTrans" cxnId="{EEA05442-F505-B14E-A14E-FF9CFCBE04EB}">
      <dgm:prSet/>
      <dgm:spPr/>
      <dgm:t>
        <a:bodyPr/>
        <a:lstStyle/>
        <a:p>
          <a:endParaRPr lang="en-GB"/>
        </a:p>
      </dgm:t>
    </dgm:pt>
    <dgm:pt modelId="{301B8918-94A6-437A-9C87-84021A9C22A0}">
      <dgm:prSet phldr="0"/>
      <dgm:spPr/>
      <dgm:t>
        <a:bodyPr anchor="ctr"/>
        <a:lstStyle/>
        <a:p>
          <a:pPr algn="l" rtl="0"/>
          <a:r>
            <a:rPr lang="en-US" sz="1200">
              <a:latin typeface="+mn-lt"/>
              <a:cs typeface="Helvetica"/>
            </a:rPr>
            <a:t>Bachelors in Electrical Engineering @ Indian Institute of Technology Bhubaneswar</a:t>
          </a:r>
        </a:p>
      </dgm:t>
    </dgm:pt>
    <dgm:pt modelId="{76B5A357-C384-4AE1-9700-82CAC96C0771}" type="parTrans" cxnId="{16E31E0A-A926-41C2-A272-DA5A46C30AFC}">
      <dgm:prSet/>
      <dgm:spPr/>
      <dgm:t>
        <a:bodyPr/>
        <a:lstStyle/>
        <a:p>
          <a:endParaRPr lang="en-US"/>
        </a:p>
      </dgm:t>
    </dgm:pt>
    <dgm:pt modelId="{4F444611-ADED-4757-8757-B9EDD872FB30}" type="sibTrans" cxnId="{16E31E0A-A926-41C2-A272-DA5A46C30AFC}">
      <dgm:prSet/>
      <dgm:spPr/>
      <dgm:t>
        <a:bodyPr/>
        <a:lstStyle/>
        <a:p>
          <a:endParaRPr lang="en-US"/>
        </a:p>
      </dgm:t>
    </dgm:pt>
    <dgm:pt modelId="{1FF20AB2-4F90-4405-89C7-426964FE09B1}">
      <dgm:prSet phldr="0" custT="1"/>
      <dgm:spPr/>
      <dgm:t>
        <a:bodyPr anchor="ctr"/>
        <a:lstStyle/>
        <a:p>
          <a:pPr algn="l" rtl="0"/>
          <a:r>
            <a:rPr lang="en-US" sz="1000">
              <a:latin typeface="+mn-lt"/>
              <a:cs typeface="Helvetica"/>
            </a:rPr>
            <a:t>Sensors and Signal Processing </a:t>
          </a:r>
        </a:p>
      </dgm:t>
    </dgm:pt>
    <dgm:pt modelId="{9FBA0E91-788C-4AC9-B80D-9B5CB05F156A}" type="parTrans" cxnId="{C6DBBC1B-AE52-4719-9BFF-28C46618837E}">
      <dgm:prSet/>
      <dgm:spPr/>
      <dgm:t>
        <a:bodyPr/>
        <a:lstStyle/>
        <a:p>
          <a:endParaRPr lang="en-US"/>
        </a:p>
      </dgm:t>
    </dgm:pt>
    <dgm:pt modelId="{0140C202-8584-446A-A669-52318A9F73F3}" type="sibTrans" cxnId="{C6DBBC1B-AE52-4719-9BFF-28C46618837E}">
      <dgm:prSet/>
      <dgm:spPr/>
      <dgm:t>
        <a:bodyPr/>
        <a:lstStyle/>
        <a:p>
          <a:endParaRPr lang="en-US"/>
        </a:p>
      </dgm:t>
    </dgm:pt>
    <dgm:pt modelId="{3DFDD99A-2546-8B41-8D16-439566ED8191}">
      <dgm:prSet phldrT="[Text]" custT="1"/>
      <dgm:spPr/>
      <dgm:t>
        <a:bodyPr anchor="ctr"/>
        <a:lstStyle/>
        <a:p>
          <a:pPr rtl="0"/>
          <a:r>
            <a:rPr lang="en-GB" sz="1000">
              <a:latin typeface="+mn-lt"/>
            </a:rPr>
            <a:t>Cognitive Neuroscience</a:t>
          </a:r>
        </a:p>
      </dgm:t>
    </dgm:pt>
    <dgm:pt modelId="{0545786D-BFF7-334B-B41D-28B92668DB61}" type="parTrans" cxnId="{46A441B1-01B2-E74E-ADF9-E5B7EC8BD5AD}">
      <dgm:prSet/>
      <dgm:spPr/>
      <dgm:t>
        <a:bodyPr/>
        <a:lstStyle/>
        <a:p>
          <a:endParaRPr lang="en-GB"/>
        </a:p>
      </dgm:t>
    </dgm:pt>
    <dgm:pt modelId="{21EC3F2C-A06A-EB46-8417-E75CBAFDC538}" type="sibTrans" cxnId="{46A441B1-01B2-E74E-ADF9-E5B7EC8BD5AD}">
      <dgm:prSet/>
      <dgm:spPr/>
      <dgm:t>
        <a:bodyPr/>
        <a:lstStyle/>
        <a:p>
          <a:endParaRPr lang="en-GB"/>
        </a:p>
      </dgm:t>
    </dgm:pt>
    <dgm:pt modelId="{EBC1BCB9-A3C3-3047-BCA7-7FA530A4D482}">
      <dgm:prSet phldrT="[Text]" custT="1"/>
      <dgm:spPr/>
      <dgm:t>
        <a:bodyPr anchor="ctr"/>
        <a:lstStyle/>
        <a:p>
          <a:pPr rtl="0">
            <a:buFont typeface="Arial" panose="020B0604020202020204" pitchFamily="34" charset="0"/>
            <a:buChar char="•"/>
          </a:pPr>
          <a:r>
            <a:rPr lang="en-GB" sz="1050">
              <a:latin typeface="Helvetica"/>
              <a:cs typeface="Helvetica"/>
            </a:rPr>
            <a:t>Modelling Human factors</a:t>
          </a:r>
        </a:p>
      </dgm:t>
    </dgm:pt>
    <dgm:pt modelId="{8B226412-252C-3D4B-B01D-AA72607DEE86}" type="parTrans" cxnId="{02DBAC03-2BDB-D441-9193-2F96E53DE5B7}">
      <dgm:prSet/>
      <dgm:spPr/>
      <dgm:t>
        <a:bodyPr/>
        <a:lstStyle/>
        <a:p>
          <a:endParaRPr lang="en-GB"/>
        </a:p>
      </dgm:t>
    </dgm:pt>
    <dgm:pt modelId="{AC103450-7FEA-A84B-90CB-CC60F1CD4EFC}" type="sibTrans" cxnId="{02DBAC03-2BDB-D441-9193-2F96E53DE5B7}">
      <dgm:prSet/>
      <dgm:spPr/>
      <dgm:t>
        <a:bodyPr/>
        <a:lstStyle/>
        <a:p>
          <a:endParaRPr lang="en-GB"/>
        </a:p>
      </dgm:t>
    </dgm:pt>
    <dgm:pt modelId="{98DAF8FB-E9F3-B941-A30F-2F38466ECDA4}" type="pres">
      <dgm:prSet presAssocID="{C5FDFB9A-CD4B-324B-A242-F9B49A97268F}" presName="Name0" presStyleCnt="0">
        <dgm:presLayoutVars>
          <dgm:chMax val="7"/>
          <dgm:chPref val="7"/>
          <dgm:dir/>
        </dgm:presLayoutVars>
      </dgm:prSet>
      <dgm:spPr/>
    </dgm:pt>
    <dgm:pt modelId="{D003D2B2-66F3-8546-9021-7733DD910451}" type="pres">
      <dgm:prSet presAssocID="{C5FDFB9A-CD4B-324B-A242-F9B49A97268F}" presName="Name1" presStyleCnt="0"/>
      <dgm:spPr/>
    </dgm:pt>
    <dgm:pt modelId="{C6B2C1F1-E702-9249-8C67-79187FA30FF0}" type="pres">
      <dgm:prSet presAssocID="{C5FDFB9A-CD4B-324B-A242-F9B49A97268F}" presName="cycle" presStyleCnt="0"/>
      <dgm:spPr/>
    </dgm:pt>
    <dgm:pt modelId="{4BF94DE2-834D-4441-8A1F-4E5B463A4F81}" type="pres">
      <dgm:prSet presAssocID="{C5FDFB9A-CD4B-324B-A242-F9B49A97268F}" presName="srcNode" presStyleLbl="node1" presStyleIdx="0" presStyleCnt="5"/>
      <dgm:spPr/>
    </dgm:pt>
    <dgm:pt modelId="{56396873-D6D6-E043-819A-9C25A9561EB6}" type="pres">
      <dgm:prSet presAssocID="{C5FDFB9A-CD4B-324B-A242-F9B49A97268F}" presName="conn" presStyleLbl="parChTrans1D2" presStyleIdx="0" presStyleCnt="1"/>
      <dgm:spPr/>
    </dgm:pt>
    <dgm:pt modelId="{52B9E004-AFB3-744E-A9D1-49872BC56E42}" type="pres">
      <dgm:prSet presAssocID="{C5FDFB9A-CD4B-324B-A242-F9B49A97268F}" presName="extraNode" presStyleLbl="node1" presStyleIdx="0" presStyleCnt="5"/>
      <dgm:spPr/>
    </dgm:pt>
    <dgm:pt modelId="{78D1DAB2-9E2C-AA4A-AB52-8189FA0B52EF}" type="pres">
      <dgm:prSet presAssocID="{C5FDFB9A-CD4B-324B-A242-F9B49A97268F}" presName="dstNode" presStyleLbl="node1" presStyleIdx="0" presStyleCnt="5"/>
      <dgm:spPr/>
    </dgm:pt>
    <dgm:pt modelId="{CE38E812-0CEB-4BC7-99BB-5FE8A2605284}" type="pres">
      <dgm:prSet presAssocID="{301B8918-94A6-437A-9C87-84021A9C22A0}" presName="text_1" presStyleLbl="node1" presStyleIdx="0" presStyleCnt="5">
        <dgm:presLayoutVars>
          <dgm:bulletEnabled val="1"/>
        </dgm:presLayoutVars>
      </dgm:prSet>
      <dgm:spPr/>
    </dgm:pt>
    <dgm:pt modelId="{11AEC9A6-6DCC-4D6B-AC32-D33635E6D8AF}" type="pres">
      <dgm:prSet presAssocID="{301B8918-94A6-437A-9C87-84021A9C22A0}" presName="accent_1" presStyleCnt="0"/>
      <dgm:spPr/>
    </dgm:pt>
    <dgm:pt modelId="{4FD1CBD1-13BA-431C-AB7B-1238A8A9B0B7}" type="pres">
      <dgm:prSet presAssocID="{301B8918-94A6-437A-9C87-84021A9C22A0}" presName="accentRepeatNode" presStyleLbl="solidFgAcc1" presStyleIdx="0" presStyleCnt="5"/>
      <dgm:spPr/>
    </dgm:pt>
    <dgm:pt modelId="{30B3072B-D6DE-467E-B1AC-CC960D4C1B22}" type="pres">
      <dgm:prSet presAssocID="{78359A46-A421-E648-8EBA-5789D88CE224}" presName="text_2" presStyleLbl="node1" presStyleIdx="1" presStyleCnt="5" custScaleY="152098">
        <dgm:presLayoutVars>
          <dgm:bulletEnabled val="1"/>
        </dgm:presLayoutVars>
      </dgm:prSet>
      <dgm:spPr/>
    </dgm:pt>
    <dgm:pt modelId="{EBAD1950-F5DC-4DDB-B59E-7F977741ADE3}" type="pres">
      <dgm:prSet presAssocID="{78359A46-A421-E648-8EBA-5789D88CE224}" presName="accent_2" presStyleCnt="0"/>
      <dgm:spPr/>
    </dgm:pt>
    <dgm:pt modelId="{6D2F38DA-C36F-D14D-8AD6-B209CE65C407}" type="pres">
      <dgm:prSet presAssocID="{78359A46-A421-E648-8EBA-5789D88CE224}" presName="accentRepeatNode" presStyleLbl="solidFgAcc1" presStyleIdx="1" presStyleCnt="5"/>
      <dgm:spPr/>
    </dgm:pt>
    <dgm:pt modelId="{D984B6AE-B0D6-421A-82DC-1E9ED1970587}" type="pres">
      <dgm:prSet presAssocID="{AD752CE7-76E7-9844-8D68-21842ADE92F2}" presName="text_3" presStyleLbl="node1" presStyleIdx="2" presStyleCnt="5" custScaleY="124075">
        <dgm:presLayoutVars>
          <dgm:bulletEnabled val="1"/>
        </dgm:presLayoutVars>
      </dgm:prSet>
      <dgm:spPr/>
    </dgm:pt>
    <dgm:pt modelId="{B3F48DF3-614F-4C3C-8668-856EDCA32C63}" type="pres">
      <dgm:prSet presAssocID="{AD752CE7-76E7-9844-8D68-21842ADE92F2}" presName="accent_3" presStyleCnt="0"/>
      <dgm:spPr/>
    </dgm:pt>
    <dgm:pt modelId="{CD20B6E5-0F38-BC44-9445-C3A695ABC8DD}" type="pres">
      <dgm:prSet presAssocID="{AD752CE7-76E7-9844-8D68-21842ADE92F2}" presName="accentRepeatNode" presStyleLbl="solidFgAcc1" presStyleIdx="2" presStyleCnt="5"/>
      <dgm:spPr/>
    </dgm:pt>
    <dgm:pt modelId="{0259DF43-50E1-40AE-A474-65BC1FE7BA22}" type="pres">
      <dgm:prSet presAssocID="{96B3381C-2705-F446-AA96-743431F5330D}" presName="text_4" presStyleLbl="node1" presStyleIdx="3" presStyleCnt="5">
        <dgm:presLayoutVars>
          <dgm:bulletEnabled val="1"/>
        </dgm:presLayoutVars>
      </dgm:prSet>
      <dgm:spPr/>
    </dgm:pt>
    <dgm:pt modelId="{DBBB1EFA-3AC0-44CC-BA0F-BD81E7C4EC47}" type="pres">
      <dgm:prSet presAssocID="{96B3381C-2705-F446-AA96-743431F5330D}" presName="accent_4" presStyleCnt="0"/>
      <dgm:spPr/>
    </dgm:pt>
    <dgm:pt modelId="{6446625C-EF4F-074D-9E6E-A63ADEF7FFB2}" type="pres">
      <dgm:prSet presAssocID="{96B3381C-2705-F446-AA96-743431F5330D}" presName="accentRepeatNode" presStyleLbl="solidFgAcc1" presStyleIdx="3" presStyleCnt="5"/>
      <dgm:spPr/>
    </dgm:pt>
    <dgm:pt modelId="{72B049F4-36ED-440B-A3C5-E572C03BAFB1}" type="pres">
      <dgm:prSet presAssocID="{49CEAC89-B9F3-934D-A3E3-D7EAF390F921}" presName="text_5" presStyleLbl="node1" presStyleIdx="4" presStyleCnt="5">
        <dgm:presLayoutVars>
          <dgm:bulletEnabled val="1"/>
        </dgm:presLayoutVars>
      </dgm:prSet>
      <dgm:spPr/>
    </dgm:pt>
    <dgm:pt modelId="{D7A518EA-1A98-4B8F-A38D-DF7E111CD690}" type="pres">
      <dgm:prSet presAssocID="{49CEAC89-B9F3-934D-A3E3-D7EAF390F921}" presName="accent_5" presStyleCnt="0"/>
      <dgm:spPr/>
    </dgm:pt>
    <dgm:pt modelId="{4C501B39-2192-6442-B332-3DC0E060425A}" type="pres">
      <dgm:prSet presAssocID="{49CEAC89-B9F3-934D-A3E3-D7EAF390F921}" presName="accentRepeatNode" presStyleLbl="solidFgAcc1" presStyleIdx="4" presStyleCnt="5"/>
      <dgm:spPr/>
    </dgm:pt>
  </dgm:ptLst>
  <dgm:cxnLst>
    <dgm:cxn modelId="{02DBAC03-2BDB-D441-9193-2F96E53DE5B7}" srcId="{AD752CE7-76E7-9844-8D68-21842ADE92F2}" destId="{EBC1BCB9-A3C3-3047-BCA7-7FA530A4D482}" srcOrd="1" destOrd="0" parTransId="{8B226412-252C-3D4B-B01D-AA72607DEE86}" sibTransId="{AC103450-7FEA-A84B-90CB-CC60F1CD4EFC}"/>
    <dgm:cxn modelId="{16E31E0A-A926-41C2-A272-DA5A46C30AFC}" srcId="{C5FDFB9A-CD4B-324B-A242-F9B49A97268F}" destId="{301B8918-94A6-437A-9C87-84021A9C22A0}" srcOrd="0" destOrd="0" parTransId="{76B5A357-C384-4AE1-9700-82CAC96C0771}" sibTransId="{4F444611-ADED-4757-8757-B9EDD872FB30}"/>
    <dgm:cxn modelId="{DFD5710E-CA9C-4B42-AA5E-D62A3F8FC518}" type="presOf" srcId="{CB9D04F0-1BD9-BA42-8162-68D4C0B4768D}" destId="{D984B6AE-B0D6-421A-82DC-1E9ED1970587}" srcOrd="0" destOrd="1" presId="urn:microsoft.com/office/officeart/2008/layout/VerticalCurvedList"/>
    <dgm:cxn modelId="{B4248212-73E2-4051-89F8-097079282C14}" type="presOf" srcId="{78359A46-A421-E648-8EBA-5789D88CE224}" destId="{30B3072B-D6DE-467E-B1AC-CC960D4C1B22}" srcOrd="0" destOrd="0" presId="urn:microsoft.com/office/officeart/2008/layout/VerticalCurvedList"/>
    <dgm:cxn modelId="{C6DBBC1B-AE52-4719-9BFF-28C46618837E}" srcId="{301B8918-94A6-437A-9C87-84021A9C22A0}" destId="{1FF20AB2-4F90-4405-89C7-426964FE09B1}" srcOrd="0" destOrd="0" parTransId="{9FBA0E91-788C-4AC9-B80D-9B5CB05F156A}" sibTransId="{0140C202-8584-446A-A669-52318A9F73F3}"/>
    <dgm:cxn modelId="{589D4E24-735F-9845-AC96-311452177769}" type="presOf" srcId="{C5FDFB9A-CD4B-324B-A242-F9B49A97268F}" destId="{98DAF8FB-E9F3-B941-A30F-2F38466ECDA4}" srcOrd="0" destOrd="0" presId="urn:microsoft.com/office/officeart/2008/layout/VerticalCurvedList"/>
    <dgm:cxn modelId="{80E9152F-4247-4550-A8E3-79D86D357724}" type="presOf" srcId="{EE128646-BF85-7846-A2D5-AFBD1A8B76FD}" destId="{0259DF43-50E1-40AE-A474-65BC1FE7BA22}" srcOrd="0" destOrd="1" presId="urn:microsoft.com/office/officeart/2008/layout/VerticalCurvedList"/>
    <dgm:cxn modelId="{17D90C31-4818-5D4F-85EA-5B52E1E348E4}" srcId="{C5FDFB9A-CD4B-324B-A242-F9B49A97268F}" destId="{AD752CE7-76E7-9844-8D68-21842ADE92F2}" srcOrd="2" destOrd="0" parTransId="{C4B37029-FCC1-FB45-ADE1-D79A5DFA12CC}" sibTransId="{9642772D-9AC8-B948-9D6F-2147F835CD9D}"/>
    <dgm:cxn modelId="{3329B331-8E3B-438E-AA5D-DAE53061152D}" type="presOf" srcId="{AD752CE7-76E7-9844-8D68-21842ADE92F2}" destId="{D984B6AE-B0D6-421A-82DC-1E9ED1970587}" srcOrd="0" destOrd="0" presId="urn:microsoft.com/office/officeart/2008/layout/VerticalCurvedList"/>
    <dgm:cxn modelId="{8170DA35-6674-40BD-B262-42055003B242}" type="presOf" srcId="{24EC6C59-D7EC-FA44-A0B8-909C6A3AEC37}" destId="{72B049F4-36ED-440B-A3C5-E572C03BAFB1}" srcOrd="0" destOrd="1" presId="urn:microsoft.com/office/officeart/2008/layout/VerticalCurvedList"/>
    <dgm:cxn modelId="{B7A40836-60F7-411B-90D2-16E005FB0A0E}" type="presOf" srcId="{0140C202-8584-446A-A669-52318A9F73F3}" destId="{56396873-D6D6-E043-819A-9C25A9561EB6}" srcOrd="0" destOrd="0" presId="urn:microsoft.com/office/officeart/2008/layout/VerticalCurvedList"/>
    <dgm:cxn modelId="{698EF83A-C23E-D149-9D6F-1CA00AE50C36}" srcId="{AD752CE7-76E7-9844-8D68-21842ADE92F2}" destId="{CB9D04F0-1BD9-BA42-8162-68D4C0B4768D}" srcOrd="0" destOrd="0" parTransId="{F812FC49-5574-1745-BF46-992D29E4DB8C}" sibTransId="{1F6CF2E6-A47D-A54C-AB18-F9461E5E8F58}"/>
    <dgm:cxn modelId="{63D4053F-88BB-BE41-AD99-87B74027689A}" srcId="{C5FDFB9A-CD4B-324B-A242-F9B49A97268F}" destId="{96B3381C-2705-F446-AA96-743431F5330D}" srcOrd="3" destOrd="0" parTransId="{73DFC41C-36F4-F541-9AA6-5F2E36E3A78A}" sibTransId="{C8E3E429-5E43-3C44-B919-F63DF8C84CE8}"/>
    <dgm:cxn modelId="{4CCDB15C-7EDA-364D-8E6B-19973D071D70}" srcId="{C5FDFB9A-CD4B-324B-A242-F9B49A97268F}" destId="{78359A46-A421-E648-8EBA-5789D88CE224}" srcOrd="1" destOrd="0" parTransId="{0AFCC76E-66DD-B244-BC55-51FEFD9D41D5}" sibTransId="{2BD32D47-CD10-D941-A6DF-977E02B391DF}"/>
    <dgm:cxn modelId="{EEA05442-F505-B14E-A14E-FF9CFCBE04EB}" srcId="{49CEAC89-B9F3-934D-A3E3-D7EAF390F921}" destId="{24EC6C59-D7EC-FA44-A0B8-909C6A3AEC37}" srcOrd="0" destOrd="0" parTransId="{BFD5E82D-2808-184F-BA7A-AFC344CF4D67}" sibTransId="{14FF9A46-B299-7C41-BA17-59A5B848FF31}"/>
    <dgm:cxn modelId="{8A1E736C-F5B2-4DA5-97E8-7EA4B7D87CED}" type="presOf" srcId="{301B8918-94A6-437A-9C87-84021A9C22A0}" destId="{CE38E812-0CEB-4BC7-99BB-5FE8A2605284}" srcOrd="0" destOrd="0" presId="urn:microsoft.com/office/officeart/2008/layout/VerticalCurvedList"/>
    <dgm:cxn modelId="{6297374D-D45B-0549-A016-14132D0B37E4}" type="presOf" srcId="{EBC1BCB9-A3C3-3047-BCA7-7FA530A4D482}" destId="{D984B6AE-B0D6-421A-82DC-1E9ED1970587}" srcOrd="0" destOrd="2" presId="urn:microsoft.com/office/officeart/2008/layout/VerticalCurvedList"/>
    <dgm:cxn modelId="{71925277-6AC9-4748-A7E7-EDD583D0B516}" type="presOf" srcId="{EB6C568B-71D2-9D45-AAE8-E9130091237F}" destId="{30B3072B-D6DE-467E-B1AC-CC960D4C1B22}" srcOrd="0" destOrd="1" presId="urn:microsoft.com/office/officeart/2008/layout/VerticalCurvedList"/>
    <dgm:cxn modelId="{AD9CBC7F-FCE8-4A49-809B-1CE3E9680894}" type="presOf" srcId="{96B3381C-2705-F446-AA96-743431F5330D}" destId="{0259DF43-50E1-40AE-A474-65BC1FE7BA22}" srcOrd="0" destOrd="0" presId="urn:microsoft.com/office/officeart/2008/layout/VerticalCurvedList"/>
    <dgm:cxn modelId="{1363F597-D630-1844-8E0C-DC6EF675A7C9}" srcId="{96B3381C-2705-F446-AA96-743431F5330D}" destId="{EE128646-BF85-7846-A2D5-AFBD1A8B76FD}" srcOrd="0" destOrd="0" parTransId="{38AFE4F1-E3FB-6F47-99B7-E094991C6C53}" sibTransId="{B59195EB-53F2-ED4D-B78B-DD4C4FC94B1F}"/>
    <dgm:cxn modelId="{4681CC9A-3878-4626-BC73-4D80B44CFE84}" type="presOf" srcId="{1FF20AB2-4F90-4405-89C7-426964FE09B1}" destId="{CE38E812-0CEB-4BC7-99BB-5FE8A2605284}" srcOrd="0" destOrd="1" presId="urn:microsoft.com/office/officeart/2008/layout/VerticalCurvedList"/>
    <dgm:cxn modelId="{46A441B1-01B2-E74E-ADF9-E5B7EC8BD5AD}" srcId="{78359A46-A421-E648-8EBA-5789D88CE224}" destId="{3DFDD99A-2546-8B41-8D16-439566ED8191}" srcOrd="1" destOrd="0" parTransId="{0545786D-BFF7-334B-B41D-28B92668DB61}" sibTransId="{21EC3F2C-A06A-EB46-8417-E75CBAFDC538}"/>
    <dgm:cxn modelId="{78649FB8-5251-F743-8944-6C95C62A9DB1}" srcId="{78359A46-A421-E648-8EBA-5789D88CE224}" destId="{EB6C568B-71D2-9D45-AAE8-E9130091237F}" srcOrd="0" destOrd="0" parTransId="{6D5D7641-91D9-AA4F-996F-D3DB0A224D7F}" sibTransId="{71C42B7A-919D-104E-9B44-8712E24454D2}"/>
    <dgm:cxn modelId="{43A9B8C3-3D76-8B4C-B407-A41C740009CA}" srcId="{C5FDFB9A-CD4B-324B-A242-F9B49A97268F}" destId="{49CEAC89-B9F3-934D-A3E3-D7EAF390F921}" srcOrd="4" destOrd="0" parTransId="{5D042848-EA44-3F44-B3E7-B1CA6DE82054}" sibTransId="{E1B928D7-7517-C64B-AE4F-4F5D42C3955B}"/>
    <dgm:cxn modelId="{A72836C6-B4DC-6740-BF6E-7638A447D10D}" type="presOf" srcId="{3DFDD99A-2546-8B41-8D16-439566ED8191}" destId="{30B3072B-D6DE-467E-B1AC-CC960D4C1B22}" srcOrd="0" destOrd="2" presId="urn:microsoft.com/office/officeart/2008/layout/VerticalCurvedList"/>
    <dgm:cxn modelId="{C38147F7-CC9C-41C3-8CDD-D83256A90AF5}" type="presOf" srcId="{49CEAC89-B9F3-934D-A3E3-D7EAF390F921}" destId="{72B049F4-36ED-440B-A3C5-E572C03BAFB1}" srcOrd="0" destOrd="0" presId="urn:microsoft.com/office/officeart/2008/layout/VerticalCurvedList"/>
    <dgm:cxn modelId="{8E8CBF25-6D1B-467B-B05A-B2762564878D}" type="presParOf" srcId="{98DAF8FB-E9F3-B941-A30F-2F38466ECDA4}" destId="{D003D2B2-66F3-8546-9021-7733DD910451}" srcOrd="0" destOrd="0" presId="urn:microsoft.com/office/officeart/2008/layout/VerticalCurvedList"/>
    <dgm:cxn modelId="{A98D951E-BD24-47C3-946F-B27E2C914CAB}" type="presParOf" srcId="{D003D2B2-66F3-8546-9021-7733DD910451}" destId="{C6B2C1F1-E702-9249-8C67-79187FA30FF0}" srcOrd="0" destOrd="0" presId="urn:microsoft.com/office/officeart/2008/layout/VerticalCurvedList"/>
    <dgm:cxn modelId="{DDD2CCB5-D48C-490F-AB6D-87AFA1D342EA}" type="presParOf" srcId="{C6B2C1F1-E702-9249-8C67-79187FA30FF0}" destId="{4BF94DE2-834D-4441-8A1F-4E5B463A4F81}" srcOrd="0" destOrd="0" presId="urn:microsoft.com/office/officeart/2008/layout/VerticalCurvedList"/>
    <dgm:cxn modelId="{84916EA0-34BD-4195-AB7C-E8A165FA1C36}" type="presParOf" srcId="{C6B2C1F1-E702-9249-8C67-79187FA30FF0}" destId="{56396873-D6D6-E043-819A-9C25A9561EB6}" srcOrd="1" destOrd="0" presId="urn:microsoft.com/office/officeart/2008/layout/VerticalCurvedList"/>
    <dgm:cxn modelId="{C80A102A-7756-4F30-A4B3-B1846F82E234}" type="presParOf" srcId="{C6B2C1F1-E702-9249-8C67-79187FA30FF0}" destId="{52B9E004-AFB3-744E-A9D1-49872BC56E42}" srcOrd="2" destOrd="0" presId="urn:microsoft.com/office/officeart/2008/layout/VerticalCurvedList"/>
    <dgm:cxn modelId="{FDBAC6A5-4627-49D1-8917-613BD6D9B868}" type="presParOf" srcId="{C6B2C1F1-E702-9249-8C67-79187FA30FF0}" destId="{78D1DAB2-9E2C-AA4A-AB52-8189FA0B52EF}" srcOrd="3" destOrd="0" presId="urn:microsoft.com/office/officeart/2008/layout/VerticalCurvedList"/>
    <dgm:cxn modelId="{71526D2F-5B3C-485A-89E2-8E75C3B1BB11}" type="presParOf" srcId="{D003D2B2-66F3-8546-9021-7733DD910451}" destId="{CE38E812-0CEB-4BC7-99BB-5FE8A2605284}" srcOrd="1" destOrd="0" presId="urn:microsoft.com/office/officeart/2008/layout/VerticalCurvedList"/>
    <dgm:cxn modelId="{0DD43744-A4C1-4309-9153-9C314B84300A}" type="presParOf" srcId="{D003D2B2-66F3-8546-9021-7733DD910451}" destId="{11AEC9A6-6DCC-4D6B-AC32-D33635E6D8AF}" srcOrd="2" destOrd="0" presId="urn:microsoft.com/office/officeart/2008/layout/VerticalCurvedList"/>
    <dgm:cxn modelId="{686DD03F-3DD1-474B-B756-4847E29181BD}" type="presParOf" srcId="{11AEC9A6-6DCC-4D6B-AC32-D33635E6D8AF}" destId="{4FD1CBD1-13BA-431C-AB7B-1238A8A9B0B7}" srcOrd="0" destOrd="0" presId="urn:microsoft.com/office/officeart/2008/layout/VerticalCurvedList"/>
    <dgm:cxn modelId="{E7E4AB5C-1175-4E5E-A27C-40CEDF1314B5}" type="presParOf" srcId="{D003D2B2-66F3-8546-9021-7733DD910451}" destId="{30B3072B-D6DE-467E-B1AC-CC960D4C1B22}" srcOrd="3" destOrd="0" presId="urn:microsoft.com/office/officeart/2008/layout/VerticalCurvedList"/>
    <dgm:cxn modelId="{4A9A3719-08AF-43FE-BB69-3254BF3FCE83}" type="presParOf" srcId="{D003D2B2-66F3-8546-9021-7733DD910451}" destId="{EBAD1950-F5DC-4DDB-B59E-7F977741ADE3}" srcOrd="4" destOrd="0" presId="urn:microsoft.com/office/officeart/2008/layout/VerticalCurvedList"/>
    <dgm:cxn modelId="{D5EF57AF-6083-4E87-8E03-2E97255ADAD5}" type="presParOf" srcId="{EBAD1950-F5DC-4DDB-B59E-7F977741ADE3}" destId="{6D2F38DA-C36F-D14D-8AD6-B209CE65C407}" srcOrd="0" destOrd="0" presId="urn:microsoft.com/office/officeart/2008/layout/VerticalCurvedList"/>
    <dgm:cxn modelId="{C6C151EA-415D-4307-90B5-686ABFF5D171}" type="presParOf" srcId="{D003D2B2-66F3-8546-9021-7733DD910451}" destId="{D984B6AE-B0D6-421A-82DC-1E9ED1970587}" srcOrd="5" destOrd="0" presId="urn:microsoft.com/office/officeart/2008/layout/VerticalCurvedList"/>
    <dgm:cxn modelId="{F911AC39-3958-4266-BF91-15B3E7AD1262}" type="presParOf" srcId="{D003D2B2-66F3-8546-9021-7733DD910451}" destId="{B3F48DF3-614F-4C3C-8668-856EDCA32C63}" srcOrd="6" destOrd="0" presId="urn:microsoft.com/office/officeart/2008/layout/VerticalCurvedList"/>
    <dgm:cxn modelId="{7813BB4A-B2B4-44E4-BB51-30834AFB6719}" type="presParOf" srcId="{B3F48DF3-614F-4C3C-8668-856EDCA32C63}" destId="{CD20B6E5-0F38-BC44-9445-C3A695ABC8DD}" srcOrd="0" destOrd="0" presId="urn:microsoft.com/office/officeart/2008/layout/VerticalCurvedList"/>
    <dgm:cxn modelId="{E0B0AC56-BF1E-4344-8CEB-61913C83DA28}" type="presParOf" srcId="{D003D2B2-66F3-8546-9021-7733DD910451}" destId="{0259DF43-50E1-40AE-A474-65BC1FE7BA22}" srcOrd="7" destOrd="0" presId="urn:microsoft.com/office/officeart/2008/layout/VerticalCurvedList"/>
    <dgm:cxn modelId="{7362B552-B854-4797-864E-51910302A874}" type="presParOf" srcId="{D003D2B2-66F3-8546-9021-7733DD910451}" destId="{DBBB1EFA-3AC0-44CC-BA0F-BD81E7C4EC47}" srcOrd="8" destOrd="0" presId="urn:microsoft.com/office/officeart/2008/layout/VerticalCurvedList"/>
    <dgm:cxn modelId="{3C277AF8-5A87-4EB3-9CBE-0B42FCEED96D}" type="presParOf" srcId="{DBBB1EFA-3AC0-44CC-BA0F-BD81E7C4EC47}" destId="{6446625C-EF4F-074D-9E6E-A63ADEF7FFB2}" srcOrd="0" destOrd="0" presId="urn:microsoft.com/office/officeart/2008/layout/VerticalCurvedList"/>
    <dgm:cxn modelId="{986A5F2E-76CC-44C0-95FD-D227049343EC}" type="presParOf" srcId="{D003D2B2-66F3-8546-9021-7733DD910451}" destId="{72B049F4-36ED-440B-A3C5-E572C03BAFB1}" srcOrd="9" destOrd="0" presId="urn:microsoft.com/office/officeart/2008/layout/VerticalCurvedList"/>
    <dgm:cxn modelId="{452CB760-63AA-4D82-933C-B9964B01DE4B}" type="presParOf" srcId="{D003D2B2-66F3-8546-9021-7733DD910451}" destId="{D7A518EA-1A98-4B8F-A38D-DF7E111CD690}" srcOrd="10" destOrd="0" presId="urn:microsoft.com/office/officeart/2008/layout/VerticalCurvedList"/>
    <dgm:cxn modelId="{97B5C6BB-3DD2-4B75-8096-64444D292337}" type="presParOf" srcId="{D7A518EA-1A98-4B8F-A38D-DF7E111CD690}" destId="{4C501B39-2192-6442-B332-3DC0E060425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96873-D6D6-E043-819A-9C25A9561EB6}">
      <dsp:nvSpPr>
        <dsp:cNvPr id="0" name=""/>
        <dsp:cNvSpPr/>
      </dsp:nvSpPr>
      <dsp:spPr>
        <a:xfrm>
          <a:off x="-4730046" y="-725039"/>
          <a:ext cx="5634030" cy="5634030"/>
        </a:xfrm>
        <a:prstGeom prst="blockArc">
          <a:avLst>
            <a:gd name="adj1" fmla="val 18900000"/>
            <a:gd name="adj2" fmla="val 2700000"/>
            <a:gd name="adj3" fmla="val 383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38E812-0CEB-4BC7-99BB-5FE8A2605284}">
      <dsp:nvSpPr>
        <dsp:cNvPr id="0" name=""/>
        <dsp:cNvSpPr/>
      </dsp:nvSpPr>
      <dsp:spPr>
        <a:xfrm>
          <a:off x="395622" y="261413"/>
          <a:ext cx="6604080" cy="5231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59" tIns="25400" rIns="25400" bIns="2540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+mn-lt"/>
              <a:cs typeface="Helvetica"/>
            </a:rPr>
            <a:t>Bachelors in Electrical Engineering @ Indian Institute of Technology Bhubaneswar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+mn-lt"/>
              <a:cs typeface="Helvetica"/>
            </a:rPr>
            <a:t>Sensors and Signal Processing </a:t>
          </a:r>
        </a:p>
      </dsp:txBody>
      <dsp:txXfrm>
        <a:off x="395622" y="261413"/>
        <a:ext cx="6604080" cy="523161"/>
      </dsp:txXfrm>
    </dsp:sp>
    <dsp:sp modelId="{4FD1CBD1-13BA-431C-AB7B-1238A8A9B0B7}">
      <dsp:nvSpPr>
        <dsp:cNvPr id="0" name=""/>
        <dsp:cNvSpPr/>
      </dsp:nvSpPr>
      <dsp:spPr>
        <a:xfrm>
          <a:off x="68646" y="196018"/>
          <a:ext cx="653951" cy="6539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3072B-D6DE-467E-B1AC-CC960D4C1B22}">
      <dsp:nvSpPr>
        <dsp:cNvPr id="0" name=""/>
        <dsp:cNvSpPr/>
      </dsp:nvSpPr>
      <dsp:spPr>
        <a:xfrm>
          <a:off x="770504" y="909625"/>
          <a:ext cx="6229198" cy="79571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59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+mn-lt"/>
              <a:cs typeface="Helvetica"/>
            </a:rPr>
            <a:t>PhD @ NUS Graduate School of Integrative Sciences and Engineering</a:t>
          </a:r>
          <a:endParaRPr lang="en-GB" sz="1200" kern="1200">
            <a:latin typeface="+mn-lt"/>
            <a:cs typeface="Helvetica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+mn-lt"/>
              <a:cs typeface="Helvetica"/>
            </a:rPr>
            <a:t>Brain-Computer Interfaces</a:t>
          </a:r>
          <a:endParaRPr lang="en-GB" sz="1000" kern="1200">
            <a:latin typeface="+mn-lt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latin typeface="+mn-lt"/>
            </a:rPr>
            <a:t>Cognitive Neuroscience</a:t>
          </a:r>
        </a:p>
      </dsp:txBody>
      <dsp:txXfrm>
        <a:off x="770504" y="909625"/>
        <a:ext cx="6229198" cy="795717"/>
      </dsp:txXfrm>
    </dsp:sp>
    <dsp:sp modelId="{6D2F38DA-C36F-D14D-8AD6-B209CE65C407}">
      <dsp:nvSpPr>
        <dsp:cNvPr id="0" name=""/>
        <dsp:cNvSpPr/>
      </dsp:nvSpPr>
      <dsp:spPr>
        <a:xfrm>
          <a:off x="443528" y="980508"/>
          <a:ext cx="653951" cy="6539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84B6AE-B0D6-421A-82DC-1E9ED1970587}">
      <dsp:nvSpPr>
        <dsp:cNvPr id="0" name=""/>
        <dsp:cNvSpPr/>
      </dsp:nvSpPr>
      <dsp:spPr>
        <a:xfrm>
          <a:off x="885563" y="1767419"/>
          <a:ext cx="6114139" cy="6491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59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Helvetica"/>
              <a:cs typeface="Helvetica"/>
            </a:rPr>
            <a:t>Post-doc @ School of Computing, NUS</a:t>
          </a:r>
          <a:endParaRPr lang="en-GB" sz="1100" kern="1200">
            <a:latin typeface="Helvetica"/>
            <a:cs typeface="Helvetica"/>
          </a:endParaRPr>
        </a:p>
        <a:p>
          <a:pPr marL="57150" lvl="1" indent="-57150" algn="l" defTabSz="466725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50" kern="1200">
              <a:latin typeface="Helvetica"/>
              <a:cs typeface="Helvetica"/>
            </a:rPr>
            <a:t>Human-robot interaction</a:t>
          </a:r>
          <a:endParaRPr lang="en-GB" sz="1050" kern="1200">
            <a:latin typeface="Helvetica"/>
            <a:cs typeface="Helvetica"/>
          </a:endParaRPr>
        </a:p>
        <a:p>
          <a:pPr marL="57150" lvl="1" indent="-57150" algn="l" defTabSz="466725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050" kern="1200">
              <a:latin typeface="Helvetica"/>
              <a:cs typeface="Helvetica"/>
            </a:rPr>
            <a:t>Modelling Human factors</a:t>
          </a:r>
        </a:p>
      </dsp:txBody>
      <dsp:txXfrm>
        <a:off x="885563" y="1767419"/>
        <a:ext cx="6114139" cy="649112"/>
      </dsp:txXfrm>
    </dsp:sp>
    <dsp:sp modelId="{CD20B6E5-0F38-BC44-9445-C3A695ABC8DD}">
      <dsp:nvSpPr>
        <dsp:cNvPr id="0" name=""/>
        <dsp:cNvSpPr/>
      </dsp:nvSpPr>
      <dsp:spPr>
        <a:xfrm>
          <a:off x="558587" y="1764999"/>
          <a:ext cx="653951" cy="6539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9DF43-50E1-40AE-A474-65BC1FE7BA22}">
      <dsp:nvSpPr>
        <dsp:cNvPr id="0" name=""/>
        <dsp:cNvSpPr/>
      </dsp:nvSpPr>
      <dsp:spPr>
        <a:xfrm>
          <a:off x="770504" y="2614885"/>
          <a:ext cx="6229198" cy="5231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59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Postdoc @ Computer Lab, University of Cambridge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Designing social robots for wellbeing</a:t>
          </a:r>
        </a:p>
      </dsp:txBody>
      <dsp:txXfrm>
        <a:off x="770504" y="2614885"/>
        <a:ext cx="6229198" cy="523161"/>
      </dsp:txXfrm>
    </dsp:sp>
    <dsp:sp modelId="{6446625C-EF4F-074D-9E6E-A63ADEF7FFB2}">
      <dsp:nvSpPr>
        <dsp:cNvPr id="0" name=""/>
        <dsp:cNvSpPr/>
      </dsp:nvSpPr>
      <dsp:spPr>
        <a:xfrm>
          <a:off x="443528" y="2549490"/>
          <a:ext cx="653951" cy="6539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049F4-36ED-440B-A3C5-E572C03BAFB1}">
      <dsp:nvSpPr>
        <dsp:cNvPr id="0" name=""/>
        <dsp:cNvSpPr/>
      </dsp:nvSpPr>
      <dsp:spPr>
        <a:xfrm>
          <a:off x="395622" y="3399376"/>
          <a:ext cx="6604080" cy="52316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59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Lecturer @ University of Southampton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Agents, Interaction and Complexity (AIC) group, Computer Science.</a:t>
          </a:r>
          <a:endParaRPr lang="en-GB" sz="1050" kern="1200"/>
        </a:p>
      </dsp:txBody>
      <dsp:txXfrm>
        <a:off x="395622" y="3399376"/>
        <a:ext cx="6604080" cy="523161"/>
      </dsp:txXfrm>
    </dsp:sp>
    <dsp:sp modelId="{4C501B39-2192-6442-B332-3DC0E060425A}">
      <dsp:nvSpPr>
        <dsp:cNvPr id="0" name=""/>
        <dsp:cNvSpPr/>
      </dsp:nvSpPr>
      <dsp:spPr>
        <a:xfrm>
          <a:off x="68646" y="3333981"/>
          <a:ext cx="653951" cy="6539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54761-1460-C44E-8EE9-132392DCD1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82BE9-307A-AB49-B561-9E71E3CE8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2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3D421-3143-47CA-ACA9-5443A0940D9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A50D6-6132-4FF4-AFC5-01B946DDB4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69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275723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139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9DB66-6FE7-61B0-401C-2675FE94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1FB23-E566-E3F8-9B66-F70D32042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26B75-1E0D-4B99-9FE8-3E06382F3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1E53D-C3E8-CD6A-4D65-CFED11472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030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891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884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737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85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045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A50D6-6132-4FF4-AFC5-01B946DDB4A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26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o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65920" y="2060848"/>
            <a:ext cx="5693680" cy="1226567"/>
          </a:xfrm>
          <a:prstGeom prst="rect">
            <a:avLst/>
          </a:prstGeom>
        </p:spPr>
        <p:txBody>
          <a:bodyPr anchor="ctr" anchorCtr="0"/>
          <a:lstStyle>
            <a:lvl1pPr algn="l">
              <a:defRPr sz="3200" b="1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3688" y="3287415"/>
            <a:ext cx="5688632" cy="864096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763688" y="4149080"/>
            <a:ext cx="2303462" cy="359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22 March 2021</a:t>
            </a:r>
          </a:p>
        </p:txBody>
      </p:sp>
      <p:pic>
        <p:nvPicPr>
          <p:cNvPr id="10" name="University Logo (White)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98F6F96-0FFE-614A-9446-F08F9EE47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-279124"/>
            <a:ext cx="2880320" cy="161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0351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 userDrawn="1"/>
        </p:nvSpPr>
        <p:spPr>
          <a:xfrm>
            <a:off x="1763688" y="2700209"/>
            <a:ext cx="568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spc="-150">
                <a:solidFill>
                  <a:schemeClr val="bg1"/>
                </a:solidFill>
              </a:rPr>
              <a:t>YOUR</a:t>
            </a:r>
            <a:r>
              <a:rPr lang="en-GB" sz="3200" b="1" spc="-150" baseline="0">
                <a:solidFill>
                  <a:schemeClr val="bg1"/>
                </a:solidFill>
              </a:rPr>
              <a:t> QUESTIONS</a:t>
            </a:r>
            <a:endParaRPr lang="en-GB" sz="3200" b="1" spc="-15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1763688" y="3356521"/>
            <a:ext cx="5688632" cy="18006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spc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Copy here</a:t>
            </a:r>
            <a:endParaRPr lang="en-GB"/>
          </a:p>
        </p:txBody>
      </p:sp>
      <p:pic>
        <p:nvPicPr>
          <p:cNvPr id="5" name="University Logo (White)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BA0B3BF-62C4-C043-98EF-4A8D9C6E47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-279124"/>
            <a:ext cx="2880320" cy="161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5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495961"/>
                </a:solidFill>
              </a:defRPr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67544" y="1844824"/>
            <a:ext cx="8135937" cy="439305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2000">
                <a:solidFill>
                  <a:srgbClr val="49596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800">
                <a:solidFill>
                  <a:srgbClr val="495961"/>
                </a:solidFill>
              </a:defRPr>
            </a:lvl2pPr>
            <a:lvl3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3pPr>
            <a:lvl4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4pPr>
            <a:lvl5pPr>
              <a:spcBef>
                <a:spcPts val="0"/>
              </a:spcBef>
              <a:spcAft>
                <a:spcPts val="1200"/>
              </a:spcAft>
              <a:defRPr>
                <a:solidFill>
                  <a:srgbClr val="49596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69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09/21/2026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1798320"/>
            <a:ext cx="78867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4132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071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706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93610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TITLE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67544" y="1844824"/>
            <a:ext cx="8147248" cy="4381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3"/>
          <p:cNvSpPr txBox="1"/>
          <p:nvPr/>
        </p:nvSpPr>
        <p:spPr>
          <a:xfrm>
            <a:off x="8244408" y="6400134"/>
            <a:ext cx="72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4274112-3819-4E3C-A2C8-15D563C4EB1E}" type="slidenum">
              <a:rPr lang="en-GB" sz="1000" smtClean="0">
                <a:solidFill>
                  <a:srgbClr val="495961"/>
                </a:solidFill>
              </a:rPr>
              <a:t>‹#›</a:t>
            </a:fld>
            <a:endParaRPr lang="en-GB" sz="1000">
              <a:solidFill>
                <a:srgbClr val="495961"/>
              </a:solidFill>
            </a:endParaRPr>
          </a:p>
        </p:txBody>
      </p:sp>
      <p:pic>
        <p:nvPicPr>
          <p:cNvPr id="9" name="University Logo" descr="Logo&#10;&#10;Description automatically generated with medium confidence">
            <a:extLst>
              <a:ext uri="{FF2B5EF4-FFF2-40B4-BE49-F238E27FC236}">
                <a16:creationId xmlns:a16="http://schemas.microsoft.com/office/drawing/2014/main" id="{6745DF3F-7D11-3742-A2BB-7A033F566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198" y="-279125"/>
            <a:ext cx="2880322" cy="161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7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 spc="-150">
          <a:solidFill>
            <a:srgbClr val="49596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rgbClr val="49596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800" kern="1200">
          <a:solidFill>
            <a:srgbClr val="49596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rgbClr val="49596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kern="1200">
          <a:solidFill>
            <a:srgbClr val="49596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0"/>
        </a:spcBef>
        <a:spcAft>
          <a:spcPts val="1200"/>
        </a:spcAft>
        <a:buFont typeface="Arial" panose="020B0604020202020204" pitchFamily="34" charset="0"/>
        <a:buChar char="»"/>
        <a:defRPr sz="1400" kern="1200">
          <a:solidFill>
            <a:srgbClr val="49596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hyperlink" Target="mailto:i.p.bodala@soton.ac.uk" TargetMode="External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A-D.Mihai@soton.ac.uk" TargetMode="External"/><Relationship Id="rId3" Type="http://schemas.openxmlformats.org/officeDocument/2006/relationships/image" Target="../media/image11.jpeg"/><Relationship Id="rId7" Type="http://schemas.openxmlformats.org/officeDocument/2006/relationships/hyperlink" Target="mailto:M.Soorati@soton.ac.u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hyperlink" Target="mailto:I.P.Bodala@soton.ac.u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eron/handson-ml/blob/master/math_linear_algebra.ipynb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ageron/handson-ml/blob/master/math_differential_calculus.ipynb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oodle.ecs.soton.ac.uk/course/view.php?id=867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9.png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7.png"/><Relationship Id="rId5" Type="http://schemas.openxmlformats.org/officeDocument/2006/relationships/image" Target="../media/image30.w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oleObject" Target="../embeddings/oleObject5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27.jpeg"/><Relationship Id="rId12" Type="http://schemas.openxmlformats.org/officeDocument/2006/relationships/image" Target="../media/image3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7.png"/><Relationship Id="rId4" Type="http://schemas.openxmlformats.org/officeDocument/2006/relationships/image" Target="../media/image30.wmf"/><Relationship Id="rId9" Type="http://schemas.openxmlformats.org/officeDocument/2006/relationships/image" Target="../media/image16.png"/><Relationship Id="rId14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550C5-E4B1-7B5E-88F4-C463F7B66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984" y="2348880"/>
            <a:ext cx="6776032" cy="1226567"/>
          </a:xfrm>
        </p:spPr>
        <p:txBody>
          <a:bodyPr/>
          <a:lstStyle/>
          <a:p>
            <a:r>
              <a:rPr lang="en-US"/>
              <a:t>Introduction to Machine Learning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2480B-B2A9-5A74-0EB9-DF24B8A56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984" y="3575447"/>
            <a:ext cx="6776032" cy="864096"/>
          </a:xfrm>
        </p:spPr>
        <p:txBody>
          <a:bodyPr/>
          <a:lstStyle/>
          <a:p>
            <a:r>
              <a:rPr lang="en-US"/>
              <a:t>COMP6246: Machine Learning Technologies (MSc)</a:t>
            </a:r>
          </a:p>
          <a:p>
            <a:r>
              <a:rPr lang="en-US"/>
              <a:t>Dr Indu Bodala (</a:t>
            </a:r>
            <a:r>
              <a:rPr lang="en-US" err="1"/>
              <a:t>i.p.bodala@soton.ac.uk</a:t>
            </a:r>
            <a:r>
              <a:rPr lang="en-US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510FB-C974-AD36-DEE8-D9162F2E3F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3984" y="4442619"/>
            <a:ext cx="6776032" cy="359395"/>
          </a:xfrm>
        </p:spPr>
        <p:txBody>
          <a:bodyPr lIns="91440" tIns="45720" rIns="91440" bIns="45720" anchor="t"/>
          <a:lstStyle/>
          <a:p>
            <a:r>
              <a:rPr lang="en-US" dirty="0"/>
              <a:t>21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8288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5E5EC7-DD82-A9E9-5FFD-2F54F37C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Me - My Academic Journey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8909735-5598-2A3B-490D-1FAC69540278}"/>
              </a:ext>
            </a:extLst>
          </p:cNvPr>
          <p:cNvGrpSpPr/>
          <p:nvPr/>
        </p:nvGrpSpPr>
        <p:grpSpPr>
          <a:xfrm>
            <a:off x="1907704" y="1916832"/>
            <a:ext cx="7056784" cy="4183951"/>
            <a:chOff x="2846035" y="1360062"/>
            <a:chExt cx="8128000" cy="4778271"/>
          </a:xfrm>
        </p:grpSpPr>
        <p:graphicFrame>
          <p:nvGraphicFramePr>
            <p:cNvPr id="23" name="Diagram 22">
              <a:extLst>
                <a:ext uri="{FF2B5EF4-FFF2-40B4-BE49-F238E27FC236}">
                  <a16:creationId xmlns:a16="http://schemas.microsoft.com/office/drawing/2014/main" id="{CD9EE23C-279C-050A-F45F-B50B4725CEE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29825002"/>
                </p:ext>
              </p:extLst>
            </p:nvPr>
          </p:nvGraphicFramePr>
          <p:xfrm>
            <a:off x="2846035" y="1360062"/>
            <a:ext cx="8128000" cy="477827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24" name="Picture 2" descr="National University of Singapore - Home | Facebook">
              <a:extLst>
                <a:ext uri="{FF2B5EF4-FFF2-40B4-BE49-F238E27FC236}">
                  <a16:creationId xmlns:a16="http://schemas.microsoft.com/office/drawing/2014/main" id="{72043EE3-D0CB-E222-AF15-26ECF04E87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03" t="6166" r="14406" b="7513"/>
            <a:stretch/>
          </p:blipFill>
          <p:spPr bwMode="auto">
            <a:xfrm>
              <a:off x="3675423" y="3447265"/>
              <a:ext cx="357481" cy="626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University of Cambridge - Photos | Facebook">
              <a:extLst>
                <a:ext uri="{FF2B5EF4-FFF2-40B4-BE49-F238E27FC236}">
                  <a16:creationId xmlns:a16="http://schemas.microsoft.com/office/drawing/2014/main" id="{DC788095-3601-4E78-E68C-BFF0FE7D63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82" t="16164" r="14289" b="16957"/>
            <a:stretch/>
          </p:blipFill>
          <p:spPr bwMode="auto">
            <a:xfrm>
              <a:off x="3466998" y="4377784"/>
              <a:ext cx="540180" cy="525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6" descr="University of Southampton - Home | Facebook">
              <a:extLst>
                <a:ext uri="{FF2B5EF4-FFF2-40B4-BE49-F238E27FC236}">
                  <a16:creationId xmlns:a16="http://schemas.microsoft.com/office/drawing/2014/main" id="{AF3ACBA5-53AA-330A-F795-0B32A19CAD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20" t="4690" r="13627" b="4134"/>
            <a:stretch/>
          </p:blipFill>
          <p:spPr bwMode="auto">
            <a:xfrm>
              <a:off x="3094851" y="5247505"/>
              <a:ext cx="455446" cy="572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 descr="National University of Singapore - Home | Facebook">
              <a:extLst>
                <a:ext uri="{FF2B5EF4-FFF2-40B4-BE49-F238E27FC236}">
                  <a16:creationId xmlns:a16="http://schemas.microsoft.com/office/drawing/2014/main" id="{5A9785EF-FC7A-BDFC-511E-9E693906F2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03" t="6166" r="14406" b="7513"/>
            <a:stretch/>
          </p:blipFill>
          <p:spPr bwMode="auto">
            <a:xfrm>
              <a:off x="3550294" y="2542663"/>
              <a:ext cx="357481" cy="626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logo with a blue leaf&#10;&#10;Description automatically generated">
              <a:extLst>
                <a:ext uri="{FF2B5EF4-FFF2-40B4-BE49-F238E27FC236}">
                  <a16:creationId xmlns:a16="http://schemas.microsoft.com/office/drawing/2014/main" id="{8E947C44-F6A0-64B1-F345-2312C17F7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08457" y="1672954"/>
              <a:ext cx="609678" cy="549216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A9D69B8-B5B6-C268-C088-046ADEB01A3A}"/>
              </a:ext>
            </a:extLst>
          </p:cNvPr>
          <p:cNvSpPr txBox="1"/>
          <p:nvPr/>
        </p:nvSpPr>
        <p:spPr>
          <a:xfrm>
            <a:off x="162098" y="3024065"/>
            <a:ext cx="2267744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/>
              <a:t>Indu Bodala</a:t>
            </a:r>
          </a:p>
          <a:p>
            <a:pPr algn="ctr"/>
            <a:endParaRPr lang="en-US" sz="2000"/>
          </a:p>
          <a:p>
            <a:pPr algn="ctr"/>
            <a:r>
              <a:rPr lang="en-US" sz="1400"/>
              <a:t>Module Leader, COMP6246.</a:t>
            </a:r>
          </a:p>
          <a:p>
            <a:pPr algn="ctr"/>
            <a:endParaRPr lang="en-US" sz="1400"/>
          </a:p>
          <a:p>
            <a:pPr algn="ctr"/>
            <a:r>
              <a:rPr lang="en-US" sz="1400"/>
              <a:t>Email: </a:t>
            </a:r>
            <a:r>
              <a:rPr lang="en-US" sz="1400">
                <a:hlinkClick r:id="rId11"/>
              </a:rPr>
              <a:t>i.p.bodala@soton.ac.uk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0052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3867-6C9A-B306-3BEB-A13056197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692696"/>
            <a:ext cx="8136904" cy="694637"/>
          </a:xfrm>
        </p:spPr>
        <p:txBody>
          <a:bodyPr/>
          <a:lstStyle/>
          <a:p>
            <a:r>
              <a:rPr lang="en-US"/>
              <a:t>My Research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798B90-EC54-C9F4-36EB-C71570298CC7}"/>
              </a:ext>
            </a:extLst>
          </p:cNvPr>
          <p:cNvGrpSpPr/>
          <p:nvPr/>
        </p:nvGrpSpPr>
        <p:grpSpPr>
          <a:xfrm>
            <a:off x="338582" y="1498426"/>
            <a:ext cx="4089400" cy="2209665"/>
            <a:chOff x="482601" y="1437081"/>
            <a:chExt cx="4955080" cy="228600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EFFFD7E-D0FD-CFCD-54D3-589C4A389B87}"/>
                </a:ext>
              </a:extLst>
            </p:cNvPr>
            <p:cNvSpPr/>
            <p:nvPr/>
          </p:nvSpPr>
          <p:spPr>
            <a:xfrm>
              <a:off x="482601" y="1437081"/>
              <a:ext cx="4955080" cy="2286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11AF12-1016-F020-945B-BBA73974F20A}"/>
                </a:ext>
              </a:extLst>
            </p:cNvPr>
            <p:cNvSpPr txBox="1"/>
            <p:nvPr/>
          </p:nvSpPr>
          <p:spPr>
            <a:xfrm>
              <a:off x="635548" y="1527717"/>
              <a:ext cx="3822598" cy="352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Human-Robot Interaction (HRI)</a:t>
              </a:r>
            </a:p>
          </p:txBody>
        </p:sp>
        <p:pic>
          <p:nvPicPr>
            <p:cNvPr id="9" name="Picture 2" descr="Study Suggests What the Human-Robot Relationship Looks Like | Discover  Magazine">
              <a:extLst>
                <a:ext uri="{FF2B5EF4-FFF2-40B4-BE49-F238E27FC236}">
                  <a16:creationId xmlns:a16="http://schemas.microsoft.com/office/drawing/2014/main" id="{9B27AB4A-46DC-DB36-86FA-17CF4F897B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7982" y="1897048"/>
              <a:ext cx="1863718" cy="1219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9F89D2-A930-7ED0-0683-4057C94196B0}"/>
                </a:ext>
              </a:extLst>
            </p:cNvPr>
            <p:cNvSpPr txBox="1"/>
            <p:nvPr/>
          </p:nvSpPr>
          <p:spPr>
            <a:xfrm>
              <a:off x="635548" y="1974067"/>
              <a:ext cx="2637322" cy="166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AI/ML methodologies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Designing interactions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Human in-the-loop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Robot efficiency vs. user trust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E30F2B-927E-D45F-A282-543D045B6B59}"/>
              </a:ext>
            </a:extLst>
          </p:cNvPr>
          <p:cNvGrpSpPr/>
          <p:nvPr/>
        </p:nvGrpSpPr>
        <p:grpSpPr>
          <a:xfrm>
            <a:off x="4788024" y="1484784"/>
            <a:ext cx="4089400" cy="2209665"/>
            <a:chOff x="6393364" y="1360062"/>
            <a:chExt cx="5316035" cy="2286000"/>
          </a:xfrm>
        </p:grpSpPr>
        <p:pic>
          <p:nvPicPr>
            <p:cNvPr id="12" name="Picture 4" descr="Opinion | The Secret to a Good Robot Teacher - The New York Times">
              <a:extLst>
                <a:ext uri="{FF2B5EF4-FFF2-40B4-BE49-F238E27FC236}">
                  <a16:creationId xmlns:a16="http://schemas.microsoft.com/office/drawing/2014/main" id="{EA7B2F22-E78C-738B-EEAC-F95137017B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653258" y="1892392"/>
              <a:ext cx="2029044" cy="1405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A7470613-99A4-65FE-8337-F601EE16E081}"/>
                </a:ext>
              </a:extLst>
            </p:cNvPr>
            <p:cNvSpPr/>
            <p:nvPr/>
          </p:nvSpPr>
          <p:spPr>
            <a:xfrm>
              <a:off x="6393364" y="1360062"/>
              <a:ext cx="5316035" cy="2286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2C6147-71F4-CBEE-D582-44B2368A265F}"/>
                </a:ext>
              </a:extLst>
            </p:cNvPr>
            <p:cNvSpPr txBox="1"/>
            <p:nvPr/>
          </p:nvSpPr>
          <p:spPr>
            <a:xfrm>
              <a:off x="6698094" y="1527716"/>
              <a:ext cx="4082642" cy="3502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Social Assistive Robots (SARs)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DBF21D-9027-88F3-02D5-387B1717ED5D}"/>
                </a:ext>
              </a:extLst>
            </p:cNvPr>
            <p:cNvSpPr txBox="1"/>
            <p:nvPr/>
          </p:nvSpPr>
          <p:spPr>
            <a:xfrm>
              <a:off x="6580576" y="1892392"/>
              <a:ext cx="3643876" cy="1655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Robots in social scenarios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User perceptions and acceptance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Affective computing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Examples: robots for education; household robots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3D13F9-E006-5AE2-AF48-634F7F8CEE8C}"/>
              </a:ext>
            </a:extLst>
          </p:cNvPr>
          <p:cNvGrpSpPr/>
          <p:nvPr/>
        </p:nvGrpSpPr>
        <p:grpSpPr>
          <a:xfrm>
            <a:off x="323526" y="4036589"/>
            <a:ext cx="4089400" cy="2209665"/>
            <a:chOff x="482600" y="3975244"/>
            <a:chExt cx="5316182" cy="2286000"/>
          </a:xfrm>
        </p:grpSpPr>
        <p:pic>
          <p:nvPicPr>
            <p:cNvPr id="17" name="Picture 16" descr="Chart&#10;&#10;Description automatically generated">
              <a:extLst>
                <a:ext uri="{FF2B5EF4-FFF2-40B4-BE49-F238E27FC236}">
                  <a16:creationId xmlns:a16="http://schemas.microsoft.com/office/drawing/2014/main" id="{461B0512-7B6F-5C66-4236-F2D5EC2A1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1854" y="4332836"/>
              <a:ext cx="2696928" cy="1645126"/>
            </a:xfrm>
            <a:prstGeom prst="rect">
              <a:avLst/>
            </a:prstGeom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47E3A5B-EB48-33CA-4279-B69BF7A2D90E}"/>
                </a:ext>
              </a:extLst>
            </p:cNvPr>
            <p:cNvSpPr/>
            <p:nvPr/>
          </p:nvSpPr>
          <p:spPr>
            <a:xfrm>
              <a:off x="482600" y="3975244"/>
              <a:ext cx="5316034" cy="2286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F2BFE7-F95D-4F8B-D910-64CFB156C2A7}"/>
                </a:ext>
              </a:extLst>
            </p:cNvPr>
            <p:cNvSpPr txBox="1"/>
            <p:nvPr/>
          </p:nvSpPr>
          <p:spPr>
            <a:xfrm>
              <a:off x="635547" y="4092413"/>
              <a:ext cx="2876184" cy="3502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Health Technologies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08B1B1-68C7-1600-2EFA-DAB1365077BD}"/>
                </a:ext>
              </a:extLst>
            </p:cNvPr>
            <p:cNvSpPr txBox="1"/>
            <p:nvPr/>
          </p:nvSpPr>
          <p:spPr>
            <a:xfrm>
              <a:off x="635548" y="4488711"/>
              <a:ext cx="2637322" cy="143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/>
                <a:t>Computational models for diagnosis and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/>
                <a:t>Probabilistic models and graph networks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/>
                <a:t>Adaptive interventions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219EE6D-6538-BD9E-D2B9-EA711726E71F}"/>
              </a:ext>
            </a:extLst>
          </p:cNvPr>
          <p:cNvGrpSpPr/>
          <p:nvPr/>
        </p:nvGrpSpPr>
        <p:grpSpPr>
          <a:xfrm>
            <a:off x="4788024" y="4070119"/>
            <a:ext cx="4089286" cy="2209665"/>
            <a:chOff x="6393364" y="3975244"/>
            <a:chExt cx="5316036" cy="2286000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241C403-78C9-C7FC-EF02-EE57D77E244D}"/>
                </a:ext>
              </a:extLst>
            </p:cNvPr>
            <p:cNvSpPr/>
            <p:nvPr/>
          </p:nvSpPr>
          <p:spPr>
            <a:xfrm>
              <a:off x="6393364" y="3975244"/>
              <a:ext cx="5316036" cy="2286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26139C-D634-7D53-ECCB-442EF97A39C2}"/>
                </a:ext>
              </a:extLst>
            </p:cNvPr>
            <p:cNvSpPr txBox="1"/>
            <p:nvPr/>
          </p:nvSpPr>
          <p:spPr>
            <a:xfrm>
              <a:off x="6718570" y="4092413"/>
              <a:ext cx="3278375" cy="3502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Cognitive Neuroscience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D65F72-9900-F32F-33BB-18B17D3932AD}"/>
                </a:ext>
              </a:extLst>
            </p:cNvPr>
            <p:cNvSpPr txBox="1"/>
            <p:nvPr/>
          </p:nvSpPr>
          <p:spPr>
            <a:xfrm>
              <a:off x="6718570" y="4488711"/>
              <a:ext cx="2637322" cy="143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/>
                <a:t>Brain-computer interfaces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/>
                <a:t>Decoding mental states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/>
                <a:t>Multimodal signal analysis – EEG, Eye tracking. Heart rate.</a:t>
              </a:r>
            </a:p>
          </p:txBody>
        </p:sp>
        <p:pic>
          <p:nvPicPr>
            <p:cNvPr id="25" name="Picture 4" descr="Frontiers | EEG and Eye Tracking Demonstrate Vigilance Enhancement with  Challenge Integration">
              <a:extLst>
                <a:ext uri="{FF2B5EF4-FFF2-40B4-BE49-F238E27FC236}">
                  <a16:creationId xmlns:a16="http://schemas.microsoft.com/office/drawing/2014/main" id="{45043DE2-58CF-B5AF-1A1B-A36BAC445E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311" r="56922" b="7590"/>
            <a:stretch/>
          </p:blipFill>
          <p:spPr bwMode="auto">
            <a:xfrm>
              <a:off x="9843515" y="4524190"/>
              <a:ext cx="1667869" cy="15897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7870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B73A1-687B-ECEB-9C90-D25B0D04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2EF0-530B-67AB-C810-029A77E4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8D5BB-98ED-13B1-ECCE-B15BFF994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Module Overview </a:t>
            </a:r>
          </a:p>
          <a:p>
            <a:pPr lvl="1"/>
            <a:r>
              <a:rPr lang="en-US"/>
              <a:t>Why COMP6246?</a:t>
            </a:r>
          </a:p>
          <a:p>
            <a:pPr lvl="1"/>
            <a:r>
              <a:rPr lang="en-US"/>
              <a:t>Learning Objectives</a:t>
            </a:r>
          </a:p>
          <a:p>
            <a:pPr lvl="1"/>
            <a:r>
              <a:rPr lang="en-US"/>
              <a:t>Delivery and Assessment</a:t>
            </a:r>
          </a:p>
          <a:p>
            <a:pPr lvl="1"/>
            <a:r>
              <a:rPr lang="en-US"/>
              <a:t>Resources</a:t>
            </a:r>
          </a:p>
          <a:p>
            <a:r>
              <a:rPr lang="en-US"/>
              <a:t>Introduction to Machine Learning</a:t>
            </a:r>
          </a:p>
          <a:p>
            <a:pPr lvl="1"/>
            <a:r>
              <a:rPr lang="en-US"/>
              <a:t>Definitions</a:t>
            </a:r>
          </a:p>
          <a:p>
            <a:pPr lvl="1"/>
            <a:r>
              <a:rPr lang="en-US"/>
              <a:t>Types of ML systems</a:t>
            </a:r>
          </a:p>
        </p:txBody>
      </p:sp>
    </p:spTree>
    <p:extLst>
      <p:ext uri="{BB962C8B-B14F-4D97-AF65-F5344CB8AC3E}">
        <p14:creationId xmlns:p14="http://schemas.microsoft.com/office/powerpoint/2010/main" val="4206354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842F-052B-C5C3-7872-BACFB358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COMP6246?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52F31-7B44-A6A6-CDE1-DCB941264B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Intuitive, practical, hands-on course on Machine Learning</a:t>
            </a:r>
          </a:p>
          <a:p>
            <a:r>
              <a:rPr lang="en-US" dirty="0"/>
              <a:t>Covers a large number of techniques from the simplest (e.g. linear regression) to the most current (deep learning)</a:t>
            </a:r>
          </a:p>
          <a:p>
            <a:r>
              <a:rPr lang="en-US" dirty="0"/>
              <a:t>Discusses practical challenges arising when implementing ML algorithms</a:t>
            </a:r>
          </a:p>
          <a:p>
            <a:r>
              <a:rPr lang="en-US" dirty="0"/>
              <a:t>Case studies – Health, computer vision, etc.</a:t>
            </a:r>
          </a:p>
          <a:p>
            <a:pPr lvl="1"/>
            <a:r>
              <a:rPr lang="en-US" dirty="0"/>
              <a:t>Use Case Lectures</a:t>
            </a:r>
          </a:p>
          <a:p>
            <a:pPr lvl="1"/>
            <a:r>
              <a:rPr lang="en-US" dirty="0"/>
              <a:t>Invited Talks</a:t>
            </a:r>
          </a:p>
          <a:p>
            <a:r>
              <a:rPr lang="en-US" dirty="0"/>
              <a:t>Best Practices and Ethics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1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E7AC-B1BB-B012-57C5-74523C6D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Outcomes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B29AF4-088D-DDB0-E033-CEB3025EE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781614"/>
              </p:ext>
            </p:extLst>
          </p:nvPr>
        </p:nvGraphicFramePr>
        <p:xfrm>
          <a:off x="468313" y="2295295"/>
          <a:ext cx="8161072" cy="3938613"/>
        </p:xfrm>
        <a:graphic>
          <a:graphicData uri="http://schemas.openxmlformats.org/drawingml/2006/table">
            <a:tbl>
              <a:tblPr/>
              <a:tblGrid>
                <a:gridCol w="1369736">
                  <a:extLst>
                    <a:ext uri="{9D8B030D-6E8A-4147-A177-3AD203B41FA5}">
                      <a16:colId xmlns:a16="http://schemas.microsoft.com/office/drawing/2014/main" val="2634290549"/>
                    </a:ext>
                  </a:extLst>
                </a:gridCol>
                <a:gridCol w="6791336">
                  <a:extLst>
                    <a:ext uri="{9D8B030D-6E8A-4147-A177-3AD203B41FA5}">
                      <a16:colId xmlns:a16="http://schemas.microsoft.com/office/drawing/2014/main" val="2446384105"/>
                    </a:ext>
                  </a:extLst>
                </a:gridCol>
              </a:tblGrid>
              <a:tr h="5626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400" dirty="0">
                          <a:effectLst/>
                        </a:rPr>
                        <a:t>A1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dirty="0">
                          <a:effectLst/>
                        </a:rPr>
                        <a:t>The </a:t>
                      </a:r>
                      <a:r>
                        <a:rPr lang="en-GB" sz="1400" dirty="0">
                          <a:effectLst/>
                          <a:highlight>
                            <a:srgbClr val="FFFF00"/>
                          </a:highlight>
                        </a:rPr>
                        <a:t>algorithmic basis</a:t>
                      </a:r>
                      <a:r>
                        <a:rPr lang="en-GB" sz="1400" dirty="0">
                          <a:effectLst/>
                        </a:rPr>
                        <a:t> of machine learning algorithms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154964"/>
                  </a:ext>
                </a:extLst>
              </a:tr>
              <a:tr h="5626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400" dirty="0">
                          <a:effectLst/>
                        </a:rPr>
                        <a:t>A2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dirty="0">
                          <a:effectLst/>
                          <a:highlight>
                            <a:srgbClr val="FFFF00"/>
                          </a:highlight>
                        </a:rPr>
                        <a:t>Implementation issues</a:t>
                      </a:r>
                      <a:r>
                        <a:rPr lang="en-GB" sz="1400" dirty="0">
                          <a:effectLst/>
                        </a:rPr>
                        <a:t> in learning algorithms and the </a:t>
                      </a:r>
                      <a:r>
                        <a:rPr lang="en-GB" sz="1400" dirty="0">
                          <a:effectLst/>
                          <a:highlight>
                            <a:srgbClr val="FFFF00"/>
                          </a:highlight>
                        </a:rPr>
                        <a:t>evaluation</a:t>
                      </a:r>
                      <a:r>
                        <a:rPr lang="en-GB" sz="1400" dirty="0">
                          <a:effectLst/>
                        </a:rPr>
                        <a:t> of their performance.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345907"/>
                  </a:ext>
                </a:extLst>
              </a:tr>
              <a:tr h="5626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400" dirty="0">
                          <a:effectLst/>
                        </a:rPr>
                        <a:t>B1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dirty="0">
                          <a:effectLst/>
                          <a:highlight>
                            <a:srgbClr val="FFFF00"/>
                          </a:highlight>
                        </a:rPr>
                        <a:t>Characterise data</a:t>
                      </a:r>
                      <a:r>
                        <a:rPr lang="en-GB" sz="1400" dirty="0">
                          <a:effectLst/>
                        </a:rPr>
                        <a:t> in terms of explanatory models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970954"/>
                  </a:ext>
                </a:extLst>
              </a:tr>
              <a:tr h="32151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400" dirty="0">
                          <a:effectLst/>
                        </a:rPr>
                        <a:t>B2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dirty="0">
                          <a:effectLst/>
                          <a:highlight>
                            <a:srgbClr val="FFFF00"/>
                          </a:highlight>
                        </a:rPr>
                        <a:t>Critically appraise </a:t>
                      </a:r>
                      <a:r>
                        <a:rPr lang="en-GB" sz="1400" dirty="0">
                          <a:effectLst/>
                        </a:rPr>
                        <a:t>the uses of machine learning techniques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68447"/>
                  </a:ext>
                </a:extLst>
              </a:tr>
              <a:tr h="5626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400" dirty="0">
                          <a:effectLst/>
                        </a:rPr>
                        <a:t>B3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dirty="0">
                          <a:effectLst/>
                        </a:rPr>
                        <a:t>Appreciation of the </a:t>
                      </a:r>
                      <a:r>
                        <a:rPr lang="en-GB" sz="1400" dirty="0">
                          <a:effectLst/>
                          <a:highlight>
                            <a:srgbClr val="FFFF00"/>
                          </a:highlight>
                        </a:rPr>
                        <a:t>landscape of tools</a:t>
                      </a:r>
                      <a:r>
                        <a:rPr lang="en-GB" sz="1400" dirty="0">
                          <a:effectLst/>
                        </a:rPr>
                        <a:t> used for modern machine learning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866728"/>
                  </a:ext>
                </a:extLst>
              </a:tr>
              <a:tr h="5626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400" dirty="0">
                          <a:effectLst/>
                        </a:rPr>
                        <a:t>D1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dirty="0">
                          <a:effectLst/>
                          <a:highlight>
                            <a:srgbClr val="FFFF00"/>
                          </a:highlight>
                        </a:rPr>
                        <a:t>Systematically work with data</a:t>
                      </a:r>
                      <a:r>
                        <a:rPr lang="en-GB" sz="1400" dirty="0">
                          <a:effectLst/>
                        </a:rPr>
                        <a:t> to learn new patterns or concepts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027545"/>
                  </a:ext>
                </a:extLst>
              </a:tr>
              <a:tr h="80379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400" dirty="0">
                          <a:effectLst/>
                        </a:rPr>
                        <a:t>D2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dirty="0">
                          <a:effectLst/>
                        </a:rPr>
                        <a:t>Gain expertise in working with machine learning to make predictions in a </a:t>
                      </a:r>
                      <a:r>
                        <a:rPr lang="en-GB" sz="1400" dirty="0">
                          <a:effectLst/>
                          <a:highlight>
                            <a:srgbClr val="FFFF00"/>
                          </a:highlight>
                        </a:rPr>
                        <a:t>scientific computing environment</a:t>
                      </a:r>
                    </a:p>
                  </a:txBody>
                  <a:tcPr marL="70461" marR="70461" marT="35230" marB="3523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356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45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877C-46BD-82DA-625A-E6A5B1AEF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C280-EB3B-F844-DA42-A04D4440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672"/>
            <a:ext cx="8136904" cy="648072"/>
          </a:xfrm>
        </p:spPr>
        <p:txBody>
          <a:bodyPr/>
          <a:lstStyle/>
          <a:p>
            <a:r>
              <a:rPr lang="en-US"/>
              <a:t>Teaching Team </a:t>
            </a:r>
          </a:p>
        </p:txBody>
      </p:sp>
      <p:pic>
        <p:nvPicPr>
          <p:cNvPr id="1026" name="Picture 2" descr="Doctor Indu Bodala">
            <a:extLst>
              <a:ext uri="{FF2B5EF4-FFF2-40B4-BE49-F238E27FC236}">
                <a16:creationId xmlns:a16="http://schemas.microsoft.com/office/drawing/2014/main" id="{22519F68-3F97-0CA2-FA1C-76CE8F6E2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10158"/>
            <a:ext cx="1916832" cy="191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F79FE1-372D-1317-050C-0571890F2A31}"/>
              </a:ext>
            </a:extLst>
          </p:cNvPr>
          <p:cNvSpPr txBox="1"/>
          <p:nvPr/>
        </p:nvSpPr>
        <p:spPr>
          <a:xfrm>
            <a:off x="537869" y="3579532"/>
            <a:ext cx="22285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Dr Indu Bodala </a:t>
            </a:r>
          </a:p>
          <a:p>
            <a:r>
              <a:rPr lang="en-US" sz="1400"/>
              <a:t>(module leader;</a:t>
            </a:r>
          </a:p>
          <a:p>
            <a:r>
              <a:rPr lang="en-US" sz="1400">
                <a:hlinkClick r:id="rId4"/>
              </a:rPr>
              <a:t>I.P.Bodala@soton.ac.uk</a:t>
            </a:r>
            <a:r>
              <a:rPr lang="en-US" sz="14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Human-Robot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ML for Health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Cognitive Neuroscience</a:t>
            </a:r>
          </a:p>
        </p:txBody>
      </p:sp>
      <p:pic>
        <p:nvPicPr>
          <p:cNvPr id="1030" name="Picture 6" descr="Doctor Mohammad Soorati">
            <a:extLst>
              <a:ext uri="{FF2B5EF4-FFF2-40B4-BE49-F238E27FC236}">
                <a16:creationId xmlns:a16="http://schemas.microsoft.com/office/drawing/2014/main" id="{3E7496D1-2B29-614F-FE29-8C82E242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144" y="1506421"/>
            <a:ext cx="1918800" cy="19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aniela Mihai">
            <a:extLst>
              <a:ext uri="{FF2B5EF4-FFF2-40B4-BE49-F238E27FC236}">
                <a16:creationId xmlns:a16="http://schemas.microsoft.com/office/drawing/2014/main" id="{36450B36-0830-5993-3F3B-897D214F5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615" y="1511902"/>
            <a:ext cx="1916833" cy="191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A31209-8D79-B8E3-4D25-5F8DB020A468}"/>
              </a:ext>
            </a:extLst>
          </p:cNvPr>
          <p:cNvSpPr txBox="1"/>
          <p:nvPr/>
        </p:nvSpPr>
        <p:spPr>
          <a:xfrm>
            <a:off x="3606687" y="3574706"/>
            <a:ext cx="237127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Dr Mohammad </a:t>
            </a:r>
            <a:r>
              <a:rPr lang="en-US" sz="1400" err="1"/>
              <a:t>Soorati</a:t>
            </a:r>
            <a:r>
              <a:rPr lang="en-US" sz="1400"/>
              <a:t> </a:t>
            </a:r>
          </a:p>
          <a:p>
            <a:r>
              <a:rPr lang="en-US" sz="1400"/>
              <a:t>(</a:t>
            </a:r>
            <a:r>
              <a:rPr lang="en-US" sz="1400">
                <a:hlinkClick r:id="rId7"/>
              </a:rPr>
              <a:t>M.Soorati@soton.ac.uk</a:t>
            </a:r>
            <a:r>
              <a:rPr lang="en-US" sz="14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Multi Robot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Human-Swarm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Explainable and Trustworthy AI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A7850-A5FA-C00C-748C-7B4D6E74E5E3}"/>
              </a:ext>
            </a:extLst>
          </p:cNvPr>
          <p:cNvSpPr txBox="1"/>
          <p:nvPr/>
        </p:nvSpPr>
        <p:spPr>
          <a:xfrm>
            <a:off x="6686443" y="3582608"/>
            <a:ext cx="240294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Dr Daniela Mihai </a:t>
            </a:r>
          </a:p>
          <a:p>
            <a:r>
              <a:rPr lang="en-US" sz="1400"/>
              <a:t>(</a:t>
            </a:r>
            <a:r>
              <a:rPr lang="en-US" sz="1400">
                <a:hlinkClick r:id="rId8"/>
              </a:rPr>
              <a:t>A-D.Mihai@soton.ac.uk</a:t>
            </a:r>
            <a:r>
              <a:rPr lang="en-US" sz="14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Representation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Multi-agent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Emergent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216566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4BAB-4C20-0895-D9E4-AC337022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672"/>
            <a:ext cx="8136904" cy="648072"/>
          </a:xfrm>
        </p:spPr>
        <p:txBody>
          <a:bodyPr/>
          <a:lstStyle/>
          <a:p>
            <a:r>
              <a:rPr lang="en-US"/>
              <a:t>Module Delivery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96012-2FC1-C57C-9C73-D364EBB451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268760"/>
            <a:ext cx="8135937" cy="51125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Lectures – In-person; schedule on Blackboard</a:t>
            </a:r>
          </a:p>
          <a:p>
            <a:pPr lvl="1"/>
            <a:r>
              <a:rPr lang="en-US" dirty="0"/>
              <a:t>Theory Lectures: Week 1 to Week 5</a:t>
            </a:r>
          </a:p>
          <a:p>
            <a:pPr lvl="1"/>
            <a:r>
              <a:rPr lang="en-US" dirty="0"/>
              <a:t>Practical Lectures and Coursework Surgeries: Week 6 to Week 10</a:t>
            </a:r>
          </a:p>
          <a:p>
            <a:pPr lvl="1"/>
            <a:r>
              <a:rPr lang="en-US" dirty="0"/>
              <a:t>Exam Support Session: Week 12</a:t>
            </a:r>
          </a:p>
          <a:p>
            <a:r>
              <a:rPr lang="en-US" dirty="0"/>
              <a:t>Labs – Weeks 1-7; Friday, 4-6 pm; Computing Lab.</a:t>
            </a:r>
          </a:p>
          <a:p>
            <a:r>
              <a:rPr lang="en-US" dirty="0"/>
              <a:t>Textbook – </a:t>
            </a:r>
            <a:r>
              <a:rPr lang="en-GB" b="1" dirty="0"/>
              <a:t>Aurélien </a:t>
            </a:r>
            <a:r>
              <a:rPr lang="en-GB" b="1" dirty="0" err="1"/>
              <a:t>Géron</a:t>
            </a:r>
            <a:r>
              <a:rPr lang="en-GB" b="1" dirty="0"/>
              <a:t> - Hands-On Machine Learning with Scikit-Learn &amp; TensorFlow</a:t>
            </a:r>
            <a:r>
              <a:rPr lang="en-GB" dirty="0"/>
              <a:t> </a:t>
            </a:r>
          </a:p>
          <a:p>
            <a:r>
              <a:rPr lang="en-GB" dirty="0"/>
              <a:t>Mathematical prerequisites - </a:t>
            </a:r>
            <a:r>
              <a:rPr lang="en-US" dirty="0"/>
              <a:t>Some helpful resources from the textbook</a:t>
            </a:r>
          </a:p>
          <a:p>
            <a:pPr lvl="2"/>
            <a:r>
              <a:rPr lang="en-US" dirty="0">
                <a:hlinkClick r:id="rId3"/>
              </a:rPr>
              <a:t>https://github.com/ageron/handson-ml/blob/master/math_linear_algebra.ipynb</a:t>
            </a:r>
            <a:endParaRPr lang="en-US" dirty="0"/>
          </a:p>
          <a:p>
            <a:pPr lvl="2"/>
            <a:r>
              <a:rPr lang="en-US" dirty="0">
                <a:hlinkClick r:id="rId4"/>
              </a:rPr>
              <a:t>https://github.com/ageron/handson-ml/blob/master/math_differential_calculus.ipynb</a:t>
            </a:r>
            <a:endParaRPr lang="en-US" dirty="0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035CF-E5E6-A1E7-90E0-62D178502B79}"/>
              </a:ext>
            </a:extLst>
          </p:cNvPr>
          <p:cNvSpPr txBox="1"/>
          <p:nvPr/>
        </p:nvSpPr>
        <p:spPr>
          <a:xfrm>
            <a:off x="6365368" y="6381328"/>
            <a:ext cx="2238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*Weeks are semester weeks</a:t>
            </a:r>
          </a:p>
        </p:txBody>
      </p:sp>
    </p:spTree>
    <p:extLst>
      <p:ext uri="{BB962C8B-B14F-4D97-AF65-F5344CB8AC3E}">
        <p14:creationId xmlns:p14="http://schemas.microsoft.com/office/powerpoint/2010/main" val="439756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6E0A-5D87-93A5-8E38-A1AF08298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5CA29-0E1F-59EF-383C-370DA85C48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628800"/>
            <a:ext cx="8135937" cy="46805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Slides/notes for lectures and labs are available before each session on </a:t>
            </a:r>
            <a:r>
              <a:rPr lang="en-US" dirty="0">
                <a:ea typeface="+mn-lt"/>
                <a:cs typeface="+mn-lt"/>
                <a:hlinkClick r:id="rId2"/>
              </a:rPr>
              <a:t>Moodle</a:t>
            </a:r>
            <a:endParaRPr lang="en-US"/>
          </a:p>
          <a:p>
            <a:r>
              <a:rPr lang="en-US" dirty="0"/>
              <a:t>Coursework will be published in Week 4</a:t>
            </a:r>
          </a:p>
          <a:p>
            <a:r>
              <a:rPr lang="en-US" dirty="0"/>
              <a:t>Pay attention to Announcements on Moodle re. lecture schedule, coursework submission links, etc.</a:t>
            </a:r>
          </a:p>
          <a:p>
            <a:r>
              <a:rPr lang="en-US" dirty="0"/>
              <a:t>Lectures are in-person. Recordings are available later, but may not capture all classroom discussions</a:t>
            </a:r>
          </a:p>
          <a:p>
            <a:r>
              <a:rPr lang="en-US" dirty="0"/>
              <a:t>Exam support sessions and coursework surgeries are scheduled for assessment support</a:t>
            </a:r>
          </a:p>
          <a:p>
            <a:r>
              <a:rPr lang="en-US" dirty="0"/>
              <a:t>Email responses may not be immediate but may take 1-2 working days; please make use of the contact hours, i.e. lectures/labs.</a:t>
            </a:r>
          </a:p>
        </p:txBody>
      </p:sp>
    </p:spTree>
    <p:extLst>
      <p:ext uri="{BB962C8B-B14F-4D97-AF65-F5344CB8AC3E}">
        <p14:creationId xmlns:p14="http://schemas.microsoft.com/office/powerpoint/2010/main" val="235451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A52B-F98E-1A73-6BEE-8719AA51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D4B1D-70A6-7506-920A-3BE441FF93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Exam – 50% </a:t>
            </a:r>
          </a:p>
          <a:p>
            <a:pPr lvl="1"/>
            <a:r>
              <a:rPr lang="en-US" dirty="0"/>
              <a:t>Topics from theory lectures</a:t>
            </a:r>
          </a:p>
          <a:p>
            <a:pPr lvl="1"/>
            <a:r>
              <a:rPr lang="en-US" dirty="0"/>
              <a:t>Content from coursework use-case lectures and guest lectures not included</a:t>
            </a:r>
          </a:p>
          <a:p>
            <a:r>
              <a:rPr lang="en-US" dirty="0"/>
              <a:t>Coursework – 50%</a:t>
            </a:r>
          </a:p>
          <a:p>
            <a:pPr lvl="1"/>
            <a:r>
              <a:rPr lang="en-US" dirty="0"/>
              <a:t>ML development and analysis on a dataset</a:t>
            </a:r>
          </a:p>
          <a:p>
            <a:pPr lvl="1"/>
            <a:r>
              <a:rPr lang="en-US" dirty="0"/>
              <a:t>Deadline in week 11</a:t>
            </a:r>
          </a:p>
          <a:p>
            <a:pPr lvl="1"/>
            <a:r>
              <a:rPr lang="en-US" dirty="0"/>
              <a:t>Coursework description released in week 4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1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0185-037D-58F3-53D5-C406314C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8136904" cy="699622"/>
          </a:xfrm>
        </p:spPr>
        <p:txBody>
          <a:bodyPr/>
          <a:lstStyle/>
          <a:p>
            <a:r>
              <a:rPr lang="en-US"/>
              <a:t>Introduction to 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0899F-7C56-322D-529B-F9D3ABA38C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44" y="1222026"/>
            <a:ext cx="8135937" cy="46558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The science (and art) of programming computers so that they can learn from data.​</a:t>
            </a:r>
          </a:p>
          <a:p>
            <a:r>
              <a:rPr lang="en-US" dirty="0"/>
              <a:t>When is ML useful?</a:t>
            </a:r>
          </a:p>
          <a:p>
            <a:pPr lvl="1"/>
            <a:r>
              <a:rPr lang="en-US" dirty="0"/>
              <a:t>Problems that are difficult to solve with traditional programming - existing solutions require a lot of manual tuning or long lists of rules</a:t>
            </a:r>
          </a:p>
          <a:p>
            <a:pPr lvl="1"/>
            <a:r>
              <a:rPr lang="en-US" dirty="0"/>
              <a:t>Fluctuating environments - to predict or classify new data</a:t>
            </a:r>
          </a:p>
          <a:p>
            <a:pPr lvl="1"/>
            <a:r>
              <a:rPr lang="en-US" dirty="0"/>
              <a:t>Getting insights about complex problems and large amounts of data (data mining, data science).</a:t>
            </a:r>
          </a:p>
          <a:p>
            <a:pPr lvl="1"/>
            <a:r>
              <a:rPr lang="en-US" dirty="0"/>
              <a:t>Efficient, real-time data processing</a:t>
            </a:r>
          </a:p>
          <a:p>
            <a:r>
              <a:rPr lang="en-US" dirty="0"/>
              <a:t>Real life examples of ML systems</a:t>
            </a:r>
          </a:p>
          <a:p>
            <a:pPr lvl="1"/>
            <a:r>
              <a:rPr lang="en-US" dirty="0"/>
              <a:t>Spam filter on your email</a:t>
            </a:r>
          </a:p>
          <a:p>
            <a:pPr lvl="1"/>
            <a:r>
              <a:rPr lang="en-US" dirty="0"/>
              <a:t>Face recognition on your phone</a:t>
            </a:r>
          </a:p>
        </p:txBody>
      </p:sp>
    </p:spTree>
    <p:extLst>
      <p:ext uri="{BB962C8B-B14F-4D97-AF65-F5344CB8AC3E}">
        <p14:creationId xmlns:p14="http://schemas.microsoft.com/office/powerpoint/2010/main" val="403058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4722-B81F-C6F7-44A4-C188AC32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ML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AF597-EA8B-268B-3D1C-DD6BCB9899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Data</a:t>
            </a:r>
          </a:p>
          <a:p>
            <a:pPr lvl="1"/>
            <a:r>
              <a:rPr lang="en-US"/>
              <a:t>Supervised</a:t>
            </a:r>
          </a:p>
          <a:p>
            <a:pPr lvl="1"/>
            <a:r>
              <a:rPr lang="en-US"/>
              <a:t>Unsupervised</a:t>
            </a:r>
          </a:p>
          <a:p>
            <a:pPr lvl="1"/>
            <a:r>
              <a:rPr lang="en-US"/>
              <a:t>Semi-supervised</a:t>
            </a:r>
          </a:p>
          <a:p>
            <a:pPr lvl="1"/>
            <a:r>
              <a:rPr lang="en-US"/>
              <a:t>Reinforcement Learning</a:t>
            </a:r>
          </a:p>
          <a:p>
            <a:r>
              <a:rPr lang="en-US"/>
              <a:t>Offline (Batch) vs Online learning</a:t>
            </a:r>
          </a:p>
          <a:p>
            <a:r>
              <a:rPr lang="en-US"/>
              <a:t>Instance vs Model-based Learning</a:t>
            </a:r>
          </a:p>
          <a:p>
            <a:r>
              <a:rPr lang="en-US"/>
              <a:t>Discriminative vs Generative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5E54E5-32FF-2338-9594-BF815A3A4867}"/>
              </a:ext>
            </a:extLst>
          </p:cNvPr>
          <p:cNvSpPr/>
          <p:nvPr/>
        </p:nvSpPr>
        <p:spPr>
          <a:xfrm>
            <a:off x="467544" y="1844824"/>
            <a:ext cx="4104456" cy="20882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4CA5-B8A9-10E5-7C51-1AFFBA08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672"/>
            <a:ext cx="8136904" cy="650786"/>
          </a:xfrm>
        </p:spPr>
        <p:txBody>
          <a:bodyPr/>
          <a:lstStyle/>
          <a:p>
            <a:r>
              <a:rPr lang="en-US"/>
              <a:t>Supervised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B5338-14DF-9FEA-A93E-859AD4629C4D}"/>
              </a:ext>
            </a:extLst>
          </p:cNvPr>
          <p:cNvSpPr txBox="1"/>
          <p:nvPr/>
        </p:nvSpPr>
        <p:spPr>
          <a:xfrm>
            <a:off x="898095" y="2668934"/>
            <a:ext cx="7347810" cy="430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>
                <a:solidFill>
                  <a:srgbClr val="FF0000"/>
                </a:solidFill>
              </a:rPr>
              <a:t>Supervised learning</a:t>
            </a:r>
            <a:r>
              <a:rPr lang="en-US" sz="2200"/>
              <a:t>: Given input X, predict output Y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5A3D6F-504F-5801-CD2F-E271747916FA}"/>
              </a:ext>
            </a:extLst>
          </p:cNvPr>
          <p:cNvGrpSpPr/>
          <p:nvPr/>
        </p:nvGrpSpPr>
        <p:grpSpPr>
          <a:xfrm>
            <a:off x="3297771" y="1283910"/>
            <a:ext cx="1801052" cy="1254393"/>
            <a:chOff x="6537588" y="945456"/>
            <a:chExt cx="1801052" cy="1254393"/>
          </a:xfrm>
        </p:grpSpPr>
        <p:pic>
          <p:nvPicPr>
            <p:cNvPr id="6" name="Picture 5" descr="gears.png">
              <a:extLst>
                <a:ext uri="{FF2B5EF4-FFF2-40B4-BE49-F238E27FC236}">
                  <a16:creationId xmlns:a16="http://schemas.microsoft.com/office/drawing/2014/main" id="{2F0902F3-B27B-68CE-DEDE-9535850E1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3652" y="1008176"/>
              <a:ext cx="1160758" cy="1095055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E70D52-742B-DC5B-2ABD-6282E8F9461A}"/>
                </a:ext>
              </a:extLst>
            </p:cNvPr>
            <p:cNvSpPr/>
            <p:nvPr/>
          </p:nvSpPr>
          <p:spPr>
            <a:xfrm>
              <a:off x="6537588" y="945456"/>
              <a:ext cx="1801052" cy="1254393"/>
            </a:xfrm>
            <a:prstGeom prst="ellipse">
              <a:avLst/>
            </a:prstGeom>
            <a:noFill/>
            <a:ln w="38100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ight Arrow 7">
            <a:extLst>
              <a:ext uri="{FF2B5EF4-FFF2-40B4-BE49-F238E27FC236}">
                <a16:creationId xmlns:a16="http://schemas.microsoft.com/office/drawing/2014/main" id="{FE672E9D-D478-34EA-9905-7D32223A0964}"/>
              </a:ext>
            </a:extLst>
          </p:cNvPr>
          <p:cNvSpPr/>
          <p:nvPr/>
        </p:nvSpPr>
        <p:spPr>
          <a:xfrm>
            <a:off x="2231394" y="1843942"/>
            <a:ext cx="909304" cy="2665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F1FE694-3035-563B-D202-DCB67C9F6CA5}"/>
              </a:ext>
            </a:extLst>
          </p:cNvPr>
          <p:cNvSpPr/>
          <p:nvPr/>
        </p:nvSpPr>
        <p:spPr>
          <a:xfrm>
            <a:off x="5472288" y="1843942"/>
            <a:ext cx="909304" cy="2665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724EB-7CFC-251D-6935-8DB010B2125F}"/>
              </a:ext>
            </a:extLst>
          </p:cNvPr>
          <p:cNvSpPr txBox="1"/>
          <p:nvPr/>
        </p:nvSpPr>
        <p:spPr>
          <a:xfrm>
            <a:off x="1099199" y="1745323"/>
            <a:ext cx="1005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/>
              <a:t>Input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475CE2-51AA-5482-7872-E7FA07A7D112}"/>
              </a:ext>
            </a:extLst>
          </p:cNvPr>
          <p:cNvSpPr txBox="1"/>
          <p:nvPr/>
        </p:nvSpPr>
        <p:spPr>
          <a:xfrm>
            <a:off x="6613361" y="1740161"/>
            <a:ext cx="12064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/>
              <a:t>Output 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9726B1-EEAE-CE4A-3B64-8E7EB94534D1}"/>
              </a:ext>
            </a:extLst>
          </p:cNvPr>
          <p:cNvSpPr txBox="1"/>
          <p:nvPr/>
        </p:nvSpPr>
        <p:spPr>
          <a:xfrm>
            <a:off x="27288" y="3220938"/>
            <a:ext cx="9089425" cy="430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>
                <a:solidFill>
                  <a:srgbClr val="FF0000"/>
                </a:solidFill>
              </a:rPr>
              <a:t>Training set</a:t>
            </a:r>
            <a:r>
              <a:rPr lang="en-US" sz="2200"/>
              <a:t>: </a:t>
            </a:r>
            <a:r>
              <a:rPr lang="en-US" sz="2200" b="1"/>
              <a:t>a set of </a:t>
            </a:r>
            <a:r>
              <a:rPr lang="en-US" sz="2200"/>
              <a:t>examples with </a:t>
            </a:r>
            <a:r>
              <a:rPr lang="en-US" sz="2200" b="1">
                <a:solidFill>
                  <a:srgbClr val="FF0000"/>
                </a:solidFill>
              </a:rPr>
              <a:t>correct input-output pairs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AA2A14-A2E3-00C3-A7C2-08E380B6D3C1}"/>
              </a:ext>
            </a:extLst>
          </p:cNvPr>
          <p:cNvSpPr txBox="1"/>
          <p:nvPr/>
        </p:nvSpPr>
        <p:spPr>
          <a:xfrm>
            <a:off x="689450" y="3781018"/>
            <a:ext cx="7765100" cy="430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>
                <a:solidFill>
                  <a:srgbClr val="FF0000"/>
                </a:solidFill>
              </a:rPr>
              <a:t>Labelled data</a:t>
            </a:r>
            <a:r>
              <a:rPr lang="en-US" sz="2200"/>
              <a:t>: input data with its </a:t>
            </a:r>
            <a:r>
              <a:rPr lang="en-US" sz="2200" b="1">
                <a:solidFill>
                  <a:srgbClr val="FF0000"/>
                </a:solidFill>
              </a:rPr>
              <a:t>correct output labels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5EC9D9-E275-86CC-8BAC-36B3640904D2}"/>
              </a:ext>
            </a:extLst>
          </p:cNvPr>
          <p:cNvGrpSpPr/>
          <p:nvPr/>
        </p:nvGrpSpPr>
        <p:grpSpPr>
          <a:xfrm>
            <a:off x="1356313" y="4712364"/>
            <a:ext cx="5973063" cy="1723451"/>
            <a:chOff x="1572506" y="4712645"/>
            <a:chExt cx="5973063" cy="1723451"/>
          </a:xfrm>
        </p:grpSpPr>
        <p:sp>
          <p:nvSpPr>
            <p:cNvPr id="15" name="矩形 36">
              <a:extLst>
                <a:ext uri="{FF2B5EF4-FFF2-40B4-BE49-F238E27FC236}">
                  <a16:creationId xmlns:a16="http://schemas.microsoft.com/office/drawing/2014/main" id="{F0FCA454-16FF-CC1E-3E4C-16E22EE269AE}"/>
                </a:ext>
              </a:extLst>
            </p:cNvPr>
            <p:cNvSpPr/>
            <p:nvPr/>
          </p:nvSpPr>
          <p:spPr>
            <a:xfrm>
              <a:off x="3751144" y="5939712"/>
              <a:ext cx="14707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>
                  <a:solidFill>
                    <a:srgbClr val="222222"/>
                  </a:solidFill>
                </a:rPr>
                <a:t>“monkey”</a:t>
              </a:r>
              <a:endParaRPr lang="zh-TW" altLang="en-US" sz="2400"/>
            </a:p>
          </p:txBody>
        </p:sp>
        <p:pic>
          <p:nvPicPr>
            <p:cNvPr id="16" name="圖片 37">
              <a:extLst>
                <a:ext uri="{FF2B5EF4-FFF2-40B4-BE49-F238E27FC236}">
                  <a16:creationId xmlns:a16="http://schemas.microsoft.com/office/drawing/2014/main" id="{3692AB42-44F8-E0D6-2176-95EFE2FB9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20866" y="4864628"/>
              <a:ext cx="931280" cy="1051432"/>
            </a:xfrm>
            <a:prstGeom prst="rect">
              <a:avLst/>
            </a:prstGeom>
          </p:spPr>
        </p:pic>
        <p:pic>
          <p:nvPicPr>
            <p:cNvPr id="17" name="圖片 38">
              <a:extLst>
                <a:ext uri="{FF2B5EF4-FFF2-40B4-BE49-F238E27FC236}">
                  <a16:creationId xmlns:a16="http://schemas.microsoft.com/office/drawing/2014/main" id="{61FA18A7-503E-5ADD-A1E2-84B4FC49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94428" y="4864628"/>
              <a:ext cx="899978" cy="1075096"/>
            </a:xfrm>
            <a:prstGeom prst="rect">
              <a:avLst/>
            </a:prstGeom>
          </p:spPr>
        </p:pic>
        <p:sp>
          <p:nvSpPr>
            <p:cNvPr id="18" name="文字方塊 39">
              <a:extLst>
                <a:ext uri="{FF2B5EF4-FFF2-40B4-BE49-F238E27FC236}">
                  <a16:creationId xmlns:a16="http://schemas.microsoft.com/office/drawing/2014/main" id="{1343E0B9-CC28-928F-A7C7-E83BBF5D4363}"/>
                </a:ext>
              </a:extLst>
            </p:cNvPr>
            <p:cNvSpPr txBox="1"/>
            <p:nvPr/>
          </p:nvSpPr>
          <p:spPr>
            <a:xfrm>
              <a:off x="5362204" y="5957078"/>
              <a:ext cx="798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/>
                <a:t>“cat”</a:t>
              </a:r>
              <a:endParaRPr lang="zh-TW" altLang="en-US" sz="2400"/>
            </a:p>
          </p:txBody>
        </p:sp>
        <p:sp>
          <p:nvSpPr>
            <p:cNvPr id="19" name="文字方塊 40">
              <a:extLst>
                <a:ext uri="{FF2B5EF4-FFF2-40B4-BE49-F238E27FC236}">
                  <a16:creationId xmlns:a16="http://schemas.microsoft.com/office/drawing/2014/main" id="{805CD3DC-4656-09A6-BCB3-168CAB3537A2}"/>
                </a:ext>
              </a:extLst>
            </p:cNvPr>
            <p:cNvSpPr txBox="1"/>
            <p:nvPr/>
          </p:nvSpPr>
          <p:spPr>
            <a:xfrm>
              <a:off x="6480335" y="5919834"/>
              <a:ext cx="899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/>
                <a:t>“dog”</a:t>
              </a:r>
              <a:endParaRPr lang="zh-TW" altLang="en-US" sz="2400"/>
            </a:p>
          </p:txBody>
        </p:sp>
        <p:pic>
          <p:nvPicPr>
            <p:cNvPr id="20" name="圖片 41">
              <a:extLst>
                <a:ext uri="{FF2B5EF4-FFF2-40B4-BE49-F238E27FC236}">
                  <a16:creationId xmlns:a16="http://schemas.microsoft.com/office/drawing/2014/main" id="{619F23C0-E1B2-FC5D-2559-A26836796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36688" y="4876448"/>
              <a:ext cx="823790" cy="1063264"/>
            </a:xfrm>
            <a:prstGeom prst="rect">
              <a:avLst/>
            </a:prstGeom>
          </p:spPr>
        </p:pic>
        <p:sp>
          <p:nvSpPr>
            <p:cNvPr id="21" name="矩形 43">
              <a:extLst>
                <a:ext uri="{FF2B5EF4-FFF2-40B4-BE49-F238E27FC236}">
                  <a16:creationId xmlns:a16="http://schemas.microsoft.com/office/drawing/2014/main" id="{D20E017C-72FF-03C2-4476-364BEE4E4112}"/>
                </a:ext>
              </a:extLst>
            </p:cNvPr>
            <p:cNvSpPr/>
            <p:nvPr/>
          </p:nvSpPr>
          <p:spPr>
            <a:xfrm>
              <a:off x="1645597" y="5120191"/>
              <a:ext cx="21858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>
                  <a:solidFill>
                    <a:srgbClr val="222222"/>
                  </a:solidFill>
                </a:rPr>
                <a:t>Input data:</a:t>
              </a:r>
              <a:endParaRPr lang="zh-TW" altLang="en-US" sz="2400"/>
            </a:p>
          </p:txBody>
        </p:sp>
        <p:sp>
          <p:nvSpPr>
            <p:cNvPr id="22" name="矩形 44">
              <a:extLst>
                <a:ext uri="{FF2B5EF4-FFF2-40B4-BE49-F238E27FC236}">
                  <a16:creationId xmlns:a16="http://schemas.microsoft.com/office/drawing/2014/main" id="{F51A59EF-4361-D0EC-BC56-B900EF483255}"/>
                </a:ext>
              </a:extLst>
            </p:cNvPr>
            <p:cNvSpPr/>
            <p:nvPr/>
          </p:nvSpPr>
          <p:spPr>
            <a:xfrm>
              <a:off x="1572506" y="5916060"/>
              <a:ext cx="22518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400">
                  <a:solidFill>
                    <a:srgbClr val="222222"/>
                  </a:solidFill>
                </a:rPr>
                <a:t>labels:</a:t>
              </a:r>
              <a:endParaRPr lang="zh-TW" altLang="en-US" sz="2400"/>
            </a:p>
          </p:txBody>
        </p:sp>
        <p:sp>
          <p:nvSpPr>
            <p:cNvPr id="23" name="矩形 25">
              <a:extLst>
                <a:ext uri="{FF2B5EF4-FFF2-40B4-BE49-F238E27FC236}">
                  <a16:creationId xmlns:a16="http://schemas.microsoft.com/office/drawing/2014/main" id="{3C89F312-6ACC-E946-4F04-D1A1BD0E8E05}"/>
                </a:ext>
              </a:extLst>
            </p:cNvPr>
            <p:cNvSpPr/>
            <p:nvPr/>
          </p:nvSpPr>
          <p:spPr>
            <a:xfrm>
              <a:off x="1598431" y="4712645"/>
              <a:ext cx="5947138" cy="17234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6840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3539F-89A4-7D2F-05ED-A2FCE8B0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Supervised Learning –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653A2-03B5-0652-BF28-7573DD683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Supervised Learning Tasks</a:t>
            </a:r>
          </a:p>
          <a:p>
            <a:pPr lvl="1"/>
            <a:r>
              <a:rPr lang="en-US"/>
              <a:t>Classification</a:t>
            </a:r>
          </a:p>
          <a:p>
            <a:pPr lvl="1"/>
            <a:r>
              <a:rPr lang="en-US"/>
              <a:t>Regression</a:t>
            </a:r>
          </a:p>
          <a:p>
            <a:r>
              <a:rPr lang="en-US"/>
              <a:t>Algorithms</a:t>
            </a:r>
          </a:p>
          <a:p>
            <a:pPr lvl="1"/>
            <a:r>
              <a:rPr lang="en-US"/>
              <a:t>k-Nearest Neighbors</a:t>
            </a:r>
          </a:p>
          <a:p>
            <a:pPr lvl="1"/>
            <a:r>
              <a:rPr lang="en-US"/>
              <a:t>Linear Regression</a:t>
            </a:r>
          </a:p>
          <a:p>
            <a:pPr lvl="1"/>
            <a:r>
              <a:rPr lang="en-US"/>
              <a:t>Logistic Regression</a:t>
            </a:r>
          </a:p>
          <a:p>
            <a:pPr lvl="1"/>
            <a:r>
              <a:rPr lang="en-US"/>
              <a:t>Support Vector Machines</a:t>
            </a:r>
          </a:p>
          <a:p>
            <a:pPr lvl="1"/>
            <a:r>
              <a:rPr lang="en-US"/>
              <a:t>Decision Trees and Random Forests</a:t>
            </a:r>
          </a:p>
          <a:p>
            <a:pPr lvl="1"/>
            <a:r>
              <a:rPr lang="en-US"/>
              <a:t>Neural Networks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75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6536-F7E8-611F-2220-9BC24414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Unsupervised Learning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F6464F-25E7-067F-6324-48E27747EFD7}"/>
              </a:ext>
            </a:extLst>
          </p:cNvPr>
          <p:cNvSpPr txBox="1">
            <a:spLocks/>
          </p:cNvSpPr>
          <p:nvPr/>
        </p:nvSpPr>
        <p:spPr>
          <a:xfrm>
            <a:off x="482601" y="1628800"/>
            <a:ext cx="8058677" cy="2584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49596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800" kern="1200">
                <a:solidFill>
                  <a:srgbClr val="49596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49596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kern="1200">
                <a:solidFill>
                  <a:srgbClr val="49596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»"/>
              <a:defRPr sz="1400" kern="1200">
                <a:solidFill>
                  <a:srgbClr val="49596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/>
              <a:t>What happens when there are no labels?</a:t>
            </a:r>
          </a:p>
          <a:p>
            <a:pPr marL="457200" indent="-457200"/>
            <a:r>
              <a:rPr lang="en-US"/>
              <a:t>Unsupervised Learning discovers patterns, structures or groupings in the data</a:t>
            </a:r>
          </a:p>
          <a:p>
            <a:pPr marL="1143000" lvl="1" indent="-457200"/>
            <a:endParaRPr lang="en-US"/>
          </a:p>
          <a:p>
            <a:pPr marL="457200" indent="-457200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48F5D4-C5C3-FE78-9E52-CD487003C625}"/>
              </a:ext>
            </a:extLst>
          </p:cNvPr>
          <p:cNvGrpSpPr/>
          <p:nvPr/>
        </p:nvGrpSpPr>
        <p:grpSpPr>
          <a:xfrm>
            <a:off x="264911" y="3498746"/>
            <a:ext cx="3758007" cy="2131658"/>
            <a:chOff x="1202409" y="3550607"/>
            <a:chExt cx="3758007" cy="21316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D3C052-F351-6A28-418A-951B1DA9B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2409" y="3550607"/>
              <a:ext cx="930017" cy="93001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D8A0775-1D32-E57A-D3C9-DECA2800B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2426" y="3629689"/>
              <a:ext cx="1123674" cy="112367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1EE092-42E0-2A60-816E-23A61A8A2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97269" y="4688891"/>
              <a:ext cx="993374" cy="99337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65DB72-A18E-9CD3-ABC9-DA940A74D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8138" y="4480624"/>
              <a:ext cx="1123674" cy="112367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FC2BAA-EA68-2256-21EF-9D3CC5EB8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93647" y="3550607"/>
              <a:ext cx="1303245" cy="1307476"/>
            </a:xfrm>
            <a:prstGeom prst="rect">
              <a:avLst/>
            </a:prstGeom>
          </p:spPr>
        </p:pic>
        <p:pic>
          <p:nvPicPr>
            <p:cNvPr id="10" name="Picture 2" descr="Birding Resources">
              <a:extLst>
                <a:ext uri="{FF2B5EF4-FFF2-40B4-BE49-F238E27FC236}">
                  <a16:creationId xmlns:a16="http://schemas.microsoft.com/office/drawing/2014/main" id="{76B1F373-A90B-BFFB-CC41-94E779684A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5454" y="4423751"/>
              <a:ext cx="1684962" cy="1158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D00C437-E8B7-985A-A62F-AA84672B0DC6}"/>
              </a:ext>
            </a:extLst>
          </p:cNvPr>
          <p:cNvSpPr/>
          <p:nvPr/>
        </p:nvSpPr>
        <p:spPr>
          <a:xfrm>
            <a:off x="4272268" y="4154513"/>
            <a:ext cx="799834" cy="4382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FDC012-C936-C696-7850-4C1E03B21B6D}"/>
              </a:ext>
            </a:extLst>
          </p:cNvPr>
          <p:cNvGrpSpPr/>
          <p:nvPr/>
        </p:nvGrpSpPr>
        <p:grpSpPr>
          <a:xfrm>
            <a:off x="5099910" y="4800217"/>
            <a:ext cx="1979633" cy="1809354"/>
            <a:chOff x="5268690" y="3986017"/>
            <a:chExt cx="1979633" cy="180935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BB27397-1A4D-5AB4-6BE4-40EE67A08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8690" y="3986017"/>
              <a:ext cx="930017" cy="93001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57DD721-3680-FAB2-8276-A66E83801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7061" y="4801997"/>
              <a:ext cx="993374" cy="993374"/>
            </a:xfrm>
            <a:prstGeom prst="rect">
              <a:avLst/>
            </a:prstGeom>
          </p:spPr>
        </p:pic>
        <p:pic>
          <p:nvPicPr>
            <p:cNvPr id="14" name="Picture 2" descr="Birding Resources">
              <a:extLst>
                <a:ext uri="{FF2B5EF4-FFF2-40B4-BE49-F238E27FC236}">
                  <a16:creationId xmlns:a16="http://schemas.microsoft.com/office/drawing/2014/main" id="{0B2DE4AE-6813-BFCE-F9A6-018875E16D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2348" y="4050221"/>
              <a:ext cx="1165975" cy="801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48EFAC-03B1-7381-FC70-9A2A2276E2F2}"/>
              </a:ext>
            </a:extLst>
          </p:cNvPr>
          <p:cNvGrpSpPr/>
          <p:nvPr/>
        </p:nvGrpSpPr>
        <p:grpSpPr>
          <a:xfrm>
            <a:off x="6165065" y="2997926"/>
            <a:ext cx="2346921" cy="1536672"/>
            <a:chOff x="7625679" y="2787221"/>
            <a:chExt cx="2346921" cy="153667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EEDE829-C309-C490-F3C3-7B747DF12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25679" y="3200219"/>
              <a:ext cx="1123674" cy="112367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7F481A6-61F9-B917-B97A-E96739A65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69355" y="2787221"/>
              <a:ext cx="1303245" cy="1307476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D7B8426-991D-122C-E50D-62BAE940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229" y="4804442"/>
            <a:ext cx="1123674" cy="112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4A4-9C72-E3EE-F004-AF53B5516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Unsupervised Learning – Algorithms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84AC2-A286-09CC-E393-4A90B4F41F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Clustering</a:t>
            </a:r>
          </a:p>
          <a:p>
            <a:pPr lvl="1"/>
            <a:r>
              <a:rPr lang="en-US"/>
              <a:t>k-Means</a:t>
            </a:r>
          </a:p>
          <a:p>
            <a:pPr lvl="1"/>
            <a:r>
              <a:rPr lang="en-US"/>
              <a:t>Hierarchical Cluster Analysis (HCA)</a:t>
            </a:r>
          </a:p>
          <a:p>
            <a:r>
              <a:rPr lang="en-US"/>
              <a:t>Anomaly and Novelty Detection</a:t>
            </a:r>
          </a:p>
          <a:p>
            <a:pPr lvl="1"/>
            <a:r>
              <a:rPr lang="en-US"/>
              <a:t>One-class SVM</a:t>
            </a:r>
          </a:p>
          <a:p>
            <a:pPr lvl="1"/>
            <a:r>
              <a:rPr lang="en-US"/>
              <a:t>Isolation Forests</a:t>
            </a:r>
          </a:p>
          <a:p>
            <a:r>
              <a:rPr lang="en-US" err="1"/>
              <a:t>Visualisation</a:t>
            </a:r>
            <a:r>
              <a:rPr lang="en-US"/>
              <a:t> and Dimensionality Reduction</a:t>
            </a:r>
          </a:p>
          <a:p>
            <a:pPr lvl="1"/>
            <a:r>
              <a:rPr lang="en-US"/>
              <a:t>PCA; Kernel PCA</a:t>
            </a:r>
          </a:p>
          <a:p>
            <a:pPr lvl="1"/>
            <a:r>
              <a:rPr lang="en-US"/>
              <a:t>Locally Linear Embedding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49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305C-F931-9A9D-C6A7-12401350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Semi-supervised and Reinforcement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69708-6826-DE5B-453E-CB6B34AC22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Semi-Supervised Learning</a:t>
            </a:r>
          </a:p>
          <a:p>
            <a:pPr lvl="1"/>
            <a:r>
              <a:rPr lang="en-US"/>
              <a:t>Labelled data is expensive and difficult to find</a:t>
            </a:r>
          </a:p>
          <a:p>
            <a:pPr lvl="1"/>
            <a:r>
              <a:rPr lang="en-US"/>
              <a:t>Semi-supervised algorithms work with partially labelled data</a:t>
            </a:r>
          </a:p>
          <a:p>
            <a:pPr lvl="1"/>
            <a:r>
              <a:rPr lang="en-US"/>
              <a:t>Combination of supervised and unsupervised learning techniques</a:t>
            </a:r>
          </a:p>
          <a:p>
            <a:r>
              <a:rPr lang="en-US"/>
              <a:t>Reinforcement Learning</a:t>
            </a:r>
          </a:p>
          <a:p>
            <a:pPr lvl="1"/>
            <a:r>
              <a:rPr lang="en-US"/>
              <a:t>An agent selects and performs an action</a:t>
            </a:r>
          </a:p>
          <a:p>
            <a:pPr lvl="1"/>
            <a:r>
              <a:rPr lang="en-US"/>
              <a:t>Gets rewards</a:t>
            </a:r>
          </a:p>
          <a:p>
            <a:pPr lvl="1"/>
            <a:r>
              <a:rPr lang="en-US"/>
              <a:t>Learns the best strategy (policy) to </a:t>
            </a:r>
            <a:r>
              <a:rPr lang="en-US" err="1"/>
              <a:t>maximise</a:t>
            </a:r>
            <a:r>
              <a:rPr lang="en-US"/>
              <a:t> reward over time.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53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3F06-AD89-218E-F055-7DFD512A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C79E-DC5A-E1A7-8B99-417F213B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ML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AD85C-B231-57B0-CFC6-7207D575ED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Data</a:t>
            </a:r>
          </a:p>
          <a:p>
            <a:pPr lvl="1"/>
            <a:r>
              <a:rPr lang="en-US"/>
              <a:t>Supervised</a:t>
            </a:r>
          </a:p>
          <a:p>
            <a:pPr lvl="1"/>
            <a:r>
              <a:rPr lang="en-US"/>
              <a:t>Unsupervised</a:t>
            </a:r>
          </a:p>
          <a:p>
            <a:pPr lvl="1"/>
            <a:r>
              <a:rPr lang="en-US"/>
              <a:t>Semi-supervised</a:t>
            </a:r>
          </a:p>
          <a:p>
            <a:pPr lvl="1"/>
            <a:r>
              <a:rPr lang="en-US"/>
              <a:t>Reinforcement Learning</a:t>
            </a:r>
          </a:p>
          <a:p>
            <a:r>
              <a:rPr lang="en-US"/>
              <a:t>Offline (Batch) vs Online learning</a:t>
            </a:r>
          </a:p>
          <a:p>
            <a:r>
              <a:rPr lang="en-US"/>
              <a:t>Instance vs Model-based Learning</a:t>
            </a:r>
          </a:p>
          <a:p>
            <a:r>
              <a:rPr lang="en-US"/>
              <a:t>Discriminative vs Generative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E04A536-57D1-FCFD-26E8-E1B4ED8531A1}"/>
              </a:ext>
            </a:extLst>
          </p:cNvPr>
          <p:cNvSpPr/>
          <p:nvPr/>
        </p:nvSpPr>
        <p:spPr>
          <a:xfrm>
            <a:off x="431056" y="3933055"/>
            <a:ext cx="4717008" cy="5760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B89A-7288-E826-6A05-90E0D636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Offline (Batch) vs Online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1CBC0-35CF-421D-7F05-C8F0E9410E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Offline (Batch) Learning</a:t>
            </a:r>
          </a:p>
          <a:p>
            <a:pPr lvl="1"/>
            <a:r>
              <a:rPr lang="en-US"/>
              <a:t>The system is trained on all the available data and then launched to run without training anymore</a:t>
            </a:r>
          </a:p>
          <a:p>
            <a:pPr lvl="1"/>
            <a:r>
              <a:rPr lang="en-US"/>
              <a:t>To learn new data, the system has to be retrained on the full dataset (old and new data points)</a:t>
            </a:r>
          </a:p>
          <a:p>
            <a:pPr lvl="1"/>
            <a:r>
              <a:rPr lang="en-US"/>
              <a:t>Incapable of learning incrementally</a:t>
            </a:r>
          </a:p>
          <a:p>
            <a:r>
              <a:rPr lang="en-US"/>
              <a:t>Online Learning</a:t>
            </a:r>
          </a:p>
          <a:p>
            <a:pPr lvl="1"/>
            <a:r>
              <a:rPr lang="en-US"/>
              <a:t>System trains incrementally on individual data points or mini-batches of data</a:t>
            </a:r>
          </a:p>
          <a:p>
            <a:pPr lvl="1"/>
            <a:r>
              <a:rPr lang="en-US"/>
              <a:t>Can forget old data if the learning rate is high; can resist new data or non-representative outliers if the learning rate is low</a:t>
            </a:r>
          </a:p>
          <a:p>
            <a:pPr lvl="1"/>
            <a:r>
              <a:rPr lang="en-US"/>
              <a:t>Performance can decline over time if bad data is fed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88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67057-4304-C506-2D81-CDC80310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F1A8-FADC-012A-32DB-D80014BC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ML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22059-1287-9DEA-4782-2292034016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Data</a:t>
            </a:r>
          </a:p>
          <a:p>
            <a:pPr lvl="1"/>
            <a:r>
              <a:rPr lang="en-US"/>
              <a:t>Supervised</a:t>
            </a:r>
          </a:p>
          <a:p>
            <a:pPr lvl="1"/>
            <a:r>
              <a:rPr lang="en-US"/>
              <a:t>Unsupervised</a:t>
            </a:r>
          </a:p>
          <a:p>
            <a:pPr lvl="1"/>
            <a:r>
              <a:rPr lang="en-US"/>
              <a:t>Semi-supervised</a:t>
            </a:r>
          </a:p>
          <a:p>
            <a:pPr lvl="1"/>
            <a:r>
              <a:rPr lang="en-US"/>
              <a:t>Reinforcement Learning</a:t>
            </a:r>
          </a:p>
          <a:p>
            <a:r>
              <a:rPr lang="en-US"/>
              <a:t>Offline (Batch) vs Online learning</a:t>
            </a:r>
          </a:p>
          <a:p>
            <a:r>
              <a:rPr lang="en-US"/>
              <a:t>Instance vs Model-based Learning</a:t>
            </a:r>
          </a:p>
          <a:p>
            <a:r>
              <a:rPr lang="en-US"/>
              <a:t>Discriminative vs Generative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29AB3C-D214-9317-F517-C253A659690B}"/>
              </a:ext>
            </a:extLst>
          </p:cNvPr>
          <p:cNvSpPr/>
          <p:nvPr/>
        </p:nvSpPr>
        <p:spPr>
          <a:xfrm>
            <a:off x="431056" y="4365104"/>
            <a:ext cx="4717008" cy="5760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78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A418-7DB3-62E1-79D5-1DA6A8C6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Instance-based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17729-34EE-186F-0291-C43264DE48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/>
              <a:t>Training instances </a:t>
            </a:r>
            <a:r>
              <a:rPr lang="en-GB"/>
              <a:t>are stored and used directly to make predictions.</a:t>
            </a:r>
          </a:p>
          <a:p>
            <a:r>
              <a:rPr lang="en-GB"/>
              <a:t>No explicit generalisation or model is built during training</a:t>
            </a:r>
            <a:endParaRPr lang="en-US"/>
          </a:p>
          <a:p>
            <a:r>
              <a:rPr lang="en-US"/>
              <a:t>New data is compared to the learned examples – using a similarity score</a:t>
            </a:r>
          </a:p>
          <a:p>
            <a:r>
              <a:rPr lang="en-US"/>
              <a:t>A new instance, based on the similarity score, would be classified into a class if the majority of ’similar’ examples belong to that class</a:t>
            </a:r>
          </a:p>
          <a:p>
            <a:r>
              <a:rPr lang="en-US"/>
              <a:t>Examples</a:t>
            </a:r>
          </a:p>
          <a:p>
            <a:pPr lvl="1"/>
            <a:r>
              <a:rPr lang="en-US"/>
              <a:t>k-Nearest </a:t>
            </a:r>
            <a:r>
              <a:rPr lang="en-US" err="1"/>
              <a:t>Neighbours</a:t>
            </a:r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42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57FB-E4DA-827F-6EDE-3FD84C7D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Model-based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057C8-86B3-B129-FB80-9499580915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Machine Learning </a:t>
            </a:r>
            <a:r>
              <a:rPr lang="en-US" altLang="zh-TW"/>
              <a:t>≈ Looking for a Function</a:t>
            </a:r>
          </a:p>
          <a:p>
            <a:r>
              <a:rPr lang="en-US"/>
              <a:t>Speech Recognition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Image Recognition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Playing Go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78A85372-1FB2-853E-2150-DE0DC76E3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717031"/>
              </p:ext>
            </p:extLst>
          </p:nvPr>
        </p:nvGraphicFramePr>
        <p:xfrm>
          <a:off x="1691680" y="2937720"/>
          <a:ext cx="3822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90640" imgH="215640" progId="Equation.3">
                  <p:embed/>
                </p:oleObj>
              </mc:Choice>
              <mc:Fallback>
                <p:oleObj name="方程式" r:id="rId2" imgW="1790640" imgH="215640" progId="Equation.3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78A85372-1FB2-853E-2150-DE0DC76E33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937720"/>
                        <a:ext cx="38227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圖片 11">
            <a:extLst>
              <a:ext uri="{FF2B5EF4-FFF2-40B4-BE49-F238E27FC236}">
                <a16:creationId xmlns:a16="http://schemas.microsoft.com/office/drawing/2014/main" id="{1AD8615A-BBA3-B178-CF17-DAB137082D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476" y="2909485"/>
            <a:ext cx="2921108" cy="516844"/>
          </a:xfrm>
          <a:prstGeom prst="rect">
            <a:avLst/>
          </a:prstGeom>
        </p:spPr>
      </p:pic>
      <p:sp>
        <p:nvSpPr>
          <p:cNvPr id="7" name="文字方塊 8">
            <a:extLst>
              <a:ext uri="{FF2B5EF4-FFF2-40B4-BE49-F238E27FC236}">
                <a16:creationId xmlns:a16="http://schemas.microsoft.com/office/drawing/2014/main" id="{E8743BD4-47AB-1F5D-69AD-4F629A2D8AF3}"/>
              </a:ext>
            </a:extLst>
          </p:cNvPr>
          <p:cNvSpPr txBox="1"/>
          <p:nvPr/>
        </p:nvSpPr>
        <p:spPr>
          <a:xfrm>
            <a:off x="5529261" y="2983241"/>
            <a:ext cx="22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“How are you?”</a:t>
            </a:r>
            <a:endParaRPr lang="zh-TW" altLang="en-US"/>
          </a:p>
        </p:txBody>
      </p:sp>
      <p:graphicFrame>
        <p:nvGraphicFramePr>
          <p:cNvPr id="8" name="Object 12">
            <a:extLst>
              <a:ext uri="{FF2B5EF4-FFF2-40B4-BE49-F238E27FC236}">
                <a16:creationId xmlns:a16="http://schemas.microsoft.com/office/drawing/2014/main" id="{CC327E5E-BAF9-8EC5-467C-70E787714B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358942"/>
              </p:ext>
            </p:extLst>
          </p:nvPr>
        </p:nvGraphicFramePr>
        <p:xfrm>
          <a:off x="1691680" y="4127426"/>
          <a:ext cx="3822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90640" imgH="215640" progId="Equation.3">
                  <p:embed/>
                </p:oleObj>
              </mc:Choice>
              <mc:Fallback>
                <p:oleObj name="方程式" r:id="rId2" imgW="1790640" imgH="215640" progId="Equation.3">
                  <p:embed/>
                  <p:pic>
                    <p:nvPicPr>
                      <p:cNvPr id="8" name="Object 12">
                        <a:extLst>
                          <a:ext uri="{FF2B5EF4-FFF2-40B4-BE49-F238E27FC236}">
                            <a16:creationId xmlns:a16="http://schemas.microsoft.com/office/drawing/2014/main" id="{CC327E5E-BAF9-8EC5-467C-70E787714B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127426"/>
                        <a:ext cx="38227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2" descr="https://encrypted-tbn1.gstatic.com/images?q=tbn:ANd9GcRcwlRKAlSIaCI4W5PRYVbuBQQXifF-56bFqAjh9DMe-_3Lh8_YKw">
            <a:extLst>
              <a:ext uri="{FF2B5EF4-FFF2-40B4-BE49-F238E27FC236}">
                <a16:creationId xmlns:a16="http://schemas.microsoft.com/office/drawing/2014/main" id="{B75E1312-4B87-0664-242E-ED6413EF0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008670"/>
            <a:ext cx="1106043" cy="83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7">
            <a:extLst>
              <a:ext uri="{FF2B5EF4-FFF2-40B4-BE49-F238E27FC236}">
                <a16:creationId xmlns:a16="http://schemas.microsoft.com/office/drawing/2014/main" id="{40DC31F7-5E6B-C079-04A3-D73A41B8E348}"/>
              </a:ext>
            </a:extLst>
          </p:cNvPr>
          <p:cNvSpPr txBox="1"/>
          <p:nvPr/>
        </p:nvSpPr>
        <p:spPr>
          <a:xfrm>
            <a:off x="5514380" y="4186490"/>
            <a:ext cx="947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“Cat”</a:t>
            </a:r>
            <a:endParaRPr lang="zh-TW" altLang="en-US"/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82BCAB0B-3657-991C-400B-E76EB1BC0E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500759"/>
              </p:ext>
            </p:extLst>
          </p:nvPr>
        </p:nvGraphicFramePr>
        <p:xfrm>
          <a:off x="1557487" y="5577638"/>
          <a:ext cx="3822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90640" imgH="215640" progId="Equation.3">
                  <p:embed/>
                </p:oleObj>
              </mc:Choice>
              <mc:Fallback>
                <p:oleObj name="方程式" r:id="rId2" imgW="1790640" imgH="215640" progId="Equation.3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82BCAB0B-3657-991C-400B-E76EB1BC0E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487" y="5577638"/>
                        <a:ext cx="38227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 descr="http://y2.ifengimg.com/a/2016_11/2c7ef418c729099.jpg">
            <a:extLst>
              <a:ext uri="{FF2B5EF4-FFF2-40B4-BE49-F238E27FC236}">
                <a16:creationId xmlns:a16="http://schemas.microsoft.com/office/drawing/2014/main" id="{9714FC4C-AB91-234F-DA23-D2700DC46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750" y="5363777"/>
            <a:ext cx="1144109" cy="85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96D187-FA81-2ABC-B550-195796243D43}"/>
              </a:ext>
            </a:extLst>
          </p:cNvPr>
          <p:cNvSpPr txBox="1"/>
          <p:nvPr/>
        </p:nvSpPr>
        <p:spPr>
          <a:xfrm>
            <a:off x="5414651" y="5608152"/>
            <a:ext cx="4630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/>
              <a:t>“5-5” (next move)</a:t>
            </a:r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229155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C564-D6D5-4090-E010-D49106FB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ML framework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E5041-637E-2B7E-1683-45181E901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078" y="2331834"/>
            <a:ext cx="4145279" cy="1654813"/>
          </a:xfrm>
          <a:prstGeom prst="rect">
            <a:avLst/>
          </a:prstGeom>
        </p:spPr>
      </p:pic>
      <p:sp>
        <p:nvSpPr>
          <p:cNvPr id="5" name="圓柱 5">
            <a:extLst>
              <a:ext uri="{FF2B5EF4-FFF2-40B4-BE49-F238E27FC236}">
                <a16:creationId xmlns:a16="http://schemas.microsoft.com/office/drawing/2014/main" id="{8D30BBA1-1632-5EF2-585F-5850F6156F65}"/>
              </a:ext>
            </a:extLst>
          </p:cNvPr>
          <p:cNvSpPr/>
          <p:nvPr/>
        </p:nvSpPr>
        <p:spPr>
          <a:xfrm>
            <a:off x="520208" y="2126500"/>
            <a:ext cx="1636295" cy="1090863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/>
              <a:t>A set of functions</a:t>
            </a:r>
            <a:endParaRPr lang="zh-TW" altLang="en-US" sz="2400"/>
          </a:p>
        </p:txBody>
      </p:sp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88C828CA-44AB-FC36-FC8D-5BE654F67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483675"/>
              </p:ext>
            </p:extLst>
          </p:nvPr>
        </p:nvGraphicFramePr>
        <p:xfrm>
          <a:off x="2252353" y="2755526"/>
          <a:ext cx="110966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520560" imgH="215640" progId="Equation.3">
                  <p:embed/>
                </p:oleObj>
              </mc:Choice>
              <mc:Fallback>
                <p:oleObj name="方程式" r:id="rId4" imgW="520560" imgH="215640" progId="Equation.3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88C828CA-44AB-FC36-FC8D-5BE654F67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353" y="2755526"/>
                        <a:ext cx="1109662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群組 8">
            <a:extLst>
              <a:ext uri="{FF2B5EF4-FFF2-40B4-BE49-F238E27FC236}">
                <a16:creationId xmlns:a16="http://schemas.microsoft.com/office/drawing/2014/main" id="{062178E2-9AD9-5AEB-BC0C-AE2CD3C45D50}"/>
              </a:ext>
            </a:extLst>
          </p:cNvPr>
          <p:cNvGrpSpPr/>
          <p:nvPr/>
        </p:nvGrpSpPr>
        <p:grpSpPr>
          <a:xfrm>
            <a:off x="4604445" y="1377522"/>
            <a:ext cx="3342513" cy="827342"/>
            <a:chOff x="4749800" y="2047360"/>
            <a:chExt cx="3342513" cy="827342"/>
          </a:xfrm>
        </p:grpSpPr>
        <p:graphicFrame>
          <p:nvGraphicFramePr>
            <p:cNvPr id="8" name="Object 12">
              <a:extLst>
                <a:ext uri="{FF2B5EF4-FFF2-40B4-BE49-F238E27FC236}">
                  <a16:creationId xmlns:a16="http://schemas.microsoft.com/office/drawing/2014/main" id="{CE267937-777A-B441-8EE3-C9709D0075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9800" y="2235200"/>
            <a:ext cx="2112963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990360" imgH="215640" progId="Equation.3">
                    <p:embed/>
                  </p:oleObj>
                </mc:Choice>
                <mc:Fallback>
                  <p:oleObj name="方程式" r:id="rId6" imgW="990360" imgH="215640" progId="Equation.3">
                    <p:embed/>
                    <p:pic>
                      <p:nvPicPr>
                        <p:cNvPr id="8" name="Object 12">
                          <a:extLst>
                            <a:ext uri="{FF2B5EF4-FFF2-40B4-BE49-F238E27FC236}">
                              <a16:creationId xmlns:a16="http://schemas.microsoft.com/office/drawing/2014/main" id="{CE267937-777A-B441-8EE3-C9709D0075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9800" y="2235200"/>
                          <a:ext cx="2112963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字方塊 75">
              <a:extLst>
                <a:ext uri="{FF2B5EF4-FFF2-40B4-BE49-F238E27FC236}">
                  <a16:creationId xmlns:a16="http://schemas.microsoft.com/office/drawing/2014/main" id="{8FD3B2F8-CCBF-6380-3C56-284DB0C72009}"/>
                </a:ext>
              </a:extLst>
            </p:cNvPr>
            <p:cNvSpPr txBox="1"/>
            <p:nvPr/>
          </p:nvSpPr>
          <p:spPr>
            <a:xfrm>
              <a:off x="6654931" y="2212761"/>
              <a:ext cx="1437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/>
                <a:t>“cat”</a:t>
              </a:r>
              <a:endParaRPr lang="zh-TW" altLang="en-US" sz="2400"/>
            </a:p>
          </p:txBody>
        </p:sp>
        <p:pic>
          <p:nvPicPr>
            <p:cNvPr id="10" name="Picture 12" descr="https://encrypted-tbn1.gstatic.com/images?q=tbn:ANd9GcRcwlRKAlSIaCI4W5PRYVbuBQQXifF-56bFqAjh9DMe-_3Lh8_YKw">
              <a:extLst>
                <a:ext uri="{FF2B5EF4-FFF2-40B4-BE49-F238E27FC236}">
                  <a16:creationId xmlns:a16="http://schemas.microsoft.com/office/drawing/2014/main" id="{07914030-6E86-41D4-D79A-723480C6F7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1731" y="2047360"/>
              <a:ext cx="1089847" cy="827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文字方塊 11">
            <a:extLst>
              <a:ext uri="{FF2B5EF4-FFF2-40B4-BE49-F238E27FC236}">
                <a16:creationId xmlns:a16="http://schemas.microsoft.com/office/drawing/2014/main" id="{6192B976-999D-F393-43B3-48AA815CBFE7}"/>
              </a:ext>
            </a:extLst>
          </p:cNvPr>
          <p:cNvSpPr txBox="1"/>
          <p:nvPr/>
        </p:nvSpPr>
        <p:spPr>
          <a:xfrm>
            <a:off x="4451063" y="773084"/>
            <a:ext cx="311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Image Recognition:</a:t>
            </a:r>
            <a:endParaRPr lang="zh-TW" altLang="en-US" sz="2400"/>
          </a:p>
        </p:txBody>
      </p:sp>
      <p:sp>
        <p:nvSpPr>
          <p:cNvPr id="12" name="文字方塊 17">
            <a:extLst>
              <a:ext uri="{FF2B5EF4-FFF2-40B4-BE49-F238E27FC236}">
                <a16:creationId xmlns:a16="http://schemas.microsoft.com/office/drawing/2014/main" id="{933BEC78-AC42-5E7F-BE71-6833EF0FD6E6}"/>
              </a:ext>
            </a:extLst>
          </p:cNvPr>
          <p:cNvSpPr txBox="1"/>
          <p:nvPr/>
        </p:nvSpPr>
        <p:spPr>
          <a:xfrm>
            <a:off x="2252354" y="2219473"/>
            <a:ext cx="1311534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/>
              <a:t>Model</a:t>
            </a:r>
            <a:endParaRPr lang="zh-TW" altLang="en-US" sz="2800"/>
          </a:p>
        </p:txBody>
      </p:sp>
      <p:sp>
        <p:nvSpPr>
          <p:cNvPr id="13" name="圓柱 22">
            <a:extLst>
              <a:ext uri="{FF2B5EF4-FFF2-40B4-BE49-F238E27FC236}">
                <a16:creationId xmlns:a16="http://schemas.microsoft.com/office/drawing/2014/main" id="{7EF8C55A-1B95-A20F-E02F-D70E8434A971}"/>
              </a:ext>
            </a:extLst>
          </p:cNvPr>
          <p:cNvSpPr/>
          <p:nvPr/>
        </p:nvSpPr>
        <p:spPr>
          <a:xfrm>
            <a:off x="461429" y="5307593"/>
            <a:ext cx="1636295" cy="1090863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/>
              <a:t>Training</a:t>
            </a:r>
          </a:p>
          <a:p>
            <a:pPr algn="ctr"/>
            <a:r>
              <a:rPr lang="en-US" altLang="zh-TW" sz="2400"/>
              <a:t>Data</a:t>
            </a:r>
            <a:endParaRPr lang="zh-TW" altLang="en-US" sz="2400"/>
          </a:p>
        </p:txBody>
      </p:sp>
      <p:sp>
        <p:nvSpPr>
          <p:cNvPr id="14" name="圓角矩形 26">
            <a:extLst>
              <a:ext uri="{FF2B5EF4-FFF2-40B4-BE49-F238E27FC236}">
                <a16:creationId xmlns:a16="http://schemas.microsoft.com/office/drawing/2014/main" id="{14BB66B8-5B32-09E2-1634-875F830A8BDE}"/>
              </a:ext>
            </a:extLst>
          </p:cNvPr>
          <p:cNvSpPr/>
          <p:nvPr/>
        </p:nvSpPr>
        <p:spPr>
          <a:xfrm>
            <a:off x="323528" y="3753431"/>
            <a:ext cx="1912095" cy="10908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/>
              <a:t>Goodness of function f</a:t>
            </a:r>
            <a:endParaRPr lang="en-US" altLang="zh-TW" sz="2400" baseline="30000"/>
          </a:p>
        </p:txBody>
      </p:sp>
      <p:cxnSp>
        <p:nvCxnSpPr>
          <p:cNvPr id="15" name="直線單箭頭接點 27">
            <a:extLst>
              <a:ext uri="{FF2B5EF4-FFF2-40B4-BE49-F238E27FC236}">
                <a16:creationId xmlns:a16="http://schemas.microsoft.com/office/drawing/2014/main" id="{97FB539C-A63A-CBC3-385A-C19A0027C874}"/>
              </a:ext>
            </a:extLst>
          </p:cNvPr>
          <p:cNvCxnSpPr/>
          <p:nvPr/>
        </p:nvCxnSpPr>
        <p:spPr>
          <a:xfrm flipV="1">
            <a:off x="1300633" y="4866065"/>
            <a:ext cx="0" cy="545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28">
            <a:extLst>
              <a:ext uri="{FF2B5EF4-FFF2-40B4-BE49-F238E27FC236}">
                <a16:creationId xmlns:a16="http://schemas.microsoft.com/office/drawing/2014/main" id="{8466AAEC-4259-9A63-FF17-64BB3052E770}"/>
              </a:ext>
            </a:extLst>
          </p:cNvPr>
          <p:cNvCxnSpPr/>
          <p:nvPr/>
        </p:nvCxnSpPr>
        <p:spPr>
          <a:xfrm>
            <a:off x="1300633" y="3250699"/>
            <a:ext cx="0" cy="480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35">
            <a:extLst>
              <a:ext uri="{FF2B5EF4-FFF2-40B4-BE49-F238E27FC236}">
                <a16:creationId xmlns:a16="http://schemas.microsoft.com/office/drawing/2014/main" id="{0B9F35B3-8ABE-90FB-E61A-F0BC0A0264AB}"/>
              </a:ext>
            </a:extLst>
          </p:cNvPr>
          <p:cNvSpPr txBox="1"/>
          <p:nvPr/>
        </p:nvSpPr>
        <p:spPr>
          <a:xfrm>
            <a:off x="4451063" y="2881278"/>
            <a:ext cx="1205154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Better!</a:t>
            </a:r>
            <a:endParaRPr lang="zh-TW" altLang="en-US" sz="2400"/>
          </a:p>
        </p:txBody>
      </p:sp>
      <p:sp>
        <p:nvSpPr>
          <p:cNvPr id="18" name="矩形 36">
            <a:extLst>
              <a:ext uri="{FF2B5EF4-FFF2-40B4-BE49-F238E27FC236}">
                <a16:creationId xmlns:a16="http://schemas.microsoft.com/office/drawing/2014/main" id="{99F11164-0DEB-3529-714D-5493AEFC44AC}"/>
              </a:ext>
            </a:extLst>
          </p:cNvPr>
          <p:cNvSpPr/>
          <p:nvPr/>
        </p:nvSpPr>
        <p:spPr>
          <a:xfrm>
            <a:off x="4806422" y="6096227"/>
            <a:ext cx="1470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>
                <a:solidFill>
                  <a:srgbClr val="222222"/>
                </a:solidFill>
                <a:latin typeface="Arial" panose="020B0604020202020204" pitchFamily="34" charset="0"/>
              </a:rPr>
              <a:t>“monkey”</a:t>
            </a:r>
            <a:endParaRPr lang="zh-TW" altLang="en-US" sz="2400"/>
          </a:p>
        </p:txBody>
      </p:sp>
      <p:pic>
        <p:nvPicPr>
          <p:cNvPr id="19" name="圖片 37">
            <a:extLst>
              <a:ext uri="{FF2B5EF4-FFF2-40B4-BE49-F238E27FC236}">
                <a16:creationId xmlns:a16="http://schemas.microsoft.com/office/drawing/2014/main" id="{CA0A04F6-C9A9-988D-047D-347AE9E3A1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6144" y="5021143"/>
            <a:ext cx="931280" cy="1051432"/>
          </a:xfrm>
          <a:prstGeom prst="rect">
            <a:avLst/>
          </a:prstGeom>
        </p:spPr>
      </p:pic>
      <p:pic>
        <p:nvPicPr>
          <p:cNvPr id="20" name="圖片 38">
            <a:extLst>
              <a:ext uri="{FF2B5EF4-FFF2-40B4-BE49-F238E27FC236}">
                <a16:creationId xmlns:a16="http://schemas.microsoft.com/office/drawing/2014/main" id="{1BBB30EA-28FD-E492-5324-ACFFA51512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9706" y="5021143"/>
            <a:ext cx="899978" cy="1075096"/>
          </a:xfrm>
          <a:prstGeom prst="rect">
            <a:avLst/>
          </a:prstGeom>
        </p:spPr>
      </p:pic>
      <p:sp>
        <p:nvSpPr>
          <p:cNvPr id="21" name="文字方塊 39">
            <a:extLst>
              <a:ext uri="{FF2B5EF4-FFF2-40B4-BE49-F238E27FC236}">
                <a16:creationId xmlns:a16="http://schemas.microsoft.com/office/drawing/2014/main" id="{B79EFAC3-3138-77D5-F929-6BEEEF63C01C}"/>
              </a:ext>
            </a:extLst>
          </p:cNvPr>
          <p:cNvSpPr txBox="1"/>
          <p:nvPr/>
        </p:nvSpPr>
        <p:spPr>
          <a:xfrm>
            <a:off x="6417482" y="6113593"/>
            <a:ext cx="798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“cat”</a:t>
            </a:r>
            <a:endParaRPr lang="zh-TW" altLang="en-US" sz="2400"/>
          </a:p>
        </p:txBody>
      </p:sp>
      <p:sp>
        <p:nvSpPr>
          <p:cNvPr id="22" name="文字方塊 40">
            <a:extLst>
              <a:ext uri="{FF2B5EF4-FFF2-40B4-BE49-F238E27FC236}">
                <a16:creationId xmlns:a16="http://schemas.microsoft.com/office/drawing/2014/main" id="{E25CE70B-7A74-C7A0-F317-3CB809F9E59E}"/>
              </a:ext>
            </a:extLst>
          </p:cNvPr>
          <p:cNvSpPr txBox="1"/>
          <p:nvPr/>
        </p:nvSpPr>
        <p:spPr>
          <a:xfrm>
            <a:off x="7599895" y="6076349"/>
            <a:ext cx="899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“dog”</a:t>
            </a:r>
            <a:endParaRPr lang="zh-TW" altLang="en-US" sz="2400"/>
          </a:p>
        </p:txBody>
      </p:sp>
      <p:pic>
        <p:nvPicPr>
          <p:cNvPr id="23" name="圖片 41">
            <a:extLst>
              <a:ext uri="{FF2B5EF4-FFF2-40B4-BE49-F238E27FC236}">
                <a16:creationId xmlns:a16="http://schemas.microsoft.com/office/drawing/2014/main" id="{A3F34E8F-FC8E-9622-8426-F23620EEAB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1966" y="5032963"/>
            <a:ext cx="823790" cy="1063264"/>
          </a:xfrm>
          <a:prstGeom prst="rect">
            <a:avLst/>
          </a:prstGeom>
        </p:spPr>
      </p:pic>
      <p:sp>
        <p:nvSpPr>
          <p:cNvPr id="24" name="矩形 43">
            <a:extLst>
              <a:ext uri="{FF2B5EF4-FFF2-40B4-BE49-F238E27FC236}">
                <a16:creationId xmlns:a16="http://schemas.microsoft.com/office/drawing/2014/main" id="{6DBB2E2D-A81A-AE1A-247F-81BC2FE850AB}"/>
              </a:ext>
            </a:extLst>
          </p:cNvPr>
          <p:cNvSpPr/>
          <p:nvPr/>
        </p:nvSpPr>
        <p:spPr>
          <a:xfrm>
            <a:off x="2700875" y="5276706"/>
            <a:ext cx="21858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>
                <a:solidFill>
                  <a:srgbClr val="222222"/>
                </a:solidFill>
                <a:latin typeface="Arial" panose="020B0604020202020204" pitchFamily="34" charset="0"/>
              </a:rPr>
              <a:t>function input:</a:t>
            </a:r>
            <a:endParaRPr lang="zh-TW" altLang="en-US" sz="2400"/>
          </a:p>
        </p:txBody>
      </p:sp>
      <p:sp>
        <p:nvSpPr>
          <p:cNvPr id="25" name="矩形 44">
            <a:extLst>
              <a:ext uri="{FF2B5EF4-FFF2-40B4-BE49-F238E27FC236}">
                <a16:creationId xmlns:a16="http://schemas.microsoft.com/office/drawing/2014/main" id="{3E0A6CAD-8B9D-B480-25E6-B413143C8151}"/>
              </a:ext>
            </a:extLst>
          </p:cNvPr>
          <p:cNvSpPr/>
          <p:nvPr/>
        </p:nvSpPr>
        <p:spPr>
          <a:xfrm>
            <a:off x="2627784" y="6072575"/>
            <a:ext cx="22518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>
                <a:solidFill>
                  <a:srgbClr val="222222"/>
                </a:solidFill>
                <a:latin typeface="Arial" panose="020B0604020202020204" pitchFamily="34" charset="0"/>
              </a:rPr>
              <a:t>function output:</a:t>
            </a:r>
            <a:endParaRPr lang="zh-TW" altLang="en-US" sz="24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EF9942-2431-CD9B-085F-2C16813FE1E3}"/>
              </a:ext>
            </a:extLst>
          </p:cNvPr>
          <p:cNvSpPr/>
          <p:nvPr/>
        </p:nvSpPr>
        <p:spPr>
          <a:xfrm>
            <a:off x="2653709" y="4869160"/>
            <a:ext cx="5947138" cy="1723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53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4" grpId="0" animBg="1"/>
      <p:bldP spid="17" grpId="0" animBg="1"/>
      <p:bldP spid="18" grpId="0"/>
      <p:bldP spid="21" grpId="0"/>
      <p:bldP spid="22" grpId="0"/>
      <p:bldP spid="24" grpId="0"/>
      <p:bldP spid="25" grpId="0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7F27-A777-AE28-9143-7E5CB462B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ML framework</a:t>
            </a:r>
          </a:p>
        </p:txBody>
      </p:sp>
      <p:sp>
        <p:nvSpPr>
          <p:cNvPr id="5" name="圓柱 5">
            <a:extLst>
              <a:ext uri="{FF2B5EF4-FFF2-40B4-BE49-F238E27FC236}">
                <a16:creationId xmlns:a16="http://schemas.microsoft.com/office/drawing/2014/main" id="{568C126A-D1A5-15C4-77D6-8B497E9D6C4F}"/>
              </a:ext>
            </a:extLst>
          </p:cNvPr>
          <p:cNvSpPr/>
          <p:nvPr/>
        </p:nvSpPr>
        <p:spPr>
          <a:xfrm>
            <a:off x="1088600" y="2034599"/>
            <a:ext cx="1636295" cy="1090863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/>
              <a:t>A set of functions</a:t>
            </a:r>
            <a:endParaRPr lang="zh-TW" altLang="en-US" sz="2400"/>
          </a:p>
        </p:txBody>
      </p:sp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66F96206-C221-1527-E553-24E849D717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0745" y="2663625"/>
          <a:ext cx="110966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520560" imgH="215640" progId="Equation.3">
                  <p:embed/>
                </p:oleObj>
              </mc:Choice>
              <mc:Fallback>
                <p:oleObj name="方程式" r:id="rId3" imgW="520560" imgH="215640" progId="Equation.3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66F96206-C221-1527-E553-24E849D717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745" y="2663625"/>
                        <a:ext cx="1109662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群組 8">
            <a:extLst>
              <a:ext uri="{FF2B5EF4-FFF2-40B4-BE49-F238E27FC236}">
                <a16:creationId xmlns:a16="http://schemas.microsoft.com/office/drawing/2014/main" id="{6272DBB3-CDBA-28E0-9CB3-B93F7A1EFF56}"/>
              </a:ext>
            </a:extLst>
          </p:cNvPr>
          <p:cNvGrpSpPr/>
          <p:nvPr/>
        </p:nvGrpSpPr>
        <p:grpSpPr>
          <a:xfrm>
            <a:off x="4367925" y="881433"/>
            <a:ext cx="3342513" cy="827342"/>
            <a:chOff x="4749800" y="2047360"/>
            <a:chExt cx="3342513" cy="827342"/>
          </a:xfrm>
        </p:grpSpPr>
        <p:graphicFrame>
          <p:nvGraphicFramePr>
            <p:cNvPr id="8" name="Object 12">
              <a:extLst>
                <a:ext uri="{FF2B5EF4-FFF2-40B4-BE49-F238E27FC236}">
                  <a16:creationId xmlns:a16="http://schemas.microsoft.com/office/drawing/2014/main" id="{F5F91804-6086-B16E-FF12-A6E9E985D5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9800" y="2235200"/>
            <a:ext cx="2112963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990360" imgH="215640" progId="Equation.3">
                    <p:embed/>
                  </p:oleObj>
                </mc:Choice>
                <mc:Fallback>
                  <p:oleObj name="方程式" r:id="rId5" imgW="990360" imgH="215640" progId="Equation.3">
                    <p:embed/>
                    <p:pic>
                      <p:nvPicPr>
                        <p:cNvPr id="8" name="Object 12">
                          <a:extLst>
                            <a:ext uri="{FF2B5EF4-FFF2-40B4-BE49-F238E27FC236}">
                              <a16:creationId xmlns:a16="http://schemas.microsoft.com/office/drawing/2014/main" id="{F5F91804-6086-B16E-FF12-A6E9E985D5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9800" y="2235200"/>
                          <a:ext cx="2112963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字方塊 75">
              <a:extLst>
                <a:ext uri="{FF2B5EF4-FFF2-40B4-BE49-F238E27FC236}">
                  <a16:creationId xmlns:a16="http://schemas.microsoft.com/office/drawing/2014/main" id="{4D87254D-46AF-80A1-4C98-2B4305214FF5}"/>
                </a:ext>
              </a:extLst>
            </p:cNvPr>
            <p:cNvSpPr txBox="1"/>
            <p:nvPr/>
          </p:nvSpPr>
          <p:spPr>
            <a:xfrm>
              <a:off x="6654931" y="2212761"/>
              <a:ext cx="1437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/>
                <a:t>“cat”</a:t>
              </a:r>
              <a:endParaRPr lang="zh-TW" altLang="en-US" sz="2400"/>
            </a:p>
          </p:txBody>
        </p:sp>
        <p:pic>
          <p:nvPicPr>
            <p:cNvPr id="10" name="Picture 12" descr="https://encrypted-tbn1.gstatic.com/images?q=tbn:ANd9GcRcwlRKAlSIaCI4W5PRYVbuBQQXifF-56bFqAjh9DMe-_3Lh8_YKw">
              <a:extLst>
                <a:ext uri="{FF2B5EF4-FFF2-40B4-BE49-F238E27FC236}">
                  <a16:creationId xmlns:a16="http://schemas.microsoft.com/office/drawing/2014/main" id="{37DBE762-4E0B-E2D2-BEA1-10163B48E4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1731" y="2047360"/>
              <a:ext cx="1089847" cy="827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文字方塊 11">
            <a:extLst>
              <a:ext uri="{FF2B5EF4-FFF2-40B4-BE49-F238E27FC236}">
                <a16:creationId xmlns:a16="http://schemas.microsoft.com/office/drawing/2014/main" id="{E2FE585A-B216-6AD2-5095-FDE5425851A1}"/>
              </a:ext>
            </a:extLst>
          </p:cNvPr>
          <p:cNvSpPr txBox="1"/>
          <p:nvPr/>
        </p:nvSpPr>
        <p:spPr>
          <a:xfrm>
            <a:off x="3563888" y="332656"/>
            <a:ext cx="311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Image Recognition:</a:t>
            </a:r>
            <a:endParaRPr lang="zh-TW" altLang="en-US" sz="2400"/>
          </a:p>
        </p:txBody>
      </p:sp>
      <p:sp>
        <p:nvSpPr>
          <p:cNvPr id="12" name="文字方塊 17">
            <a:extLst>
              <a:ext uri="{FF2B5EF4-FFF2-40B4-BE49-F238E27FC236}">
                <a16:creationId xmlns:a16="http://schemas.microsoft.com/office/drawing/2014/main" id="{F2D55D56-238B-249E-719B-2BEDA3B2BA23}"/>
              </a:ext>
            </a:extLst>
          </p:cNvPr>
          <p:cNvSpPr txBox="1"/>
          <p:nvPr/>
        </p:nvSpPr>
        <p:spPr>
          <a:xfrm>
            <a:off x="2820746" y="2127572"/>
            <a:ext cx="1205154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Model</a:t>
            </a:r>
            <a:endParaRPr lang="zh-TW" altLang="en-US" sz="2400"/>
          </a:p>
        </p:txBody>
      </p:sp>
      <p:sp>
        <p:nvSpPr>
          <p:cNvPr id="13" name="圓柱 22">
            <a:extLst>
              <a:ext uri="{FF2B5EF4-FFF2-40B4-BE49-F238E27FC236}">
                <a16:creationId xmlns:a16="http://schemas.microsoft.com/office/drawing/2014/main" id="{209DBAE1-94ED-1132-C0C7-DA4412BE9084}"/>
              </a:ext>
            </a:extLst>
          </p:cNvPr>
          <p:cNvSpPr/>
          <p:nvPr/>
        </p:nvSpPr>
        <p:spPr>
          <a:xfrm>
            <a:off x="1029821" y="5215692"/>
            <a:ext cx="1636295" cy="1090863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/>
              <a:t>Training</a:t>
            </a:r>
          </a:p>
          <a:p>
            <a:pPr algn="ctr"/>
            <a:r>
              <a:rPr lang="en-US" altLang="zh-TW" sz="2400"/>
              <a:t>Data</a:t>
            </a:r>
            <a:endParaRPr lang="zh-TW" altLang="en-US" sz="2400"/>
          </a:p>
        </p:txBody>
      </p:sp>
      <p:sp>
        <p:nvSpPr>
          <p:cNvPr id="14" name="圓角矩形 26">
            <a:extLst>
              <a:ext uri="{FF2B5EF4-FFF2-40B4-BE49-F238E27FC236}">
                <a16:creationId xmlns:a16="http://schemas.microsoft.com/office/drawing/2014/main" id="{653D9761-FCA4-73AC-E5F5-BBE7274E0AAE}"/>
              </a:ext>
            </a:extLst>
          </p:cNvPr>
          <p:cNvSpPr/>
          <p:nvPr/>
        </p:nvSpPr>
        <p:spPr>
          <a:xfrm>
            <a:off x="891920" y="3661530"/>
            <a:ext cx="1912095" cy="10908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/>
              <a:t>Goodness of function f</a:t>
            </a:r>
            <a:endParaRPr lang="en-US" altLang="zh-TW" sz="2400" baseline="30000"/>
          </a:p>
        </p:txBody>
      </p:sp>
      <p:cxnSp>
        <p:nvCxnSpPr>
          <p:cNvPr id="15" name="直線單箭頭接點 27">
            <a:extLst>
              <a:ext uri="{FF2B5EF4-FFF2-40B4-BE49-F238E27FC236}">
                <a16:creationId xmlns:a16="http://schemas.microsoft.com/office/drawing/2014/main" id="{0BA4EB2D-C877-0873-CD59-1F2719E67C96}"/>
              </a:ext>
            </a:extLst>
          </p:cNvPr>
          <p:cNvCxnSpPr/>
          <p:nvPr/>
        </p:nvCxnSpPr>
        <p:spPr>
          <a:xfrm flipV="1">
            <a:off x="1869025" y="4774164"/>
            <a:ext cx="0" cy="545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28">
            <a:extLst>
              <a:ext uri="{FF2B5EF4-FFF2-40B4-BE49-F238E27FC236}">
                <a16:creationId xmlns:a16="http://schemas.microsoft.com/office/drawing/2014/main" id="{9A362CE1-49C6-C07A-A1D8-43072B60E438}"/>
              </a:ext>
            </a:extLst>
          </p:cNvPr>
          <p:cNvCxnSpPr/>
          <p:nvPr/>
        </p:nvCxnSpPr>
        <p:spPr>
          <a:xfrm>
            <a:off x="1869025" y="3158798"/>
            <a:ext cx="0" cy="480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29">
            <a:extLst>
              <a:ext uri="{FF2B5EF4-FFF2-40B4-BE49-F238E27FC236}">
                <a16:creationId xmlns:a16="http://schemas.microsoft.com/office/drawing/2014/main" id="{E8EA4F10-0BDF-2712-218A-B024BED8BBC3}"/>
              </a:ext>
            </a:extLst>
          </p:cNvPr>
          <p:cNvSpPr/>
          <p:nvPr/>
        </p:nvSpPr>
        <p:spPr>
          <a:xfrm>
            <a:off x="2595794" y="6198774"/>
            <a:ext cx="1470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>
                <a:solidFill>
                  <a:srgbClr val="222222"/>
                </a:solidFill>
                <a:latin typeface="Arial" panose="020B0604020202020204" pitchFamily="34" charset="0"/>
              </a:rPr>
              <a:t>“monkey”</a:t>
            </a:r>
            <a:endParaRPr lang="zh-TW" altLang="en-US" sz="2400"/>
          </a:p>
        </p:txBody>
      </p:sp>
      <p:pic>
        <p:nvPicPr>
          <p:cNvPr id="18" name="圖片 30">
            <a:extLst>
              <a:ext uri="{FF2B5EF4-FFF2-40B4-BE49-F238E27FC236}">
                <a16:creationId xmlns:a16="http://schemas.microsoft.com/office/drawing/2014/main" id="{A566DB3B-5DD5-6BB2-849F-3A00BDEBA4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5516" y="5123690"/>
            <a:ext cx="931280" cy="1051432"/>
          </a:xfrm>
          <a:prstGeom prst="rect">
            <a:avLst/>
          </a:prstGeom>
        </p:spPr>
      </p:pic>
      <p:pic>
        <p:nvPicPr>
          <p:cNvPr id="19" name="圖片 31">
            <a:extLst>
              <a:ext uri="{FF2B5EF4-FFF2-40B4-BE49-F238E27FC236}">
                <a16:creationId xmlns:a16="http://schemas.microsoft.com/office/drawing/2014/main" id="{027ADDA9-5DEB-7BB4-B82D-61318B26B8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9078" y="5123690"/>
            <a:ext cx="899978" cy="1075096"/>
          </a:xfrm>
          <a:prstGeom prst="rect">
            <a:avLst/>
          </a:prstGeom>
        </p:spPr>
      </p:pic>
      <p:sp>
        <p:nvSpPr>
          <p:cNvPr id="20" name="文字方塊 32">
            <a:extLst>
              <a:ext uri="{FF2B5EF4-FFF2-40B4-BE49-F238E27FC236}">
                <a16:creationId xmlns:a16="http://schemas.microsoft.com/office/drawing/2014/main" id="{7037BCBF-D6A8-9565-9011-617648B9771D}"/>
              </a:ext>
            </a:extLst>
          </p:cNvPr>
          <p:cNvSpPr txBox="1"/>
          <p:nvPr/>
        </p:nvSpPr>
        <p:spPr>
          <a:xfrm>
            <a:off x="4206854" y="6216140"/>
            <a:ext cx="798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“cat”</a:t>
            </a:r>
            <a:endParaRPr lang="zh-TW" altLang="en-US" sz="2400"/>
          </a:p>
        </p:txBody>
      </p:sp>
      <p:sp>
        <p:nvSpPr>
          <p:cNvPr id="21" name="文字方塊 33">
            <a:extLst>
              <a:ext uri="{FF2B5EF4-FFF2-40B4-BE49-F238E27FC236}">
                <a16:creationId xmlns:a16="http://schemas.microsoft.com/office/drawing/2014/main" id="{7CC81387-34E7-6BEB-FD25-DC615545E378}"/>
              </a:ext>
            </a:extLst>
          </p:cNvPr>
          <p:cNvSpPr txBox="1"/>
          <p:nvPr/>
        </p:nvSpPr>
        <p:spPr>
          <a:xfrm>
            <a:off x="5389268" y="6178896"/>
            <a:ext cx="8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“dog”</a:t>
            </a:r>
            <a:endParaRPr lang="zh-TW" altLang="en-US" sz="2400"/>
          </a:p>
        </p:txBody>
      </p:sp>
      <p:pic>
        <p:nvPicPr>
          <p:cNvPr id="22" name="圖片 34">
            <a:extLst>
              <a:ext uri="{FF2B5EF4-FFF2-40B4-BE49-F238E27FC236}">
                <a16:creationId xmlns:a16="http://schemas.microsoft.com/office/drawing/2014/main" id="{4D1992FC-BE66-3915-8AE3-D3B1BA850D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1338" y="5135510"/>
            <a:ext cx="823790" cy="1063264"/>
          </a:xfrm>
          <a:prstGeom prst="rect">
            <a:avLst/>
          </a:prstGeom>
        </p:spPr>
      </p:pic>
      <p:graphicFrame>
        <p:nvGraphicFramePr>
          <p:cNvPr id="23" name="Object 12">
            <a:extLst>
              <a:ext uri="{FF2B5EF4-FFF2-40B4-BE49-F238E27FC236}">
                <a16:creationId xmlns:a16="http://schemas.microsoft.com/office/drawing/2014/main" id="{5824B271-8574-2237-85ED-DC0C6A044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8150" y="4274938"/>
          <a:ext cx="4333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203040" imgH="228600" progId="Equation.3">
                  <p:embed/>
                </p:oleObj>
              </mc:Choice>
              <mc:Fallback>
                <p:oleObj name="方程式" r:id="rId11" imgW="203040" imgH="228600" progId="Equation.3">
                  <p:embed/>
                  <p:pic>
                    <p:nvPicPr>
                      <p:cNvPr id="23" name="Object 12">
                        <a:extLst>
                          <a:ext uri="{FF2B5EF4-FFF2-40B4-BE49-F238E27FC236}">
                            <a16:creationId xmlns:a16="http://schemas.microsoft.com/office/drawing/2014/main" id="{5824B271-8574-2237-85ED-DC0C6A044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150" y="4274938"/>
                        <a:ext cx="433387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字方塊 24">
            <a:extLst>
              <a:ext uri="{FF2B5EF4-FFF2-40B4-BE49-F238E27FC236}">
                <a16:creationId xmlns:a16="http://schemas.microsoft.com/office/drawing/2014/main" id="{D8791622-F64E-91AF-436E-78AC55C0B33A}"/>
              </a:ext>
            </a:extLst>
          </p:cNvPr>
          <p:cNvSpPr txBox="1"/>
          <p:nvPr/>
        </p:nvSpPr>
        <p:spPr>
          <a:xfrm>
            <a:off x="2986656" y="3713905"/>
            <a:ext cx="34905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/>
              <a:t>Train to obtain the “Best” Function</a:t>
            </a:r>
            <a:endParaRPr lang="zh-TW" altLang="en-US" sz="1500"/>
          </a:p>
        </p:txBody>
      </p:sp>
      <p:cxnSp>
        <p:nvCxnSpPr>
          <p:cNvPr id="25" name="直線單箭頭接點 25">
            <a:extLst>
              <a:ext uri="{FF2B5EF4-FFF2-40B4-BE49-F238E27FC236}">
                <a16:creationId xmlns:a16="http://schemas.microsoft.com/office/drawing/2014/main" id="{3FFDD7A7-83B7-E0C6-651C-F17141FEDC33}"/>
              </a:ext>
            </a:extLst>
          </p:cNvPr>
          <p:cNvCxnSpPr/>
          <p:nvPr/>
        </p:nvCxnSpPr>
        <p:spPr>
          <a:xfrm>
            <a:off x="2820745" y="4214618"/>
            <a:ext cx="37249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圓角矩形 37">
            <a:extLst>
              <a:ext uri="{FF2B5EF4-FFF2-40B4-BE49-F238E27FC236}">
                <a16:creationId xmlns:a16="http://schemas.microsoft.com/office/drawing/2014/main" id="{7DB55E29-F89E-427F-16FA-24BF5BB12381}"/>
              </a:ext>
            </a:extLst>
          </p:cNvPr>
          <p:cNvSpPr/>
          <p:nvPr/>
        </p:nvSpPr>
        <p:spPr>
          <a:xfrm>
            <a:off x="6574354" y="3630138"/>
            <a:ext cx="2069432" cy="109086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400"/>
              <a:t>    Using</a:t>
            </a:r>
          </a:p>
        </p:txBody>
      </p:sp>
      <p:cxnSp>
        <p:nvCxnSpPr>
          <p:cNvPr id="27" name="直線單箭頭接點 40">
            <a:extLst>
              <a:ext uri="{FF2B5EF4-FFF2-40B4-BE49-F238E27FC236}">
                <a16:creationId xmlns:a16="http://schemas.microsoft.com/office/drawing/2014/main" id="{4BAF84AC-8C6C-7F28-C0B7-EFA148C8782C}"/>
              </a:ext>
            </a:extLst>
          </p:cNvPr>
          <p:cNvCxnSpPr/>
          <p:nvPr/>
        </p:nvCxnSpPr>
        <p:spPr>
          <a:xfrm flipV="1">
            <a:off x="7614083" y="4780282"/>
            <a:ext cx="0" cy="545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41">
            <a:extLst>
              <a:ext uri="{FF2B5EF4-FFF2-40B4-BE49-F238E27FC236}">
                <a16:creationId xmlns:a16="http://schemas.microsoft.com/office/drawing/2014/main" id="{1855F2B1-DCB8-61D5-5105-86C3B9870FE7}"/>
              </a:ext>
            </a:extLst>
          </p:cNvPr>
          <p:cNvCxnSpPr/>
          <p:nvPr/>
        </p:nvCxnSpPr>
        <p:spPr>
          <a:xfrm flipV="1">
            <a:off x="7590021" y="3132832"/>
            <a:ext cx="0" cy="4973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71066C50-F362-6765-3BB3-64CC77135F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5324" y="3931094"/>
          <a:ext cx="4333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203040" imgH="228600" progId="Equation.3">
                  <p:embed/>
                </p:oleObj>
              </mc:Choice>
              <mc:Fallback>
                <p:oleObj name="方程式" r:id="rId13" imgW="203040" imgH="228600" progId="Equation.3">
                  <p:embed/>
                  <p:pic>
                    <p:nvPicPr>
                      <p:cNvPr id="29" name="Object 12">
                        <a:extLst>
                          <a:ext uri="{FF2B5EF4-FFF2-40B4-BE49-F238E27FC236}">
                            <a16:creationId xmlns:a16="http://schemas.microsoft.com/office/drawing/2014/main" id="{71066C50-F362-6765-3BB3-64CC77135F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5324" y="3931094"/>
                        <a:ext cx="4333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Picture 12" descr="https://encrypted-tbn1.gstatic.com/images?q=tbn:ANd9GcRcwlRKAlSIaCI4W5PRYVbuBQQXifF-56bFqAjh9DMe-_3Lh8_YKw">
            <a:extLst>
              <a:ext uri="{FF2B5EF4-FFF2-40B4-BE49-F238E27FC236}">
                <a16:creationId xmlns:a16="http://schemas.microsoft.com/office/drawing/2014/main" id="{41A17AE3-D537-5965-F2B7-8D5450A24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968" y="5432555"/>
            <a:ext cx="1089847" cy="82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文字方塊 45">
            <a:extLst>
              <a:ext uri="{FF2B5EF4-FFF2-40B4-BE49-F238E27FC236}">
                <a16:creationId xmlns:a16="http://schemas.microsoft.com/office/drawing/2014/main" id="{401DA68D-F387-CF4E-78D5-6AE667FCBA06}"/>
              </a:ext>
            </a:extLst>
          </p:cNvPr>
          <p:cNvSpPr txBox="1"/>
          <p:nvPr/>
        </p:nvSpPr>
        <p:spPr>
          <a:xfrm>
            <a:off x="6871330" y="2622023"/>
            <a:ext cx="1437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“cat”</a:t>
            </a:r>
            <a:endParaRPr lang="zh-TW" altLang="en-US" sz="2400"/>
          </a:p>
        </p:txBody>
      </p:sp>
      <p:sp>
        <p:nvSpPr>
          <p:cNvPr id="32" name="矩形 7">
            <a:extLst>
              <a:ext uri="{FF2B5EF4-FFF2-40B4-BE49-F238E27FC236}">
                <a16:creationId xmlns:a16="http://schemas.microsoft.com/office/drawing/2014/main" id="{F3E98F4E-A99E-75C4-FFB9-F4DF972273E0}"/>
              </a:ext>
            </a:extLst>
          </p:cNvPr>
          <p:cNvSpPr/>
          <p:nvPr/>
        </p:nvSpPr>
        <p:spPr>
          <a:xfrm>
            <a:off x="787400" y="1878529"/>
            <a:ext cx="5689842" cy="4799276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46">
            <a:extLst>
              <a:ext uri="{FF2B5EF4-FFF2-40B4-BE49-F238E27FC236}">
                <a16:creationId xmlns:a16="http://schemas.microsoft.com/office/drawing/2014/main" id="{D43BD4A0-53C7-3DA8-26EC-4632198C4C34}"/>
              </a:ext>
            </a:extLst>
          </p:cNvPr>
          <p:cNvSpPr/>
          <p:nvPr/>
        </p:nvSpPr>
        <p:spPr>
          <a:xfrm>
            <a:off x="6474765" y="1878529"/>
            <a:ext cx="2341328" cy="4799276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47">
            <a:extLst>
              <a:ext uri="{FF2B5EF4-FFF2-40B4-BE49-F238E27FC236}">
                <a16:creationId xmlns:a16="http://schemas.microsoft.com/office/drawing/2014/main" id="{E7B8F744-B53A-10C2-4FFA-419191812478}"/>
              </a:ext>
            </a:extLst>
          </p:cNvPr>
          <p:cNvSpPr txBox="1"/>
          <p:nvPr/>
        </p:nvSpPr>
        <p:spPr>
          <a:xfrm>
            <a:off x="4974366" y="2036495"/>
            <a:ext cx="1321915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000"/>
              <a:t>Training </a:t>
            </a:r>
            <a:endParaRPr lang="zh-TW" altLang="en-US" sz="2000"/>
          </a:p>
        </p:txBody>
      </p:sp>
      <p:sp>
        <p:nvSpPr>
          <p:cNvPr id="35" name="文字方塊 48">
            <a:extLst>
              <a:ext uri="{FF2B5EF4-FFF2-40B4-BE49-F238E27FC236}">
                <a16:creationId xmlns:a16="http://schemas.microsoft.com/office/drawing/2014/main" id="{00EAC1C2-1E77-BAA4-E703-CD9525D7458D}"/>
              </a:ext>
            </a:extLst>
          </p:cNvPr>
          <p:cNvSpPr txBox="1"/>
          <p:nvPr/>
        </p:nvSpPr>
        <p:spPr>
          <a:xfrm>
            <a:off x="6655726" y="2019444"/>
            <a:ext cx="1205154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000"/>
              <a:t>Testing</a:t>
            </a:r>
            <a:endParaRPr lang="zh-TW" altLang="en-US" sz="2000"/>
          </a:p>
        </p:txBody>
      </p:sp>
      <p:sp>
        <p:nvSpPr>
          <p:cNvPr id="36" name="矩形 49">
            <a:extLst>
              <a:ext uri="{FF2B5EF4-FFF2-40B4-BE49-F238E27FC236}">
                <a16:creationId xmlns:a16="http://schemas.microsoft.com/office/drawing/2014/main" id="{56B0B616-4B35-F86B-0BA9-3AC9C63E3D1C}"/>
              </a:ext>
            </a:extLst>
          </p:cNvPr>
          <p:cNvSpPr/>
          <p:nvPr/>
        </p:nvSpPr>
        <p:spPr>
          <a:xfrm>
            <a:off x="901936" y="1974280"/>
            <a:ext cx="3233978" cy="12533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50">
            <a:extLst>
              <a:ext uri="{FF2B5EF4-FFF2-40B4-BE49-F238E27FC236}">
                <a16:creationId xmlns:a16="http://schemas.microsoft.com/office/drawing/2014/main" id="{C2446877-6662-504F-DB3C-96BFE640014C}"/>
              </a:ext>
            </a:extLst>
          </p:cNvPr>
          <p:cNvSpPr/>
          <p:nvPr/>
        </p:nvSpPr>
        <p:spPr>
          <a:xfrm>
            <a:off x="901936" y="3651658"/>
            <a:ext cx="1918809" cy="1100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51">
            <a:extLst>
              <a:ext uri="{FF2B5EF4-FFF2-40B4-BE49-F238E27FC236}">
                <a16:creationId xmlns:a16="http://schemas.microsoft.com/office/drawing/2014/main" id="{D1BCFC82-29CE-56C6-CA23-7AF7C194C192}"/>
              </a:ext>
            </a:extLst>
          </p:cNvPr>
          <p:cNvSpPr/>
          <p:nvPr/>
        </p:nvSpPr>
        <p:spPr>
          <a:xfrm>
            <a:off x="3176509" y="3639760"/>
            <a:ext cx="3062771" cy="1100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52">
            <a:extLst>
              <a:ext uri="{FF2B5EF4-FFF2-40B4-BE49-F238E27FC236}">
                <a16:creationId xmlns:a16="http://schemas.microsoft.com/office/drawing/2014/main" id="{AF9EEE29-9EB8-D807-E021-6D8621A32FAF}"/>
              </a:ext>
            </a:extLst>
          </p:cNvPr>
          <p:cNvSpPr txBox="1"/>
          <p:nvPr/>
        </p:nvSpPr>
        <p:spPr>
          <a:xfrm>
            <a:off x="278070" y="2833892"/>
            <a:ext cx="1205154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Step 1</a:t>
            </a:r>
            <a:endParaRPr lang="zh-TW" altLang="en-US" sz="2400"/>
          </a:p>
        </p:txBody>
      </p:sp>
      <p:sp>
        <p:nvSpPr>
          <p:cNvPr id="40" name="文字方塊 53">
            <a:extLst>
              <a:ext uri="{FF2B5EF4-FFF2-40B4-BE49-F238E27FC236}">
                <a16:creationId xmlns:a16="http://schemas.microsoft.com/office/drawing/2014/main" id="{3FF03ECF-0BFA-491B-60B6-24AECCBF9CF3}"/>
              </a:ext>
            </a:extLst>
          </p:cNvPr>
          <p:cNvSpPr txBox="1"/>
          <p:nvPr/>
        </p:nvSpPr>
        <p:spPr>
          <a:xfrm>
            <a:off x="289343" y="4500315"/>
            <a:ext cx="1205154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Step 2</a:t>
            </a:r>
            <a:endParaRPr lang="zh-TW" altLang="en-US" sz="2400"/>
          </a:p>
        </p:txBody>
      </p:sp>
      <p:sp>
        <p:nvSpPr>
          <p:cNvPr id="41" name="文字方塊 54">
            <a:extLst>
              <a:ext uri="{FF2B5EF4-FFF2-40B4-BE49-F238E27FC236}">
                <a16:creationId xmlns:a16="http://schemas.microsoft.com/office/drawing/2014/main" id="{9ACB0B87-A5AF-9242-4F49-4DAE31054550}"/>
              </a:ext>
            </a:extLst>
          </p:cNvPr>
          <p:cNvSpPr txBox="1"/>
          <p:nvPr/>
        </p:nvSpPr>
        <p:spPr>
          <a:xfrm>
            <a:off x="3020140" y="4513755"/>
            <a:ext cx="1205154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Step 3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26650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0976-E304-0E19-50DF-58F89AB7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3A28B-68C2-EB63-A590-F65E13FE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ML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A050B-065C-45A1-470F-7E3FA8A603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Data</a:t>
            </a:r>
          </a:p>
          <a:p>
            <a:pPr lvl="1"/>
            <a:r>
              <a:rPr lang="en-US"/>
              <a:t>Supervised</a:t>
            </a:r>
          </a:p>
          <a:p>
            <a:pPr lvl="1"/>
            <a:r>
              <a:rPr lang="en-US"/>
              <a:t>Unsupervised</a:t>
            </a:r>
          </a:p>
          <a:p>
            <a:pPr lvl="1"/>
            <a:r>
              <a:rPr lang="en-US"/>
              <a:t>Semi-supervised</a:t>
            </a:r>
          </a:p>
          <a:p>
            <a:pPr lvl="1"/>
            <a:r>
              <a:rPr lang="en-US"/>
              <a:t>Reinforcement Learning</a:t>
            </a:r>
          </a:p>
          <a:p>
            <a:r>
              <a:rPr lang="en-US"/>
              <a:t>Offline (Batch) vs Online learning</a:t>
            </a:r>
          </a:p>
          <a:p>
            <a:r>
              <a:rPr lang="en-US"/>
              <a:t>Instance vs Model-based Learning</a:t>
            </a:r>
          </a:p>
          <a:p>
            <a:r>
              <a:rPr lang="en-US"/>
              <a:t>Discriminative vs Generative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A90AAF-A901-A57E-77E2-A80008FB08C7}"/>
              </a:ext>
            </a:extLst>
          </p:cNvPr>
          <p:cNvSpPr/>
          <p:nvPr/>
        </p:nvSpPr>
        <p:spPr>
          <a:xfrm>
            <a:off x="431056" y="4869160"/>
            <a:ext cx="4717008" cy="5760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17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61801-1E48-D631-1625-DA2BFB09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03DB-B22E-71F8-D807-2FF50C2C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8136904" cy="936104"/>
          </a:xfrm>
        </p:spPr>
        <p:txBody>
          <a:bodyPr/>
          <a:lstStyle/>
          <a:p>
            <a:r>
              <a:rPr lang="en-US"/>
              <a:t>Discriminative Modeling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7B2689-A84C-1114-1700-B30CF68E3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80" y="1340768"/>
            <a:ext cx="6046440" cy="27554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455E7909-4605-5672-2517-1D34B71ABE7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4" y="4580557"/>
                <a:ext cx="8135937" cy="1944787"/>
              </a:xfrm>
            </p:spPr>
            <p:txBody>
              <a:bodyPr/>
              <a:lstStyle/>
              <a:p>
                <a:r>
                  <a:rPr lang="en-US"/>
                  <a:t>Focuses on distinguishing between classes</a:t>
                </a:r>
              </a:p>
              <a:p>
                <a:r>
                  <a:rPr lang="en-US"/>
                  <a:t>More formally, models the conditional probability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i.e. the decision boundary</a:t>
                </a:r>
              </a:p>
              <a:p>
                <a:r>
                  <a:rPr lang="en-US"/>
                  <a:t>Examples – techniques learnt in this module</a:t>
                </a:r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455E7909-4605-5672-2517-1D34B71AB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4" y="4580557"/>
                <a:ext cx="8135937" cy="1944787"/>
              </a:xfrm>
              <a:blipFill>
                <a:blip r:embed="rId3"/>
                <a:stretch>
                  <a:fillRect l="-675" t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B6316DB-5580-1D0C-9451-60F8BEA99815}"/>
              </a:ext>
            </a:extLst>
          </p:cNvPr>
          <p:cNvSpPr txBox="1"/>
          <p:nvPr/>
        </p:nvSpPr>
        <p:spPr>
          <a:xfrm>
            <a:off x="1403648" y="4076784"/>
            <a:ext cx="63367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Figure adapted from </a:t>
            </a:r>
            <a:r>
              <a:rPr lang="en-GB" sz="1100"/>
              <a:t>Foster, D. (2022). </a:t>
            </a:r>
            <a:r>
              <a:rPr lang="en-GB" sz="1100" i="1"/>
              <a:t>Generative deep learning</a:t>
            </a:r>
            <a:r>
              <a:rPr lang="en-GB" sz="1100"/>
              <a:t>. O'Reilly Media, Inc.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740066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F533-D8AC-92A0-DB9D-39510D22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A1344-CEFA-D08D-7025-08873728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8136904" cy="936104"/>
          </a:xfrm>
        </p:spPr>
        <p:txBody>
          <a:bodyPr/>
          <a:lstStyle/>
          <a:p>
            <a:r>
              <a:rPr lang="en-US"/>
              <a:t>Generative Modeling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7E21A-2F80-EF12-48C1-55E2A4A2F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784" y="1268760"/>
            <a:ext cx="5974432" cy="2748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E82F85E0-D93F-5183-BE13-204EFBDE9398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67544" y="4365104"/>
                <a:ext cx="8424936" cy="2160240"/>
              </a:xfrm>
            </p:spPr>
            <p:txBody>
              <a:bodyPr/>
              <a:lstStyle/>
              <a:p>
                <a:r>
                  <a:rPr lang="en-US"/>
                  <a:t>Learns how the data is generated and can generate new similar samples</a:t>
                </a:r>
              </a:p>
              <a:p>
                <a:r>
                  <a:rPr lang="en-US"/>
                  <a:t>More formally, models the joint probability distribution,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Examples – Generative Adversarial Networks (GANs), Variational Autoencoders (VAEs) (not covered in this module)</a:t>
                </a:r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E82F85E0-D93F-5183-BE13-204EFBDE93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67544" y="4365104"/>
                <a:ext cx="8424936" cy="2160240"/>
              </a:xfrm>
              <a:blipFill>
                <a:blip r:embed="rId4"/>
                <a:stretch>
                  <a:fillRect l="-651" t="-1412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F2EB944-EE5D-61C7-1F4A-91FC6B33FBBA}"/>
              </a:ext>
            </a:extLst>
          </p:cNvPr>
          <p:cNvSpPr txBox="1"/>
          <p:nvPr/>
        </p:nvSpPr>
        <p:spPr>
          <a:xfrm>
            <a:off x="1403648" y="4076784"/>
            <a:ext cx="63367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Figure adapted from </a:t>
            </a:r>
            <a:r>
              <a:rPr lang="en-GB" sz="1100"/>
              <a:t>Foster, D. (2022). </a:t>
            </a:r>
            <a:r>
              <a:rPr lang="en-GB" sz="1100" i="1"/>
              <a:t>Generative deep learning</a:t>
            </a:r>
            <a:r>
              <a:rPr lang="en-GB" sz="1100"/>
              <a:t>. O'Reilly Media, Inc.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602899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CD70-F237-4D98-92B4-09B52CFD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9AF31-A902-72AC-8361-A00B31C30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In this lecture, we discussed</a:t>
            </a:r>
          </a:p>
          <a:p>
            <a:pPr lvl="1"/>
            <a:r>
              <a:rPr lang="en-US"/>
              <a:t>Module overview – delivery and assessment</a:t>
            </a:r>
          </a:p>
          <a:p>
            <a:pPr lvl="1"/>
            <a:r>
              <a:rPr lang="en-US"/>
              <a:t>Machine Learning definitions</a:t>
            </a:r>
          </a:p>
          <a:p>
            <a:pPr lvl="1"/>
            <a:r>
              <a:rPr lang="en-US"/>
              <a:t>Types of ML systems</a:t>
            </a:r>
          </a:p>
          <a:p>
            <a:pPr lvl="2"/>
            <a:r>
              <a:rPr lang="en-US"/>
              <a:t>Supervised, unsupervised, semi-supervised and RL</a:t>
            </a:r>
          </a:p>
          <a:p>
            <a:pPr lvl="2"/>
            <a:r>
              <a:rPr lang="en-US"/>
              <a:t>Batch vs Online Learning</a:t>
            </a:r>
          </a:p>
          <a:p>
            <a:pPr lvl="2"/>
            <a:r>
              <a:rPr lang="en-US"/>
              <a:t>Instance-based vs Model-based</a:t>
            </a:r>
          </a:p>
          <a:p>
            <a:pPr lvl="2"/>
            <a:r>
              <a:rPr lang="en-US"/>
              <a:t>Discriminative vs Generative</a:t>
            </a:r>
          </a:p>
          <a:p>
            <a:r>
              <a:rPr lang="en-US"/>
              <a:t>Reading – Chapter 1 from the textbook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78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DAA4DE7-B6F5-84B8-BE9B-47B68A688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48" y="2204864"/>
            <a:ext cx="8136904" cy="2016224"/>
          </a:xfrm>
        </p:spPr>
        <p:txBody>
          <a:bodyPr/>
          <a:lstStyle/>
          <a:p>
            <a:pPr algn="ctr"/>
            <a:r>
              <a:rPr lang="en-US" dirty="0"/>
              <a:t>Next Lecture: Developing an ML project – Checklist and Challenges</a:t>
            </a:r>
            <a:br>
              <a:rPr lang="en-US" dirty="0"/>
            </a:br>
            <a:r>
              <a:rPr lang="en-US" dirty="0"/>
              <a:t>Tuesday, 22 Sep, 11-12 @ 46/2003</a:t>
            </a:r>
          </a:p>
        </p:txBody>
      </p:sp>
    </p:spTree>
    <p:extLst>
      <p:ext uri="{BB962C8B-B14F-4D97-AF65-F5344CB8AC3E}">
        <p14:creationId xmlns:p14="http://schemas.microsoft.com/office/powerpoint/2010/main" val="1223675653"/>
      </p:ext>
    </p:extLst>
  </p:cSld>
  <p:clrMapOvr>
    <a:masterClrMapping/>
  </p:clrMapOvr>
</p:sld>
</file>

<file path=ppt/theme/theme1.xml><?xml version="1.0" encoding="utf-8"?>
<a:theme xmlns:a="http://schemas.openxmlformats.org/drawingml/2006/main" name="UoS_Powerpoint_template">
  <a:themeElements>
    <a:clrScheme name="Rich Black">
      <a:dk1>
        <a:srgbClr val="231F20"/>
      </a:dk1>
      <a:lt1>
        <a:srgbClr val="FFFFFF"/>
      </a:lt1>
      <a:dk2>
        <a:srgbClr val="005C84"/>
      </a:dk2>
      <a:lt2>
        <a:srgbClr val="495961"/>
      </a:lt2>
      <a:accent1>
        <a:srgbClr val="9FB1BD"/>
      </a:accent1>
      <a:accent2>
        <a:srgbClr val="E73037"/>
      </a:accent2>
      <a:accent3>
        <a:srgbClr val="C1D100"/>
      </a:accent3>
      <a:accent4>
        <a:srgbClr val="8D3970"/>
      </a:accent4>
      <a:accent5>
        <a:srgbClr val="31BFC7"/>
      </a:accent5>
      <a:accent6>
        <a:srgbClr val="EF7D00"/>
      </a:accent6>
      <a:hlink>
        <a:srgbClr val="74C9E5"/>
      </a:hlink>
      <a:folHlink>
        <a:srgbClr val="D5007F"/>
      </a:folHlink>
    </a:clrScheme>
    <a:fontScheme name="Custom 1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46433AF-ADAF-5043-992B-F8DA038F8EDD}" vid="{70BB0F00-7E88-EC42-8F76-723910B29191}"/>
    </a:ext>
  </a:extLst>
</a:theme>
</file>

<file path=ppt/theme/theme2.xml><?xml version="1.0" encoding="utf-8"?>
<a:theme xmlns:a="http://schemas.openxmlformats.org/drawingml/2006/main" name="Title and content">
  <a:themeElements>
    <a:clrScheme name="Custom 1">
      <a:dk1>
        <a:srgbClr val="231F20"/>
      </a:dk1>
      <a:lt1>
        <a:srgbClr val="FFFFFF"/>
      </a:lt1>
      <a:dk2>
        <a:srgbClr val="005C84"/>
      </a:dk2>
      <a:lt2>
        <a:srgbClr val="495961"/>
      </a:lt2>
      <a:accent1>
        <a:srgbClr val="9FB1BD"/>
      </a:accent1>
      <a:accent2>
        <a:srgbClr val="E73037"/>
      </a:accent2>
      <a:accent3>
        <a:srgbClr val="C1D100"/>
      </a:accent3>
      <a:accent4>
        <a:srgbClr val="8D3970"/>
      </a:accent4>
      <a:accent5>
        <a:srgbClr val="31BFC7"/>
      </a:accent5>
      <a:accent6>
        <a:srgbClr val="EF7D00"/>
      </a:accent6>
      <a:hlink>
        <a:srgbClr val="005C83"/>
      </a:hlink>
      <a:folHlink>
        <a:srgbClr val="495961"/>
      </a:folHlink>
    </a:clrScheme>
    <a:fontScheme name="UoS Powerpoint Fonts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46433AF-ADAF-5043-992B-F8DA038F8EDD}" vid="{FB3B6721-CF41-CB4A-8BDA-0705E516CA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3682EB-C5DD-B24C-B87B-2491F21400E6}">
  <we:reference id="3e0fcce7-415c-4081-926c-b4e449c650e4" version="1.1.0.2" store="EXCatalog" storeType="EXCatalog"/>
  <we:alternateReferences>
    <we:reference id="WA200004709" version="1.1.0.2" store="en-GB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24FBB6BFB1D540934452F52CBBF22B" ma:contentTypeVersion="9" ma:contentTypeDescription="Create a new document." ma:contentTypeScope="" ma:versionID="21261a22b0a1492a5963e2cc5a02714f">
  <xsd:schema xmlns:xsd="http://www.w3.org/2001/XMLSchema" xmlns:xs="http://www.w3.org/2001/XMLSchema" xmlns:p="http://schemas.microsoft.com/office/2006/metadata/properties" xmlns:ns2="c17eb852-9151-42b7-bd36-545ee532f1a1" xmlns:ns3="1fc98906-40c9-4f56-92bd-f396bbed9311" targetNamespace="http://schemas.microsoft.com/office/2006/metadata/properties" ma:root="true" ma:fieldsID="210f28c92276b41fc3c7219090adcd97" ns2:_="" ns3:_="">
    <xsd:import namespace="c17eb852-9151-42b7-bd36-545ee532f1a1"/>
    <xsd:import namespace="1fc98906-40c9-4f56-92bd-f396bbed931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eb852-9151-42b7-bd36-545ee532f1a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c98906-40c9-4f56-92bd-f396bbed931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0bfaa32-be88-4c32-8520-a8dac6cdd59d}" ma:internalName="TaxCatchAll" ma:showField="CatchAllData" ma:web="1fc98906-40c9-4f56-92bd-f396bbed93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c98906-40c9-4f56-92bd-f396bbed9311" xsi:nil="true"/>
    <lcf76f155ced4ddcb4097134ff3c332f xmlns="c17eb852-9151-42b7-bd36-545ee532f1a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F550B5B-764A-456A-890B-534F7E9CBE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FE5E4C-A660-4B47-ADFF-41A96BE1AB52}">
  <ds:schemaRefs>
    <ds:schemaRef ds:uri="1fc98906-40c9-4f56-92bd-f396bbed9311"/>
    <ds:schemaRef ds:uri="c17eb852-9151-42b7-bd36-545ee532f1a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0608EC-859B-4A99-8679-C05BD7B9789A}">
  <ds:schemaRefs>
    <ds:schemaRef ds:uri="1fc98906-40c9-4f56-92bd-f396bbed9311"/>
    <ds:schemaRef ds:uri="993a5681-5c5b-4cef-91da-e6501083dd4a"/>
    <ds:schemaRef ds:uri="c17eb852-9151-42b7-bd36-545ee532f1a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UoS_Powerpoint_template</Template>
  <Application>Microsoft Office PowerPoint</Application>
  <PresentationFormat>On-screen Show (4:3)</PresentationFormat>
  <Slides>29</Slides>
  <Notes>8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UoS_Powerpoint_template</vt:lpstr>
      <vt:lpstr>Title and content</vt:lpstr>
      <vt:lpstr>Introduction to Machine Learning Technologies</vt:lpstr>
      <vt:lpstr>About Me - My Academic Journey</vt:lpstr>
      <vt:lpstr>My Research</vt:lpstr>
      <vt:lpstr>Lecture Outline</vt:lpstr>
      <vt:lpstr>Why COMP6246?</vt:lpstr>
      <vt:lpstr>Learning Outcomes</vt:lpstr>
      <vt:lpstr>Teaching Team </vt:lpstr>
      <vt:lpstr>Module Delivery</vt:lpstr>
      <vt:lpstr>Resources</vt:lpstr>
      <vt:lpstr>Assessment</vt:lpstr>
      <vt:lpstr>Introduction to Machine Learning</vt:lpstr>
      <vt:lpstr>Types of ML Systems</vt:lpstr>
      <vt:lpstr>Supervised Learning</vt:lpstr>
      <vt:lpstr>Supervised Learning – Algorithms</vt:lpstr>
      <vt:lpstr>Unsupervised Learning</vt:lpstr>
      <vt:lpstr>Unsupervised Learning – Algorithms </vt:lpstr>
      <vt:lpstr>Semi-supervised and Reinforcement Learning</vt:lpstr>
      <vt:lpstr>Types of ML Systems</vt:lpstr>
      <vt:lpstr>Offline (Batch) vs Online Learning</vt:lpstr>
      <vt:lpstr>Types of ML Systems</vt:lpstr>
      <vt:lpstr>Instance-based Learning</vt:lpstr>
      <vt:lpstr>Model-based Learning</vt:lpstr>
      <vt:lpstr>ML framework</vt:lpstr>
      <vt:lpstr>ML framework</vt:lpstr>
      <vt:lpstr>Types of ML Systems</vt:lpstr>
      <vt:lpstr>Discriminative Modeling</vt:lpstr>
      <vt:lpstr>Generative Modeling</vt:lpstr>
      <vt:lpstr>Summary</vt:lpstr>
      <vt:lpstr>Next Lecture: Developing an ML project – Checklist and Challenges Tuesday, 22 Sep, 11-12 @ 46/2003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Indu Bodala</dc:creator>
  <cp:keywords/>
  <dc:description/>
  <cp:revision>63</cp:revision>
  <dcterms:created xsi:type="dcterms:W3CDTF">2025-09-08T14:16:43Z</dcterms:created>
  <dcterms:modified xsi:type="dcterms:W3CDTF">2026-09-21T10:19:24Z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0x0101005224FBB6BFB1D540934452F52CBBF22B</vt:lpwstr>
  </property>
  <property fmtid="{D5CDD505-2E9C-101B-9397-08002B2CF9AE}" pid="3" name="MediaServiceImageTags">
    <vt:lpwstr/>
  </property>
</Properties>
</file>