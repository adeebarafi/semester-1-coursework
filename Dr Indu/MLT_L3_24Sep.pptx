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704" r:id="rId5"/>
  </p:sldMasterIdLst>
  <p:notesMasterIdLst>
    <p:notesMasterId r:id="rId24"/>
  </p:notesMasterIdLst>
  <p:handoutMasterIdLst>
    <p:handoutMasterId r:id="rId25"/>
  </p:handoutMasterIdLst>
  <p:sldIdLst>
    <p:sldId id="256" r:id="rId6"/>
    <p:sldId id="285" r:id="rId7"/>
    <p:sldId id="412" r:id="rId8"/>
    <p:sldId id="413" r:id="rId9"/>
    <p:sldId id="414" r:id="rId10"/>
    <p:sldId id="415" r:id="rId11"/>
    <p:sldId id="416" r:id="rId12"/>
    <p:sldId id="418" r:id="rId13"/>
    <p:sldId id="419" r:id="rId14"/>
    <p:sldId id="421" r:id="rId15"/>
    <p:sldId id="422" r:id="rId16"/>
    <p:sldId id="424" r:id="rId17"/>
    <p:sldId id="425" r:id="rId18"/>
    <p:sldId id="426" r:id="rId19"/>
    <p:sldId id="427" r:id="rId20"/>
    <p:sldId id="428" r:id="rId21"/>
    <p:sldId id="411" r:id="rId22"/>
    <p:sldId id="283" r:id="rId23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Lucida Sans" panose="020B0602030504020204" pitchFamily="34" charset="77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5F"/>
    <a:srgbClr val="005C84"/>
    <a:srgbClr val="495961"/>
    <a:srgbClr val="8D3970"/>
    <a:srgbClr val="662953"/>
    <a:srgbClr val="F9FBFF"/>
    <a:srgbClr val="CA287A"/>
    <a:srgbClr val="DE2B32"/>
    <a:srgbClr val="4AAD87"/>
    <a:srgbClr val="AAC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03D35-7B99-2045-8B6B-5AE12CAD3DC5}" v="154" dt="2026-09-24T13:00:51.8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10" autoAdjust="0"/>
    <p:restoredTop sz="86434" autoAdjust="0"/>
  </p:normalViewPr>
  <p:slideViewPr>
    <p:cSldViewPr>
      <p:cViewPr varScale="1">
        <p:scale>
          <a:sx n="107" d="100"/>
          <a:sy n="107" d="100"/>
        </p:scale>
        <p:origin x="184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400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u Bodala" userId="25b67be1-8e78-45cb-ac10-15ad48556bc3" providerId="ADAL" clId="{43967744-145B-5A4F-93CC-546581FE0563}"/>
    <pc:docChg chg="modSld">
      <pc:chgData name="Indu Bodala" userId="25b67be1-8e78-45cb-ac10-15ad48556bc3" providerId="ADAL" clId="{43967744-145B-5A4F-93CC-546581FE0563}" dt="2026-09-24T13:42:42.282" v="155" actId="20577"/>
      <pc:docMkLst>
        <pc:docMk/>
      </pc:docMkLst>
      <pc:sldChg chg="modSp mod">
        <pc:chgData name="Indu Bodala" userId="25b67be1-8e78-45cb-ac10-15ad48556bc3" providerId="ADAL" clId="{43967744-145B-5A4F-93CC-546581FE0563}" dt="2026-09-24T13:42:42.282" v="155" actId="20577"/>
        <pc:sldMkLst>
          <pc:docMk/>
          <pc:sldMk cId="1110899977" sldId="411"/>
        </pc:sldMkLst>
        <pc:spChg chg="mod">
          <ac:chgData name="Indu Bodala" userId="25b67be1-8e78-45cb-ac10-15ad48556bc3" providerId="ADAL" clId="{43967744-145B-5A4F-93CC-546581FE0563}" dt="2026-09-24T13:42:42.282" v="155" actId="20577"/>
          <ac:spMkLst>
            <pc:docMk/>
            <pc:sldMk cId="1110899977" sldId="411"/>
            <ac:spMk id="3" creationId="{C403F936-7A8E-5AEF-5E0F-639E248F0152}"/>
          </ac:spMkLst>
        </pc:spChg>
      </pc:sldChg>
      <pc:sldChg chg="modSp mod modAnim">
        <pc:chgData name="Indu Bodala" userId="25b67be1-8e78-45cb-ac10-15ad48556bc3" providerId="ADAL" clId="{43967744-145B-5A4F-93CC-546581FE0563}" dt="2026-09-24T12:38:49.386" v="98" actId="20577"/>
        <pc:sldMkLst>
          <pc:docMk/>
          <pc:sldMk cId="1547954566" sldId="412"/>
        </pc:sldMkLst>
        <pc:spChg chg="mod">
          <ac:chgData name="Indu Bodala" userId="25b67be1-8e78-45cb-ac10-15ad48556bc3" providerId="ADAL" clId="{43967744-145B-5A4F-93CC-546581FE0563}" dt="2026-09-24T12:38:49.386" v="98" actId="20577"/>
          <ac:spMkLst>
            <pc:docMk/>
            <pc:sldMk cId="1547954566" sldId="412"/>
            <ac:spMk id="3" creationId="{2371FAA9-1AE9-3BCD-EC0B-951A50FB573D}"/>
          </ac:spMkLst>
        </pc:spChg>
      </pc:sldChg>
      <pc:sldChg chg="modAnim">
        <pc:chgData name="Indu Bodala" userId="25b67be1-8e78-45cb-ac10-15ad48556bc3" providerId="ADAL" clId="{43967744-145B-5A4F-93CC-546581FE0563}" dt="2026-09-24T12:39:35" v="102"/>
        <pc:sldMkLst>
          <pc:docMk/>
          <pc:sldMk cId="3613031509" sldId="413"/>
        </pc:sldMkLst>
      </pc:sldChg>
      <pc:sldChg chg="modAnim">
        <pc:chgData name="Indu Bodala" userId="25b67be1-8e78-45cb-ac10-15ad48556bc3" providerId="ADAL" clId="{43967744-145B-5A4F-93CC-546581FE0563}" dt="2026-09-24T12:43:13.153" v="106"/>
        <pc:sldMkLst>
          <pc:docMk/>
          <pc:sldMk cId="3071828096" sldId="414"/>
        </pc:sldMkLst>
      </pc:sldChg>
      <pc:sldChg chg="addSp modSp mod">
        <pc:chgData name="Indu Bodala" userId="25b67be1-8e78-45cb-ac10-15ad48556bc3" providerId="ADAL" clId="{43967744-145B-5A4F-93CC-546581FE0563}" dt="2026-09-24T12:46:11.211" v="144" actId="1076"/>
        <pc:sldMkLst>
          <pc:docMk/>
          <pc:sldMk cId="3479929192" sldId="415"/>
        </pc:sldMkLst>
        <pc:spChg chg="mod">
          <ac:chgData name="Indu Bodala" userId="25b67be1-8e78-45cb-ac10-15ad48556bc3" providerId="ADAL" clId="{43967744-145B-5A4F-93CC-546581FE0563}" dt="2026-09-24T12:43:31.249" v="107" actId="114"/>
          <ac:spMkLst>
            <pc:docMk/>
            <pc:sldMk cId="3479929192" sldId="415"/>
            <ac:spMk id="3" creationId="{6BBB326C-AABD-0267-5A78-14F67FD35694}"/>
          </ac:spMkLst>
        </pc:spChg>
        <pc:spChg chg="add mod">
          <ac:chgData name="Indu Bodala" userId="25b67be1-8e78-45cb-ac10-15ad48556bc3" providerId="ADAL" clId="{43967744-145B-5A4F-93CC-546581FE0563}" dt="2026-09-24T12:46:11.211" v="144" actId="1076"/>
          <ac:spMkLst>
            <pc:docMk/>
            <pc:sldMk cId="3479929192" sldId="415"/>
            <ac:spMk id="4" creationId="{7E63A681-5F73-0F99-D32C-F10F09B37342}"/>
          </ac:spMkLst>
        </pc:spChg>
      </pc:sldChg>
      <pc:sldChg chg="modAnim">
        <pc:chgData name="Indu Bodala" userId="25b67be1-8e78-45cb-ac10-15ad48556bc3" providerId="ADAL" clId="{43967744-145B-5A4F-93CC-546581FE0563}" dt="2026-09-24T12:57:23.048" v="146"/>
        <pc:sldMkLst>
          <pc:docMk/>
          <pc:sldMk cId="2117865148" sldId="421"/>
        </pc:sldMkLst>
      </pc:sldChg>
      <pc:sldChg chg="modSp">
        <pc:chgData name="Indu Bodala" userId="25b67be1-8e78-45cb-ac10-15ad48556bc3" providerId="ADAL" clId="{43967744-145B-5A4F-93CC-546581FE0563}" dt="2026-09-24T13:00:51.840" v="153" actId="12"/>
        <pc:sldMkLst>
          <pc:docMk/>
          <pc:sldMk cId="2296940443" sldId="426"/>
        </pc:sldMkLst>
        <pc:spChg chg="mod">
          <ac:chgData name="Indu Bodala" userId="25b67be1-8e78-45cb-ac10-15ad48556bc3" providerId="ADAL" clId="{43967744-145B-5A4F-93CC-546581FE0563}" dt="2026-09-24T13:00:51.840" v="153" actId="12"/>
          <ac:spMkLst>
            <pc:docMk/>
            <pc:sldMk cId="2296940443" sldId="426"/>
            <ac:spMk id="3" creationId="{EA4A81C4-CDE2-6E78-4AAA-7E62272AD3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54761-1460-C44E-8EE9-132392DCD1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82BE9-307A-AB49-B561-9E71E3CE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2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D421-3143-47CA-ACA9-5443A0940D94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A50D6-6132-4FF4-AFC5-01B946DDB4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69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91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2E4A-D2B7-DAB7-AB09-C0C8BD1B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396AE-16F3-7CF0-5024-7FA40811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C8360-5243-33C4-FF03-4434D262E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03C2-1535-7A31-E620-3912056E9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77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20F9-1DE3-344F-CC57-60FBD38F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36804-332B-DE0D-52A6-DA6ADF7E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A75B4-F7CE-D796-0903-AED9FF01B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0F049-F3D1-9303-5CAE-A1A16BF81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E8AD-72E8-ABE0-3CD4-D5F59660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BBABA-B94A-7FB7-0C23-48DE111A4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A2B9E-F4C0-4F2B-4292-8DFECA1F4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A2FD-4EFC-AF2D-4A13-3860B86C0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17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12B7-7624-5F12-05CB-F314DBFC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9BE30-BCBE-5526-8626-B0C9BF150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EDBC2-8049-0BEB-D5FA-98D146F18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17FB9-DF36-ED26-F1EE-EC02FB3A0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48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92D4-9E14-5B45-02F2-964C218F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9D4A2-CFF8-564A-3E2D-1AC8A580C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7B1CA-A33A-CF29-800E-6FC3A6AB3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45BEA-70E1-E42B-D272-AEFE34422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819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68C0-C4B0-3CCA-11B2-2DAAAC5C8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70F2F-8153-C058-79C6-3CA27302A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EB55-AAE0-8D17-82DE-7E4009DA6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8AFBF-AF13-51E4-B0F3-42C0AB97D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708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ADF99-8CD3-784C-A6CE-47CD8D6D3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78D77-831E-7E9B-A48E-058BA66D5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172E3-EF6F-CE32-ABBE-A217E4F3C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53B26-6DDF-EA6A-6CD4-BB06E7D3B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867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7159-0EE5-2A9D-DDAD-B5C28B37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18A27-B392-CF82-95A0-EEB22C2D2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330B4-4DBC-339B-F6C1-7F2A8B7D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C1676-77A4-26BB-7BEF-42785C2A9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585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8C37-F370-DAB9-FBCF-2FF5A769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15435-D907-485D-A6C9-24416213B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43658-5628-325E-E61D-E032BA136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E2C1C-B48D-D70C-FE9A-DE0ADE14A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47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A5E1-6C5E-A9BC-AFEB-9DCC5281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C6EF3-0745-E666-B399-288D537D7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C4545-8959-0060-8084-B143E6C4B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8904D-2731-FC43-CF87-9EC63B9D9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098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1B18-4316-BEB8-B5ED-98F0ADEF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6612E-5350-063E-6791-4FC623BF8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5AF66-E219-1B70-ED00-04EB72681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B6957-0E21-50DE-040F-CB241C858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159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1968-5D62-3CE2-9888-E36E6192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8E53C-82B8-FFFD-ED07-81245827E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886B9-A9CC-E2CD-0B0A-5B28A50B8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3863-B8BA-D814-2B5B-1B83CD044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767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59B5-0778-0A0D-3406-B6A57372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2A0C3-367C-B245-D2FE-E0BF20C1D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2044E-747C-E3F0-EB5E-59750B04A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BE3F9-DF1E-21D7-A383-4A16ED246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41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1122-F37B-09A4-6E6A-3DCC15602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9BD71-79AE-1BF5-2372-DAE31586B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75DBB-CDCA-4491-1145-35036C30B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F7041-9D95-BA78-4022-4BED6ACF8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90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65920" y="2060848"/>
            <a:ext cx="5693680" cy="1226567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 b="1" spc="-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688" y="3287415"/>
            <a:ext cx="5688632" cy="864096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763688" y="4149080"/>
            <a:ext cx="2303462" cy="359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22 March 2021</a:t>
            </a:r>
          </a:p>
        </p:txBody>
      </p:sp>
      <p:pic>
        <p:nvPicPr>
          <p:cNvPr id="10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98F6F96-0FFE-614A-9446-F08F9EE47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0351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 userDrawn="1"/>
        </p:nvSpPr>
        <p:spPr>
          <a:xfrm>
            <a:off x="1763688" y="2700209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spc="-150" dirty="0">
                <a:solidFill>
                  <a:schemeClr val="bg1"/>
                </a:solidFill>
              </a:rPr>
              <a:t>YOUR</a:t>
            </a:r>
            <a:r>
              <a:rPr lang="en-GB" sz="3200" b="1" spc="-150" baseline="0" dirty="0">
                <a:solidFill>
                  <a:schemeClr val="bg1"/>
                </a:solidFill>
              </a:rPr>
              <a:t> QUESTIONS</a:t>
            </a:r>
            <a:endParaRPr lang="en-GB" sz="3200" b="1" spc="-15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763688" y="3356521"/>
            <a:ext cx="5688632" cy="18006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Copy here</a:t>
            </a:r>
            <a:endParaRPr lang="en-GB" dirty="0"/>
          </a:p>
        </p:txBody>
      </p:sp>
      <p:pic>
        <p:nvPicPr>
          <p:cNvPr id="5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BA0B3BF-62C4-C043-98EF-4A8D9C6E47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5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9596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135937" cy="439305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rgbClr val="49596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800">
                <a:solidFill>
                  <a:srgbClr val="495961"/>
                </a:solidFill>
              </a:defRPr>
            </a:lvl2pPr>
            <a:lvl3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4pPr>
            <a:lvl5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69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9/24/26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798320"/>
            <a:ext cx="78867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132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07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06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9361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67544" y="1844824"/>
            <a:ext cx="8147248" cy="438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3"/>
          <p:cNvSpPr txBox="1"/>
          <p:nvPr/>
        </p:nvSpPr>
        <p:spPr>
          <a:xfrm>
            <a:off x="8244408" y="6400134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4274112-3819-4E3C-A2C8-15D563C4EB1E}" type="slidenum">
              <a:rPr lang="en-GB" sz="1000" smtClean="0">
                <a:solidFill>
                  <a:srgbClr val="495961"/>
                </a:solidFill>
              </a:rPr>
              <a:t>‹#›</a:t>
            </a:fld>
            <a:endParaRPr lang="en-GB" sz="1000" dirty="0">
              <a:solidFill>
                <a:srgbClr val="495961"/>
              </a:solidFill>
            </a:endParaRPr>
          </a:p>
        </p:txBody>
      </p:sp>
      <p:pic>
        <p:nvPicPr>
          <p:cNvPr id="9" name="University Logo" descr="Logo&#10;&#10;Description automatically generated with medium confidence">
            <a:extLst>
              <a:ext uri="{FF2B5EF4-FFF2-40B4-BE49-F238E27FC236}">
                <a16:creationId xmlns:a16="http://schemas.microsoft.com/office/drawing/2014/main" id="{6745DF3F-7D11-3742-A2BB-7A033F566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198" y="-279125"/>
            <a:ext cx="2880322" cy="161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7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 spc="-150">
          <a:solidFill>
            <a:srgbClr val="49596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rgbClr val="49596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800" kern="1200">
          <a:solidFill>
            <a:srgbClr val="49596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rgbClr val="49596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rgbClr val="495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»"/>
        <a:defRPr sz="1400" kern="1200">
          <a:solidFill>
            <a:srgbClr val="49596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50C5-E4B1-7B5E-88F4-C463F7B6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984" y="2348880"/>
            <a:ext cx="6776032" cy="1226567"/>
          </a:xfrm>
        </p:spPr>
        <p:txBody>
          <a:bodyPr/>
          <a:lstStyle/>
          <a:p>
            <a:r>
              <a:rPr lang="en-US" dirty="0"/>
              <a:t>Regression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2480B-B2A9-5A74-0EB9-DF24B8A5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984" y="3575447"/>
            <a:ext cx="6776032" cy="864096"/>
          </a:xfrm>
        </p:spPr>
        <p:txBody>
          <a:bodyPr/>
          <a:lstStyle/>
          <a:p>
            <a:r>
              <a:rPr lang="en-US" dirty="0"/>
              <a:t>COMP6246: Machine Learning Technologies (MSc)</a:t>
            </a:r>
          </a:p>
          <a:p>
            <a:r>
              <a:rPr lang="en-US" dirty="0"/>
              <a:t>Dr Indu Bodala (</a:t>
            </a:r>
            <a:r>
              <a:rPr lang="en-US" dirty="0" err="1"/>
              <a:t>i.p.bodala@soton.ac.uk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510FB-C974-AD36-DEE8-D9162F2E3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3984" y="4442619"/>
            <a:ext cx="6776032" cy="359395"/>
          </a:xfrm>
        </p:spPr>
        <p:txBody>
          <a:bodyPr/>
          <a:lstStyle/>
          <a:p>
            <a:r>
              <a:rPr lang="en-US" dirty="0"/>
              <a:t>02 October 2025</a:t>
            </a:r>
          </a:p>
        </p:txBody>
      </p:sp>
    </p:spTree>
    <p:extLst>
      <p:ext uri="{BB962C8B-B14F-4D97-AF65-F5344CB8AC3E}">
        <p14:creationId xmlns:p14="http://schemas.microsoft.com/office/powerpoint/2010/main" val="78288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73A1-687B-ECEB-9C90-D25B0D04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EF0-530B-67AB-C810-029A77E4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720080"/>
          </a:xfrm>
        </p:spPr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D5BB-98ED-13B1-ECCE-B15BFF994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556792"/>
            <a:ext cx="8135937" cy="4681091"/>
          </a:xfrm>
        </p:spPr>
        <p:txBody>
          <a:bodyPr/>
          <a:lstStyle/>
          <a:p>
            <a:r>
              <a:rPr lang="en-US" dirty="0"/>
              <a:t>By the end of this lecture, you will be able to</a:t>
            </a:r>
          </a:p>
          <a:p>
            <a:pPr lvl="1"/>
            <a:r>
              <a:rPr lang="en-US" dirty="0"/>
              <a:t>Understand how Linear Regression works</a:t>
            </a:r>
          </a:p>
          <a:p>
            <a:pPr lvl="1"/>
            <a:r>
              <a:rPr lang="en-US" dirty="0"/>
              <a:t>Use Gradient Descent and its variations to minimize cost function</a:t>
            </a:r>
          </a:p>
          <a:p>
            <a:pPr lvl="1"/>
            <a:r>
              <a:rPr lang="en-US" dirty="0"/>
              <a:t>Use learning curves to identify overfitting and underfitting in regression models</a:t>
            </a:r>
          </a:p>
          <a:p>
            <a:pPr lvl="1"/>
            <a:r>
              <a:rPr lang="en-US" dirty="0"/>
              <a:t>Understand various regularization techniques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5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008D8-7D4C-3D34-2458-0C02CF79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383E-E455-A87D-F51D-FEE64B29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04664"/>
            <a:ext cx="8136904" cy="648072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71FAA9-1AE9-3BCD-EC0B-951A50FB573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1124173"/>
                <a:ext cx="8135937" cy="5329163"/>
              </a:xfrm>
            </p:spPr>
            <p:txBody>
              <a:bodyPr/>
              <a:lstStyle/>
              <a:p>
                <a:r>
                  <a:rPr lang="en-US" dirty="0"/>
                  <a:t>Linear Regression Model </a:t>
                </a:r>
              </a:p>
              <a:p>
                <a:pPr lvl="1"/>
                <a:r>
                  <a:rPr lang="en-US" dirty="0"/>
                  <a:t>makes a prediction by computing a weighted sum of the </a:t>
                </a:r>
                <a:r>
                  <a:rPr lang="en-US" i="1" dirty="0"/>
                  <a:t>input features </a:t>
                </a:r>
                <a:r>
                  <a:rPr lang="en-US" dirty="0"/>
                  <a:t>plus a constant </a:t>
                </a:r>
                <a:r>
                  <a:rPr lang="en-US" i="1" dirty="0"/>
                  <a:t>bias</a:t>
                </a:r>
                <a:r>
                  <a:rPr lang="en-US" dirty="0"/>
                  <a:t> term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the predicted value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features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feature value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model parameter</a:t>
                </a:r>
              </a:p>
              <a:p>
                <a:pPr lvl="1"/>
                <a:r>
                  <a:rPr lang="en-US" dirty="0"/>
                  <a:t>The vectorized form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 is the model’s parameter column vector;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feature column vector </a:t>
                </a:r>
              </a:p>
              <a:p>
                <a:pPr lvl="2"/>
                <a:r>
                  <a:rPr lang="en-US" dirty="0"/>
                  <a:t>What are the sizes of the matrix 𝜽 and matrix 𝑋?</a:t>
                </a:r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71FAA9-1AE9-3BCD-EC0B-951A50FB5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1124173"/>
                <a:ext cx="8135937" cy="5329163"/>
              </a:xfrm>
              <a:blipFill>
                <a:blip r:embed="rId3"/>
                <a:stretch>
                  <a:fillRect l="-623" t="-713" b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95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83A0-FD6B-DA06-3061-B23822F8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7B5F-D72B-8C1F-EF5F-0183385D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D11C0-FCBA-7B89-D73F-1B3EC6202C1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GB" dirty="0"/>
                  <a:t>How do we train it?</a:t>
                </a:r>
              </a:p>
              <a:p>
                <a:pPr lvl="1"/>
                <a:r>
                  <a:rPr lang="en-GB" dirty="0"/>
                  <a:t>Setting parameters so that the model fits the training data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do we know that the model </a:t>
                </a:r>
                <a:r>
                  <a:rPr lang="en-GB" i="1" dirty="0"/>
                  <a:t>fits</a:t>
                </a:r>
                <a:r>
                  <a:rPr lang="en-GB" dirty="0"/>
                  <a:t>?</a:t>
                </a:r>
              </a:p>
              <a:p>
                <a:pPr lvl="1"/>
                <a:r>
                  <a:rPr lang="en-GB" dirty="0"/>
                  <a:t>We need a measure of how well the model </a:t>
                </a:r>
                <a:r>
                  <a:rPr lang="en-GB" i="1" dirty="0"/>
                  <a:t>fits</a:t>
                </a:r>
              </a:p>
              <a:p>
                <a:pPr lvl="1"/>
                <a:r>
                  <a:rPr lang="en-GB" i="1" dirty="0"/>
                  <a:t>RMSE</a:t>
                </a:r>
                <a:r>
                  <a:rPr lang="en-GB" dirty="0"/>
                  <a:t> is the most common measure used for Regression models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Lower the RMSE or MSE, better the fit</a:t>
                </a:r>
              </a:p>
              <a:p>
                <a:r>
                  <a:rPr lang="en-US" dirty="0"/>
                  <a:t>So, we need a value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that minimizes the </a:t>
                </a:r>
                <a:r>
                  <a:rPr lang="en-US" i="1" dirty="0"/>
                  <a:t>RMSE </a:t>
                </a:r>
                <a:r>
                  <a:rPr lang="en-US" dirty="0"/>
                  <a:t>or </a:t>
                </a:r>
                <a:r>
                  <a:rPr lang="en-US" i="1" dirty="0"/>
                  <a:t>MSE, </a:t>
                </a:r>
                <a:r>
                  <a:rPr lang="en-US" dirty="0"/>
                  <a:t> also know as the cost function or loss function</a:t>
                </a:r>
                <a:endParaRPr lang="en-US" i="1" dirty="0"/>
              </a:p>
              <a:p>
                <a:pPr lvl="1"/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D11C0-FCBA-7B89-D73F-1B3EC6202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623" t="-865" b="-3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03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3E4A-68F6-4A32-B366-821FBC2E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49AB-1E87-47EA-0FCE-2B7553C9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792088"/>
          </a:xfrm>
        </p:spPr>
        <p:txBody>
          <a:bodyPr/>
          <a:lstStyle/>
          <a:p>
            <a:r>
              <a:rPr lang="en-US" dirty="0"/>
              <a:t>Closed-form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D082F7-4D37-035F-5268-3B2D9A74E63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1628800"/>
                <a:ext cx="8135937" cy="4393059"/>
              </a:xfrm>
            </p:spPr>
            <p:txBody>
              <a:bodyPr/>
              <a:lstStyle/>
              <a:p>
                <a:r>
                  <a:rPr lang="en-GB" dirty="0"/>
                  <a:t>Objective: To find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that minimizes </a:t>
                </a:r>
                <a:r>
                  <a:rPr lang="en-GB" i="1" dirty="0"/>
                  <a:t>MSE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Closed-form solution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derivation, see https://</a:t>
                </a:r>
                <a:r>
                  <a:rPr lang="en-US" dirty="0" err="1"/>
                  <a:t>eli.thegreenplace.net</a:t>
                </a:r>
                <a:r>
                  <a:rPr lang="en-US" dirty="0"/>
                  <a:t>/2014/derivation-of-the-normal-equation-for-linear-regression/</a:t>
                </a:r>
              </a:p>
              <a:p>
                <a:r>
                  <a:rPr lang="en-US" dirty="0"/>
                  <a:t>Calculating the inverse in the above equation becomes computationally intensive for a large dataset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D082F7-4D37-035F-5268-3B2D9A74E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1628800"/>
                <a:ext cx="8135937" cy="4393059"/>
              </a:xfrm>
              <a:blipFill>
                <a:blip r:embed="rId3"/>
                <a:stretch>
                  <a:fillRect l="-623" t="-9222" b="-7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82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0606-105C-F876-A892-01AE7BED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D211-C806-3A6D-AB0A-50A862B2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B326C-AABD-0267-5A78-14F67FD356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208912" cy="4393059"/>
          </a:xfrm>
        </p:spPr>
        <p:txBody>
          <a:bodyPr/>
          <a:lstStyle/>
          <a:p>
            <a:r>
              <a:rPr lang="en-GB" dirty="0"/>
              <a:t>Gradient Descent is an optimisation algorithm</a:t>
            </a:r>
          </a:p>
          <a:p>
            <a:r>
              <a:rPr lang="en-GB" dirty="0"/>
              <a:t>General idea is to tweak the parameters </a:t>
            </a:r>
            <a:r>
              <a:rPr lang="en-GB" i="1" dirty="0"/>
              <a:t>iteratively</a:t>
            </a:r>
            <a:r>
              <a:rPr lang="en-GB" dirty="0"/>
              <a:t> to minimize a cost function</a:t>
            </a:r>
          </a:p>
          <a:p>
            <a:pPr lvl="1"/>
            <a:r>
              <a:rPr lang="en-GB" dirty="0"/>
              <a:t>Start with a random initial value</a:t>
            </a:r>
          </a:p>
          <a:p>
            <a:pPr lvl="1"/>
            <a:r>
              <a:rPr lang="en-GB" dirty="0"/>
              <a:t>Compute the slope at that value</a:t>
            </a:r>
          </a:p>
          <a:p>
            <a:endParaRPr lang="en-GB" dirty="0"/>
          </a:p>
        </p:txBody>
      </p:sp>
      <p:sp>
        <p:nvSpPr>
          <p:cNvPr id="21" name="文字方塊 17">
            <a:extLst>
              <a:ext uri="{FF2B5EF4-FFF2-40B4-BE49-F238E27FC236}">
                <a16:creationId xmlns:a16="http://schemas.microsoft.com/office/drawing/2014/main" id="{A213E0EE-0629-764D-FFE1-9B0A91454AE6}"/>
              </a:ext>
            </a:extLst>
          </p:cNvPr>
          <p:cNvSpPr txBox="1"/>
          <p:nvPr/>
        </p:nvSpPr>
        <p:spPr>
          <a:xfrm>
            <a:off x="5148064" y="4890646"/>
            <a:ext cx="1633045" cy="33855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Positive </a:t>
            </a:r>
            <a:endParaRPr lang="zh-TW" altLang="en-US" sz="1600" dirty="0"/>
          </a:p>
        </p:txBody>
      </p:sp>
      <p:sp>
        <p:nvSpPr>
          <p:cNvPr id="22" name="文字方塊 18">
            <a:extLst>
              <a:ext uri="{FF2B5EF4-FFF2-40B4-BE49-F238E27FC236}">
                <a16:creationId xmlns:a16="http://schemas.microsoft.com/office/drawing/2014/main" id="{08327D33-73B1-DC7D-3247-F1A9B5F5393A}"/>
              </a:ext>
            </a:extLst>
          </p:cNvPr>
          <p:cNvSpPr txBox="1"/>
          <p:nvPr/>
        </p:nvSpPr>
        <p:spPr>
          <a:xfrm>
            <a:off x="5153903" y="4274282"/>
            <a:ext cx="1633045" cy="33855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Negative</a:t>
            </a:r>
            <a:endParaRPr lang="zh-TW" altLang="en-US" sz="1600" dirty="0"/>
          </a:p>
        </p:txBody>
      </p:sp>
      <p:sp>
        <p:nvSpPr>
          <p:cNvPr id="23" name="向右箭號 3">
            <a:extLst>
              <a:ext uri="{FF2B5EF4-FFF2-40B4-BE49-F238E27FC236}">
                <a16:creationId xmlns:a16="http://schemas.microsoft.com/office/drawing/2014/main" id="{664F01AC-729A-ED7D-952B-222F60ADD001}"/>
              </a:ext>
            </a:extLst>
          </p:cNvPr>
          <p:cNvSpPr/>
          <p:nvPr/>
        </p:nvSpPr>
        <p:spPr>
          <a:xfrm>
            <a:off x="6897238" y="4927865"/>
            <a:ext cx="398344" cy="3013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右箭號 22">
            <a:extLst>
              <a:ext uri="{FF2B5EF4-FFF2-40B4-BE49-F238E27FC236}">
                <a16:creationId xmlns:a16="http://schemas.microsoft.com/office/drawing/2014/main" id="{0D8267E2-0C3C-7A2B-8234-EBD6E872A002}"/>
              </a:ext>
            </a:extLst>
          </p:cNvPr>
          <p:cNvSpPr/>
          <p:nvPr/>
        </p:nvSpPr>
        <p:spPr>
          <a:xfrm>
            <a:off x="6895412" y="4292101"/>
            <a:ext cx="400169" cy="33855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25" name="文字方塊 21">
            <a:extLst>
              <a:ext uri="{FF2B5EF4-FFF2-40B4-BE49-F238E27FC236}">
                <a16:creationId xmlns:a16="http://schemas.microsoft.com/office/drawing/2014/main" id="{791B9533-B5E3-8B3A-A596-100D83135CDE}"/>
              </a:ext>
            </a:extLst>
          </p:cNvPr>
          <p:cNvSpPr txBox="1"/>
          <p:nvPr/>
        </p:nvSpPr>
        <p:spPr>
          <a:xfrm>
            <a:off x="7428719" y="4884906"/>
            <a:ext cx="1633045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Decrease </a:t>
            </a:r>
            <a:r>
              <a:rPr lang="en-US" altLang="zh-TW" sz="1600" dirty="0" err="1"/>
              <a:t>θ</a:t>
            </a:r>
            <a:endParaRPr lang="zh-TW" altLang="en-US" sz="1600" dirty="0"/>
          </a:p>
        </p:txBody>
      </p:sp>
      <p:sp>
        <p:nvSpPr>
          <p:cNvPr id="26" name="文字方塊 22">
            <a:extLst>
              <a:ext uri="{FF2B5EF4-FFF2-40B4-BE49-F238E27FC236}">
                <a16:creationId xmlns:a16="http://schemas.microsoft.com/office/drawing/2014/main" id="{D12630E2-16B1-8D13-1EBD-CBC6B1386198}"/>
              </a:ext>
            </a:extLst>
          </p:cNvPr>
          <p:cNvSpPr txBox="1"/>
          <p:nvPr/>
        </p:nvSpPr>
        <p:spPr>
          <a:xfrm>
            <a:off x="7406222" y="4289132"/>
            <a:ext cx="1633045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Increase </a:t>
            </a:r>
            <a:r>
              <a:rPr lang="en-US" altLang="zh-TW" sz="1600" dirty="0" err="1"/>
              <a:t>θ</a:t>
            </a:r>
            <a:endParaRPr lang="zh-TW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29E636-D670-556F-7B9F-FA74E3AFC92F}"/>
              </a:ext>
            </a:extLst>
          </p:cNvPr>
          <p:cNvSpPr txBox="1"/>
          <p:nvPr/>
        </p:nvSpPr>
        <p:spPr>
          <a:xfrm>
            <a:off x="5634875" y="5514179"/>
            <a:ext cx="332141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Repeat until the algorithm converges to a minimum</a:t>
            </a:r>
          </a:p>
        </p:txBody>
      </p:sp>
      <p:pic>
        <p:nvPicPr>
          <p:cNvPr id="3094" name="Picture 4" descr="mls3 0403">
            <a:extLst>
              <a:ext uri="{FF2B5EF4-FFF2-40B4-BE49-F238E27FC236}">
                <a16:creationId xmlns:a16="http://schemas.microsoft.com/office/drawing/2014/main" id="{F721AED6-7FAB-7D73-7228-7FE67815A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16" y="4068545"/>
            <a:ext cx="4251111" cy="235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7E63A681-5F73-0F99-D32C-F10F09B37342}"/>
                  </a:ext>
                </a:extLst>
              </p:cNvPr>
              <p:cNvSpPr/>
              <p:nvPr/>
            </p:nvSpPr>
            <p:spPr>
              <a:xfrm>
                <a:off x="4927468" y="2910252"/>
                <a:ext cx="2478754" cy="1177313"/>
              </a:xfrm>
              <a:prstGeom prst="cloud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Why this curve for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? </a:t>
                </a:r>
              </a:p>
            </p:txBody>
          </p:sp>
        </mc:Choice>
        <mc:Fallback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7E63A681-5F73-0F99-D32C-F10F09B37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68" y="2910252"/>
                <a:ext cx="2478754" cy="1177313"/>
              </a:xfrm>
              <a:prstGeom prst="cloud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92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0E55-CE03-6916-0B5A-01407CC6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D708-7AE0-7766-FE7F-2A3EF1E5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– Learning Rate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E5AB3-6793-EA9D-7DEF-3EEF0B7771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208912" cy="4393059"/>
          </a:xfrm>
        </p:spPr>
        <p:txBody>
          <a:bodyPr/>
          <a:lstStyle/>
          <a:p>
            <a:r>
              <a:rPr lang="en-GB" dirty="0"/>
              <a:t>An important parameter is the </a:t>
            </a:r>
            <a:r>
              <a:rPr lang="en-GB" i="1" dirty="0"/>
              <a:t>step size </a:t>
            </a:r>
            <a:r>
              <a:rPr lang="en-GB" dirty="0"/>
              <a:t>or the </a:t>
            </a:r>
            <a:r>
              <a:rPr lang="en-GB" i="1" dirty="0"/>
              <a:t>learning rate </a:t>
            </a:r>
            <a:r>
              <a:rPr lang="en-GB" dirty="0"/>
              <a:t>that determines how much to change </a:t>
            </a:r>
            <a:r>
              <a:rPr lang="en-US" altLang="zh-TW" dirty="0" err="1"/>
              <a:t>θ</a:t>
            </a:r>
            <a:endParaRPr lang="en-US" altLang="zh-TW" dirty="0"/>
          </a:p>
          <a:p>
            <a:r>
              <a:rPr lang="en-US" dirty="0"/>
              <a:t>If the learning rate is too small, the algorithm takes a long time to converge</a:t>
            </a:r>
          </a:p>
          <a:p>
            <a:r>
              <a:rPr lang="en-US" dirty="0"/>
              <a:t>If the learning rate is too high, the algorithm may not converge</a:t>
            </a:r>
            <a:endParaRPr lang="en-GB" dirty="0"/>
          </a:p>
        </p:txBody>
      </p:sp>
      <p:pic>
        <p:nvPicPr>
          <p:cNvPr id="5122" name="Picture 2" descr="mls3 0404">
            <a:extLst>
              <a:ext uri="{FF2B5EF4-FFF2-40B4-BE49-F238E27FC236}">
                <a16:creationId xmlns:a16="http://schemas.microsoft.com/office/drawing/2014/main" id="{8BC43BE3-D2A8-A16F-35AD-CB271834D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07" y="4397543"/>
            <a:ext cx="3389174" cy="173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mls3 0405">
            <a:extLst>
              <a:ext uri="{FF2B5EF4-FFF2-40B4-BE49-F238E27FC236}">
                <a16:creationId xmlns:a16="http://schemas.microsoft.com/office/drawing/2014/main" id="{D22CF93B-6DCF-B207-7AB4-D3CD1891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347773"/>
            <a:ext cx="3389174" cy="173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47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7761-128A-4782-3AE5-F3C2F9ED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EC96-32E8-DDBF-5A9E-D3F4BA383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208912" cy="936104"/>
          </a:xfrm>
        </p:spPr>
        <p:txBody>
          <a:bodyPr/>
          <a:lstStyle/>
          <a:p>
            <a:r>
              <a:rPr lang="en-US" dirty="0"/>
              <a:t>Gradient Descent – Local vs Global minimum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4FFE6-E330-CE34-7D5C-15C5E3D25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208912" cy="4393059"/>
          </a:xfrm>
        </p:spPr>
        <p:txBody>
          <a:bodyPr/>
          <a:lstStyle/>
          <a:p>
            <a:r>
              <a:rPr lang="en-GB" dirty="0"/>
              <a:t>MSE for linear regression is a convex function </a:t>
            </a:r>
            <a:r>
              <a:rPr lang="en-GB" dirty="0">
                <a:sym typeface="Wingdings" pitchFamily="2" charset="2"/>
              </a:rPr>
              <a:t> no local minima, just one global minima</a:t>
            </a:r>
            <a:endParaRPr lang="en-GB" dirty="0"/>
          </a:p>
          <a:p>
            <a:r>
              <a:rPr lang="en-GB" dirty="0"/>
              <a:t>Cost functions can have irregular shapes</a:t>
            </a:r>
          </a:p>
          <a:p>
            <a:r>
              <a:rPr lang="en-GB" dirty="0"/>
              <a:t>Can converge to </a:t>
            </a:r>
            <a:r>
              <a:rPr lang="en-GB" i="1" dirty="0"/>
              <a:t>local minimum </a:t>
            </a:r>
            <a:r>
              <a:rPr lang="en-GB" dirty="0"/>
              <a:t>instead of </a:t>
            </a:r>
            <a:r>
              <a:rPr lang="en-GB" i="1" dirty="0"/>
              <a:t>global minimum, </a:t>
            </a:r>
            <a:r>
              <a:rPr lang="en-GB" dirty="0"/>
              <a:t>depending on the initialization</a:t>
            </a:r>
          </a:p>
          <a:p>
            <a:r>
              <a:rPr lang="en-GB" dirty="0"/>
              <a:t>Initialisation on the plateau means the training takes longer</a:t>
            </a:r>
          </a:p>
        </p:txBody>
      </p:sp>
      <p:pic>
        <p:nvPicPr>
          <p:cNvPr id="7170" name="Picture 2" descr="mls3 0406">
            <a:extLst>
              <a:ext uri="{FF2B5EF4-FFF2-40B4-BE49-F238E27FC236}">
                <a16:creationId xmlns:a16="http://schemas.microsoft.com/office/drawing/2014/main" id="{F64B0435-1F9F-D11C-071F-F9DBDFD1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293096"/>
            <a:ext cx="4458072" cy="230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32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3C87-9505-0458-28CD-40B8A551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9520-E5F7-82E9-7AAF-711C2E32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208912" cy="936104"/>
          </a:xfrm>
        </p:spPr>
        <p:txBody>
          <a:bodyPr/>
          <a:lstStyle/>
          <a:p>
            <a:r>
              <a:rPr lang="en-US" dirty="0"/>
              <a:t>Gradient Descent – Feature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258C1-0FA7-473D-08DE-5F4338EE0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208912" cy="4393059"/>
          </a:xfrm>
        </p:spPr>
        <p:txBody>
          <a:bodyPr/>
          <a:lstStyle/>
          <a:p>
            <a:r>
              <a:rPr lang="en-GB" dirty="0"/>
              <a:t>Shape of the cost function can be elongated if the features are of different scales</a:t>
            </a:r>
          </a:p>
          <a:p>
            <a:r>
              <a:rPr lang="en-GB" dirty="0"/>
              <a:t>Without feature scaling, algorithm takes longer to converge</a:t>
            </a:r>
          </a:p>
        </p:txBody>
      </p:sp>
      <p:pic>
        <p:nvPicPr>
          <p:cNvPr id="9218" name="Picture 2" descr="mls3 0407">
            <a:extLst>
              <a:ext uri="{FF2B5EF4-FFF2-40B4-BE49-F238E27FC236}">
                <a16:creationId xmlns:a16="http://schemas.microsoft.com/office/drawing/2014/main" id="{954B85B0-901E-CEEA-F4AE-0E280205B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08" y="3284984"/>
            <a:ext cx="5466184" cy="245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E6DFD8-A434-1878-D1CC-1B3E59A76345}"/>
              </a:ext>
            </a:extLst>
          </p:cNvPr>
          <p:cNvSpPr txBox="1"/>
          <p:nvPr/>
        </p:nvSpPr>
        <p:spPr>
          <a:xfrm>
            <a:off x="2075814" y="5735656"/>
            <a:ext cx="4992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3D3B49"/>
                </a:solidFill>
                <a:effectLst/>
              </a:rPr>
              <a:t>Gradient descent with (left) and without (right) feature scaling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107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861C-0DCC-B6EC-0F23-6877DD54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3469-2EFD-992B-FAB9-102D863B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Batch vs Stochastic Gradient Descent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811B5-29A5-FCF7-D402-E87CF8413D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213"/>
            <a:ext cx="8208912" cy="4393059"/>
          </a:xfrm>
        </p:spPr>
        <p:txBody>
          <a:bodyPr/>
          <a:lstStyle/>
          <a:p>
            <a:r>
              <a:rPr lang="en-GB" dirty="0"/>
              <a:t>Batch (Full) Gradient Descent uses the entire dataset at each learning step. This can still take a long time if the dataset is too large</a:t>
            </a:r>
          </a:p>
          <a:p>
            <a:r>
              <a:rPr lang="en-GB" dirty="0"/>
              <a:t>On the other extreme, we have Stochastic Gradient Descent</a:t>
            </a:r>
          </a:p>
        </p:txBody>
      </p:sp>
      <p:pic>
        <p:nvPicPr>
          <p:cNvPr id="11266" name="Picture 2" descr="mls3 0409">
            <a:extLst>
              <a:ext uri="{FF2B5EF4-FFF2-40B4-BE49-F238E27FC236}">
                <a16:creationId xmlns:a16="http://schemas.microsoft.com/office/drawing/2014/main" id="{A94E2227-71AB-C2F4-5362-2F8D2C9F6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443" y="3212976"/>
            <a:ext cx="323301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B9C662-D9C3-4FE2-AFBA-B9BDB6E0DE34}"/>
              </a:ext>
            </a:extLst>
          </p:cNvPr>
          <p:cNvSpPr txBox="1"/>
          <p:nvPr/>
        </p:nvSpPr>
        <p:spPr>
          <a:xfrm>
            <a:off x="642775" y="3068960"/>
            <a:ext cx="46254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Uses only a single (random) data instance at each step and computes the gradient based on it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Faster but stochastic (random) in nature </a:t>
            </a:r>
            <a:r>
              <a:rPr lang="en-GB" dirty="0">
                <a:solidFill>
                  <a:schemeClr val="bg2"/>
                </a:solidFill>
                <a:sym typeface="Wingdings" pitchFamily="2" charset="2"/>
              </a:rPr>
              <a:t> causes the cost function to fluctuate; but decreasing over time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Can actually help the algorithm jump out of local minima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Randomness means algorithm cannot settle at the global minimum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Simulated annealing – gradually decrease the learning rate</a:t>
            </a:r>
          </a:p>
        </p:txBody>
      </p:sp>
    </p:spTree>
    <p:extLst>
      <p:ext uri="{BB962C8B-B14F-4D97-AF65-F5344CB8AC3E}">
        <p14:creationId xmlns:p14="http://schemas.microsoft.com/office/powerpoint/2010/main" val="211786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14B3-13E5-A3D5-F997-A0DC92AA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7549-A38F-5582-C0FA-135C7FC0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Mini-Batch Gradient Descent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0D5BA-EDE4-58BD-6871-CA5E94CB23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213"/>
            <a:ext cx="8208912" cy="4393059"/>
          </a:xfrm>
        </p:spPr>
        <p:txBody>
          <a:bodyPr/>
          <a:lstStyle/>
          <a:p>
            <a:r>
              <a:rPr lang="en-GB" dirty="0"/>
              <a:t>Mini-batch GD computes the gradients on small random sets of data – mini-batches</a:t>
            </a:r>
          </a:p>
          <a:p>
            <a:r>
              <a:rPr lang="en-GB" dirty="0"/>
              <a:t>Progresses less erratically compared to Stochastic GD </a:t>
            </a:r>
          </a:p>
          <a:p>
            <a:endParaRPr lang="en-GB" dirty="0"/>
          </a:p>
        </p:txBody>
      </p:sp>
      <p:pic>
        <p:nvPicPr>
          <p:cNvPr id="13314" name="Picture 2" descr="mls3 0411">
            <a:extLst>
              <a:ext uri="{FF2B5EF4-FFF2-40B4-BE49-F238E27FC236}">
                <a16:creationId xmlns:a16="http://schemas.microsoft.com/office/drawing/2014/main" id="{500D85D1-C2BE-05E8-D21C-9942AF99B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007309"/>
            <a:ext cx="5682208" cy="308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75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B28F8-27FE-29DC-910D-2D3C59AD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9A98-0805-CE1A-CE4B-8B61AEF1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Learning Curves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0DA05-25CF-54BE-5AA6-A947A46DD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340197"/>
            <a:ext cx="6129136" cy="4393059"/>
          </a:xfrm>
        </p:spPr>
        <p:txBody>
          <a:bodyPr/>
          <a:lstStyle/>
          <a:p>
            <a:r>
              <a:rPr lang="en-GB" i="1" dirty="0"/>
              <a:t>Cross-validation </a:t>
            </a:r>
            <a:r>
              <a:rPr lang="en-GB" dirty="0"/>
              <a:t>can be used during training to evaluate how the model is generalizing</a:t>
            </a:r>
          </a:p>
          <a:p>
            <a:r>
              <a:rPr lang="en-GB" dirty="0"/>
              <a:t>You can evaluate the model at regular intervals during training on both the training and the validation set</a:t>
            </a:r>
            <a:endParaRPr lang="en-GB" i="1" dirty="0"/>
          </a:p>
          <a:p>
            <a:r>
              <a:rPr lang="en-GB" i="1" dirty="0"/>
              <a:t>Learning curves </a:t>
            </a:r>
            <a:r>
              <a:rPr lang="en-GB" dirty="0"/>
              <a:t>plot training errors and/or validation errors as a function of the iteration or the training set sizes</a:t>
            </a:r>
          </a:p>
          <a:p>
            <a:endParaRPr lang="en-GB" dirty="0"/>
          </a:p>
        </p:txBody>
      </p:sp>
      <p:pic>
        <p:nvPicPr>
          <p:cNvPr id="15364" name="Picture 4" descr="mls3 0415">
            <a:extLst>
              <a:ext uri="{FF2B5EF4-FFF2-40B4-BE49-F238E27FC236}">
                <a16:creationId xmlns:a16="http://schemas.microsoft.com/office/drawing/2014/main" id="{13FAEEC2-A7D9-3104-1011-B42E58B5B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06" y="4272998"/>
            <a:ext cx="3059938" cy="19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mls3 0416">
            <a:extLst>
              <a:ext uri="{FF2B5EF4-FFF2-40B4-BE49-F238E27FC236}">
                <a16:creationId xmlns:a16="http://schemas.microsoft.com/office/drawing/2014/main" id="{F7EA8B94-657C-D76C-F63D-CC372B1D3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655" y="4272998"/>
            <a:ext cx="3059938" cy="19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DF7AC-CEFB-0597-A735-3A0E19388A40}"/>
              </a:ext>
            </a:extLst>
          </p:cNvPr>
          <p:cNvSpPr txBox="1"/>
          <p:nvPr/>
        </p:nvSpPr>
        <p:spPr>
          <a:xfrm>
            <a:off x="1947359" y="6289575"/>
            <a:ext cx="1832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Underfitting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8C95B-8CAF-B858-37CC-59002B6337BC}"/>
              </a:ext>
            </a:extLst>
          </p:cNvPr>
          <p:cNvSpPr txBox="1"/>
          <p:nvPr/>
        </p:nvSpPr>
        <p:spPr>
          <a:xfrm>
            <a:off x="5618369" y="6225851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Overfitting model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34260A-02B7-8A69-D360-D9278677B188}"/>
              </a:ext>
            </a:extLst>
          </p:cNvPr>
          <p:cNvGrpSpPr/>
          <p:nvPr/>
        </p:nvGrpSpPr>
        <p:grpSpPr>
          <a:xfrm>
            <a:off x="6362624" y="2310015"/>
            <a:ext cx="2493529" cy="1370727"/>
            <a:chOff x="6052505" y="1670641"/>
            <a:chExt cx="2493529" cy="1370727"/>
          </a:xfrm>
        </p:grpSpPr>
        <p:sp>
          <p:nvSpPr>
            <p:cNvPr id="6" name="矩形 9">
              <a:extLst>
                <a:ext uri="{FF2B5EF4-FFF2-40B4-BE49-F238E27FC236}">
                  <a16:creationId xmlns:a16="http://schemas.microsoft.com/office/drawing/2014/main" id="{1695B207-9C46-E211-3BD9-560A7ADF3101}"/>
                </a:ext>
              </a:extLst>
            </p:cNvPr>
            <p:cNvSpPr/>
            <p:nvPr/>
          </p:nvSpPr>
          <p:spPr>
            <a:xfrm>
              <a:off x="6052505" y="2420888"/>
              <a:ext cx="1088349" cy="5862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/>
                <a:t>Training Set</a:t>
              </a:r>
              <a:endParaRPr lang="zh-TW" altLang="en-US" sz="1400" dirty="0"/>
            </a:p>
          </p:txBody>
        </p:sp>
        <p:sp>
          <p:nvSpPr>
            <p:cNvPr id="7" name="矩形 10">
              <a:extLst>
                <a:ext uri="{FF2B5EF4-FFF2-40B4-BE49-F238E27FC236}">
                  <a16:creationId xmlns:a16="http://schemas.microsoft.com/office/drawing/2014/main" id="{EDE782E6-A1FF-820C-6D62-682005C3DC6D}"/>
                </a:ext>
              </a:extLst>
            </p:cNvPr>
            <p:cNvSpPr/>
            <p:nvPr/>
          </p:nvSpPr>
          <p:spPr>
            <a:xfrm>
              <a:off x="7457685" y="2455078"/>
              <a:ext cx="1088349" cy="5862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/>
                <a:t>Validation</a:t>
              </a:r>
            </a:p>
            <a:p>
              <a:pPr algn="ctr"/>
              <a:r>
                <a:rPr lang="en-US" altLang="zh-TW" sz="1400" dirty="0"/>
                <a:t> set</a:t>
              </a:r>
              <a:endParaRPr lang="zh-TW" altLang="en-US" sz="1400" dirty="0"/>
            </a:p>
          </p:txBody>
        </p:sp>
        <p:cxnSp>
          <p:nvCxnSpPr>
            <p:cNvPr id="8" name="直線單箭頭接點 12">
              <a:extLst>
                <a:ext uri="{FF2B5EF4-FFF2-40B4-BE49-F238E27FC236}">
                  <a16:creationId xmlns:a16="http://schemas.microsoft.com/office/drawing/2014/main" id="{8734384D-9E2A-B9EB-69D1-F6BAFA8938BD}"/>
                </a:ext>
              </a:extLst>
            </p:cNvPr>
            <p:cNvCxnSpPr>
              <a:cxnSpLocks/>
              <a:stCxn id="10" idx="2"/>
              <a:endCxn id="6" idx="0"/>
            </p:cNvCxnSpPr>
            <p:nvPr/>
          </p:nvCxnSpPr>
          <p:spPr>
            <a:xfrm flipH="1">
              <a:off x="6596680" y="2148976"/>
              <a:ext cx="759346" cy="2719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13">
              <a:extLst>
                <a:ext uri="{FF2B5EF4-FFF2-40B4-BE49-F238E27FC236}">
                  <a16:creationId xmlns:a16="http://schemas.microsoft.com/office/drawing/2014/main" id="{9A6B4428-03F7-F90B-A9C6-F25669D03CCB}"/>
                </a:ext>
              </a:extLst>
            </p:cNvPr>
            <p:cNvCxnSpPr>
              <a:cxnSpLocks/>
              <a:stCxn id="10" idx="2"/>
              <a:endCxn id="7" idx="0"/>
            </p:cNvCxnSpPr>
            <p:nvPr/>
          </p:nvCxnSpPr>
          <p:spPr>
            <a:xfrm>
              <a:off x="7356026" y="2148976"/>
              <a:ext cx="645834" cy="3061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3">
              <a:extLst>
                <a:ext uri="{FF2B5EF4-FFF2-40B4-BE49-F238E27FC236}">
                  <a16:creationId xmlns:a16="http://schemas.microsoft.com/office/drawing/2014/main" id="{5F5A54A5-510A-69FF-BF12-AAB481DB3CB0}"/>
                </a:ext>
              </a:extLst>
            </p:cNvPr>
            <p:cNvSpPr/>
            <p:nvPr/>
          </p:nvSpPr>
          <p:spPr>
            <a:xfrm>
              <a:off x="6166017" y="1670641"/>
              <a:ext cx="2380017" cy="47833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/>
                <a:t>Training Set</a:t>
              </a:r>
              <a:endParaRPr lang="zh-TW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44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12A2-62FA-67B3-51E9-BBFC1988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9679-7AD1-83D0-5008-6653496E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Bias/Variance Tradeoff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FF65E-D52A-3D0F-FB31-0583D9CA6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213"/>
            <a:ext cx="8208912" cy="4393059"/>
          </a:xfrm>
        </p:spPr>
        <p:txBody>
          <a:bodyPr/>
          <a:lstStyle/>
          <a:p>
            <a:r>
              <a:rPr lang="en-GB" dirty="0"/>
              <a:t>Generalization error can be expressed as a sum of 3 different components</a:t>
            </a:r>
          </a:p>
          <a:p>
            <a:pPr lvl="1"/>
            <a:r>
              <a:rPr lang="en-GB" dirty="0"/>
              <a:t>Bias – Due to wrong assumptions. High-bias model is likely to underfit the data</a:t>
            </a:r>
          </a:p>
          <a:p>
            <a:pPr lvl="1"/>
            <a:r>
              <a:rPr lang="en-GB" dirty="0"/>
              <a:t>Variance – Due to the model’s sensitivity to small variations in the training data. Higher degree models are likely to have high variance and can lead to overfitting</a:t>
            </a:r>
          </a:p>
          <a:p>
            <a:pPr lvl="1"/>
            <a:r>
              <a:rPr lang="en-GB" dirty="0"/>
              <a:t>Irreducible error – Due to the noisiness of the data</a:t>
            </a:r>
          </a:p>
          <a:p>
            <a:r>
              <a:rPr lang="en-GB" dirty="0"/>
              <a:t>Increasing model complexity </a:t>
            </a:r>
            <a:r>
              <a:rPr lang="en-GB" dirty="0">
                <a:sym typeface="Wingdings" pitchFamily="2" charset="2"/>
              </a:rPr>
              <a:t> increases variance and reduces bias </a:t>
            </a:r>
          </a:p>
          <a:p>
            <a:r>
              <a:rPr lang="en-GB" dirty="0">
                <a:sym typeface="Wingdings" pitchFamily="2" charset="2"/>
              </a:rPr>
              <a:t>Reducing model complexity  reduces variance and increases bias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97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31ED-169D-2F8E-E13B-C4044F4C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2EC6-4EF5-CBD0-B19C-9CDC184F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Regularization Techniques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A4A81C4-CDE2-6E78-4AAA-7E62272AD33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1484213"/>
                <a:ext cx="8208912" cy="4393059"/>
              </a:xfrm>
            </p:spPr>
            <p:txBody>
              <a:bodyPr/>
              <a:lstStyle/>
              <a:p>
                <a:r>
                  <a:rPr lang="en-GB" dirty="0"/>
                  <a:t>For a linear model, regularization is achieved typically by constraining weights</a:t>
                </a:r>
              </a:p>
              <a:p>
                <a:r>
                  <a:rPr lang="en-GB" dirty="0"/>
                  <a:t>Types of regularized linear models</a:t>
                </a:r>
              </a:p>
              <a:p>
                <a:pPr lvl="1"/>
                <a:r>
                  <a:rPr lang="en-GB" dirty="0"/>
                  <a:t>Ridge Regression – we add a regularization term,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, to the MSE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b="1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 smtClean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1" dirty="0" smtClean="0">
                          <a:latin typeface="Cambria Math" panose="02040503050406030204" pitchFamily="18" charset="0"/>
                        </a:rPr>
                        <m:t>MSE</m:t>
                      </m:r>
                      <m:d>
                        <m:dPr>
                          <m:ctrlPr>
                            <a:rPr lang="en-GB" b="1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 smtClean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  <a:p>
                <a:pPr lvl="1"/>
                <a:r>
                  <a:rPr lang="en-GB" dirty="0"/>
                  <a:t>Lasso Regression – </a:t>
                </a:r>
                <a:r>
                  <a:rPr lang="en-GB" i="1" dirty="0"/>
                  <a:t>Least absolute shrinkage and selection operator regression – </a:t>
                </a:r>
                <a:r>
                  <a:rPr lang="en-GB" dirty="0"/>
                  <a:t>Adds a different regularization term,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en-GB" b="0" i="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dirty="0">
                        <a:latin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GB" b="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GB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b="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GB" dirty="0"/>
                  <a:t>. </a:t>
                </a:r>
              </a:p>
              <a:p>
                <a:pPr marL="2286000" lvl="5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b="1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1" dirty="0">
                          <a:latin typeface="Cambria Math" panose="02040503050406030204" pitchFamily="18" charset="0"/>
                        </a:rPr>
                        <m:t>MSE</m:t>
                      </m:r>
                      <m:d>
                        <m:dPr>
                          <m:ctrlPr>
                            <a:rPr lang="en-GB" b="1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dirty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GB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A4A81C4-CDE2-6E78-4AAA-7E62272AD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1484213"/>
                <a:ext cx="8208912" cy="4393059"/>
              </a:xfrm>
              <a:blipFill>
                <a:blip r:embed="rId3"/>
                <a:stretch>
                  <a:fillRect l="-617" t="-576" b="-47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94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7F17-448C-B683-6E44-BA803B74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28D2-959F-4626-9DB6-32C6CC58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Regularization Techniques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5B1B899-DA25-B2AF-0D37-68543AF4C85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1484213"/>
                <a:ext cx="8208912" cy="4825107"/>
              </a:xfrm>
            </p:spPr>
            <p:txBody>
              <a:bodyPr/>
              <a:lstStyle/>
              <a:p>
                <a:r>
                  <a:rPr lang="en-GB" dirty="0"/>
                  <a:t>Elastic Net Regression</a:t>
                </a:r>
              </a:p>
              <a:p>
                <a:pPr lvl="1"/>
                <a:r>
                  <a:rPr lang="en-GB" dirty="0"/>
                  <a:t>The regularization term is a weighted sum of both ridge and lasso’s regularization terms</a:t>
                </a:r>
              </a:p>
              <a:p>
                <a:pPr lvl="1"/>
                <a:r>
                  <a:rPr lang="en-GB" dirty="0"/>
                  <a:t>You can control the mix ratio </a:t>
                </a:r>
                <a:r>
                  <a:rPr lang="en-GB" i="1" dirty="0"/>
                  <a:t>r</a:t>
                </a:r>
                <a:r>
                  <a:rPr lang="en-GB" dirty="0"/>
                  <a:t>. </a:t>
                </a:r>
              </a:p>
              <a:p>
                <a:pPr lvl="1"/>
                <a:r>
                  <a:rPr lang="en-GB" dirty="0"/>
                  <a:t>When </a:t>
                </a:r>
                <a:r>
                  <a:rPr lang="en-GB" i="1" dirty="0"/>
                  <a:t>r</a:t>
                </a:r>
                <a:r>
                  <a:rPr lang="en-GB" dirty="0"/>
                  <a:t> = 0, elastic net is equivalent to ridge regression, and when </a:t>
                </a:r>
                <a:r>
                  <a:rPr lang="en-GB" i="1" dirty="0"/>
                  <a:t>r</a:t>
                </a:r>
                <a:r>
                  <a:rPr lang="en-GB" dirty="0"/>
                  <a:t> = 1, it is equivalent to lasso regression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b="1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1" dirty="0">
                          <a:latin typeface="Cambria Math" panose="02040503050406030204" pitchFamily="18" charset="0"/>
                        </a:rPr>
                        <m:t>MSE</m:t>
                      </m:r>
                      <m:d>
                        <m:dPr>
                          <m:ctrlPr>
                            <a:rPr lang="en-GB" b="1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 dirty="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lang="en-GB" b="0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b="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GB" b="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0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b="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GB" b="0" i="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d>
                        <m:dPr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GB" b="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0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b="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b="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to use what?</a:t>
                </a:r>
              </a:p>
              <a:p>
                <a:pPr lvl="1"/>
                <a:r>
                  <a:rPr lang="en-GB" dirty="0"/>
                  <a:t>Ridge is a good default</a:t>
                </a:r>
              </a:p>
              <a:p>
                <a:pPr lvl="1"/>
                <a:r>
                  <a:rPr lang="en-GB" dirty="0"/>
                  <a:t>Lasso and Elastic Net can reduce the weights of the useless features to zero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5B1B899-DA25-B2AF-0D37-68543AF4C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1484213"/>
                <a:ext cx="8208912" cy="4825107"/>
              </a:xfrm>
              <a:blipFill>
                <a:blip r:embed="rId3"/>
                <a:stretch>
                  <a:fillRect l="-617"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77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FCFD-4C96-BA9D-8D31-9710EAD2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567A-1F3F-4BCB-7661-5147D3A1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085"/>
            <a:ext cx="8208912" cy="936104"/>
          </a:xfrm>
        </p:spPr>
        <p:txBody>
          <a:bodyPr/>
          <a:lstStyle/>
          <a:p>
            <a:r>
              <a:rPr lang="en-US" dirty="0"/>
              <a:t>Regularization Techniques III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3815B-2C04-B5C4-4196-127B6C1754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213"/>
            <a:ext cx="8208912" cy="4825107"/>
          </a:xfrm>
        </p:spPr>
        <p:txBody>
          <a:bodyPr/>
          <a:lstStyle/>
          <a:p>
            <a:r>
              <a:rPr lang="en-GB" dirty="0"/>
              <a:t>Early Stopping</a:t>
            </a:r>
          </a:p>
          <a:p>
            <a:pPr lvl="1"/>
            <a:r>
              <a:rPr lang="en-GB" dirty="0"/>
              <a:t>Another way to regularize is to stop training as soon as the validation error reaches a minimum</a:t>
            </a:r>
          </a:p>
          <a:p>
            <a:pPr lvl="1"/>
            <a:r>
              <a:rPr lang="en-GB" dirty="0"/>
              <a:t>Need to be careful when using stochastic or mini-batch GD</a:t>
            </a:r>
          </a:p>
          <a:p>
            <a:pPr lvl="1"/>
            <a:endParaRPr lang="en-GB" dirty="0"/>
          </a:p>
        </p:txBody>
      </p:sp>
      <p:pic>
        <p:nvPicPr>
          <p:cNvPr id="17410" name="Picture 2" descr="mls3 0420">
            <a:extLst>
              <a:ext uri="{FF2B5EF4-FFF2-40B4-BE49-F238E27FC236}">
                <a16:creationId xmlns:a16="http://schemas.microsoft.com/office/drawing/2014/main" id="{820AD70B-D3B9-180E-6675-0399D95F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06" y="3171578"/>
            <a:ext cx="4874388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949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B27B-4041-771B-8A81-AFDFB1C5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D115-9DC0-3AA1-4191-FDCE68CA0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72008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3F936-7A8E-5AEF-5E0F-639E248F01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556792"/>
            <a:ext cx="8135937" cy="4681091"/>
          </a:xfrm>
        </p:spPr>
        <p:txBody>
          <a:bodyPr/>
          <a:lstStyle/>
          <a:p>
            <a:r>
              <a:rPr lang="en-US" dirty="0"/>
              <a:t>In this lecture, we looked at </a:t>
            </a:r>
          </a:p>
          <a:p>
            <a:pPr lvl="1"/>
            <a:r>
              <a:rPr lang="en-US" dirty="0"/>
              <a:t>Linear Regression Model – definition and cost function</a:t>
            </a:r>
          </a:p>
          <a:p>
            <a:pPr lvl="1"/>
            <a:r>
              <a:rPr lang="en-US" dirty="0"/>
              <a:t>Gradient Descent approach to minimize the cost function</a:t>
            </a:r>
          </a:p>
          <a:p>
            <a:pPr lvl="1"/>
            <a:r>
              <a:rPr lang="en-US" dirty="0"/>
              <a:t>Variations to the Gradient Descent approach – Batch, Stochastic and Mini-Batch</a:t>
            </a:r>
          </a:p>
          <a:p>
            <a:pPr lvl="1"/>
            <a:r>
              <a:rPr lang="en-US" dirty="0"/>
              <a:t>Using Learning curves to understand training and validation errors</a:t>
            </a:r>
          </a:p>
          <a:p>
            <a:pPr lvl="1"/>
            <a:r>
              <a:rPr lang="en-US" dirty="0"/>
              <a:t>Bias/Variance Tradeoff</a:t>
            </a:r>
          </a:p>
          <a:p>
            <a:pPr lvl="1"/>
            <a:r>
              <a:rPr lang="en-US" dirty="0"/>
              <a:t>Regularization Techniques – Ridge, Lasso, Elastic Net and Early Stopping</a:t>
            </a:r>
          </a:p>
          <a:p>
            <a:r>
              <a:rPr lang="en-US" dirty="0"/>
              <a:t>You will take a closer look at these techniques by implementing them during the labs.</a:t>
            </a:r>
          </a:p>
        </p:txBody>
      </p:sp>
    </p:spTree>
    <p:extLst>
      <p:ext uri="{BB962C8B-B14F-4D97-AF65-F5344CB8AC3E}">
        <p14:creationId xmlns:p14="http://schemas.microsoft.com/office/powerpoint/2010/main" val="1110899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C18D-F11D-FCF0-8280-99AF471B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8" y="2960948"/>
            <a:ext cx="8136904" cy="936104"/>
          </a:xfrm>
        </p:spPr>
        <p:txBody>
          <a:bodyPr/>
          <a:lstStyle/>
          <a:p>
            <a:pPr algn="ctr"/>
            <a:r>
              <a:rPr lang="en-US" dirty="0"/>
              <a:t>Next Lecture: Classification Models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23675653"/>
      </p:ext>
    </p:extLst>
  </p:cSld>
  <p:clrMapOvr>
    <a:masterClrMapping/>
  </p:clrMapOvr>
</p:sld>
</file>

<file path=ppt/theme/theme1.xml><?xml version="1.0" encoding="utf-8"?>
<a:theme xmlns:a="http://schemas.openxmlformats.org/drawingml/2006/main" name="UoS_Powerpoint_template">
  <a:themeElements>
    <a:clrScheme name="Rich Black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74C9E5"/>
      </a:hlink>
      <a:folHlink>
        <a:srgbClr val="D5007F"/>
      </a:folHlink>
    </a:clrScheme>
    <a:fontScheme name="Custom 1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70BB0F00-7E88-EC42-8F76-723910B29191}"/>
    </a:ext>
  </a:extLst>
</a:theme>
</file>

<file path=ppt/theme/theme2.xml><?xml version="1.0" encoding="utf-8"?>
<a:theme xmlns:a="http://schemas.openxmlformats.org/drawingml/2006/main" name="Title and content">
  <a:themeElements>
    <a:clrScheme name="Custom 1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005C83"/>
      </a:hlink>
      <a:folHlink>
        <a:srgbClr val="495961"/>
      </a:folHlink>
    </a:clrScheme>
    <a:fontScheme name="UoS Powerpoint Fonts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FB3B6721-CF41-CB4A-8BDA-0705E516CA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3682EB-C5DD-B24C-B87B-2491F21400E6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24FBB6BFB1D540934452F52CBBF22B" ma:contentTypeVersion="9" ma:contentTypeDescription="Create a new document." ma:contentTypeScope="" ma:versionID="21261a22b0a1492a5963e2cc5a02714f">
  <xsd:schema xmlns:xsd="http://www.w3.org/2001/XMLSchema" xmlns:xs="http://www.w3.org/2001/XMLSchema" xmlns:p="http://schemas.microsoft.com/office/2006/metadata/properties" xmlns:ns2="c17eb852-9151-42b7-bd36-545ee532f1a1" xmlns:ns3="1fc98906-40c9-4f56-92bd-f396bbed9311" targetNamespace="http://schemas.microsoft.com/office/2006/metadata/properties" ma:root="true" ma:fieldsID="210f28c92276b41fc3c7219090adcd97" ns2:_="" ns3:_="">
    <xsd:import namespace="c17eb852-9151-42b7-bd36-545ee532f1a1"/>
    <xsd:import namespace="1fc98906-40c9-4f56-92bd-f396bbed931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eb852-9151-42b7-bd36-545ee532f1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c98906-40c9-4f56-92bd-f396bbed931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0bfaa32-be88-4c32-8520-a8dac6cdd59d}" ma:internalName="TaxCatchAll" ma:showField="CatchAllData" ma:web="1fc98906-40c9-4f56-92bd-f396bbed93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c98906-40c9-4f56-92bd-f396bbed9311" xsi:nil="true"/>
    <lcf76f155ced4ddcb4097134ff3c332f xmlns="c17eb852-9151-42b7-bd36-545ee532f1a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E5E4C-A660-4B47-ADFF-41A96BE1AB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7eb852-9151-42b7-bd36-545ee532f1a1"/>
    <ds:schemaRef ds:uri="1fc98906-40c9-4f56-92bd-f396bbed93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0608EC-859B-4A99-8679-C05BD7B9789A}">
  <ds:schemaRefs>
    <ds:schemaRef ds:uri="http://schemas.microsoft.com/office/2006/metadata/properties"/>
    <ds:schemaRef ds:uri="1fc98906-40c9-4f56-92bd-f396bbed9311"/>
    <ds:schemaRef ds:uri="http://www.w3.org/XML/1998/namespace"/>
    <ds:schemaRef ds:uri="http://purl.org/dc/terms/"/>
    <ds:schemaRef ds:uri="http://purl.org/dc/elements/1.1/"/>
    <ds:schemaRef ds:uri="c17eb852-9151-42b7-bd36-545ee532f1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550B5B-764A-456A-890B-534F7E9CBE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UoS_Powerpoint_template</Template>
  <TotalTime>9181</TotalTime>
  <Words>1103</Words>
  <Application>Microsoft Macintosh PowerPoint</Application>
  <PresentationFormat>On-screen Show (4:3)</PresentationFormat>
  <Paragraphs>137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Cambria Math</vt:lpstr>
      <vt:lpstr>Arial</vt:lpstr>
      <vt:lpstr>Wingdings</vt:lpstr>
      <vt:lpstr>Lucida Sans</vt:lpstr>
      <vt:lpstr>UoS_Powerpoint_template</vt:lpstr>
      <vt:lpstr>Title and content</vt:lpstr>
      <vt:lpstr>Regression Models</vt:lpstr>
      <vt:lpstr>Lecture Outline</vt:lpstr>
      <vt:lpstr>Linear Regression</vt:lpstr>
      <vt:lpstr>Training the model</vt:lpstr>
      <vt:lpstr>Closed-form solution</vt:lpstr>
      <vt:lpstr>Gradient Descent Optimization</vt:lpstr>
      <vt:lpstr>Gradient Descent – Learning Rate</vt:lpstr>
      <vt:lpstr>Gradient Descent – Local vs Global minimum</vt:lpstr>
      <vt:lpstr>Gradient Descent – Feature scaling</vt:lpstr>
      <vt:lpstr>Batch vs Stochastic Gradient Descent</vt:lpstr>
      <vt:lpstr>Mini-Batch Gradient Descent</vt:lpstr>
      <vt:lpstr>Learning Curves</vt:lpstr>
      <vt:lpstr>Bias/Variance Tradeoff</vt:lpstr>
      <vt:lpstr>Regularization Techniques</vt:lpstr>
      <vt:lpstr>Regularization Techniques II</vt:lpstr>
      <vt:lpstr>Regularization Techniques III</vt:lpstr>
      <vt:lpstr>Summary</vt:lpstr>
      <vt:lpstr>Next Lecture: Classification Models 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Indu Bodala</dc:creator>
  <cp:keywords/>
  <dc:description/>
  <cp:lastModifiedBy>Indu Bodala</cp:lastModifiedBy>
  <cp:revision>11</cp:revision>
  <dcterms:created xsi:type="dcterms:W3CDTF">2025-09-08T14:16:43Z</dcterms:created>
  <dcterms:modified xsi:type="dcterms:W3CDTF">2026-09-24T13:42:51Z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0x0101005224FBB6BFB1D540934452F52CBBF22B</vt:lpwstr>
  </property>
  <property fmtid="{D5CDD505-2E9C-101B-9397-08002B2CF9AE}" pid="3" name="MediaServiceImageTags">
    <vt:lpwstr/>
  </property>
</Properties>
</file>