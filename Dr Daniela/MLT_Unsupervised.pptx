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04" r:id="rId5"/>
  </p:sldMasterIdLst>
  <p:notesMasterIdLst>
    <p:notesMasterId r:id="rId34"/>
  </p:notesMasterIdLst>
  <p:handoutMasterIdLst>
    <p:handoutMasterId r:id="rId35"/>
  </p:handoutMasterIdLst>
  <p:sldIdLst>
    <p:sldId id="256" r:id="rId6"/>
    <p:sldId id="285" r:id="rId7"/>
    <p:sldId id="277" r:id="rId8"/>
    <p:sldId id="412" r:id="rId9"/>
    <p:sldId id="431" r:id="rId10"/>
    <p:sldId id="432" r:id="rId11"/>
    <p:sldId id="433" r:id="rId12"/>
    <p:sldId id="434" r:id="rId13"/>
    <p:sldId id="435" r:id="rId14"/>
    <p:sldId id="440" r:id="rId15"/>
    <p:sldId id="438" r:id="rId16"/>
    <p:sldId id="439" r:id="rId17"/>
    <p:sldId id="441" r:id="rId18"/>
    <p:sldId id="442" r:id="rId19"/>
    <p:sldId id="455" r:id="rId20"/>
    <p:sldId id="443" r:id="rId21"/>
    <p:sldId id="454" r:id="rId22"/>
    <p:sldId id="444" r:id="rId23"/>
    <p:sldId id="456" r:id="rId24"/>
    <p:sldId id="445" r:id="rId25"/>
    <p:sldId id="447" r:id="rId26"/>
    <p:sldId id="448" r:id="rId27"/>
    <p:sldId id="450" r:id="rId28"/>
    <p:sldId id="451" r:id="rId29"/>
    <p:sldId id="452" r:id="rId30"/>
    <p:sldId id="449" r:id="rId31"/>
    <p:sldId id="453" r:id="rId32"/>
    <p:sldId id="283"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3D5F"/>
    <a:srgbClr val="005C84"/>
    <a:srgbClr val="495961"/>
    <a:srgbClr val="8D3970"/>
    <a:srgbClr val="662953"/>
    <a:srgbClr val="F9FBFF"/>
    <a:srgbClr val="CA287A"/>
    <a:srgbClr val="DE2B32"/>
    <a:srgbClr val="4AAD87"/>
    <a:srgbClr val="AACF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495" autoAdjust="0"/>
    <p:restoredTop sz="93262" autoAdjust="0"/>
  </p:normalViewPr>
  <p:slideViewPr>
    <p:cSldViewPr>
      <p:cViewPr varScale="1">
        <p:scale>
          <a:sx n="114" d="100"/>
          <a:sy n="114" d="100"/>
        </p:scale>
        <p:origin x="928" y="17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99" d="100"/>
          <a:sy n="99" d="100"/>
        </p:scale>
        <p:origin x="4008" y="1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21" Type="http://schemas.openxmlformats.org/officeDocument/2006/relationships/slide" Target="slides/slide16.xml"/><Relationship Id="rId34"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handoutMaster" Target="handoutMasters/handoutMaster1.xml"/><Relationship Id="rId8" Type="http://schemas.openxmlformats.org/officeDocument/2006/relationships/slide" Target="slides/slide3.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454761-1460-C44E-8EE9-132392DCD1C4}" type="datetimeFigureOut">
              <a:rPr lang="en-US" smtClean="0"/>
              <a:t>10/18/26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5A82BE9-307A-AB49-B561-9E71E3CE8979}" type="slidenum">
              <a:rPr lang="en-US" smtClean="0"/>
              <a:t>‹#›</a:t>
            </a:fld>
            <a:endParaRPr lang="en-US"/>
          </a:p>
        </p:txBody>
      </p:sp>
    </p:spTree>
    <p:extLst>
      <p:ext uri="{BB962C8B-B14F-4D97-AF65-F5344CB8AC3E}">
        <p14:creationId xmlns:p14="http://schemas.microsoft.com/office/powerpoint/2010/main" val="20651290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0A3D421-3143-47CA-ACA9-5443A0940D94}" type="datetimeFigureOut">
              <a:rPr lang="en-GB" smtClean="0"/>
              <a:t>18/10/2026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FA50D6-6132-4FF4-AFC5-01B946DDB4AB}" type="slidenum">
              <a:rPr lang="en-GB" smtClean="0"/>
              <a:t>‹#›</a:t>
            </a:fld>
            <a:endParaRPr lang="en-GB"/>
          </a:p>
        </p:txBody>
      </p:sp>
    </p:spTree>
    <p:extLst>
      <p:ext uri="{BB962C8B-B14F-4D97-AF65-F5344CB8AC3E}">
        <p14:creationId xmlns:p14="http://schemas.microsoft.com/office/powerpoint/2010/main" val="507693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FA50D6-6132-4FF4-AFC5-01B946DDB4AB}" type="slidenum">
              <a:rPr lang="en-GB" smtClean="0"/>
              <a:t>2</a:t>
            </a:fld>
            <a:endParaRPr lang="en-GB"/>
          </a:p>
        </p:txBody>
      </p:sp>
    </p:spTree>
    <p:extLst>
      <p:ext uri="{BB962C8B-B14F-4D97-AF65-F5344CB8AC3E}">
        <p14:creationId xmlns:p14="http://schemas.microsoft.com/office/powerpoint/2010/main" val="319391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A2E4A-D2B7-DAB7-AB09-C0C8BD1B2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8396AE-16F3-7CF0-5024-7FA40811E2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1C8360-5243-33C4-FF03-4434D262E2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5A03C2-1535-7A31-E620-3912056E9CFD}"/>
              </a:ext>
            </a:extLst>
          </p:cNvPr>
          <p:cNvSpPr>
            <a:spLocks noGrp="1"/>
          </p:cNvSpPr>
          <p:nvPr>
            <p:ph type="sldNum" sz="quarter" idx="5"/>
          </p:nvPr>
        </p:nvSpPr>
        <p:spPr/>
        <p:txBody>
          <a:bodyPr/>
          <a:lstStyle/>
          <a:p>
            <a:fld id="{C2FA50D6-6132-4FF4-AFC5-01B946DDB4AB}" type="slidenum">
              <a:rPr lang="en-GB" smtClean="0"/>
              <a:t>4</a:t>
            </a:fld>
            <a:endParaRPr lang="en-GB"/>
          </a:p>
        </p:txBody>
      </p:sp>
    </p:spTree>
    <p:extLst>
      <p:ext uri="{BB962C8B-B14F-4D97-AF65-F5344CB8AC3E}">
        <p14:creationId xmlns:p14="http://schemas.microsoft.com/office/powerpoint/2010/main" val="3743277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C4E9A-C8B6-7BD0-0615-CAB13B5813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864652-49EE-6E5E-C786-6DDA04D472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FD5E5C-A182-D984-9581-3F9D24B7DC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E3EB78-9705-02F7-7572-DF602C119883}"/>
              </a:ext>
            </a:extLst>
          </p:cNvPr>
          <p:cNvSpPr>
            <a:spLocks noGrp="1"/>
          </p:cNvSpPr>
          <p:nvPr>
            <p:ph type="sldNum" sz="quarter" idx="5"/>
          </p:nvPr>
        </p:nvSpPr>
        <p:spPr/>
        <p:txBody>
          <a:bodyPr/>
          <a:lstStyle/>
          <a:p>
            <a:fld id="{C2FA50D6-6132-4FF4-AFC5-01B946DDB4AB}" type="slidenum">
              <a:rPr lang="en-GB" smtClean="0"/>
              <a:t>5</a:t>
            </a:fld>
            <a:endParaRPr lang="en-GB"/>
          </a:p>
        </p:txBody>
      </p:sp>
    </p:spTree>
    <p:extLst>
      <p:ext uri="{BB962C8B-B14F-4D97-AF65-F5344CB8AC3E}">
        <p14:creationId xmlns:p14="http://schemas.microsoft.com/office/powerpoint/2010/main" val="4248295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27F3D-0E79-21B3-7785-D42A3FA9BA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D760BC-4204-6583-87FD-88E9102FFF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5E5FD4-F65F-F1BD-C193-3A9BC23364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0473C8-7C66-C7F5-8A7D-33156840DB65}"/>
              </a:ext>
            </a:extLst>
          </p:cNvPr>
          <p:cNvSpPr>
            <a:spLocks noGrp="1"/>
          </p:cNvSpPr>
          <p:nvPr>
            <p:ph type="sldNum" sz="quarter" idx="5"/>
          </p:nvPr>
        </p:nvSpPr>
        <p:spPr/>
        <p:txBody>
          <a:bodyPr/>
          <a:lstStyle/>
          <a:p>
            <a:fld id="{C2FA50D6-6132-4FF4-AFC5-01B946DDB4AB}" type="slidenum">
              <a:rPr lang="en-GB" smtClean="0"/>
              <a:t>6</a:t>
            </a:fld>
            <a:endParaRPr lang="en-GB"/>
          </a:p>
        </p:txBody>
      </p:sp>
    </p:spTree>
    <p:extLst>
      <p:ext uri="{BB962C8B-B14F-4D97-AF65-F5344CB8AC3E}">
        <p14:creationId xmlns:p14="http://schemas.microsoft.com/office/powerpoint/2010/main" val="101236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07259-289B-29E5-4828-A73A3BD999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AD31EE-C580-C559-E896-E8F044F796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771BEA-664B-4535-B92A-42017365BB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323FD7-30AF-5EB9-5F3C-B21F4DC33A9D}"/>
              </a:ext>
            </a:extLst>
          </p:cNvPr>
          <p:cNvSpPr>
            <a:spLocks noGrp="1"/>
          </p:cNvSpPr>
          <p:nvPr>
            <p:ph type="sldNum" sz="quarter" idx="5"/>
          </p:nvPr>
        </p:nvSpPr>
        <p:spPr/>
        <p:txBody>
          <a:bodyPr/>
          <a:lstStyle/>
          <a:p>
            <a:fld id="{C2FA50D6-6132-4FF4-AFC5-01B946DDB4AB}" type="slidenum">
              <a:rPr lang="en-GB" smtClean="0"/>
              <a:t>7</a:t>
            </a:fld>
            <a:endParaRPr lang="en-GB"/>
          </a:p>
        </p:txBody>
      </p:sp>
    </p:spTree>
    <p:extLst>
      <p:ext uri="{BB962C8B-B14F-4D97-AF65-F5344CB8AC3E}">
        <p14:creationId xmlns:p14="http://schemas.microsoft.com/office/powerpoint/2010/main" val="15883667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AFD15-F9F4-8C0D-4DC3-A1DC912505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3880B7-05DA-7B22-C4A7-D70E056D9A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4B2531-175F-7F8F-CE96-CD180F5ED5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500606-729A-D469-5F4A-2AAA9C4DDBD9}"/>
              </a:ext>
            </a:extLst>
          </p:cNvPr>
          <p:cNvSpPr>
            <a:spLocks noGrp="1"/>
          </p:cNvSpPr>
          <p:nvPr>
            <p:ph type="sldNum" sz="quarter" idx="5"/>
          </p:nvPr>
        </p:nvSpPr>
        <p:spPr/>
        <p:txBody>
          <a:bodyPr/>
          <a:lstStyle/>
          <a:p>
            <a:fld id="{C2FA50D6-6132-4FF4-AFC5-01B946DDB4AB}" type="slidenum">
              <a:rPr lang="en-GB" smtClean="0"/>
              <a:t>8</a:t>
            </a:fld>
            <a:endParaRPr lang="en-GB"/>
          </a:p>
        </p:txBody>
      </p:sp>
    </p:spTree>
    <p:extLst>
      <p:ext uri="{BB962C8B-B14F-4D97-AF65-F5344CB8AC3E}">
        <p14:creationId xmlns:p14="http://schemas.microsoft.com/office/powerpoint/2010/main" val="1905254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821B7-7D62-AE4E-3439-7355DFE5AF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8D118-3DF1-FFAE-F9F1-4E675EC2B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016F24-DA19-2E85-79C9-7AF75712B5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0A32BE-9C3A-AFC5-6B78-C56B30715702}"/>
              </a:ext>
            </a:extLst>
          </p:cNvPr>
          <p:cNvSpPr>
            <a:spLocks noGrp="1"/>
          </p:cNvSpPr>
          <p:nvPr>
            <p:ph type="sldNum" sz="quarter" idx="5"/>
          </p:nvPr>
        </p:nvSpPr>
        <p:spPr/>
        <p:txBody>
          <a:bodyPr/>
          <a:lstStyle/>
          <a:p>
            <a:fld id="{C2FA50D6-6132-4FF4-AFC5-01B946DDB4AB}" type="slidenum">
              <a:rPr lang="en-GB" smtClean="0"/>
              <a:t>9</a:t>
            </a:fld>
            <a:endParaRPr lang="en-GB"/>
          </a:p>
        </p:txBody>
      </p:sp>
    </p:spTree>
    <p:extLst>
      <p:ext uri="{BB962C8B-B14F-4D97-AF65-F5344CB8AC3E}">
        <p14:creationId xmlns:p14="http://schemas.microsoft.com/office/powerpoint/2010/main" val="651036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CCC76-1106-CD70-AB73-3E5FD3CD6C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3B730-9BD1-4EA6-117B-5CBF30B3D1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2ADC00-4CDC-9AE8-8E6B-291D42B9DF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74C933-D016-18A9-782A-D356EA02E88A}"/>
              </a:ext>
            </a:extLst>
          </p:cNvPr>
          <p:cNvSpPr>
            <a:spLocks noGrp="1"/>
          </p:cNvSpPr>
          <p:nvPr>
            <p:ph type="sldNum" sz="quarter" idx="5"/>
          </p:nvPr>
        </p:nvSpPr>
        <p:spPr/>
        <p:txBody>
          <a:bodyPr/>
          <a:lstStyle/>
          <a:p>
            <a:fld id="{C2FA50D6-6132-4FF4-AFC5-01B946DDB4AB}" type="slidenum">
              <a:rPr lang="en-GB" smtClean="0"/>
              <a:t>10</a:t>
            </a:fld>
            <a:endParaRPr lang="en-GB"/>
          </a:p>
        </p:txBody>
      </p:sp>
    </p:spTree>
    <p:extLst>
      <p:ext uri="{BB962C8B-B14F-4D97-AF65-F5344CB8AC3E}">
        <p14:creationId xmlns:p14="http://schemas.microsoft.com/office/powerpoint/2010/main" val="21726349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13F86-86EE-AFEC-0ED1-12DE33555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4609C6-67A2-4005-AEEE-CDE03267ED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792A90-8191-16B9-4D44-BBE0DAF623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8D60E8-8208-B4B1-DE2C-B352D09DA833}"/>
              </a:ext>
            </a:extLst>
          </p:cNvPr>
          <p:cNvSpPr>
            <a:spLocks noGrp="1"/>
          </p:cNvSpPr>
          <p:nvPr>
            <p:ph type="sldNum" sz="quarter" idx="5"/>
          </p:nvPr>
        </p:nvSpPr>
        <p:spPr/>
        <p:txBody>
          <a:bodyPr/>
          <a:lstStyle/>
          <a:p>
            <a:fld id="{C2FA50D6-6132-4FF4-AFC5-01B946DDB4AB}" type="slidenum">
              <a:rPr lang="en-GB" smtClean="0"/>
              <a:t>11</a:t>
            </a:fld>
            <a:endParaRPr lang="en-GB"/>
          </a:p>
        </p:txBody>
      </p:sp>
    </p:spTree>
    <p:extLst>
      <p:ext uri="{BB962C8B-B14F-4D97-AF65-F5344CB8AC3E}">
        <p14:creationId xmlns:p14="http://schemas.microsoft.com/office/powerpoint/2010/main" val="752517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90007-EEB5-1B29-3D09-E0C386A225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220F0B-8472-8EDE-9100-BD7713204B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44EBB2-2CC2-4C4F-1622-088A0717DF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FA9BCF-F331-EA26-0A39-0505592F5340}"/>
              </a:ext>
            </a:extLst>
          </p:cNvPr>
          <p:cNvSpPr>
            <a:spLocks noGrp="1"/>
          </p:cNvSpPr>
          <p:nvPr>
            <p:ph type="sldNum" sz="quarter" idx="5"/>
          </p:nvPr>
        </p:nvSpPr>
        <p:spPr/>
        <p:txBody>
          <a:bodyPr/>
          <a:lstStyle/>
          <a:p>
            <a:fld id="{C2FA50D6-6132-4FF4-AFC5-01B946DDB4AB}" type="slidenum">
              <a:rPr lang="en-GB" smtClean="0"/>
              <a:t>12</a:t>
            </a:fld>
            <a:endParaRPr lang="en-GB"/>
          </a:p>
        </p:txBody>
      </p:sp>
    </p:spTree>
    <p:extLst>
      <p:ext uri="{BB962C8B-B14F-4D97-AF65-F5344CB8AC3E}">
        <p14:creationId xmlns:p14="http://schemas.microsoft.com/office/powerpoint/2010/main" val="13717618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AD7ED-C1C9-41BB-F35A-618E60B769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8515F0-91D7-96FA-B179-B956E2ADF4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FC7489-BE33-2651-24C7-94037E758C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1D908F-0FF3-4380-88C7-F27A3085F04F}"/>
              </a:ext>
            </a:extLst>
          </p:cNvPr>
          <p:cNvSpPr>
            <a:spLocks noGrp="1"/>
          </p:cNvSpPr>
          <p:nvPr>
            <p:ph type="sldNum" sz="quarter" idx="5"/>
          </p:nvPr>
        </p:nvSpPr>
        <p:spPr/>
        <p:txBody>
          <a:bodyPr/>
          <a:lstStyle/>
          <a:p>
            <a:fld id="{C2FA50D6-6132-4FF4-AFC5-01B946DDB4AB}" type="slidenum">
              <a:rPr lang="en-GB" smtClean="0"/>
              <a:t>13</a:t>
            </a:fld>
            <a:endParaRPr lang="en-GB"/>
          </a:p>
        </p:txBody>
      </p:sp>
    </p:spTree>
    <p:extLst>
      <p:ext uri="{BB962C8B-B14F-4D97-AF65-F5344CB8AC3E}">
        <p14:creationId xmlns:p14="http://schemas.microsoft.com/office/powerpoint/2010/main" val="32364351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10878-3972-C2FC-0717-B065DC2C7E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A92ADC-4A4E-7A52-224A-B57F17A4B8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3AB409-B0C2-9F69-04BC-299A182185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4BBC9F-88BB-17DD-5695-9157E5E4C10F}"/>
              </a:ext>
            </a:extLst>
          </p:cNvPr>
          <p:cNvSpPr>
            <a:spLocks noGrp="1"/>
          </p:cNvSpPr>
          <p:nvPr>
            <p:ph type="sldNum" sz="quarter" idx="5"/>
          </p:nvPr>
        </p:nvSpPr>
        <p:spPr/>
        <p:txBody>
          <a:bodyPr/>
          <a:lstStyle/>
          <a:p>
            <a:fld id="{C2FA50D6-6132-4FF4-AFC5-01B946DDB4AB}" type="slidenum">
              <a:rPr lang="en-GB" smtClean="0"/>
              <a:t>14</a:t>
            </a:fld>
            <a:endParaRPr lang="en-GB"/>
          </a:p>
        </p:txBody>
      </p:sp>
    </p:spTree>
    <p:extLst>
      <p:ext uri="{BB962C8B-B14F-4D97-AF65-F5344CB8AC3E}">
        <p14:creationId xmlns:p14="http://schemas.microsoft.com/office/powerpoint/2010/main" val="33909517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BBB6D-3841-A5C1-1732-CBED10EED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E7498C-246C-C762-BCB7-D963FA3E9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CE02C5-8425-1BC9-BB0D-F8EE41AB5B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0C4EC8-0444-F040-6817-3B204CCF58FD}"/>
              </a:ext>
            </a:extLst>
          </p:cNvPr>
          <p:cNvSpPr>
            <a:spLocks noGrp="1"/>
          </p:cNvSpPr>
          <p:nvPr>
            <p:ph type="sldNum" sz="quarter" idx="5"/>
          </p:nvPr>
        </p:nvSpPr>
        <p:spPr/>
        <p:txBody>
          <a:bodyPr/>
          <a:lstStyle/>
          <a:p>
            <a:fld id="{C2FA50D6-6132-4FF4-AFC5-01B946DDB4AB}" type="slidenum">
              <a:rPr lang="en-GB" smtClean="0"/>
              <a:t>15</a:t>
            </a:fld>
            <a:endParaRPr lang="en-GB"/>
          </a:p>
        </p:txBody>
      </p:sp>
    </p:spTree>
    <p:extLst>
      <p:ext uri="{BB962C8B-B14F-4D97-AF65-F5344CB8AC3E}">
        <p14:creationId xmlns:p14="http://schemas.microsoft.com/office/powerpoint/2010/main" val="14742749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25BD9-3B6D-96B1-3007-9645DF3E3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EFE6DF-9208-9457-4889-53E6EF623B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FE767-4E2A-464A-D015-C6D42378E5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9783DF-9E20-5A02-3B2B-2CD8963D09D9}"/>
              </a:ext>
            </a:extLst>
          </p:cNvPr>
          <p:cNvSpPr>
            <a:spLocks noGrp="1"/>
          </p:cNvSpPr>
          <p:nvPr>
            <p:ph type="sldNum" sz="quarter" idx="5"/>
          </p:nvPr>
        </p:nvSpPr>
        <p:spPr/>
        <p:txBody>
          <a:bodyPr/>
          <a:lstStyle/>
          <a:p>
            <a:fld id="{C2FA50D6-6132-4FF4-AFC5-01B946DDB4AB}" type="slidenum">
              <a:rPr lang="en-GB" smtClean="0"/>
              <a:t>16</a:t>
            </a:fld>
            <a:endParaRPr lang="en-GB"/>
          </a:p>
        </p:txBody>
      </p:sp>
    </p:spTree>
    <p:extLst>
      <p:ext uri="{BB962C8B-B14F-4D97-AF65-F5344CB8AC3E}">
        <p14:creationId xmlns:p14="http://schemas.microsoft.com/office/powerpoint/2010/main" val="21076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9020E-FD3C-CB6E-C272-9BF732DE24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8D0534-2AA6-DF0B-5D9A-E49290D49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3AF478-7289-B6A0-2B16-4EA196631C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208BBE-80B3-94B5-7A68-B692968745EB}"/>
              </a:ext>
            </a:extLst>
          </p:cNvPr>
          <p:cNvSpPr>
            <a:spLocks noGrp="1"/>
          </p:cNvSpPr>
          <p:nvPr>
            <p:ph type="sldNum" sz="quarter" idx="5"/>
          </p:nvPr>
        </p:nvSpPr>
        <p:spPr/>
        <p:txBody>
          <a:bodyPr/>
          <a:lstStyle/>
          <a:p>
            <a:fld id="{C2FA50D6-6132-4FF4-AFC5-01B946DDB4AB}" type="slidenum">
              <a:rPr lang="en-GB" smtClean="0"/>
              <a:t>17</a:t>
            </a:fld>
            <a:endParaRPr lang="en-GB"/>
          </a:p>
        </p:txBody>
      </p:sp>
    </p:spTree>
    <p:extLst>
      <p:ext uri="{BB962C8B-B14F-4D97-AF65-F5344CB8AC3E}">
        <p14:creationId xmlns:p14="http://schemas.microsoft.com/office/powerpoint/2010/main" val="10810796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09D86-0875-8BF0-8111-8D01CE6F0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C30D75-39CC-0EEE-FF85-65BD91154C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5F543F-3103-9126-0B5B-4BB0C71E3B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8D5CFC-F669-8016-2A87-7B545ED1E9CF}"/>
              </a:ext>
            </a:extLst>
          </p:cNvPr>
          <p:cNvSpPr>
            <a:spLocks noGrp="1"/>
          </p:cNvSpPr>
          <p:nvPr>
            <p:ph type="sldNum" sz="quarter" idx="5"/>
          </p:nvPr>
        </p:nvSpPr>
        <p:spPr/>
        <p:txBody>
          <a:bodyPr/>
          <a:lstStyle/>
          <a:p>
            <a:fld id="{C2FA50D6-6132-4FF4-AFC5-01B946DDB4AB}" type="slidenum">
              <a:rPr lang="en-GB" smtClean="0"/>
              <a:t>18</a:t>
            </a:fld>
            <a:endParaRPr lang="en-GB"/>
          </a:p>
        </p:txBody>
      </p:sp>
    </p:spTree>
    <p:extLst>
      <p:ext uri="{BB962C8B-B14F-4D97-AF65-F5344CB8AC3E}">
        <p14:creationId xmlns:p14="http://schemas.microsoft.com/office/powerpoint/2010/main" val="28344312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6ADA1-9C0F-4524-5DE4-BD03AF9BE3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8DC805-26B8-99A1-7EB5-514AA0969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1122FD-59C1-32B4-9765-5307E041F5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F7A312-E98B-9F7C-6DD8-9A8CD43E6BB9}"/>
              </a:ext>
            </a:extLst>
          </p:cNvPr>
          <p:cNvSpPr>
            <a:spLocks noGrp="1"/>
          </p:cNvSpPr>
          <p:nvPr>
            <p:ph type="sldNum" sz="quarter" idx="5"/>
          </p:nvPr>
        </p:nvSpPr>
        <p:spPr/>
        <p:txBody>
          <a:bodyPr/>
          <a:lstStyle/>
          <a:p>
            <a:fld id="{C2FA50D6-6132-4FF4-AFC5-01B946DDB4AB}" type="slidenum">
              <a:rPr lang="en-GB" smtClean="0"/>
              <a:t>19</a:t>
            </a:fld>
            <a:endParaRPr lang="en-GB"/>
          </a:p>
        </p:txBody>
      </p:sp>
    </p:spTree>
    <p:extLst>
      <p:ext uri="{BB962C8B-B14F-4D97-AF65-F5344CB8AC3E}">
        <p14:creationId xmlns:p14="http://schemas.microsoft.com/office/powerpoint/2010/main" val="32098771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0E3EB-71B0-6F17-83F5-F3761FFE88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31B9B3-B23E-407B-5FD3-09A5FE694B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AE0307-C47C-85EF-25CC-F2EAEFF030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593723-3FF6-1D94-FB89-6C0FC179BE20}"/>
              </a:ext>
            </a:extLst>
          </p:cNvPr>
          <p:cNvSpPr>
            <a:spLocks noGrp="1"/>
          </p:cNvSpPr>
          <p:nvPr>
            <p:ph type="sldNum" sz="quarter" idx="5"/>
          </p:nvPr>
        </p:nvSpPr>
        <p:spPr/>
        <p:txBody>
          <a:bodyPr/>
          <a:lstStyle/>
          <a:p>
            <a:fld id="{C2FA50D6-6132-4FF4-AFC5-01B946DDB4AB}" type="slidenum">
              <a:rPr lang="en-GB" smtClean="0"/>
              <a:t>20</a:t>
            </a:fld>
            <a:endParaRPr lang="en-GB"/>
          </a:p>
        </p:txBody>
      </p:sp>
    </p:spTree>
    <p:extLst>
      <p:ext uri="{BB962C8B-B14F-4D97-AF65-F5344CB8AC3E}">
        <p14:creationId xmlns:p14="http://schemas.microsoft.com/office/powerpoint/2010/main" val="15482676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E8ADB-6135-AFCD-25C2-A8455EE832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4EEE71-8E47-A351-5EA3-1C98174B77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09753F-67DF-C966-578F-C772E9CBF9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1D7F04-0F99-F0DA-01D7-B0568E29AA60}"/>
              </a:ext>
            </a:extLst>
          </p:cNvPr>
          <p:cNvSpPr>
            <a:spLocks noGrp="1"/>
          </p:cNvSpPr>
          <p:nvPr>
            <p:ph type="sldNum" sz="quarter" idx="5"/>
          </p:nvPr>
        </p:nvSpPr>
        <p:spPr/>
        <p:txBody>
          <a:bodyPr/>
          <a:lstStyle/>
          <a:p>
            <a:fld id="{C2FA50D6-6132-4FF4-AFC5-01B946DDB4AB}" type="slidenum">
              <a:rPr lang="en-GB" smtClean="0"/>
              <a:t>21</a:t>
            </a:fld>
            <a:endParaRPr lang="en-GB"/>
          </a:p>
        </p:txBody>
      </p:sp>
    </p:spTree>
    <p:extLst>
      <p:ext uri="{BB962C8B-B14F-4D97-AF65-F5344CB8AC3E}">
        <p14:creationId xmlns:p14="http://schemas.microsoft.com/office/powerpoint/2010/main" val="10960211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5B06C-7C1B-5274-F334-0652971345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B3F923-7D84-3FCB-507C-5F7EE5A2E8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99461B-F854-1188-849B-78DEDBF899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307ED2-796C-82B0-9C1C-061EE27CAA16}"/>
              </a:ext>
            </a:extLst>
          </p:cNvPr>
          <p:cNvSpPr>
            <a:spLocks noGrp="1"/>
          </p:cNvSpPr>
          <p:nvPr>
            <p:ph type="sldNum" sz="quarter" idx="5"/>
          </p:nvPr>
        </p:nvSpPr>
        <p:spPr/>
        <p:txBody>
          <a:bodyPr/>
          <a:lstStyle/>
          <a:p>
            <a:fld id="{C2FA50D6-6132-4FF4-AFC5-01B946DDB4AB}" type="slidenum">
              <a:rPr lang="en-GB" smtClean="0"/>
              <a:t>22</a:t>
            </a:fld>
            <a:endParaRPr lang="en-GB"/>
          </a:p>
        </p:txBody>
      </p:sp>
    </p:spTree>
    <p:extLst>
      <p:ext uri="{BB962C8B-B14F-4D97-AF65-F5344CB8AC3E}">
        <p14:creationId xmlns:p14="http://schemas.microsoft.com/office/powerpoint/2010/main" val="12133544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9F46E-F175-7113-15FA-2177DDDC8A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597D56-2F40-6FAB-E4F9-3FD62F416E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3E53D7-A52F-EDDD-FD25-8F1FFAED5F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B4A486-DFA1-F027-DB48-0BFBF9AD83E4}"/>
              </a:ext>
            </a:extLst>
          </p:cNvPr>
          <p:cNvSpPr>
            <a:spLocks noGrp="1"/>
          </p:cNvSpPr>
          <p:nvPr>
            <p:ph type="sldNum" sz="quarter" idx="5"/>
          </p:nvPr>
        </p:nvSpPr>
        <p:spPr/>
        <p:txBody>
          <a:bodyPr/>
          <a:lstStyle/>
          <a:p>
            <a:fld id="{C2FA50D6-6132-4FF4-AFC5-01B946DDB4AB}" type="slidenum">
              <a:rPr lang="en-GB" smtClean="0"/>
              <a:t>23</a:t>
            </a:fld>
            <a:endParaRPr lang="en-GB"/>
          </a:p>
        </p:txBody>
      </p:sp>
    </p:spTree>
    <p:extLst>
      <p:ext uri="{BB962C8B-B14F-4D97-AF65-F5344CB8AC3E}">
        <p14:creationId xmlns:p14="http://schemas.microsoft.com/office/powerpoint/2010/main" val="25213286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F307E-3772-824E-769A-0A572E5D80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7CB7F6-A9BE-0482-114A-D5A0B30810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B959E5-A1FC-49C2-CCAA-2CFA1A3E14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A8BB71-1937-D03F-916B-05DF885ECF6C}"/>
              </a:ext>
            </a:extLst>
          </p:cNvPr>
          <p:cNvSpPr>
            <a:spLocks noGrp="1"/>
          </p:cNvSpPr>
          <p:nvPr>
            <p:ph type="sldNum" sz="quarter" idx="5"/>
          </p:nvPr>
        </p:nvSpPr>
        <p:spPr/>
        <p:txBody>
          <a:bodyPr/>
          <a:lstStyle/>
          <a:p>
            <a:fld id="{C2FA50D6-6132-4FF4-AFC5-01B946DDB4AB}" type="slidenum">
              <a:rPr lang="en-GB" smtClean="0"/>
              <a:t>24</a:t>
            </a:fld>
            <a:endParaRPr lang="en-GB"/>
          </a:p>
        </p:txBody>
      </p:sp>
    </p:spTree>
    <p:extLst>
      <p:ext uri="{BB962C8B-B14F-4D97-AF65-F5344CB8AC3E}">
        <p14:creationId xmlns:p14="http://schemas.microsoft.com/office/powerpoint/2010/main" val="37406539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0DB2F-1E42-BDB2-0B93-6BC890D934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463A81-0EE7-A5F6-9868-EB993EBCA6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6C0767-397C-47BA-64C5-DE82570467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FF0E97-ED30-047A-30BE-F5CD05C4FE51}"/>
              </a:ext>
            </a:extLst>
          </p:cNvPr>
          <p:cNvSpPr>
            <a:spLocks noGrp="1"/>
          </p:cNvSpPr>
          <p:nvPr>
            <p:ph type="sldNum" sz="quarter" idx="5"/>
          </p:nvPr>
        </p:nvSpPr>
        <p:spPr/>
        <p:txBody>
          <a:bodyPr/>
          <a:lstStyle/>
          <a:p>
            <a:fld id="{C2FA50D6-6132-4FF4-AFC5-01B946DDB4AB}" type="slidenum">
              <a:rPr lang="en-GB" smtClean="0"/>
              <a:t>25</a:t>
            </a:fld>
            <a:endParaRPr lang="en-GB"/>
          </a:p>
        </p:txBody>
      </p:sp>
    </p:spTree>
    <p:extLst>
      <p:ext uri="{BB962C8B-B14F-4D97-AF65-F5344CB8AC3E}">
        <p14:creationId xmlns:p14="http://schemas.microsoft.com/office/powerpoint/2010/main" val="24049857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D1FF-3903-07AA-C075-8259957B8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B931F8-1E7E-8D2C-B8BB-6147749CF2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120356-1E32-671C-CFF5-7B62CA39DC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937C7D-9A95-E76F-163D-600F35DE2BA7}"/>
              </a:ext>
            </a:extLst>
          </p:cNvPr>
          <p:cNvSpPr>
            <a:spLocks noGrp="1"/>
          </p:cNvSpPr>
          <p:nvPr>
            <p:ph type="sldNum" sz="quarter" idx="5"/>
          </p:nvPr>
        </p:nvSpPr>
        <p:spPr/>
        <p:txBody>
          <a:bodyPr/>
          <a:lstStyle/>
          <a:p>
            <a:fld id="{C2FA50D6-6132-4FF4-AFC5-01B946DDB4AB}" type="slidenum">
              <a:rPr lang="en-GB" smtClean="0"/>
              <a:t>26</a:t>
            </a:fld>
            <a:endParaRPr lang="en-GB"/>
          </a:p>
        </p:txBody>
      </p:sp>
    </p:spTree>
    <p:extLst>
      <p:ext uri="{BB962C8B-B14F-4D97-AF65-F5344CB8AC3E}">
        <p14:creationId xmlns:p14="http://schemas.microsoft.com/office/powerpoint/2010/main" val="14354007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D5983-7D57-A195-34F4-A8D567BD9C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6ECEDD-2916-31C3-CE23-362562A3BB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49A4F1-59C0-BFED-FD3D-C5FB8D6EF9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509397-1F3C-0BE4-7F71-15971723F8C5}"/>
              </a:ext>
            </a:extLst>
          </p:cNvPr>
          <p:cNvSpPr>
            <a:spLocks noGrp="1"/>
          </p:cNvSpPr>
          <p:nvPr>
            <p:ph type="sldNum" sz="quarter" idx="5"/>
          </p:nvPr>
        </p:nvSpPr>
        <p:spPr/>
        <p:txBody>
          <a:bodyPr/>
          <a:lstStyle/>
          <a:p>
            <a:fld id="{C2FA50D6-6132-4FF4-AFC5-01B946DDB4AB}" type="slidenum">
              <a:rPr lang="en-GB" smtClean="0"/>
              <a:t>27</a:t>
            </a:fld>
            <a:endParaRPr lang="en-GB"/>
          </a:p>
        </p:txBody>
      </p:sp>
    </p:spTree>
    <p:extLst>
      <p:ext uri="{BB962C8B-B14F-4D97-AF65-F5344CB8AC3E}">
        <p14:creationId xmlns:p14="http://schemas.microsoft.com/office/powerpoint/2010/main" val="30728919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ductory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765920" y="2060848"/>
            <a:ext cx="5693680" cy="1226567"/>
          </a:xfrm>
          <a:prstGeom prst="rect">
            <a:avLst/>
          </a:prstGeom>
        </p:spPr>
        <p:txBody>
          <a:bodyPr anchor="ctr" anchorCtr="0"/>
          <a:lstStyle>
            <a:lvl1pPr algn="l">
              <a:defRPr sz="3200" b="1" spc="-150" baseline="0">
                <a:solidFill>
                  <a:schemeClr val="bg1"/>
                </a:solidFill>
              </a:defRPr>
            </a:lvl1pPr>
          </a:lstStyle>
          <a:p>
            <a:r>
              <a:rPr lang="en-US" dirty="0"/>
              <a:t>Presentation title</a:t>
            </a:r>
            <a:endParaRPr lang="en-GB" dirty="0"/>
          </a:p>
        </p:txBody>
      </p:sp>
      <p:sp>
        <p:nvSpPr>
          <p:cNvPr id="3" name="Subtitle 2"/>
          <p:cNvSpPr>
            <a:spLocks noGrp="1"/>
          </p:cNvSpPr>
          <p:nvPr>
            <p:ph type="subTitle" idx="1"/>
          </p:nvPr>
        </p:nvSpPr>
        <p:spPr>
          <a:xfrm>
            <a:off x="1763688" y="3287415"/>
            <a:ext cx="5688632" cy="864096"/>
          </a:xfrm>
          <a:prstGeom prst="rect">
            <a:avLst/>
          </a:prstGeom>
        </p:spPr>
        <p:txBody>
          <a:bodyPr anchor="ctr" anchorCtr="0"/>
          <a:lstStyle>
            <a:lvl1pPr marL="0" indent="0" algn="l">
              <a:buNone/>
              <a:defRPr sz="20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GB" dirty="0"/>
          </a:p>
        </p:txBody>
      </p:sp>
      <p:sp>
        <p:nvSpPr>
          <p:cNvPr id="6" name="Text Placeholder 3"/>
          <p:cNvSpPr>
            <a:spLocks noGrp="1"/>
          </p:cNvSpPr>
          <p:nvPr>
            <p:ph type="body" sz="quarter" idx="10" hasCustomPrompt="1"/>
          </p:nvPr>
        </p:nvSpPr>
        <p:spPr>
          <a:xfrm>
            <a:off x="1763688" y="4149080"/>
            <a:ext cx="2303462" cy="359395"/>
          </a:xfrm>
          <a:prstGeom prst="rect">
            <a:avLst/>
          </a:prstGeom>
        </p:spPr>
        <p:txBody>
          <a:bodyPr/>
          <a:lstStyle>
            <a:lvl1pPr marL="0" indent="0">
              <a:buNone/>
              <a:defRPr sz="1400">
                <a:solidFill>
                  <a:schemeClr val="bg1"/>
                </a:solidFill>
              </a:defRPr>
            </a:lvl1pPr>
          </a:lstStyle>
          <a:p>
            <a:pPr lvl="0"/>
            <a:r>
              <a:rPr lang="en-GB" dirty="0"/>
              <a:t>22 March 2021</a:t>
            </a:r>
          </a:p>
        </p:txBody>
      </p:sp>
      <p:pic>
        <p:nvPicPr>
          <p:cNvPr id="10" name="University Logo (White)" descr="Graphical user interface&#10;&#10;Description automatically generated with medium confidence">
            <a:extLst>
              <a:ext uri="{FF2B5EF4-FFF2-40B4-BE49-F238E27FC236}">
                <a16:creationId xmlns:a16="http://schemas.microsoft.com/office/drawing/2014/main" id="{298F6F96-0FFE-614A-9446-F08F9EE476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72200" y="-279124"/>
            <a:ext cx="2880320" cy="1619892"/>
          </a:xfrm>
          <a:prstGeom prst="rect">
            <a:avLst/>
          </a:prstGeom>
        </p:spPr>
      </p:pic>
    </p:spTree>
    <p:extLst>
      <p:ext uri="{BB962C8B-B14F-4D97-AF65-F5344CB8AC3E}">
        <p14:creationId xmlns:p14="http://schemas.microsoft.com/office/powerpoint/2010/main" val="2398703511"/>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Questions End Slide">
    <p:spTree>
      <p:nvGrpSpPr>
        <p:cNvPr id="1" name=""/>
        <p:cNvGrpSpPr/>
        <p:nvPr/>
      </p:nvGrpSpPr>
      <p:grpSpPr>
        <a:xfrm>
          <a:off x="0" y="0"/>
          <a:ext cx="0" cy="0"/>
          <a:chOff x="0" y="0"/>
          <a:chExt cx="0" cy="0"/>
        </a:xfrm>
      </p:grpSpPr>
      <p:sp>
        <p:nvSpPr>
          <p:cNvPr id="8" name="Title 1"/>
          <p:cNvSpPr txBox="1"/>
          <p:nvPr userDrawn="1"/>
        </p:nvSpPr>
        <p:spPr>
          <a:xfrm>
            <a:off x="1763688" y="2700209"/>
            <a:ext cx="5688632" cy="584775"/>
          </a:xfrm>
          <a:prstGeom prst="rect">
            <a:avLst/>
          </a:prstGeom>
          <a:noFill/>
        </p:spPr>
        <p:txBody>
          <a:bodyPr wrap="square" rtlCol="0">
            <a:spAutoFit/>
          </a:bodyPr>
          <a:lstStyle/>
          <a:p>
            <a:r>
              <a:rPr lang="en-GB" sz="3200" b="1" spc="-150" dirty="0">
                <a:solidFill>
                  <a:schemeClr val="bg1"/>
                </a:solidFill>
              </a:rPr>
              <a:t>YOUR</a:t>
            </a:r>
            <a:r>
              <a:rPr lang="en-GB" sz="3200" b="1" spc="-150" baseline="0" dirty="0">
                <a:solidFill>
                  <a:schemeClr val="bg1"/>
                </a:solidFill>
              </a:rPr>
              <a:t> QUESTIONS</a:t>
            </a:r>
            <a:endParaRPr lang="en-GB" sz="3200" b="1" spc="-150" dirty="0">
              <a:solidFill>
                <a:schemeClr val="bg1"/>
              </a:solidFill>
            </a:endParaRPr>
          </a:p>
        </p:txBody>
      </p:sp>
      <p:sp>
        <p:nvSpPr>
          <p:cNvPr id="6" name="Content Placeholder 2"/>
          <p:cNvSpPr>
            <a:spLocks noGrp="1"/>
          </p:cNvSpPr>
          <p:nvPr>
            <p:ph sz="quarter" idx="11" hasCustomPrompt="1"/>
          </p:nvPr>
        </p:nvSpPr>
        <p:spPr>
          <a:xfrm>
            <a:off x="1763688" y="3356521"/>
            <a:ext cx="5688632" cy="1800671"/>
          </a:xfrm>
          <a:prstGeom prst="rect">
            <a:avLst/>
          </a:prstGeom>
        </p:spPr>
        <p:txBody>
          <a:bodyPr/>
          <a:lstStyle>
            <a:lvl1pPr marL="0" indent="0">
              <a:buNone/>
              <a:defRPr sz="1600" b="0" spc="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Copy here</a:t>
            </a:r>
            <a:endParaRPr lang="en-GB" dirty="0"/>
          </a:p>
        </p:txBody>
      </p:sp>
      <p:pic>
        <p:nvPicPr>
          <p:cNvPr id="5" name="University Logo (White)" descr="Graphical user interface&#10;&#10;Description automatically generated with medium confidence">
            <a:extLst>
              <a:ext uri="{FF2B5EF4-FFF2-40B4-BE49-F238E27FC236}">
                <a16:creationId xmlns:a16="http://schemas.microsoft.com/office/drawing/2014/main" id="{2BA0B3BF-62C4-C043-98EF-4A8D9C6E47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72200" y="-279124"/>
            <a:ext cx="2880320" cy="1619892"/>
          </a:xfrm>
          <a:prstGeom prst="rect">
            <a:avLst/>
          </a:prstGeom>
        </p:spPr>
      </p:pic>
    </p:spTree>
    <p:extLst>
      <p:ext uri="{BB962C8B-B14F-4D97-AF65-F5344CB8AC3E}">
        <p14:creationId xmlns:p14="http://schemas.microsoft.com/office/powerpoint/2010/main" val="618859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rgbClr val="495961"/>
                </a:solidFill>
              </a:defRPr>
            </a:lvl1pPr>
          </a:lstStyle>
          <a:p>
            <a:r>
              <a:rPr lang="en-US" dirty="0"/>
              <a:t>TITLE</a:t>
            </a:r>
            <a:endParaRPr lang="en-GB" dirty="0"/>
          </a:p>
        </p:txBody>
      </p:sp>
      <p:sp>
        <p:nvSpPr>
          <p:cNvPr id="5" name="Text Placeholder 2"/>
          <p:cNvSpPr>
            <a:spLocks noGrp="1"/>
          </p:cNvSpPr>
          <p:nvPr>
            <p:ph type="body" sz="quarter" idx="10"/>
          </p:nvPr>
        </p:nvSpPr>
        <p:spPr>
          <a:xfrm>
            <a:off x="467544" y="1844824"/>
            <a:ext cx="8135937" cy="4393059"/>
          </a:xfrm>
        </p:spPr>
        <p:txBody>
          <a:bodyPr/>
          <a:lstStyle>
            <a:lvl1pPr>
              <a:spcBef>
                <a:spcPts val="0"/>
              </a:spcBef>
              <a:spcAft>
                <a:spcPts val="1200"/>
              </a:spcAft>
              <a:defRPr sz="2000">
                <a:solidFill>
                  <a:srgbClr val="495961"/>
                </a:solidFill>
              </a:defRPr>
            </a:lvl1pPr>
            <a:lvl2pPr>
              <a:spcBef>
                <a:spcPts val="0"/>
              </a:spcBef>
              <a:spcAft>
                <a:spcPts val="1200"/>
              </a:spcAft>
              <a:defRPr sz="1800">
                <a:solidFill>
                  <a:srgbClr val="495961"/>
                </a:solidFill>
              </a:defRPr>
            </a:lvl2pPr>
            <a:lvl3pPr>
              <a:spcBef>
                <a:spcPts val="0"/>
              </a:spcBef>
              <a:spcAft>
                <a:spcPts val="1200"/>
              </a:spcAft>
              <a:defRPr>
                <a:solidFill>
                  <a:srgbClr val="495961"/>
                </a:solidFill>
              </a:defRPr>
            </a:lvl3pPr>
            <a:lvl4pPr>
              <a:spcBef>
                <a:spcPts val="0"/>
              </a:spcBef>
              <a:spcAft>
                <a:spcPts val="1200"/>
              </a:spcAft>
              <a:defRPr>
                <a:solidFill>
                  <a:srgbClr val="495961"/>
                </a:solidFill>
              </a:defRPr>
            </a:lvl4pPr>
            <a:lvl5pPr>
              <a:spcBef>
                <a:spcPts val="0"/>
              </a:spcBef>
              <a:spcAft>
                <a:spcPts val="1200"/>
              </a:spcAft>
              <a:defRPr>
                <a:solidFill>
                  <a:srgbClr val="49596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146691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Vevox 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2F2E-3F20-0DC0-CFA3-D11D49B01C69}"/>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33DD3D74-F972-E096-E828-44B6C11A314C}"/>
              </a:ext>
            </a:extLst>
          </p:cNvPr>
          <p:cNvSpPr>
            <a:spLocks noGrp="1"/>
          </p:cNvSpPr>
          <p:nvPr>
            <p:ph type="dt" sz="half" idx="10"/>
          </p:nvPr>
        </p:nvSpPr>
        <p:spPr/>
        <p:txBody>
          <a:bodyPr/>
          <a:lstStyle/>
          <a:p>
            <a:fld id="{1663657D-8E22-4681-BD7E-16E8F6F56673}" type="datetimeFigureOut">
              <a:rPr lang="en-FI" smtClean="0"/>
              <a:t>10/18/26</a:t>
            </a:fld>
            <a:endParaRPr lang="en-FI"/>
          </a:p>
        </p:txBody>
      </p:sp>
      <p:sp>
        <p:nvSpPr>
          <p:cNvPr id="4" name="Footer Placeholder 3">
            <a:extLst>
              <a:ext uri="{FF2B5EF4-FFF2-40B4-BE49-F238E27FC236}">
                <a16:creationId xmlns:a16="http://schemas.microsoft.com/office/drawing/2014/main" id="{03087A18-8950-3A86-D6FB-14BF0F08BA1C}"/>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AED9F6BC-1B26-1DC3-0C4B-4C12F07C71C1}"/>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1CADAFE8-3608-FDE7-C3ED-12BD6811F72B}"/>
              </a:ext>
            </a:extLst>
          </p:cNvPr>
          <p:cNvSpPr>
            <a:spLocks noGrp="1"/>
          </p:cNvSpPr>
          <p:nvPr>
            <p:ph sz="quarter" idx="13"/>
          </p:nvPr>
        </p:nvSpPr>
        <p:spPr>
          <a:xfrm>
            <a:off x="628650" y="1798320"/>
            <a:ext cx="7886700" cy="4429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Tree>
    <p:extLst>
      <p:ext uri="{BB962C8B-B14F-4D97-AF65-F5344CB8AC3E}">
        <p14:creationId xmlns:p14="http://schemas.microsoft.com/office/powerpoint/2010/main" val="19413239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5C8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1071369"/>
      </p:ext>
    </p:extLst>
  </p:cSld>
  <p:clrMap bg1="lt1" tx1="dk1" bg2="lt2" tx2="dk2" accent1="accent1" accent2="accent2" accent3="accent3" accent4="accent4" accent5="accent5" accent6="accent6" hlink="hlink" folHlink="folHlink"/>
  <p:sldLayoutIdLst>
    <p:sldLayoutId id="2147483680" r:id="rId1"/>
    <p:sldLayoutId id="2147483706" r:id="rId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9FB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7544" y="692696"/>
            <a:ext cx="8136904" cy="936104"/>
          </a:xfrm>
          <a:prstGeom prst="rect">
            <a:avLst/>
          </a:prstGeom>
        </p:spPr>
        <p:txBody>
          <a:bodyPr vert="horz" lIns="91440" tIns="45720" rIns="91440" bIns="45720" rtlCol="0" anchor="b" anchorCtr="0">
            <a:noAutofit/>
          </a:bodyPr>
          <a:lstStyle/>
          <a:p>
            <a:r>
              <a:rPr lang="en-US" dirty="0"/>
              <a:t>TITLE</a:t>
            </a:r>
            <a:endParaRPr lang="en-GB" dirty="0"/>
          </a:p>
        </p:txBody>
      </p:sp>
      <p:sp>
        <p:nvSpPr>
          <p:cNvPr id="7" name="Text Placeholder 2"/>
          <p:cNvSpPr>
            <a:spLocks noGrp="1"/>
          </p:cNvSpPr>
          <p:nvPr>
            <p:ph type="body" idx="1"/>
          </p:nvPr>
        </p:nvSpPr>
        <p:spPr>
          <a:xfrm>
            <a:off x="467544" y="1844824"/>
            <a:ext cx="8147248" cy="4381947"/>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3"/>
          <p:cNvSpPr txBox="1"/>
          <p:nvPr/>
        </p:nvSpPr>
        <p:spPr>
          <a:xfrm>
            <a:off x="8244408" y="6400134"/>
            <a:ext cx="720080" cy="246221"/>
          </a:xfrm>
          <a:prstGeom prst="rect">
            <a:avLst/>
          </a:prstGeom>
          <a:noFill/>
        </p:spPr>
        <p:txBody>
          <a:bodyPr wrap="square" rtlCol="0">
            <a:spAutoFit/>
          </a:bodyPr>
          <a:lstStyle/>
          <a:p>
            <a:pPr algn="r"/>
            <a:fld id="{14274112-3819-4E3C-A2C8-15D563C4EB1E}" type="slidenum">
              <a:rPr lang="en-GB" sz="1000" smtClean="0">
                <a:solidFill>
                  <a:srgbClr val="495961"/>
                </a:solidFill>
              </a:rPr>
              <a:t>‹#›</a:t>
            </a:fld>
            <a:endParaRPr lang="en-GB" sz="1000" dirty="0">
              <a:solidFill>
                <a:srgbClr val="495961"/>
              </a:solidFill>
            </a:endParaRPr>
          </a:p>
        </p:txBody>
      </p:sp>
      <p:pic>
        <p:nvPicPr>
          <p:cNvPr id="9" name="University Logo" descr="Logo&#10;&#10;Description automatically generated with medium confidence">
            <a:extLst>
              <a:ext uri="{FF2B5EF4-FFF2-40B4-BE49-F238E27FC236}">
                <a16:creationId xmlns:a16="http://schemas.microsoft.com/office/drawing/2014/main" id="{6745DF3F-7D11-3742-A2BB-7A033F566AF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72198" y="-279125"/>
            <a:ext cx="2880322" cy="1619893"/>
          </a:xfrm>
          <a:prstGeom prst="rect">
            <a:avLst/>
          </a:prstGeom>
        </p:spPr>
      </p:pic>
    </p:spTree>
    <p:extLst>
      <p:ext uri="{BB962C8B-B14F-4D97-AF65-F5344CB8AC3E}">
        <p14:creationId xmlns:p14="http://schemas.microsoft.com/office/powerpoint/2010/main" val="175160366"/>
      </p:ext>
    </p:extLst>
  </p:cSld>
  <p:clrMap bg1="lt1" tx1="dk1" bg2="lt2" tx2="dk2" accent1="accent1" accent2="accent2" accent3="accent3" accent4="accent4" accent5="accent5" accent6="accent6" hlink="hlink" folHlink="folHlink"/>
  <p:sldLayoutIdLst>
    <p:sldLayoutId id="2147483705" r:id="rId1"/>
    <p:sldLayoutId id="2147483707" r:id="rId2"/>
  </p:sldLayoutIdLst>
  <p:hf hdr="0" ftr="0" dt="0"/>
  <p:txStyles>
    <p:titleStyle>
      <a:lvl1pPr algn="l" defTabSz="914400" rtl="0" eaLnBrk="1" latinLnBrk="0" hangingPunct="1">
        <a:spcBef>
          <a:spcPct val="0"/>
        </a:spcBef>
        <a:buNone/>
        <a:defRPr sz="3200" kern="1200" spc="-150">
          <a:solidFill>
            <a:srgbClr val="495961"/>
          </a:solidFill>
          <a:latin typeface="+mj-lt"/>
          <a:ea typeface="+mj-ea"/>
          <a:cs typeface="+mj-cs"/>
        </a:defRPr>
      </a:lvl1pPr>
    </p:titleStyle>
    <p:bodyStyle>
      <a:lvl1pPr marL="342900" indent="-342900" algn="l" defTabSz="914400" rtl="0" eaLnBrk="1" latinLnBrk="0" hangingPunct="1">
        <a:spcBef>
          <a:spcPts val="0"/>
        </a:spcBef>
        <a:spcAft>
          <a:spcPts val="1200"/>
        </a:spcAft>
        <a:buFont typeface="Arial" panose="020B0604020202020204" pitchFamily="34" charset="0"/>
        <a:buChar char="•"/>
        <a:defRPr sz="2000" kern="1200">
          <a:solidFill>
            <a:srgbClr val="495961"/>
          </a:solidFill>
          <a:latin typeface="+mn-lt"/>
          <a:ea typeface="+mn-ea"/>
          <a:cs typeface="+mn-cs"/>
        </a:defRPr>
      </a:lvl1pPr>
      <a:lvl2pPr marL="742950" indent="-285750" algn="l" defTabSz="914400" rtl="0" eaLnBrk="1" latinLnBrk="0" hangingPunct="1">
        <a:spcBef>
          <a:spcPts val="0"/>
        </a:spcBef>
        <a:spcAft>
          <a:spcPts val="1200"/>
        </a:spcAft>
        <a:buFont typeface="Arial" panose="020B0604020202020204" pitchFamily="34" charset="0"/>
        <a:buChar char="–"/>
        <a:defRPr sz="1800" kern="1200">
          <a:solidFill>
            <a:srgbClr val="495961"/>
          </a:solidFill>
          <a:latin typeface="+mn-lt"/>
          <a:ea typeface="+mn-ea"/>
          <a:cs typeface="+mn-cs"/>
        </a:defRPr>
      </a:lvl2pPr>
      <a:lvl3pPr marL="1143000" indent="-228600" algn="l" defTabSz="914400" rtl="0" eaLnBrk="1" latinLnBrk="0" hangingPunct="1">
        <a:spcBef>
          <a:spcPts val="0"/>
        </a:spcBef>
        <a:spcAft>
          <a:spcPts val="1200"/>
        </a:spcAft>
        <a:buFont typeface="Arial" panose="020B0604020202020204" pitchFamily="34" charset="0"/>
        <a:buChar char="•"/>
        <a:defRPr sz="1800" kern="1200">
          <a:solidFill>
            <a:srgbClr val="495961"/>
          </a:solidFill>
          <a:latin typeface="+mn-lt"/>
          <a:ea typeface="+mn-ea"/>
          <a:cs typeface="+mn-cs"/>
        </a:defRPr>
      </a:lvl3pPr>
      <a:lvl4pPr marL="1600200" indent="-228600" algn="l" defTabSz="914400" rtl="0" eaLnBrk="1" latinLnBrk="0" hangingPunct="1">
        <a:spcBef>
          <a:spcPts val="0"/>
        </a:spcBef>
        <a:spcAft>
          <a:spcPts val="1200"/>
        </a:spcAft>
        <a:buFont typeface="Arial" panose="020B0604020202020204" pitchFamily="34" charset="0"/>
        <a:buChar char="–"/>
        <a:defRPr sz="1600" kern="1200">
          <a:solidFill>
            <a:srgbClr val="495961"/>
          </a:solidFill>
          <a:latin typeface="+mn-lt"/>
          <a:ea typeface="+mn-ea"/>
          <a:cs typeface="+mn-cs"/>
        </a:defRPr>
      </a:lvl4pPr>
      <a:lvl5pPr marL="2057400" indent="-228600" algn="l" defTabSz="914400" rtl="0" eaLnBrk="1" latinLnBrk="0" hangingPunct="1">
        <a:spcBef>
          <a:spcPts val="0"/>
        </a:spcBef>
        <a:spcAft>
          <a:spcPts val="1200"/>
        </a:spcAft>
        <a:buFont typeface="Arial" panose="020B0604020202020204" pitchFamily="34" charset="0"/>
        <a:buChar char="»"/>
        <a:defRPr sz="1400" kern="1200">
          <a:solidFill>
            <a:srgbClr val="49596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550C5-E4B1-7B5E-88F4-C463F7B66947}"/>
              </a:ext>
            </a:extLst>
          </p:cNvPr>
          <p:cNvSpPr>
            <a:spLocks noGrp="1"/>
          </p:cNvSpPr>
          <p:nvPr>
            <p:ph type="ctrTitle"/>
          </p:nvPr>
        </p:nvSpPr>
        <p:spPr>
          <a:xfrm>
            <a:off x="1183984" y="2223723"/>
            <a:ext cx="6776032" cy="1226567"/>
          </a:xfrm>
        </p:spPr>
        <p:txBody>
          <a:bodyPr lIns="91440" tIns="45720" rIns="91440" bIns="45720" anchor="ctr" anchorCtr="0"/>
          <a:lstStyle/>
          <a:p>
            <a:r>
              <a:rPr lang="en-US" dirty="0"/>
              <a:t>Unsupervised Learning</a:t>
            </a:r>
          </a:p>
        </p:txBody>
      </p:sp>
      <p:sp>
        <p:nvSpPr>
          <p:cNvPr id="3" name="Subtitle 2">
            <a:extLst>
              <a:ext uri="{FF2B5EF4-FFF2-40B4-BE49-F238E27FC236}">
                <a16:creationId xmlns:a16="http://schemas.microsoft.com/office/drawing/2014/main" id="{E612480B-B2A9-5A74-0EB9-DF24B8A56806}"/>
              </a:ext>
            </a:extLst>
          </p:cNvPr>
          <p:cNvSpPr>
            <a:spLocks noGrp="1"/>
          </p:cNvSpPr>
          <p:nvPr>
            <p:ph type="subTitle" idx="1"/>
          </p:nvPr>
        </p:nvSpPr>
        <p:spPr>
          <a:xfrm>
            <a:off x="1183984" y="3428217"/>
            <a:ext cx="7799968" cy="1226567"/>
          </a:xfrm>
        </p:spPr>
        <p:txBody>
          <a:bodyPr lIns="91440" tIns="45720" rIns="91440" bIns="45720" anchor="ctr" anchorCtr="0"/>
          <a:lstStyle/>
          <a:p>
            <a:r>
              <a:rPr lang="en-US" dirty="0"/>
              <a:t>COMP6246: Machine Learning Technologies (MSc)</a:t>
            </a:r>
          </a:p>
          <a:p>
            <a:r>
              <a:rPr lang="en-US" dirty="0"/>
              <a:t>Dr Daniela Mihai (</a:t>
            </a:r>
            <a:r>
              <a:rPr lang="en-US" dirty="0" err="1"/>
              <a:t>a-d.mihai@soton.ac.uk</a:t>
            </a:r>
            <a:r>
              <a:rPr lang="en-US" dirty="0"/>
              <a:t>)</a:t>
            </a:r>
          </a:p>
        </p:txBody>
      </p:sp>
      <p:sp>
        <p:nvSpPr>
          <p:cNvPr id="4" name="Text Placeholder 3">
            <a:extLst>
              <a:ext uri="{FF2B5EF4-FFF2-40B4-BE49-F238E27FC236}">
                <a16:creationId xmlns:a16="http://schemas.microsoft.com/office/drawing/2014/main" id="{C4F510FB-C974-AD36-DEE8-D9162F2E3F30}"/>
              </a:ext>
            </a:extLst>
          </p:cNvPr>
          <p:cNvSpPr>
            <a:spLocks noGrp="1"/>
          </p:cNvSpPr>
          <p:nvPr>
            <p:ph type="body" sz="quarter" idx="10"/>
          </p:nvPr>
        </p:nvSpPr>
        <p:spPr>
          <a:xfrm>
            <a:off x="1183984" y="4654785"/>
            <a:ext cx="6776032" cy="359395"/>
          </a:xfrm>
        </p:spPr>
        <p:txBody>
          <a:bodyPr lIns="91440" tIns="45720" rIns="91440" bIns="45720" anchor="t"/>
          <a:lstStyle/>
          <a:p>
            <a:r>
              <a:rPr lang="en-US" dirty="0"/>
              <a:t>19</a:t>
            </a:r>
            <a:r>
              <a:rPr lang="en-US" baseline="30000" dirty="0"/>
              <a:t>th</a:t>
            </a:r>
            <a:r>
              <a:rPr lang="en-US" dirty="0"/>
              <a:t> October 2026</a:t>
            </a:r>
          </a:p>
        </p:txBody>
      </p:sp>
    </p:spTree>
    <p:extLst>
      <p:ext uri="{BB962C8B-B14F-4D97-AF65-F5344CB8AC3E}">
        <p14:creationId xmlns:p14="http://schemas.microsoft.com/office/powerpoint/2010/main" val="782886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B73A1-687B-ECEB-9C90-D25B0D04A8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D02EF0-530B-67AB-C810-029A77E4D069}"/>
              </a:ext>
            </a:extLst>
          </p:cNvPr>
          <p:cNvSpPr>
            <a:spLocks noGrp="1"/>
          </p:cNvSpPr>
          <p:nvPr>
            <p:ph type="title"/>
          </p:nvPr>
        </p:nvSpPr>
        <p:spPr>
          <a:xfrm>
            <a:off x="467544" y="692696"/>
            <a:ext cx="8136904" cy="720080"/>
          </a:xfrm>
        </p:spPr>
        <p:txBody>
          <a:bodyPr/>
          <a:lstStyle/>
          <a:p>
            <a:r>
              <a:rPr lang="en-US" dirty="0"/>
              <a:t>Lecture Outline</a:t>
            </a:r>
          </a:p>
        </p:txBody>
      </p:sp>
      <p:sp>
        <p:nvSpPr>
          <p:cNvPr id="3" name="Text Placeholder 2">
            <a:extLst>
              <a:ext uri="{FF2B5EF4-FFF2-40B4-BE49-F238E27FC236}">
                <a16:creationId xmlns:a16="http://schemas.microsoft.com/office/drawing/2014/main" id="{5F38D5BB-98ED-13B1-ECCE-B15BFF994E1B}"/>
              </a:ext>
            </a:extLst>
          </p:cNvPr>
          <p:cNvSpPr>
            <a:spLocks noGrp="1"/>
          </p:cNvSpPr>
          <p:nvPr>
            <p:ph type="body" sz="quarter" idx="10"/>
          </p:nvPr>
        </p:nvSpPr>
        <p:spPr>
          <a:xfrm>
            <a:off x="467544" y="1556792"/>
            <a:ext cx="8135937" cy="4681091"/>
          </a:xfrm>
        </p:spPr>
        <p:txBody>
          <a:bodyPr/>
          <a:lstStyle/>
          <a:p>
            <a:r>
              <a:rPr lang="en-US" dirty="0"/>
              <a:t>By the end of this lecture, you will be able to</a:t>
            </a:r>
          </a:p>
          <a:p>
            <a:pPr lvl="1"/>
            <a:r>
              <a:rPr lang="en-US" dirty="0"/>
              <a:t>Identify different types of Unsupervised Learning tasks</a:t>
            </a:r>
          </a:p>
          <a:p>
            <a:pPr lvl="1"/>
            <a:r>
              <a:rPr lang="en-US" dirty="0"/>
              <a:t>Understand various Unsupervised Learning algorithms</a:t>
            </a:r>
          </a:p>
          <a:p>
            <a:pPr lvl="2"/>
            <a:r>
              <a:rPr lang="en-US" dirty="0"/>
              <a:t>K-Means</a:t>
            </a:r>
          </a:p>
          <a:p>
            <a:pPr lvl="2"/>
            <a:r>
              <a:rPr lang="en-US" dirty="0"/>
              <a:t>DBSCAN</a:t>
            </a:r>
          </a:p>
          <a:p>
            <a:pPr lvl="2"/>
            <a:r>
              <a:rPr lang="en-US" dirty="0"/>
              <a:t>Gaussian Mixture Models</a:t>
            </a:r>
          </a:p>
          <a:p>
            <a:pPr lvl="2"/>
            <a:r>
              <a:rPr lang="en-US" dirty="0"/>
              <a:t>And variants</a:t>
            </a:r>
          </a:p>
          <a:p>
            <a:pPr marL="914400" lvl="2" indent="0">
              <a:buNone/>
            </a:pPr>
            <a:endParaRPr lang="en-US" dirty="0"/>
          </a:p>
          <a:p>
            <a:pPr lvl="1"/>
            <a:endParaRPr lang="en-US" dirty="0"/>
          </a:p>
          <a:p>
            <a:pPr lvl="2"/>
            <a:endParaRPr lang="en-US" dirty="0"/>
          </a:p>
        </p:txBody>
      </p:sp>
    </p:spTree>
    <p:extLst>
      <p:ext uri="{BB962C8B-B14F-4D97-AF65-F5344CB8AC3E}">
        <p14:creationId xmlns:p14="http://schemas.microsoft.com/office/powerpoint/2010/main" val="4206354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96536-F7E8-611F-2220-9BC244149FEE}"/>
              </a:ext>
            </a:extLst>
          </p:cNvPr>
          <p:cNvSpPr>
            <a:spLocks noGrp="1"/>
          </p:cNvSpPr>
          <p:nvPr>
            <p:ph type="title"/>
          </p:nvPr>
        </p:nvSpPr>
        <p:spPr/>
        <p:txBody>
          <a:bodyPr/>
          <a:lstStyle/>
          <a:p>
            <a:r>
              <a:rPr lang="en-US" dirty="0"/>
              <a:t>Unsupervised Learning</a:t>
            </a:r>
          </a:p>
        </p:txBody>
      </p:sp>
      <p:sp>
        <p:nvSpPr>
          <p:cNvPr id="4" name="Content Placeholder 2">
            <a:extLst>
              <a:ext uri="{FF2B5EF4-FFF2-40B4-BE49-F238E27FC236}">
                <a16:creationId xmlns:a16="http://schemas.microsoft.com/office/drawing/2014/main" id="{1BF6464F-25E7-067F-6324-48E27747EFD7}"/>
              </a:ext>
            </a:extLst>
          </p:cNvPr>
          <p:cNvSpPr txBox="1">
            <a:spLocks/>
          </p:cNvSpPr>
          <p:nvPr/>
        </p:nvSpPr>
        <p:spPr>
          <a:xfrm>
            <a:off x="482601" y="1628800"/>
            <a:ext cx="8058677" cy="2584316"/>
          </a:xfrm>
          <a:prstGeom prst="rect">
            <a:avLst/>
          </a:prstGeom>
        </p:spPr>
        <p:txBody>
          <a:bodyPr anchor="ctr">
            <a:norm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kern="1200">
                <a:solidFill>
                  <a:srgbClr val="495961"/>
                </a:solidFill>
                <a:latin typeface="+mn-lt"/>
                <a:ea typeface="+mn-ea"/>
                <a:cs typeface="+mn-cs"/>
              </a:defRPr>
            </a:lvl1pPr>
            <a:lvl2pPr marL="742950" indent="-285750" algn="l" defTabSz="914400" rtl="0" eaLnBrk="1" latinLnBrk="0" hangingPunct="1">
              <a:spcBef>
                <a:spcPts val="0"/>
              </a:spcBef>
              <a:spcAft>
                <a:spcPts val="1200"/>
              </a:spcAft>
              <a:buFont typeface="Arial" panose="020B0604020202020204" pitchFamily="34" charset="0"/>
              <a:buChar char="–"/>
              <a:defRPr sz="1800" kern="1200">
                <a:solidFill>
                  <a:srgbClr val="495961"/>
                </a:solidFill>
                <a:latin typeface="+mn-lt"/>
                <a:ea typeface="+mn-ea"/>
                <a:cs typeface="+mn-cs"/>
              </a:defRPr>
            </a:lvl2pPr>
            <a:lvl3pPr marL="1143000" indent="-228600" algn="l" defTabSz="914400" rtl="0" eaLnBrk="1" latinLnBrk="0" hangingPunct="1">
              <a:spcBef>
                <a:spcPts val="0"/>
              </a:spcBef>
              <a:spcAft>
                <a:spcPts val="1200"/>
              </a:spcAft>
              <a:buFont typeface="Arial" panose="020B0604020202020204" pitchFamily="34" charset="0"/>
              <a:buChar char="•"/>
              <a:defRPr sz="1800" kern="1200">
                <a:solidFill>
                  <a:srgbClr val="495961"/>
                </a:solidFill>
                <a:latin typeface="+mn-lt"/>
                <a:ea typeface="+mn-ea"/>
                <a:cs typeface="+mn-cs"/>
              </a:defRPr>
            </a:lvl3pPr>
            <a:lvl4pPr marL="1600200" indent="-228600" algn="l" defTabSz="914400" rtl="0" eaLnBrk="1" latinLnBrk="0" hangingPunct="1">
              <a:spcBef>
                <a:spcPts val="0"/>
              </a:spcBef>
              <a:spcAft>
                <a:spcPts val="1200"/>
              </a:spcAft>
              <a:buFont typeface="Arial" panose="020B0604020202020204" pitchFamily="34" charset="0"/>
              <a:buChar char="–"/>
              <a:defRPr sz="1600" kern="1200">
                <a:solidFill>
                  <a:srgbClr val="495961"/>
                </a:solidFill>
                <a:latin typeface="+mn-lt"/>
                <a:ea typeface="+mn-ea"/>
                <a:cs typeface="+mn-cs"/>
              </a:defRPr>
            </a:lvl4pPr>
            <a:lvl5pPr marL="2057400" indent="-228600" algn="l" defTabSz="914400" rtl="0" eaLnBrk="1" latinLnBrk="0" hangingPunct="1">
              <a:spcBef>
                <a:spcPts val="0"/>
              </a:spcBef>
              <a:spcAft>
                <a:spcPts val="1200"/>
              </a:spcAft>
              <a:buFont typeface="Arial" panose="020B0604020202020204" pitchFamily="34" charset="0"/>
              <a:buChar char="»"/>
              <a:defRPr sz="1400" kern="1200">
                <a:solidFill>
                  <a:srgbClr val="49596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indent="-457200"/>
            <a:r>
              <a:rPr lang="en-US" dirty="0"/>
              <a:t>What happens when there are no labels?</a:t>
            </a:r>
          </a:p>
          <a:p>
            <a:pPr marL="457200" indent="-457200"/>
            <a:r>
              <a:rPr lang="en-US" dirty="0"/>
              <a:t>Unsupervised Learning discovers patterns, structures or groupings in the data</a:t>
            </a:r>
          </a:p>
          <a:p>
            <a:pPr marL="1143000" lvl="1" indent="-457200"/>
            <a:endParaRPr lang="en-US" dirty="0"/>
          </a:p>
          <a:p>
            <a:pPr marL="457200" indent="-457200"/>
            <a:endParaRPr lang="en-US" dirty="0"/>
          </a:p>
        </p:txBody>
      </p:sp>
      <p:grpSp>
        <p:nvGrpSpPr>
          <p:cNvPr id="18" name="Group 17">
            <a:extLst>
              <a:ext uri="{FF2B5EF4-FFF2-40B4-BE49-F238E27FC236}">
                <a16:creationId xmlns:a16="http://schemas.microsoft.com/office/drawing/2014/main" id="{A348F5D4-C5C3-FE78-9E52-CD487003C625}"/>
              </a:ext>
            </a:extLst>
          </p:cNvPr>
          <p:cNvGrpSpPr/>
          <p:nvPr/>
        </p:nvGrpSpPr>
        <p:grpSpPr>
          <a:xfrm>
            <a:off x="264911" y="3498746"/>
            <a:ext cx="3758007" cy="2131658"/>
            <a:chOff x="1202409" y="3550607"/>
            <a:chExt cx="3758007" cy="2131658"/>
          </a:xfrm>
        </p:grpSpPr>
        <p:pic>
          <p:nvPicPr>
            <p:cNvPr id="5" name="Picture 4">
              <a:extLst>
                <a:ext uri="{FF2B5EF4-FFF2-40B4-BE49-F238E27FC236}">
                  <a16:creationId xmlns:a16="http://schemas.microsoft.com/office/drawing/2014/main" id="{03D3C052-F351-6A28-418A-951B1DA9B504}"/>
                </a:ext>
              </a:extLst>
            </p:cNvPr>
            <p:cNvPicPr>
              <a:picLocks noChangeAspect="1"/>
            </p:cNvPicPr>
            <p:nvPr/>
          </p:nvPicPr>
          <p:blipFill>
            <a:blip r:embed="rId2"/>
            <a:stretch>
              <a:fillRect/>
            </a:stretch>
          </p:blipFill>
          <p:spPr>
            <a:xfrm>
              <a:off x="1202409" y="3550607"/>
              <a:ext cx="930017" cy="930017"/>
            </a:xfrm>
            <a:prstGeom prst="rect">
              <a:avLst/>
            </a:prstGeom>
          </p:spPr>
        </p:pic>
        <p:pic>
          <p:nvPicPr>
            <p:cNvPr id="6" name="Picture 5">
              <a:extLst>
                <a:ext uri="{FF2B5EF4-FFF2-40B4-BE49-F238E27FC236}">
                  <a16:creationId xmlns:a16="http://schemas.microsoft.com/office/drawing/2014/main" id="{8D8A0775-1D32-E57A-D3C9-DECA2800B776}"/>
                </a:ext>
              </a:extLst>
            </p:cNvPr>
            <p:cNvPicPr>
              <a:picLocks noChangeAspect="1"/>
            </p:cNvPicPr>
            <p:nvPr/>
          </p:nvPicPr>
          <p:blipFill>
            <a:blip r:embed="rId3"/>
            <a:stretch>
              <a:fillRect/>
            </a:stretch>
          </p:blipFill>
          <p:spPr>
            <a:xfrm>
              <a:off x="2132426" y="3629689"/>
              <a:ext cx="1123674" cy="1123674"/>
            </a:xfrm>
            <a:prstGeom prst="rect">
              <a:avLst/>
            </a:prstGeom>
          </p:spPr>
        </p:pic>
        <p:pic>
          <p:nvPicPr>
            <p:cNvPr id="7" name="Picture 6">
              <a:extLst>
                <a:ext uri="{FF2B5EF4-FFF2-40B4-BE49-F238E27FC236}">
                  <a16:creationId xmlns:a16="http://schemas.microsoft.com/office/drawing/2014/main" id="{631EE092-42E0-2A60-816E-23A61A8A2D19}"/>
                </a:ext>
              </a:extLst>
            </p:cNvPr>
            <p:cNvPicPr>
              <a:picLocks noChangeAspect="1"/>
            </p:cNvPicPr>
            <p:nvPr/>
          </p:nvPicPr>
          <p:blipFill>
            <a:blip r:embed="rId4"/>
            <a:stretch>
              <a:fillRect/>
            </a:stretch>
          </p:blipFill>
          <p:spPr>
            <a:xfrm>
              <a:off x="2297269" y="4688891"/>
              <a:ext cx="993374" cy="993374"/>
            </a:xfrm>
            <a:prstGeom prst="rect">
              <a:avLst/>
            </a:prstGeom>
          </p:spPr>
        </p:pic>
        <p:pic>
          <p:nvPicPr>
            <p:cNvPr id="8" name="Picture 7">
              <a:extLst>
                <a:ext uri="{FF2B5EF4-FFF2-40B4-BE49-F238E27FC236}">
                  <a16:creationId xmlns:a16="http://schemas.microsoft.com/office/drawing/2014/main" id="{CC65DB72-A18E-9CD3-ABC9-DA940A74DDCB}"/>
                </a:ext>
              </a:extLst>
            </p:cNvPr>
            <p:cNvPicPr>
              <a:picLocks noChangeAspect="1"/>
            </p:cNvPicPr>
            <p:nvPr/>
          </p:nvPicPr>
          <p:blipFill>
            <a:blip r:embed="rId5"/>
            <a:stretch>
              <a:fillRect/>
            </a:stretch>
          </p:blipFill>
          <p:spPr>
            <a:xfrm>
              <a:off x="1208138" y="4480624"/>
              <a:ext cx="1123674" cy="1123674"/>
            </a:xfrm>
            <a:prstGeom prst="rect">
              <a:avLst/>
            </a:prstGeom>
          </p:spPr>
        </p:pic>
        <p:pic>
          <p:nvPicPr>
            <p:cNvPr id="9" name="Picture 8">
              <a:extLst>
                <a:ext uri="{FF2B5EF4-FFF2-40B4-BE49-F238E27FC236}">
                  <a16:creationId xmlns:a16="http://schemas.microsoft.com/office/drawing/2014/main" id="{53FC2BAA-EA68-2256-21EF-9D3CC5EB8AB1}"/>
                </a:ext>
              </a:extLst>
            </p:cNvPr>
            <p:cNvPicPr>
              <a:picLocks noChangeAspect="1"/>
            </p:cNvPicPr>
            <p:nvPr/>
          </p:nvPicPr>
          <p:blipFill>
            <a:blip r:embed="rId6"/>
            <a:stretch>
              <a:fillRect/>
            </a:stretch>
          </p:blipFill>
          <p:spPr>
            <a:xfrm>
              <a:off x="3193647" y="3550607"/>
              <a:ext cx="1303245" cy="1307476"/>
            </a:xfrm>
            <a:prstGeom prst="rect">
              <a:avLst/>
            </a:prstGeom>
          </p:spPr>
        </p:pic>
        <p:pic>
          <p:nvPicPr>
            <p:cNvPr id="10" name="Picture 2" descr="Birding Resources">
              <a:extLst>
                <a:ext uri="{FF2B5EF4-FFF2-40B4-BE49-F238E27FC236}">
                  <a16:creationId xmlns:a16="http://schemas.microsoft.com/office/drawing/2014/main" id="{76B1F373-A90B-BFFB-CC41-94E779684AB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5454" y="4423751"/>
              <a:ext cx="1684962" cy="1158411"/>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Right Arrow 10">
            <a:extLst>
              <a:ext uri="{FF2B5EF4-FFF2-40B4-BE49-F238E27FC236}">
                <a16:creationId xmlns:a16="http://schemas.microsoft.com/office/drawing/2014/main" id="{FD00C437-E8B7-985A-A62F-AA84672B0DC6}"/>
              </a:ext>
            </a:extLst>
          </p:cNvPr>
          <p:cNvSpPr/>
          <p:nvPr/>
        </p:nvSpPr>
        <p:spPr>
          <a:xfrm>
            <a:off x="4272268" y="4154513"/>
            <a:ext cx="799834" cy="4382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1DFDC012-C936-C696-7850-4C1E03B21B6D}"/>
              </a:ext>
            </a:extLst>
          </p:cNvPr>
          <p:cNvGrpSpPr/>
          <p:nvPr/>
        </p:nvGrpSpPr>
        <p:grpSpPr>
          <a:xfrm>
            <a:off x="5099910" y="4800217"/>
            <a:ext cx="1979633" cy="1809354"/>
            <a:chOff x="5268690" y="3986017"/>
            <a:chExt cx="1979633" cy="1809354"/>
          </a:xfrm>
        </p:grpSpPr>
        <p:pic>
          <p:nvPicPr>
            <p:cNvPr id="12" name="Picture 11">
              <a:extLst>
                <a:ext uri="{FF2B5EF4-FFF2-40B4-BE49-F238E27FC236}">
                  <a16:creationId xmlns:a16="http://schemas.microsoft.com/office/drawing/2014/main" id="{2BB27397-1A4D-5AB4-6BE4-40EE67A086C5}"/>
                </a:ext>
              </a:extLst>
            </p:cNvPr>
            <p:cNvPicPr>
              <a:picLocks noChangeAspect="1"/>
            </p:cNvPicPr>
            <p:nvPr/>
          </p:nvPicPr>
          <p:blipFill>
            <a:blip r:embed="rId2"/>
            <a:stretch>
              <a:fillRect/>
            </a:stretch>
          </p:blipFill>
          <p:spPr>
            <a:xfrm>
              <a:off x="5268690" y="3986017"/>
              <a:ext cx="930017" cy="930017"/>
            </a:xfrm>
            <a:prstGeom prst="rect">
              <a:avLst/>
            </a:prstGeom>
          </p:spPr>
        </p:pic>
        <p:pic>
          <p:nvPicPr>
            <p:cNvPr id="13" name="Picture 12">
              <a:extLst>
                <a:ext uri="{FF2B5EF4-FFF2-40B4-BE49-F238E27FC236}">
                  <a16:creationId xmlns:a16="http://schemas.microsoft.com/office/drawing/2014/main" id="{657DD721-3680-FAB2-8276-A66E8380187D}"/>
                </a:ext>
              </a:extLst>
            </p:cNvPr>
            <p:cNvPicPr>
              <a:picLocks noChangeAspect="1"/>
            </p:cNvPicPr>
            <p:nvPr/>
          </p:nvPicPr>
          <p:blipFill>
            <a:blip r:embed="rId4"/>
            <a:stretch>
              <a:fillRect/>
            </a:stretch>
          </p:blipFill>
          <p:spPr>
            <a:xfrm>
              <a:off x="5667061" y="4801997"/>
              <a:ext cx="993374" cy="993374"/>
            </a:xfrm>
            <a:prstGeom prst="rect">
              <a:avLst/>
            </a:prstGeom>
          </p:spPr>
        </p:pic>
        <p:pic>
          <p:nvPicPr>
            <p:cNvPr id="14" name="Picture 2" descr="Birding Resources">
              <a:extLst>
                <a:ext uri="{FF2B5EF4-FFF2-40B4-BE49-F238E27FC236}">
                  <a16:creationId xmlns:a16="http://schemas.microsoft.com/office/drawing/2014/main" id="{0B2DE4AE-6813-BFCE-F9A6-018875E16D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82348" y="4050221"/>
              <a:ext cx="1165975" cy="80160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 name="Group 19">
            <a:extLst>
              <a:ext uri="{FF2B5EF4-FFF2-40B4-BE49-F238E27FC236}">
                <a16:creationId xmlns:a16="http://schemas.microsoft.com/office/drawing/2014/main" id="{CC48EFAC-03B1-7381-FC70-9A2A2276E2F2}"/>
              </a:ext>
            </a:extLst>
          </p:cNvPr>
          <p:cNvGrpSpPr/>
          <p:nvPr/>
        </p:nvGrpSpPr>
        <p:grpSpPr>
          <a:xfrm>
            <a:off x="6165065" y="2997926"/>
            <a:ext cx="2346921" cy="1536672"/>
            <a:chOff x="7625679" y="2787221"/>
            <a:chExt cx="2346921" cy="1536672"/>
          </a:xfrm>
        </p:grpSpPr>
        <p:pic>
          <p:nvPicPr>
            <p:cNvPr id="15" name="Picture 14">
              <a:extLst>
                <a:ext uri="{FF2B5EF4-FFF2-40B4-BE49-F238E27FC236}">
                  <a16:creationId xmlns:a16="http://schemas.microsoft.com/office/drawing/2014/main" id="{BEEDE829-C309-C490-F3C3-7B747DF126AC}"/>
                </a:ext>
              </a:extLst>
            </p:cNvPr>
            <p:cNvPicPr>
              <a:picLocks noChangeAspect="1"/>
            </p:cNvPicPr>
            <p:nvPr/>
          </p:nvPicPr>
          <p:blipFill>
            <a:blip r:embed="rId5"/>
            <a:stretch>
              <a:fillRect/>
            </a:stretch>
          </p:blipFill>
          <p:spPr>
            <a:xfrm>
              <a:off x="7625679" y="3200219"/>
              <a:ext cx="1123674" cy="1123674"/>
            </a:xfrm>
            <a:prstGeom prst="rect">
              <a:avLst/>
            </a:prstGeom>
          </p:spPr>
        </p:pic>
        <p:pic>
          <p:nvPicPr>
            <p:cNvPr id="16" name="Picture 15">
              <a:extLst>
                <a:ext uri="{FF2B5EF4-FFF2-40B4-BE49-F238E27FC236}">
                  <a16:creationId xmlns:a16="http://schemas.microsoft.com/office/drawing/2014/main" id="{17F481A6-61F9-B917-B97A-E96739A650DC}"/>
                </a:ext>
              </a:extLst>
            </p:cNvPr>
            <p:cNvPicPr>
              <a:picLocks noChangeAspect="1"/>
            </p:cNvPicPr>
            <p:nvPr/>
          </p:nvPicPr>
          <p:blipFill>
            <a:blip r:embed="rId6"/>
            <a:stretch>
              <a:fillRect/>
            </a:stretch>
          </p:blipFill>
          <p:spPr>
            <a:xfrm>
              <a:off x="8669355" y="2787221"/>
              <a:ext cx="1303245" cy="1307476"/>
            </a:xfrm>
            <a:prstGeom prst="rect">
              <a:avLst/>
            </a:prstGeom>
          </p:spPr>
        </p:pic>
      </p:grpSp>
      <p:pic>
        <p:nvPicPr>
          <p:cNvPr id="17" name="Picture 16">
            <a:extLst>
              <a:ext uri="{FF2B5EF4-FFF2-40B4-BE49-F238E27FC236}">
                <a16:creationId xmlns:a16="http://schemas.microsoft.com/office/drawing/2014/main" id="{7D7B8426-991D-122C-E50D-62BAE940F22E}"/>
              </a:ext>
            </a:extLst>
          </p:cNvPr>
          <p:cNvPicPr>
            <a:picLocks noChangeAspect="1"/>
          </p:cNvPicPr>
          <p:nvPr/>
        </p:nvPicPr>
        <p:blipFill>
          <a:blip r:embed="rId3"/>
          <a:stretch>
            <a:fillRect/>
          </a:stretch>
        </p:blipFill>
        <p:spPr>
          <a:xfrm>
            <a:off x="7784229" y="4804442"/>
            <a:ext cx="1123674" cy="1123674"/>
          </a:xfrm>
          <a:prstGeom prst="rect">
            <a:avLst/>
          </a:prstGeom>
        </p:spPr>
      </p:pic>
    </p:spTree>
    <p:extLst>
      <p:ext uri="{BB962C8B-B14F-4D97-AF65-F5344CB8AC3E}">
        <p14:creationId xmlns:p14="http://schemas.microsoft.com/office/powerpoint/2010/main" val="114215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ppt_x</p:attrName>
                                        </p:attrNameLst>
                                      </p:cBhvr>
                                      <p:tavLst>
                                        <p:tav tm="0">
                                          <p:val>
                                            <p:strVal val="#ppt_x-#ppt_w*1.125000"/>
                                          </p:val>
                                        </p:tav>
                                        <p:tav tm="100000">
                                          <p:val>
                                            <p:strVal val="#ppt_x"/>
                                          </p:val>
                                        </p:tav>
                                      </p:tavLst>
                                    </p:anim>
                                    <p:animEffect transition="in" filter="wipe(right)">
                                      <p:cBhvr>
                                        <p:cTn id="20" dur="500"/>
                                        <p:tgtEl>
                                          <p:spTgt spid="20"/>
                                        </p:tgtEl>
                                      </p:cBhvr>
                                    </p:animEffect>
                                  </p:childTnLst>
                                </p:cTn>
                              </p:par>
                              <p:par>
                                <p:cTn id="21" presetID="12" presetClass="entr" presetSubtype="8"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p:tgtEl>
                                          <p:spTgt spid="19"/>
                                        </p:tgtEl>
                                        <p:attrNameLst>
                                          <p:attrName>ppt_x</p:attrName>
                                        </p:attrNameLst>
                                      </p:cBhvr>
                                      <p:tavLst>
                                        <p:tav tm="0">
                                          <p:val>
                                            <p:strVal val="#ppt_x-#ppt_w*1.125000"/>
                                          </p:val>
                                        </p:tav>
                                        <p:tav tm="100000">
                                          <p:val>
                                            <p:strVal val="#ppt_x"/>
                                          </p:val>
                                        </p:tav>
                                      </p:tavLst>
                                    </p:anim>
                                    <p:animEffect transition="in" filter="wipe(right)">
                                      <p:cBhvr>
                                        <p:cTn id="24" dur="500"/>
                                        <p:tgtEl>
                                          <p:spTgt spid="19"/>
                                        </p:tgtEl>
                                      </p:cBhvr>
                                    </p:animEffect>
                                  </p:childTnLst>
                                </p:cTn>
                              </p:par>
                              <p:par>
                                <p:cTn id="25" presetID="12" presetClass="entr" presetSubtype="8"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p:tgtEl>
                                          <p:spTgt spid="17"/>
                                        </p:tgtEl>
                                        <p:attrNameLst>
                                          <p:attrName>ppt_x</p:attrName>
                                        </p:attrNameLst>
                                      </p:cBhvr>
                                      <p:tavLst>
                                        <p:tav tm="0">
                                          <p:val>
                                            <p:strVal val="#ppt_x-#ppt_w*1.125000"/>
                                          </p:val>
                                        </p:tav>
                                        <p:tav tm="100000">
                                          <p:val>
                                            <p:strVal val="#ppt_x"/>
                                          </p:val>
                                        </p:tav>
                                      </p:tavLst>
                                    </p:anim>
                                    <p:animEffect transition="in" filter="wipe(right)">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008D8-7D4C-3D34-2458-0C02CF79D9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C9383E-E455-A87D-F51D-FEE64B298814}"/>
              </a:ext>
            </a:extLst>
          </p:cNvPr>
          <p:cNvSpPr>
            <a:spLocks noGrp="1"/>
          </p:cNvSpPr>
          <p:nvPr>
            <p:ph type="title"/>
          </p:nvPr>
        </p:nvSpPr>
        <p:spPr>
          <a:xfrm>
            <a:off x="467544" y="404664"/>
            <a:ext cx="8136904" cy="648072"/>
          </a:xfrm>
        </p:spPr>
        <p:txBody>
          <a:bodyPr/>
          <a:lstStyle/>
          <a:p>
            <a:r>
              <a:rPr lang="en-US" dirty="0"/>
              <a:t>Unsupervised Learning Tasks</a:t>
            </a:r>
          </a:p>
        </p:txBody>
      </p:sp>
      <p:sp>
        <p:nvSpPr>
          <p:cNvPr id="3" name="Text Placeholder 2">
            <a:extLst>
              <a:ext uri="{FF2B5EF4-FFF2-40B4-BE49-F238E27FC236}">
                <a16:creationId xmlns:a16="http://schemas.microsoft.com/office/drawing/2014/main" id="{2371FAA9-1AE9-3BCD-EC0B-951A50FB573D}"/>
              </a:ext>
            </a:extLst>
          </p:cNvPr>
          <p:cNvSpPr>
            <a:spLocks noGrp="1"/>
          </p:cNvSpPr>
          <p:nvPr>
            <p:ph type="body" sz="quarter" idx="10"/>
          </p:nvPr>
        </p:nvSpPr>
        <p:spPr>
          <a:xfrm>
            <a:off x="467544" y="1124173"/>
            <a:ext cx="8135937" cy="5113139"/>
          </a:xfrm>
        </p:spPr>
        <p:txBody>
          <a:bodyPr/>
          <a:lstStyle/>
          <a:p>
            <a:r>
              <a:rPr lang="en-US" dirty="0"/>
              <a:t>Unsupervised Learning</a:t>
            </a:r>
          </a:p>
          <a:p>
            <a:pPr lvl="1"/>
            <a:r>
              <a:rPr lang="en-US" dirty="0"/>
              <a:t>Learning from unlabeled data</a:t>
            </a:r>
          </a:p>
          <a:p>
            <a:r>
              <a:rPr lang="en-US" dirty="0"/>
              <a:t>Types of Unsupervised Learning Tasks</a:t>
            </a:r>
          </a:p>
          <a:p>
            <a:pPr lvl="1"/>
            <a:r>
              <a:rPr lang="en-US" dirty="0"/>
              <a:t>Clustering – </a:t>
            </a:r>
            <a:r>
              <a:rPr lang="en-GB" dirty="0"/>
              <a:t>group similar instances together into </a:t>
            </a:r>
            <a:r>
              <a:rPr lang="en-GB" i="1" dirty="0"/>
              <a:t>clusters</a:t>
            </a:r>
          </a:p>
          <a:p>
            <a:pPr lvl="2"/>
            <a:r>
              <a:rPr lang="en-US" dirty="0"/>
              <a:t>Image segmentation; Recommender systems</a:t>
            </a:r>
          </a:p>
          <a:p>
            <a:pPr lvl="1"/>
            <a:r>
              <a:rPr lang="en-US" dirty="0"/>
              <a:t>Anomaly detection – learn what </a:t>
            </a:r>
            <a:r>
              <a:rPr lang="en-US" i="1" dirty="0"/>
              <a:t>normal</a:t>
            </a:r>
            <a:r>
              <a:rPr lang="en-US" dirty="0"/>
              <a:t> data looks like and</a:t>
            </a:r>
            <a:r>
              <a:rPr lang="en-GB" dirty="0"/>
              <a:t> then use that to detect </a:t>
            </a:r>
            <a:r>
              <a:rPr lang="en-GB" i="1" dirty="0"/>
              <a:t>abnormal</a:t>
            </a:r>
            <a:r>
              <a:rPr lang="en-GB" dirty="0"/>
              <a:t> instances</a:t>
            </a:r>
          </a:p>
          <a:p>
            <a:pPr lvl="2"/>
            <a:r>
              <a:rPr lang="en-GB" dirty="0"/>
              <a:t>Detecting defective items on a production line; new trend in a time series.</a:t>
            </a:r>
          </a:p>
          <a:p>
            <a:pPr lvl="1"/>
            <a:r>
              <a:rPr lang="en-GB" dirty="0"/>
              <a:t>Topic modelling – Uncovering abstract topics in documents</a:t>
            </a:r>
          </a:p>
          <a:p>
            <a:pPr lvl="2"/>
            <a:r>
              <a:rPr lang="en-GB" dirty="0"/>
              <a:t>Text mining; document classification</a:t>
            </a:r>
            <a:endParaRPr lang="en-US" dirty="0"/>
          </a:p>
          <a:p>
            <a:pPr lvl="2"/>
            <a:endParaRPr lang="en-US" b="1" dirty="0"/>
          </a:p>
          <a:p>
            <a:endParaRPr lang="en-US" dirty="0"/>
          </a:p>
        </p:txBody>
      </p:sp>
    </p:spTree>
    <p:extLst>
      <p:ext uri="{BB962C8B-B14F-4D97-AF65-F5344CB8AC3E}">
        <p14:creationId xmlns:p14="http://schemas.microsoft.com/office/powerpoint/2010/main" val="1547954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A8060-710F-5054-8AB3-229F6B86B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053D04-27B3-9AD1-AA4C-54AC65A4DB0A}"/>
              </a:ext>
            </a:extLst>
          </p:cNvPr>
          <p:cNvSpPr>
            <a:spLocks noGrp="1"/>
          </p:cNvSpPr>
          <p:nvPr>
            <p:ph type="title"/>
          </p:nvPr>
        </p:nvSpPr>
        <p:spPr>
          <a:xfrm>
            <a:off x="467544" y="548680"/>
            <a:ext cx="8136904" cy="648072"/>
          </a:xfrm>
        </p:spPr>
        <p:txBody>
          <a:bodyPr/>
          <a:lstStyle/>
          <a:p>
            <a:r>
              <a:rPr lang="en-US" dirty="0"/>
              <a:t>Clustering</a:t>
            </a:r>
          </a:p>
        </p:txBody>
      </p:sp>
      <p:sp>
        <p:nvSpPr>
          <p:cNvPr id="3" name="Text Placeholder 2">
            <a:extLst>
              <a:ext uri="{FF2B5EF4-FFF2-40B4-BE49-F238E27FC236}">
                <a16:creationId xmlns:a16="http://schemas.microsoft.com/office/drawing/2014/main" id="{32F0DFD9-0FBC-9203-31DD-4380223C8A70}"/>
              </a:ext>
            </a:extLst>
          </p:cNvPr>
          <p:cNvSpPr>
            <a:spLocks noGrp="1"/>
          </p:cNvSpPr>
          <p:nvPr>
            <p:ph type="body" sz="quarter" idx="10"/>
          </p:nvPr>
        </p:nvSpPr>
        <p:spPr>
          <a:xfrm>
            <a:off x="467544" y="1340768"/>
            <a:ext cx="8135937" cy="4896544"/>
          </a:xfrm>
        </p:spPr>
        <p:txBody>
          <a:bodyPr/>
          <a:lstStyle/>
          <a:p>
            <a:r>
              <a:rPr lang="en-GB" dirty="0"/>
              <a:t>Each instance in a dataset gets assigned to a group based on the features, but in an unsupervised fashion – without the guidance of labels.</a:t>
            </a:r>
            <a:endParaRPr lang="en-US" dirty="0"/>
          </a:p>
          <a:p>
            <a:endParaRPr lang="en-US" dirty="0"/>
          </a:p>
        </p:txBody>
      </p:sp>
      <p:pic>
        <p:nvPicPr>
          <p:cNvPr id="5" name="Picture 4" descr="A graph of different sizes and colors&#10;&#10;AI-generated content may be incorrect.">
            <a:extLst>
              <a:ext uri="{FF2B5EF4-FFF2-40B4-BE49-F238E27FC236}">
                <a16:creationId xmlns:a16="http://schemas.microsoft.com/office/drawing/2014/main" id="{6F408748-C756-A899-361E-91605FE38FAE}"/>
              </a:ext>
            </a:extLst>
          </p:cNvPr>
          <p:cNvPicPr>
            <a:picLocks noChangeAspect="1"/>
          </p:cNvPicPr>
          <p:nvPr/>
        </p:nvPicPr>
        <p:blipFill>
          <a:blip r:embed="rId3">
            <a:extLst>
              <a:ext uri="{28A0092B-C50C-407E-A947-70E740481C1C}">
                <a14:useLocalDpi xmlns:a14="http://schemas.microsoft.com/office/drawing/2010/main" val="0"/>
              </a:ext>
            </a:extLst>
          </a:blip>
          <a:srcRect r="49971"/>
          <a:stretch>
            <a:fillRect/>
          </a:stretch>
        </p:blipFill>
        <p:spPr>
          <a:xfrm>
            <a:off x="2627784" y="2492896"/>
            <a:ext cx="3888432" cy="3022600"/>
          </a:xfrm>
          <a:prstGeom prst="rect">
            <a:avLst/>
          </a:prstGeom>
        </p:spPr>
      </p:pic>
      <p:pic>
        <p:nvPicPr>
          <p:cNvPr id="6" name="Picture 5" descr="A graph of different sizes and colors&#10;&#10;AI-generated content may be incorrect.">
            <a:extLst>
              <a:ext uri="{FF2B5EF4-FFF2-40B4-BE49-F238E27FC236}">
                <a16:creationId xmlns:a16="http://schemas.microsoft.com/office/drawing/2014/main" id="{48CF35C3-6CFD-3B29-4A6E-FE2D4E3B7075}"/>
              </a:ext>
            </a:extLst>
          </p:cNvPr>
          <p:cNvPicPr>
            <a:picLocks noChangeAspect="1"/>
          </p:cNvPicPr>
          <p:nvPr/>
        </p:nvPicPr>
        <p:blipFill>
          <a:blip r:embed="rId3">
            <a:extLst>
              <a:ext uri="{28A0092B-C50C-407E-A947-70E740481C1C}">
                <a14:useLocalDpi xmlns:a14="http://schemas.microsoft.com/office/drawing/2010/main" val="0"/>
              </a:ext>
            </a:extLst>
          </a:blip>
          <a:srcRect l="49971"/>
          <a:stretch>
            <a:fillRect/>
          </a:stretch>
        </p:blipFill>
        <p:spPr>
          <a:xfrm>
            <a:off x="2627784" y="2492896"/>
            <a:ext cx="3888432" cy="3022600"/>
          </a:xfrm>
          <a:prstGeom prst="rect">
            <a:avLst/>
          </a:prstGeom>
        </p:spPr>
      </p:pic>
      <p:sp>
        <p:nvSpPr>
          <p:cNvPr id="7" name="TextBox 6">
            <a:extLst>
              <a:ext uri="{FF2B5EF4-FFF2-40B4-BE49-F238E27FC236}">
                <a16:creationId xmlns:a16="http://schemas.microsoft.com/office/drawing/2014/main" id="{18BB5951-CBAF-5354-6B3B-A6C61F14528E}"/>
              </a:ext>
            </a:extLst>
          </p:cNvPr>
          <p:cNvSpPr txBox="1"/>
          <p:nvPr/>
        </p:nvSpPr>
        <p:spPr>
          <a:xfrm>
            <a:off x="3846481" y="5589240"/>
            <a:ext cx="1451038" cy="369332"/>
          </a:xfrm>
          <a:prstGeom prst="rect">
            <a:avLst/>
          </a:prstGeom>
          <a:noFill/>
        </p:spPr>
        <p:txBody>
          <a:bodyPr wrap="none" rtlCol="0">
            <a:spAutoFit/>
          </a:bodyPr>
          <a:lstStyle/>
          <a:p>
            <a:r>
              <a:rPr lang="en-US" dirty="0"/>
              <a:t>Iris Dataset</a:t>
            </a:r>
          </a:p>
        </p:txBody>
      </p:sp>
      <p:sp>
        <p:nvSpPr>
          <p:cNvPr id="8" name="TextBox 7">
            <a:extLst>
              <a:ext uri="{FF2B5EF4-FFF2-40B4-BE49-F238E27FC236}">
                <a16:creationId xmlns:a16="http://schemas.microsoft.com/office/drawing/2014/main" id="{4FDAD3B3-D6BC-5145-3A65-D25EF46CD6F5}"/>
              </a:ext>
            </a:extLst>
          </p:cNvPr>
          <p:cNvSpPr txBox="1"/>
          <p:nvPr/>
        </p:nvSpPr>
        <p:spPr>
          <a:xfrm>
            <a:off x="6768244" y="3212976"/>
            <a:ext cx="1835237" cy="1477328"/>
          </a:xfrm>
          <a:prstGeom prst="rect">
            <a:avLst/>
          </a:prstGeom>
          <a:noFill/>
        </p:spPr>
        <p:txBody>
          <a:bodyPr wrap="square" rtlCol="0">
            <a:spAutoFit/>
          </a:bodyPr>
          <a:lstStyle/>
          <a:p>
            <a:pPr marL="285750" indent="-285750">
              <a:buFont typeface="Arial" panose="020B0604020202020204" pitchFamily="34" charset="0"/>
              <a:buChar char="•"/>
            </a:pPr>
            <a:r>
              <a:rPr lang="en-US" i="1" dirty="0"/>
              <a:t>No labels</a:t>
            </a:r>
          </a:p>
          <a:p>
            <a:endParaRPr lang="en-US" i="1" dirty="0"/>
          </a:p>
          <a:p>
            <a:pPr marL="285750" indent="-285750">
              <a:buFont typeface="Arial" panose="020B0604020202020204" pitchFamily="34" charset="0"/>
              <a:buChar char="•"/>
            </a:pPr>
            <a:r>
              <a:rPr lang="en-US" i="1" dirty="0"/>
              <a:t>How many classes are there?</a:t>
            </a:r>
          </a:p>
        </p:txBody>
      </p:sp>
    </p:spTree>
    <p:extLst>
      <p:ext uri="{BB962C8B-B14F-4D97-AF65-F5344CB8AC3E}">
        <p14:creationId xmlns:p14="http://schemas.microsoft.com/office/powerpoint/2010/main" val="2478897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65433-1E13-ED38-F200-5C743D2B07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E80273-422F-AA2A-FC8A-5698EDFE090B}"/>
              </a:ext>
            </a:extLst>
          </p:cNvPr>
          <p:cNvSpPr>
            <a:spLocks noGrp="1"/>
          </p:cNvSpPr>
          <p:nvPr>
            <p:ph type="title"/>
          </p:nvPr>
        </p:nvSpPr>
        <p:spPr>
          <a:xfrm>
            <a:off x="467544" y="620688"/>
            <a:ext cx="8136904" cy="648072"/>
          </a:xfrm>
        </p:spPr>
        <p:txBody>
          <a:bodyPr/>
          <a:lstStyle/>
          <a:p>
            <a:r>
              <a:rPr lang="en-US" dirty="0"/>
              <a:t>K-Means Clustering</a:t>
            </a:r>
          </a:p>
        </p:txBody>
      </p:sp>
      <p:sp>
        <p:nvSpPr>
          <p:cNvPr id="3" name="Text Placeholder 2">
            <a:extLst>
              <a:ext uri="{FF2B5EF4-FFF2-40B4-BE49-F238E27FC236}">
                <a16:creationId xmlns:a16="http://schemas.microsoft.com/office/drawing/2014/main" id="{BC18E4BA-601B-C973-E646-FDDEC55D75F0}"/>
              </a:ext>
            </a:extLst>
          </p:cNvPr>
          <p:cNvSpPr>
            <a:spLocks noGrp="1"/>
          </p:cNvSpPr>
          <p:nvPr>
            <p:ph type="body" sz="quarter" idx="10"/>
          </p:nvPr>
        </p:nvSpPr>
        <p:spPr>
          <a:xfrm>
            <a:off x="467544" y="1412776"/>
            <a:ext cx="8135937" cy="4824536"/>
          </a:xfrm>
        </p:spPr>
        <p:txBody>
          <a:bodyPr/>
          <a:lstStyle/>
          <a:p>
            <a:r>
              <a:rPr lang="en-US" dirty="0"/>
              <a:t>K-Means algorithm </a:t>
            </a:r>
          </a:p>
          <a:p>
            <a:pPr lvl="1"/>
            <a:r>
              <a:rPr lang="en-US" dirty="0"/>
              <a:t>will try to find each cluster’s center and </a:t>
            </a:r>
          </a:p>
          <a:p>
            <a:pPr lvl="1"/>
            <a:r>
              <a:rPr lang="en-US" dirty="0"/>
              <a:t>assigns each instance to the cluster whose center is closest to that instance</a:t>
            </a:r>
          </a:p>
          <a:p>
            <a:endParaRPr lang="en-US" dirty="0"/>
          </a:p>
          <a:p>
            <a:pPr lvl="2"/>
            <a:endParaRPr lang="en-US" b="1" dirty="0"/>
          </a:p>
          <a:p>
            <a:endParaRPr lang="en-US" dirty="0"/>
          </a:p>
        </p:txBody>
      </p:sp>
      <p:pic>
        <p:nvPicPr>
          <p:cNvPr id="2050" name="Picture 2" descr="mls2 0902">
            <a:extLst>
              <a:ext uri="{FF2B5EF4-FFF2-40B4-BE49-F238E27FC236}">
                <a16:creationId xmlns:a16="http://schemas.microsoft.com/office/drawing/2014/main" id="{FD324E23-11FE-3E80-EAED-BEB7126FF6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5496" y="3151896"/>
            <a:ext cx="4860032" cy="2293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25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52B26-818A-5B6B-E76B-1064CFF52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9498C-E3FE-D509-E3F3-6017798093EF}"/>
              </a:ext>
            </a:extLst>
          </p:cNvPr>
          <p:cNvSpPr>
            <a:spLocks noGrp="1"/>
          </p:cNvSpPr>
          <p:nvPr>
            <p:ph type="title"/>
          </p:nvPr>
        </p:nvSpPr>
        <p:spPr>
          <a:xfrm>
            <a:off x="467544" y="620688"/>
            <a:ext cx="8136904" cy="648072"/>
          </a:xfrm>
        </p:spPr>
        <p:txBody>
          <a:bodyPr/>
          <a:lstStyle/>
          <a:p>
            <a:r>
              <a:rPr lang="en-US" dirty="0"/>
              <a:t>K-Means Algorithm</a:t>
            </a:r>
          </a:p>
        </p:txBody>
      </p:sp>
      <p:sp>
        <p:nvSpPr>
          <p:cNvPr id="3" name="Text Placeholder 2">
            <a:extLst>
              <a:ext uri="{FF2B5EF4-FFF2-40B4-BE49-F238E27FC236}">
                <a16:creationId xmlns:a16="http://schemas.microsoft.com/office/drawing/2014/main" id="{C551F45A-283E-400C-ABDC-1B7AFF00FB41}"/>
              </a:ext>
            </a:extLst>
          </p:cNvPr>
          <p:cNvSpPr>
            <a:spLocks noGrp="1"/>
          </p:cNvSpPr>
          <p:nvPr>
            <p:ph type="body" sz="quarter" idx="10"/>
          </p:nvPr>
        </p:nvSpPr>
        <p:spPr>
          <a:xfrm>
            <a:off x="467545" y="1340768"/>
            <a:ext cx="3641253" cy="4824536"/>
          </a:xfrm>
        </p:spPr>
        <p:txBody>
          <a:bodyPr/>
          <a:lstStyle/>
          <a:p>
            <a:r>
              <a:rPr lang="en-US" dirty="0"/>
              <a:t>Where to start?</a:t>
            </a:r>
          </a:p>
          <a:p>
            <a:pPr lvl="1"/>
            <a:r>
              <a:rPr lang="en-US" dirty="0"/>
              <a:t>You don’t have the labels or the locations of the centroids</a:t>
            </a:r>
          </a:p>
          <a:p>
            <a:pPr lvl="1"/>
            <a:r>
              <a:rPr lang="en-US" dirty="0"/>
              <a:t>Just start by placing the centroids randomly</a:t>
            </a:r>
          </a:p>
          <a:p>
            <a:r>
              <a:rPr lang="en-US" dirty="0"/>
              <a:t>Then, iterate</a:t>
            </a:r>
          </a:p>
          <a:p>
            <a:pPr lvl="1"/>
            <a:r>
              <a:rPr lang="en-US" dirty="0"/>
              <a:t>Label the instances based on the centroids </a:t>
            </a:r>
          </a:p>
          <a:p>
            <a:pPr lvl="1"/>
            <a:r>
              <a:rPr lang="en-US" dirty="0"/>
              <a:t>Update the centroids based on the instances</a:t>
            </a:r>
          </a:p>
          <a:p>
            <a:pPr lvl="1"/>
            <a:r>
              <a:rPr lang="en-US" dirty="0"/>
              <a:t>Repeat this until the centroids stop moving</a:t>
            </a:r>
          </a:p>
          <a:p>
            <a:pPr lvl="2"/>
            <a:endParaRPr lang="en-US" b="1" dirty="0"/>
          </a:p>
          <a:p>
            <a:endParaRPr lang="en-US" dirty="0"/>
          </a:p>
        </p:txBody>
      </p:sp>
      <p:pic>
        <p:nvPicPr>
          <p:cNvPr id="4" name="Picture 2" descr="mls2 0904">
            <a:extLst>
              <a:ext uri="{FF2B5EF4-FFF2-40B4-BE49-F238E27FC236}">
                <a16:creationId xmlns:a16="http://schemas.microsoft.com/office/drawing/2014/main" id="{22F3924A-C412-F071-840D-6EED07A3C1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8686" b="66258"/>
          <a:stretch>
            <a:fillRect/>
          </a:stretch>
        </p:blipFill>
        <p:spPr bwMode="auto">
          <a:xfrm>
            <a:off x="4108798" y="1936839"/>
            <a:ext cx="2471042" cy="128776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mls2 0904">
            <a:extLst>
              <a:ext uri="{FF2B5EF4-FFF2-40B4-BE49-F238E27FC236}">
                <a16:creationId xmlns:a16="http://schemas.microsoft.com/office/drawing/2014/main" id="{D6CC5A4A-EF0E-CF12-0EBB-E70C5972E83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1314" b="67092"/>
          <a:stretch>
            <a:fillRect/>
          </a:stretch>
        </p:blipFill>
        <p:spPr bwMode="auto">
          <a:xfrm>
            <a:off x="6579840" y="1932990"/>
            <a:ext cx="2344543" cy="12559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mls2 0904">
            <a:extLst>
              <a:ext uri="{FF2B5EF4-FFF2-40B4-BE49-F238E27FC236}">
                <a16:creationId xmlns:a16="http://schemas.microsoft.com/office/drawing/2014/main" id="{E44BDD07-6BFC-BBE3-689D-1E571AB1873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3962"/>
          <a:stretch>
            <a:fillRect/>
          </a:stretch>
        </p:blipFill>
        <p:spPr bwMode="auto">
          <a:xfrm>
            <a:off x="4108798" y="3260898"/>
            <a:ext cx="4815585" cy="252028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mls2 0904">
            <a:extLst>
              <a:ext uri="{FF2B5EF4-FFF2-40B4-BE49-F238E27FC236}">
                <a16:creationId xmlns:a16="http://schemas.microsoft.com/office/drawing/2014/main" id="{90C01B03-7FC5-AEB5-1D5B-1D83706E166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3962" r="48686" b="37325"/>
          <a:stretch>
            <a:fillRect/>
          </a:stretch>
        </p:blipFill>
        <p:spPr bwMode="auto">
          <a:xfrm>
            <a:off x="4108798" y="3260898"/>
            <a:ext cx="2471042" cy="1095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3561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5D70A-74A0-EF31-0504-57D487ACE6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C61F28-C11D-85F6-87D0-71FB4B60B7F4}"/>
              </a:ext>
            </a:extLst>
          </p:cNvPr>
          <p:cNvSpPr>
            <a:spLocks noGrp="1"/>
          </p:cNvSpPr>
          <p:nvPr>
            <p:ph type="title"/>
          </p:nvPr>
        </p:nvSpPr>
        <p:spPr>
          <a:xfrm>
            <a:off x="467544" y="476672"/>
            <a:ext cx="8136904" cy="648072"/>
          </a:xfrm>
        </p:spPr>
        <p:txBody>
          <a:bodyPr/>
          <a:lstStyle/>
          <a:p>
            <a:r>
              <a:rPr lang="en-US" dirty="0"/>
              <a:t>K-Means Algorithm – Convergence </a:t>
            </a:r>
          </a:p>
        </p:txBody>
      </p:sp>
      <p:sp>
        <p:nvSpPr>
          <p:cNvPr id="3" name="Text Placeholder 2">
            <a:extLst>
              <a:ext uri="{FF2B5EF4-FFF2-40B4-BE49-F238E27FC236}">
                <a16:creationId xmlns:a16="http://schemas.microsoft.com/office/drawing/2014/main" id="{03E60CA8-42CA-3DCE-83BB-A40751FA3CA7}"/>
              </a:ext>
            </a:extLst>
          </p:cNvPr>
          <p:cNvSpPr>
            <a:spLocks noGrp="1"/>
          </p:cNvSpPr>
          <p:nvPr>
            <p:ph type="body" sz="quarter" idx="10"/>
          </p:nvPr>
        </p:nvSpPr>
        <p:spPr>
          <a:xfrm>
            <a:off x="467545" y="1268760"/>
            <a:ext cx="8136903" cy="4752528"/>
          </a:xfrm>
        </p:spPr>
        <p:txBody>
          <a:bodyPr/>
          <a:lstStyle/>
          <a:p>
            <a:r>
              <a:rPr lang="en-US" dirty="0"/>
              <a:t>Computational Complexity</a:t>
            </a:r>
          </a:p>
          <a:p>
            <a:pPr lvl="1"/>
            <a:r>
              <a:rPr lang="en-GB" dirty="0"/>
              <a:t>Generally linear with regard to the number of instances </a:t>
            </a:r>
            <a:r>
              <a:rPr lang="en-GB" i="1" dirty="0"/>
              <a:t>m</a:t>
            </a:r>
            <a:r>
              <a:rPr lang="en-GB" dirty="0"/>
              <a:t>, the number of clusters </a:t>
            </a:r>
            <a:r>
              <a:rPr lang="en-GB" i="1" dirty="0"/>
              <a:t>k</a:t>
            </a:r>
            <a:r>
              <a:rPr lang="en-GB" dirty="0"/>
              <a:t>, and the number of dimensions </a:t>
            </a:r>
            <a:r>
              <a:rPr lang="en-GB" i="1" dirty="0"/>
              <a:t>n</a:t>
            </a:r>
            <a:r>
              <a:rPr lang="en-GB" dirty="0"/>
              <a:t>. </a:t>
            </a:r>
          </a:p>
          <a:p>
            <a:pPr lvl="1"/>
            <a:r>
              <a:rPr lang="en-US" dirty="0"/>
              <a:t>However, if the data does not have a good clustering structure, rarely, the complexity can raise exponentially with the number of instances.</a:t>
            </a:r>
          </a:p>
          <a:p>
            <a:r>
              <a:rPr lang="en-US" dirty="0"/>
              <a:t>The algorithms is not always guaranteed to converge</a:t>
            </a:r>
          </a:p>
          <a:p>
            <a:pPr lvl="1"/>
            <a:r>
              <a:rPr lang="en-US" dirty="0"/>
              <a:t>High dependence on the random initialization </a:t>
            </a:r>
          </a:p>
          <a:p>
            <a:pPr lvl="1"/>
            <a:r>
              <a:rPr lang="en-US" dirty="0"/>
              <a:t>May converge to local optimum</a:t>
            </a:r>
          </a:p>
          <a:p>
            <a:pPr lvl="1"/>
            <a:endParaRPr lang="en-US" dirty="0"/>
          </a:p>
          <a:p>
            <a:pPr lvl="2"/>
            <a:endParaRPr lang="en-US" b="1" dirty="0"/>
          </a:p>
          <a:p>
            <a:endParaRPr lang="en-US" dirty="0"/>
          </a:p>
        </p:txBody>
      </p:sp>
      <p:pic>
        <p:nvPicPr>
          <p:cNvPr id="5" name="Picture 4" descr="A graph of a solution&#10;&#10;AI-generated content may be incorrect.">
            <a:extLst>
              <a:ext uri="{FF2B5EF4-FFF2-40B4-BE49-F238E27FC236}">
                <a16:creationId xmlns:a16="http://schemas.microsoft.com/office/drawing/2014/main" id="{ABE6CF00-3654-5B88-032F-1902B6A78E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3648" y="4725144"/>
            <a:ext cx="6336703" cy="2024225"/>
          </a:xfrm>
          <a:prstGeom prst="rect">
            <a:avLst/>
          </a:prstGeom>
        </p:spPr>
      </p:pic>
    </p:spTree>
    <p:extLst>
      <p:ext uri="{BB962C8B-B14F-4D97-AF65-F5344CB8AC3E}">
        <p14:creationId xmlns:p14="http://schemas.microsoft.com/office/powerpoint/2010/main" val="519806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D02C3-B9AD-2D9C-48C2-CF523C1ACC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2C72DE-E2FA-14C5-04E6-FD033B7B48A0}"/>
              </a:ext>
            </a:extLst>
          </p:cNvPr>
          <p:cNvSpPr>
            <a:spLocks noGrp="1"/>
          </p:cNvSpPr>
          <p:nvPr>
            <p:ph type="title"/>
          </p:nvPr>
        </p:nvSpPr>
        <p:spPr>
          <a:xfrm>
            <a:off x="467544" y="620688"/>
            <a:ext cx="8136904" cy="648072"/>
          </a:xfrm>
        </p:spPr>
        <p:txBody>
          <a:bodyPr/>
          <a:lstStyle/>
          <a:p>
            <a:r>
              <a:rPr lang="en-US" dirty="0"/>
              <a:t>Improving Centroid Initialization</a:t>
            </a:r>
          </a:p>
        </p:txBody>
      </p:sp>
      <p:sp>
        <p:nvSpPr>
          <p:cNvPr id="3" name="Text Placeholder 2">
            <a:extLst>
              <a:ext uri="{FF2B5EF4-FFF2-40B4-BE49-F238E27FC236}">
                <a16:creationId xmlns:a16="http://schemas.microsoft.com/office/drawing/2014/main" id="{53A16FCA-A0FD-359B-46FB-66BF0992F630}"/>
              </a:ext>
            </a:extLst>
          </p:cNvPr>
          <p:cNvSpPr>
            <a:spLocks noGrp="1"/>
          </p:cNvSpPr>
          <p:nvPr>
            <p:ph type="body" sz="quarter" idx="10"/>
          </p:nvPr>
        </p:nvSpPr>
        <p:spPr>
          <a:xfrm>
            <a:off x="467545" y="1412776"/>
            <a:ext cx="8136903" cy="4752528"/>
          </a:xfrm>
        </p:spPr>
        <p:txBody>
          <a:bodyPr/>
          <a:lstStyle/>
          <a:p>
            <a:r>
              <a:rPr lang="en-GB" dirty="0"/>
              <a:t>Some steps to try</a:t>
            </a:r>
          </a:p>
          <a:p>
            <a:pPr lvl="1"/>
            <a:r>
              <a:rPr lang="en-GB" dirty="0"/>
              <a:t>Prior knowledge – set good initial centroids</a:t>
            </a:r>
          </a:p>
          <a:p>
            <a:pPr lvl="1"/>
            <a:r>
              <a:rPr lang="en-GB" dirty="0"/>
              <a:t>Run the algorithm multiple times and keep the best solution</a:t>
            </a:r>
          </a:p>
          <a:p>
            <a:r>
              <a:rPr lang="en-GB" dirty="0"/>
              <a:t>How do you measure performance?</a:t>
            </a:r>
          </a:p>
          <a:p>
            <a:pPr lvl="1"/>
            <a:r>
              <a:rPr lang="en-GB" b="1" dirty="0"/>
              <a:t>Inertia</a:t>
            </a:r>
            <a:r>
              <a:rPr lang="en-GB" dirty="0"/>
              <a:t> of the model </a:t>
            </a:r>
          </a:p>
          <a:p>
            <a:pPr lvl="1"/>
            <a:r>
              <a:rPr lang="en-GB" dirty="0"/>
              <a:t>Measures the mean-squared distance between each instance and its closest centroid</a:t>
            </a:r>
          </a:p>
          <a:p>
            <a:pPr lvl="1"/>
            <a:r>
              <a:rPr lang="en-GB" dirty="0"/>
              <a:t>Lower the inertia, better the model</a:t>
            </a:r>
          </a:p>
          <a:p>
            <a:pPr lvl="2"/>
            <a:endParaRPr lang="en-GB" dirty="0"/>
          </a:p>
          <a:p>
            <a:pPr lvl="1"/>
            <a:endParaRPr lang="en-GB" dirty="0"/>
          </a:p>
          <a:p>
            <a:pPr lvl="1"/>
            <a:endParaRPr lang="en-US" dirty="0"/>
          </a:p>
          <a:p>
            <a:pPr lvl="1"/>
            <a:endParaRPr lang="en-US" dirty="0"/>
          </a:p>
          <a:p>
            <a:pPr lvl="2"/>
            <a:endParaRPr lang="en-US" b="1" dirty="0"/>
          </a:p>
          <a:p>
            <a:endParaRPr lang="en-US" dirty="0"/>
          </a:p>
        </p:txBody>
      </p:sp>
    </p:spTree>
    <p:extLst>
      <p:ext uri="{BB962C8B-B14F-4D97-AF65-F5344CB8AC3E}">
        <p14:creationId xmlns:p14="http://schemas.microsoft.com/office/powerpoint/2010/main" val="118120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F35D6-E8D4-178B-3AED-2EA5DBAFBC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01B115-6522-4DBE-51AB-81B2FDDA5926}"/>
              </a:ext>
            </a:extLst>
          </p:cNvPr>
          <p:cNvSpPr>
            <a:spLocks noGrp="1"/>
          </p:cNvSpPr>
          <p:nvPr>
            <p:ph type="title"/>
          </p:nvPr>
        </p:nvSpPr>
        <p:spPr>
          <a:xfrm>
            <a:off x="467544" y="620688"/>
            <a:ext cx="8136904" cy="648072"/>
          </a:xfrm>
        </p:spPr>
        <p:txBody>
          <a:bodyPr/>
          <a:lstStyle/>
          <a:p>
            <a:r>
              <a:rPr lang="en-US" dirty="0"/>
              <a:t>K-Means++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083AD30-A1F4-3075-9C03-523B718D9D52}"/>
                  </a:ext>
                </a:extLst>
              </p:cNvPr>
              <p:cNvSpPr>
                <a:spLocks noGrp="1"/>
              </p:cNvSpPr>
              <p:nvPr>
                <p:ph type="body" sz="quarter" idx="10"/>
              </p:nvPr>
            </p:nvSpPr>
            <p:spPr>
              <a:xfrm>
                <a:off x="467545" y="1412776"/>
                <a:ext cx="8136903" cy="4752528"/>
              </a:xfrm>
            </p:spPr>
            <p:txBody>
              <a:bodyPr/>
              <a:lstStyle/>
              <a:p>
                <a:r>
                  <a:rPr lang="en-GB" dirty="0"/>
                  <a:t>K-Means++ [Arthur, D., &amp; </a:t>
                </a:r>
                <a:r>
                  <a:rPr lang="en-GB" dirty="0" err="1"/>
                  <a:t>Vassilvitskii</a:t>
                </a:r>
                <a:r>
                  <a:rPr lang="en-GB" dirty="0"/>
                  <a:t>, S. (2006). </a:t>
                </a:r>
                <a:r>
                  <a:rPr lang="en-GB" i="1" dirty="0"/>
                  <a:t>k-means++: The advantages of careful seeding</a:t>
                </a:r>
                <a:r>
                  <a:rPr lang="en-GB" dirty="0"/>
                  <a:t>. Stanford.]</a:t>
                </a:r>
              </a:p>
              <a:p>
                <a:pPr lvl="1"/>
                <a:r>
                  <a:rPr lang="en-GB" dirty="0"/>
                  <a:t>Smarter initialization step that tends to select centroids that are distant from one another</a:t>
                </a:r>
              </a:p>
              <a:p>
                <a:pPr lvl="2"/>
                <a:r>
                  <a:rPr lang="en-GB" dirty="0"/>
                  <a:t>Take one centroid </a:t>
                </a:r>
                <a:r>
                  <a:rPr lang="en-GB" b="1" dirty="0"/>
                  <a:t>c</a:t>
                </a:r>
                <a:r>
                  <a:rPr lang="en-GB" b="1" baseline="30000" dirty="0"/>
                  <a:t>(1)</a:t>
                </a:r>
                <a:r>
                  <a:rPr lang="en-GB" dirty="0"/>
                  <a:t>, chosen uniformly at random from the dataset.</a:t>
                </a:r>
              </a:p>
              <a:p>
                <a:pPr lvl="2"/>
                <a:r>
                  <a:rPr lang="en-GB" dirty="0"/>
                  <a:t>Take a new centroid </a:t>
                </a:r>
                <a:r>
                  <a:rPr lang="en-GB" b="1" dirty="0"/>
                  <a:t>c</a:t>
                </a:r>
                <a:r>
                  <a:rPr lang="en-GB" b="1" baseline="30000" dirty="0"/>
                  <a:t>(</a:t>
                </a:r>
                <a:r>
                  <a:rPr lang="en-GB" b="1" i="1" baseline="30000" dirty="0" err="1"/>
                  <a:t>i</a:t>
                </a:r>
                <a:r>
                  <a:rPr lang="en-GB" b="1" baseline="30000" dirty="0"/>
                  <a:t>)</a:t>
                </a:r>
                <a:r>
                  <a:rPr lang="en-GB" dirty="0"/>
                  <a:t>, choosing an instance </a:t>
                </a:r>
                <a:r>
                  <a:rPr lang="en-GB" b="1" dirty="0"/>
                  <a:t>x</a:t>
                </a:r>
                <a:r>
                  <a:rPr lang="en-GB" b="1" baseline="30000" dirty="0"/>
                  <a:t>(</a:t>
                </a:r>
                <a:r>
                  <a:rPr lang="en-GB" b="1" i="1" baseline="30000" dirty="0" err="1"/>
                  <a:t>i</a:t>
                </a:r>
                <a:r>
                  <a:rPr lang="en-GB" b="1" baseline="30000" dirty="0"/>
                  <a:t>)</a:t>
                </a:r>
                <a:r>
                  <a:rPr lang="en-GB" dirty="0"/>
                  <a:t> with probability, </a:t>
                </a:r>
                <a14:m>
                  <m:oMath xmlns:m="http://schemas.openxmlformats.org/officeDocument/2006/math">
                    <m:r>
                      <a:rPr lang="en-GB" i="1" dirty="0" smtClean="0">
                        <a:latin typeface="Cambria Math" panose="02040503050406030204" pitchFamily="18" charset="0"/>
                      </a:rPr>
                      <m:t>𝐷</m:t>
                    </m:r>
                    <m:sSup>
                      <m:sSupPr>
                        <m:ctrlPr>
                          <a:rPr lang="en-GB" i="1" dirty="0" smtClean="0">
                            <a:latin typeface="Cambria Math" panose="02040503050406030204" pitchFamily="18" charset="0"/>
                          </a:rPr>
                        </m:ctrlPr>
                      </m:sSupPr>
                      <m:e>
                        <m:d>
                          <m:dPr>
                            <m:ctrlPr>
                              <a:rPr lang="en-GB" i="1" dirty="0" smtClean="0">
                                <a:latin typeface="Cambria Math" panose="02040503050406030204" pitchFamily="18" charset="0"/>
                              </a:rPr>
                            </m:ctrlPr>
                          </m:dPr>
                          <m:e>
                            <m:sSup>
                              <m:sSupPr>
                                <m:ctrlPr>
                                  <a:rPr lang="en-GB" b="1" i="0" dirty="0" smtClean="0">
                                    <a:latin typeface="Cambria Math" panose="02040503050406030204" pitchFamily="18" charset="0"/>
                                  </a:rPr>
                                </m:ctrlPr>
                              </m:sSupPr>
                              <m:e>
                                <m:r>
                                  <a:rPr lang="en-GB" b="1" i="0" dirty="0" smtClean="0">
                                    <a:latin typeface="Cambria Math" panose="02040503050406030204" pitchFamily="18" charset="0"/>
                                  </a:rPr>
                                  <m:t>𝐱</m:t>
                                </m:r>
                              </m:e>
                              <m:sup>
                                <m:d>
                                  <m:dPr>
                                    <m:ctrlPr>
                                      <a:rPr lang="en-GB" b="0" i="1" dirty="0" smtClean="0">
                                        <a:latin typeface="Cambria Math" panose="02040503050406030204" pitchFamily="18" charset="0"/>
                                      </a:rPr>
                                    </m:ctrlPr>
                                  </m:dPr>
                                  <m:e>
                                    <m:r>
                                      <a:rPr lang="en-GB" b="0" i="1" dirty="0" smtClean="0">
                                        <a:latin typeface="Cambria Math" panose="02040503050406030204" pitchFamily="18" charset="0"/>
                                      </a:rPr>
                                      <m:t>𝑖</m:t>
                                    </m:r>
                                  </m:e>
                                </m:d>
                              </m:sup>
                            </m:sSup>
                          </m:e>
                        </m:d>
                      </m:e>
                      <m:sup>
                        <m:r>
                          <a:rPr lang="en-GB" b="0" i="0" dirty="0" smtClean="0">
                            <a:latin typeface="Cambria Math" panose="02040503050406030204" pitchFamily="18" charset="0"/>
                          </a:rPr>
                          <m:t>2</m:t>
                        </m:r>
                      </m:sup>
                    </m:sSup>
                    <m:r>
                      <a:rPr lang="en-GB" b="0" i="1" dirty="0" smtClean="0">
                        <a:latin typeface="Cambria Math" panose="02040503050406030204" pitchFamily="18" charset="0"/>
                      </a:rPr>
                      <m:t>/</m:t>
                    </m:r>
                    <m:nary>
                      <m:naryPr>
                        <m:chr m:val="∑"/>
                        <m:limLoc m:val="undOvr"/>
                        <m:grow m:val="on"/>
                        <m:ctrlPr>
                          <a:rPr lang="en-GB" i="1" dirty="0" smtClean="0">
                            <a:latin typeface="Cambria Math" panose="02040503050406030204" pitchFamily="18" charset="0"/>
                          </a:rPr>
                        </m:ctrlPr>
                      </m:naryPr>
                      <m:sub>
                        <m:r>
                          <a:rPr lang="en-GB" i="1" dirty="0" smtClean="0">
                            <a:latin typeface="Cambria Math" panose="02040503050406030204" pitchFamily="18" charset="0"/>
                          </a:rPr>
                          <m:t>𝑗</m:t>
                        </m:r>
                        <m:r>
                          <a:rPr lang="en-GB" i="0" dirty="0" smtClean="0">
                            <a:latin typeface="Cambria Math" panose="02040503050406030204" pitchFamily="18" charset="0"/>
                          </a:rPr>
                          <m:t>=1</m:t>
                        </m:r>
                      </m:sub>
                      <m:sup>
                        <m:r>
                          <a:rPr lang="en-GB" i="1" dirty="0" smtClean="0">
                            <a:latin typeface="Cambria Math" panose="02040503050406030204" pitchFamily="18" charset="0"/>
                          </a:rPr>
                          <m:t>𝑚</m:t>
                        </m:r>
                      </m:sup>
                      <m:e>
                        <m:r>
                          <a:rPr lang="en-GB" i="1" dirty="0" smtClean="0">
                            <a:latin typeface="Cambria Math" panose="02040503050406030204" pitchFamily="18" charset="0"/>
                          </a:rPr>
                          <m:t>𝐷</m:t>
                        </m:r>
                      </m:e>
                    </m:nary>
                    <m:sSup>
                      <m:sSupPr>
                        <m:ctrlPr>
                          <a:rPr lang="en-GB" i="1" dirty="0" smtClean="0">
                            <a:latin typeface="Cambria Math" panose="02040503050406030204" pitchFamily="18" charset="0"/>
                          </a:rPr>
                        </m:ctrlPr>
                      </m:sSupPr>
                      <m:e>
                        <m:d>
                          <m:dPr>
                            <m:ctrlPr>
                              <a:rPr lang="en-GB" i="1" dirty="0" smtClean="0">
                                <a:latin typeface="Cambria Math" panose="02040503050406030204" pitchFamily="18" charset="0"/>
                              </a:rPr>
                            </m:ctrlPr>
                          </m:dPr>
                          <m:e>
                            <m:sSup>
                              <m:sSupPr>
                                <m:ctrlPr>
                                  <a:rPr lang="en-GB" b="1" i="0" dirty="0" smtClean="0">
                                    <a:latin typeface="Cambria Math" panose="02040503050406030204" pitchFamily="18" charset="0"/>
                                  </a:rPr>
                                </m:ctrlPr>
                              </m:sSupPr>
                              <m:e>
                                <m:r>
                                  <a:rPr lang="en-GB" b="1" i="0" dirty="0" smtClean="0">
                                    <a:latin typeface="Cambria Math" panose="02040503050406030204" pitchFamily="18" charset="0"/>
                                  </a:rPr>
                                  <m:t>𝐱</m:t>
                                </m:r>
                              </m:e>
                              <m:sup>
                                <m:d>
                                  <m:dPr>
                                    <m:ctrlPr>
                                      <a:rPr lang="en-GB" b="0" i="1" dirty="0" smtClean="0">
                                        <a:latin typeface="Cambria Math" panose="02040503050406030204" pitchFamily="18" charset="0"/>
                                      </a:rPr>
                                    </m:ctrlPr>
                                  </m:dPr>
                                  <m:e>
                                    <m:r>
                                      <a:rPr lang="en-GB" b="0" i="1" dirty="0" smtClean="0">
                                        <a:latin typeface="Cambria Math" panose="02040503050406030204" pitchFamily="18" charset="0"/>
                                      </a:rPr>
                                      <m:t>𝑗</m:t>
                                    </m:r>
                                  </m:e>
                                </m:d>
                              </m:sup>
                            </m:sSup>
                          </m:e>
                        </m:d>
                      </m:e>
                      <m:sup>
                        <m:r>
                          <a:rPr lang="en-GB" b="0" i="0" dirty="0" smtClean="0">
                            <a:latin typeface="Cambria Math" panose="02040503050406030204" pitchFamily="18" charset="0"/>
                          </a:rPr>
                          <m:t>2</m:t>
                        </m:r>
                      </m:sup>
                    </m:sSup>
                  </m:oMath>
                </a14:m>
                <a:r>
                  <a:rPr lang="en-GB" dirty="0"/>
                  <a:t>, where </a:t>
                </a:r>
                <a14:m>
                  <m:oMath xmlns:m="http://schemas.openxmlformats.org/officeDocument/2006/math">
                    <m:r>
                      <a:rPr lang="en-GB" i="1" dirty="0">
                        <a:latin typeface="Cambria Math" panose="02040503050406030204" pitchFamily="18" charset="0"/>
                      </a:rPr>
                      <m:t>𝐷</m:t>
                    </m:r>
                    <m:r>
                      <a:rPr lang="en-GB" b="0" i="1" dirty="0" smtClean="0">
                        <a:latin typeface="Cambria Math" panose="02040503050406030204" pitchFamily="18" charset="0"/>
                      </a:rPr>
                      <m:t>(</m:t>
                    </m:r>
                    <m:sSup>
                      <m:sSupPr>
                        <m:ctrlPr>
                          <a:rPr lang="en-GB" b="1" dirty="0">
                            <a:latin typeface="Cambria Math" panose="02040503050406030204" pitchFamily="18" charset="0"/>
                          </a:rPr>
                        </m:ctrlPr>
                      </m:sSupPr>
                      <m:e>
                        <m:r>
                          <a:rPr lang="en-GB" b="1" dirty="0">
                            <a:latin typeface="Cambria Math" panose="02040503050406030204" pitchFamily="18" charset="0"/>
                          </a:rPr>
                          <m:t>𝐱</m:t>
                        </m:r>
                      </m:e>
                      <m:sup>
                        <m:d>
                          <m:dPr>
                            <m:ctrlPr>
                              <a:rPr lang="en-GB" i="1" dirty="0">
                                <a:latin typeface="Cambria Math" panose="02040503050406030204" pitchFamily="18" charset="0"/>
                              </a:rPr>
                            </m:ctrlPr>
                          </m:dPr>
                          <m:e>
                            <m:r>
                              <a:rPr lang="en-GB" i="1" dirty="0">
                                <a:latin typeface="Cambria Math" panose="02040503050406030204" pitchFamily="18" charset="0"/>
                              </a:rPr>
                              <m:t>𝑖</m:t>
                            </m:r>
                          </m:e>
                        </m:d>
                      </m:sup>
                    </m:sSup>
                    <m:r>
                      <a:rPr lang="en-GB" b="0" i="1" dirty="0" smtClean="0">
                        <a:latin typeface="Cambria Math" panose="02040503050406030204" pitchFamily="18" charset="0"/>
                      </a:rPr>
                      <m:t>)</m:t>
                    </m:r>
                  </m:oMath>
                </a14:m>
                <a:r>
                  <a:rPr lang="en-GB" dirty="0"/>
                  <a:t> is the distance between the instance  </a:t>
                </a:r>
                <a14:m>
                  <m:oMath xmlns:m="http://schemas.openxmlformats.org/officeDocument/2006/math">
                    <m:sSup>
                      <m:sSupPr>
                        <m:ctrlPr>
                          <a:rPr lang="en-GB" b="1" dirty="0">
                            <a:latin typeface="Cambria Math" panose="02040503050406030204" pitchFamily="18" charset="0"/>
                          </a:rPr>
                        </m:ctrlPr>
                      </m:sSupPr>
                      <m:e>
                        <m:r>
                          <a:rPr lang="en-GB" b="1" dirty="0">
                            <a:latin typeface="Cambria Math" panose="02040503050406030204" pitchFamily="18" charset="0"/>
                          </a:rPr>
                          <m:t>𝐱</m:t>
                        </m:r>
                      </m:e>
                      <m:sup>
                        <m:d>
                          <m:dPr>
                            <m:ctrlPr>
                              <a:rPr lang="en-GB" i="1" dirty="0">
                                <a:latin typeface="Cambria Math" panose="02040503050406030204" pitchFamily="18" charset="0"/>
                              </a:rPr>
                            </m:ctrlPr>
                          </m:dPr>
                          <m:e>
                            <m:r>
                              <a:rPr lang="en-GB" i="1" dirty="0">
                                <a:latin typeface="Cambria Math" panose="02040503050406030204" pitchFamily="18" charset="0"/>
                              </a:rPr>
                              <m:t>𝑖</m:t>
                            </m:r>
                          </m:e>
                        </m:d>
                      </m:sup>
                    </m:sSup>
                    <m:r>
                      <a:rPr lang="en-GB" b="1" i="1" dirty="0">
                        <a:latin typeface="Cambria Math" panose="02040503050406030204" pitchFamily="18" charset="0"/>
                      </a:rPr>
                      <m:t> </m:t>
                    </m:r>
                  </m:oMath>
                </a14:m>
                <a:r>
                  <a:rPr lang="en-GB" dirty="0"/>
                  <a:t> and the closest centroid that was already chosen </a:t>
                </a:r>
                <a:endParaRPr lang="en-GB" dirty="0">
                  <a:sym typeface="Wingdings" pitchFamily="2" charset="2"/>
                </a:endParaRPr>
              </a:p>
              <a:p>
                <a:pPr lvl="3"/>
                <a:r>
                  <a:rPr lang="en-GB" dirty="0">
                    <a:sym typeface="Wingdings" pitchFamily="2" charset="2"/>
                  </a:rPr>
                  <a:t>Ensures </a:t>
                </a:r>
                <a:r>
                  <a:rPr lang="en-GB" dirty="0"/>
                  <a:t>that instances farther away from already chosen centroids are much more likely be selected as centroids.</a:t>
                </a:r>
              </a:p>
              <a:p>
                <a:pPr lvl="2"/>
                <a:r>
                  <a:rPr lang="en-GB" dirty="0"/>
                  <a:t>Repeat the previous step until all </a:t>
                </a:r>
                <a:r>
                  <a:rPr lang="en-GB" i="1" dirty="0"/>
                  <a:t>k</a:t>
                </a:r>
                <a:r>
                  <a:rPr lang="en-GB" dirty="0"/>
                  <a:t> centroids have been chosen.</a:t>
                </a:r>
              </a:p>
              <a:p>
                <a:pPr lvl="1"/>
                <a:endParaRPr lang="en-GB" dirty="0"/>
              </a:p>
              <a:p>
                <a:pPr marL="457200" lvl="1" indent="0">
                  <a:buNone/>
                </a:pPr>
                <a:endParaRPr lang="en-GB" dirty="0"/>
              </a:p>
              <a:p>
                <a:pPr lvl="2"/>
                <a:endParaRPr lang="en-GB" dirty="0"/>
              </a:p>
              <a:p>
                <a:pPr lvl="1"/>
                <a:endParaRPr lang="en-GB" dirty="0"/>
              </a:p>
              <a:p>
                <a:pPr lvl="1"/>
                <a:endParaRPr lang="en-US" dirty="0"/>
              </a:p>
              <a:p>
                <a:pPr lvl="1"/>
                <a:endParaRPr lang="en-US" dirty="0"/>
              </a:p>
              <a:p>
                <a:pPr lvl="2"/>
                <a:endParaRPr lang="en-US" b="1" dirty="0"/>
              </a:p>
              <a:p>
                <a:endParaRPr lang="en-US" dirty="0"/>
              </a:p>
            </p:txBody>
          </p:sp>
        </mc:Choice>
        <mc:Fallback xmlns="">
          <p:sp>
            <p:nvSpPr>
              <p:cNvPr id="3" name="Text Placeholder 2">
                <a:extLst>
                  <a:ext uri="{FF2B5EF4-FFF2-40B4-BE49-F238E27FC236}">
                    <a16:creationId xmlns:a16="http://schemas.microsoft.com/office/drawing/2014/main" id="{A083AD30-A1F4-3075-9C03-523B718D9D52}"/>
                  </a:ext>
                </a:extLst>
              </p:cNvPr>
              <p:cNvSpPr>
                <a:spLocks noGrp="1" noRot="1" noChangeAspect="1" noMove="1" noResize="1" noEditPoints="1" noAdjustHandles="1" noChangeArrowheads="1" noChangeShapeType="1" noTextEdit="1"/>
              </p:cNvSpPr>
              <p:nvPr>
                <p:ph type="body" sz="quarter" idx="10"/>
              </p:nvPr>
            </p:nvSpPr>
            <p:spPr>
              <a:xfrm>
                <a:off x="467545" y="1412776"/>
                <a:ext cx="8136903" cy="4752528"/>
              </a:xfrm>
              <a:blipFill>
                <a:blip r:embed="rId3"/>
                <a:stretch>
                  <a:fillRect l="-623" t="-800" r="-312" b="-3733"/>
                </a:stretch>
              </a:blipFill>
            </p:spPr>
            <p:txBody>
              <a:bodyPr/>
              <a:lstStyle/>
              <a:p>
                <a:r>
                  <a:rPr lang="en-US">
                    <a:noFill/>
                  </a:rPr>
                  <a:t> </a:t>
                </a:r>
              </a:p>
            </p:txBody>
          </p:sp>
        </mc:Fallback>
      </mc:AlternateContent>
    </p:spTree>
    <p:extLst>
      <p:ext uri="{BB962C8B-B14F-4D97-AF65-F5344CB8AC3E}">
        <p14:creationId xmlns:p14="http://schemas.microsoft.com/office/powerpoint/2010/main" val="3189915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B2A80-B4A4-D4AE-869B-A775D97E51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648623-762F-FCD1-F8CB-D984BC69D116}"/>
              </a:ext>
            </a:extLst>
          </p:cNvPr>
          <p:cNvSpPr>
            <a:spLocks noGrp="1"/>
          </p:cNvSpPr>
          <p:nvPr>
            <p:ph type="title"/>
          </p:nvPr>
        </p:nvSpPr>
        <p:spPr>
          <a:xfrm>
            <a:off x="467544" y="620688"/>
            <a:ext cx="8136904" cy="648072"/>
          </a:xfrm>
        </p:spPr>
        <p:txBody>
          <a:bodyPr/>
          <a:lstStyle/>
          <a:p>
            <a:r>
              <a:rPr lang="en-US" dirty="0"/>
              <a:t>Finding the optimal number of clusters</a:t>
            </a:r>
          </a:p>
        </p:txBody>
      </p:sp>
      <p:sp>
        <p:nvSpPr>
          <p:cNvPr id="3" name="Text Placeholder 2">
            <a:extLst>
              <a:ext uri="{FF2B5EF4-FFF2-40B4-BE49-F238E27FC236}">
                <a16:creationId xmlns:a16="http://schemas.microsoft.com/office/drawing/2014/main" id="{9390C270-CABD-EF4E-D0DC-DA3D87072034}"/>
              </a:ext>
            </a:extLst>
          </p:cNvPr>
          <p:cNvSpPr>
            <a:spLocks noGrp="1"/>
          </p:cNvSpPr>
          <p:nvPr>
            <p:ph type="body" sz="quarter" idx="10"/>
          </p:nvPr>
        </p:nvSpPr>
        <p:spPr>
          <a:xfrm>
            <a:off x="467545" y="1412776"/>
            <a:ext cx="8136903" cy="4752528"/>
          </a:xfrm>
        </p:spPr>
        <p:txBody>
          <a:bodyPr/>
          <a:lstStyle/>
          <a:p>
            <a:r>
              <a:rPr lang="en-GB" dirty="0"/>
              <a:t>How do we know how many clusters are present in the data?</a:t>
            </a:r>
          </a:p>
          <a:p>
            <a:r>
              <a:rPr lang="en-GB" dirty="0"/>
              <a:t>Can we pick the model with the lowest inertia?</a:t>
            </a:r>
          </a:p>
          <a:p>
            <a:pPr lvl="1"/>
            <a:endParaRPr lang="en-GB" dirty="0"/>
          </a:p>
          <a:p>
            <a:pPr lvl="1"/>
            <a:endParaRPr lang="en-US" dirty="0"/>
          </a:p>
          <a:p>
            <a:pPr lvl="1"/>
            <a:endParaRPr lang="en-US" dirty="0"/>
          </a:p>
          <a:p>
            <a:pPr lvl="2"/>
            <a:endParaRPr lang="en-US" b="1" dirty="0"/>
          </a:p>
          <a:p>
            <a:endParaRPr lang="en-US" dirty="0"/>
          </a:p>
        </p:txBody>
      </p:sp>
      <p:pic>
        <p:nvPicPr>
          <p:cNvPr id="5" name="Picture 2" descr="mls2 0902">
            <a:extLst>
              <a:ext uri="{FF2B5EF4-FFF2-40B4-BE49-F238E27FC236}">
                <a16:creationId xmlns:a16="http://schemas.microsoft.com/office/drawing/2014/main" id="{47EF9893-AB33-84C5-6E93-D3D70B4123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3196" y="2786392"/>
            <a:ext cx="6397608" cy="30188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0199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B910F-3C32-0B94-7AE8-8E0C7BC82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CFE210-4619-7932-2A48-1C60E29D49F8}"/>
              </a:ext>
            </a:extLst>
          </p:cNvPr>
          <p:cNvSpPr>
            <a:spLocks noGrp="1"/>
          </p:cNvSpPr>
          <p:nvPr>
            <p:ph type="title"/>
          </p:nvPr>
        </p:nvSpPr>
        <p:spPr>
          <a:xfrm>
            <a:off x="467544" y="620688"/>
            <a:ext cx="8136904" cy="648072"/>
          </a:xfrm>
        </p:spPr>
        <p:txBody>
          <a:bodyPr/>
          <a:lstStyle/>
          <a:p>
            <a:r>
              <a:rPr lang="en-US" dirty="0"/>
              <a:t>Using Inertia to choose </a:t>
            </a:r>
            <a:r>
              <a:rPr lang="en-US" i="1" dirty="0"/>
              <a:t>k</a:t>
            </a:r>
          </a:p>
        </p:txBody>
      </p:sp>
      <p:sp>
        <p:nvSpPr>
          <p:cNvPr id="3" name="Text Placeholder 2">
            <a:extLst>
              <a:ext uri="{FF2B5EF4-FFF2-40B4-BE49-F238E27FC236}">
                <a16:creationId xmlns:a16="http://schemas.microsoft.com/office/drawing/2014/main" id="{D3562416-73EA-1D7E-64FD-0C286E1ADF2F}"/>
              </a:ext>
            </a:extLst>
          </p:cNvPr>
          <p:cNvSpPr>
            <a:spLocks noGrp="1"/>
          </p:cNvSpPr>
          <p:nvPr>
            <p:ph type="body" sz="quarter" idx="10"/>
          </p:nvPr>
        </p:nvSpPr>
        <p:spPr>
          <a:xfrm>
            <a:off x="467545" y="1412776"/>
            <a:ext cx="8136903" cy="4752528"/>
          </a:xfrm>
        </p:spPr>
        <p:txBody>
          <a:bodyPr/>
          <a:lstStyle/>
          <a:p>
            <a:r>
              <a:rPr lang="en-GB" dirty="0"/>
              <a:t>Inertia is not a good metric when trying to choose </a:t>
            </a:r>
            <a:r>
              <a:rPr lang="en-GB" i="1" dirty="0"/>
              <a:t>k.</a:t>
            </a:r>
          </a:p>
          <a:p>
            <a:pPr lvl="1"/>
            <a:r>
              <a:rPr lang="en-GB" dirty="0"/>
              <a:t>Keeps getting lower as we increase </a:t>
            </a:r>
            <a:r>
              <a:rPr lang="en-GB" i="1" dirty="0"/>
              <a:t>k</a:t>
            </a:r>
          </a:p>
          <a:p>
            <a:pPr lvl="1"/>
            <a:r>
              <a:rPr lang="en-GB" dirty="0"/>
              <a:t>We may go with 4 as it seems like a sensible thing to choose the Elbow</a:t>
            </a:r>
          </a:p>
          <a:p>
            <a:pPr lvl="2"/>
            <a:endParaRPr lang="en-GB" dirty="0"/>
          </a:p>
          <a:p>
            <a:pPr lvl="1"/>
            <a:endParaRPr lang="en-GB" dirty="0"/>
          </a:p>
          <a:p>
            <a:pPr lvl="1"/>
            <a:endParaRPr lang="en-US" dirty="0"/>
          </a:p>
          <a:p>
            <a:pPr lvl="1"/>
            <a:endParaRPr lang="en-US" dirty="0"/>
          </a:p>
          <a:p>
            <a:pPr lvl="2"/>
            <a:endParaRPr lang="en-US" b="1" dirty="0"/>
          </a:p>
          <a:p>
            <a:endParaRPr lang="en-US" dirty="0"/>
          </a:p>
        </p:txBody>
      </p:sp>
      <p:pic>
        <p:nvPicPr>
          <p:cNvPr id="12290" name="Picture 2" descr="mls2 0908">
            <a:extLst>
              <a:ext uri="{FF2B5EF4-FFF2-40B4-BE49-F238E27FC236}">
                <a16:creationId xmlns:a16="http://schemas.microsoft.com/office/drawing/2014/main" id="{7847B1D2-55FA-8D1A-D161-CF33E79F05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2812" y="3140968"/>
            <a:ext cx="6978375" cy="2808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1021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2EE1A-24C3-A680-EAE8-F3AA4C07CD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7AAC52-296B-E43D-B0D0-59C127B964DC}"/>
              </a:ext>
            </a:extLst>
          </p:cNvPr>
          <p:cNvSpPr>
            <a:spLocks noGrp="1"/>
          </p:cNvSpPr>
          <p:nvPr>
            <p:ph type="title"/>
          </p:nvPr>
        </p:nvSpPr>
        <p:spPr>
          <a:xfrm>
            <a:off x="467544" y="620688"/>
            <a:ext cx="8136904" cy="648072"/>
          </a:xfrm>
        </p:spPr>
        <p:txBody>
          <a:bodyPr/>
          <a:lstStyle/>
          <a:p>
            <a:r>
              <a:rPr lang="en-US" dirty="0"/>
              <a:t>Silhouette score</a:t>
            </a:r>
            <a:endParaRPr lang="en-US" i="1"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BA48F7E-02A6-39EA-B3CC-309D519A924D}"/>
                  </a:ext>
                </a:extLst>
              </p:cNvPr>
              <p:cNvSpPr>
                <a:spLocks noGrp="1"/>
              </p:cNvSpPr>
              <p:nvPr>
                <p:ph type="body" sz="quarter" idx="10"/>
              </p:nvPr>
            </p:nvSpPr>
            <p:spPr>
              <a:xfrm>
                <a:off x="467545" y="1412776"/>
                <a:ext cx="8136903" cy="4752528"/>
              </a:xfrm>
            </p:spPr>
            <p:txBody>
              <a:bodyPr/>
              <a:lstStyle/>
              <a:p>
                <a:r>
                  <a:rPr lang="en-GB" dirty="0"/>
                  <a:t>Silhouette score is the mean </a:t>
                </a:r>
                <a:r>
                  <a:rPr lang="en-GB" i="1" dirty="0"/>
                  <a:t>silhouette coefficient</a:t>
                </a:r>
                <a:r>
                  <a:rPr lang="en-GB" dirty="0"/>
                  <a:t> over all the instances</a:t>
                </a:r>
              </a:p>
              <a:p>
                <a:r>
                  <a:rPr lang="en-GB" dirty="0"/>
                  <a:t>Silhouette coefficient for an instance </a:t>
                </a:r>
                <a14:m>
                  <m:oMath xmlns:m="http://schemas.openxmlformats.org/officeDocument/2006/math">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𝑎</m:t>
                        </m:r>
                      </m:num>
                      <m:den>
                        <m:r>
                          <m:rPr>
                            <m:sty m:val="p"/>
                          </m:rPr>
                          <a:rPr lang="en-GB" b="0" i="0" smtClean="0">
                            <a:latin typeface="Cambria Math" panose="02040503050406030204" pitchFamily="18" charset="0"/>
                          </a:rPr>
                          <m:t>max</m:t>
                        </m:r>
                        <m:r>
                          <a:rPr lang="en-GB" b="0" i="1" smtClean="0">
                            <a:latin typeface="Cambria Math" panose="02040503050406030204" pitchFamily="18" charset="0"/>
                          </a:rPr>
                          <m:t>⁡(</m:t>
                        </m:r>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r>
                          <a:rPr lang="en-GB" b="0" i="1" smtClean="0">
                            <a:latin typeface="Cambria Math" panose="02040503050406030204" pitchFamily="18" charset="0"/>
                          </a:rPr>
                          <m:t>)</m:t>
                        </m:r>
                      </m:den>
                    </m:f>
                  </m:oMath>
                </a14:m>
                <a:endParaRPr lang="en-GB" dirty="0"/>
              </a:p>
              <a:p>
                <a:pPr lvl="1"/>
                <a:r>
                  <a:rPr lang="en-GB" i="1" dirty="0"/>
                  <a:t>a </a:t>
                </a:r>
                <a:r>
                  <a:rPr lang="en-GB" dirty="0"/>
                  <a:t>is the mean distance to the other instances in the same cluster (i.e. mean intra-cluster distance)</a:t>
                </a:r>
              </a:p>
              <a:p>
                <a:pPr lvl="1"/>
                <a:r>
                  <a:rPr lang="en-GB" i="1" dirty="0"/>
                  <a:t>b</a:t>
                </a:r>
                <a:r>
                  <a:rPr lang="en-GB" dirty="0"/>
                  <a:t> is the mean nearest-cluster distance (i.e., the mean distance to the instances of the next closest cluster)</a:t>
                </a:r>
              </a:p>
              <a:p>
                <a:pPr lvl="1"/>
                <a:r>
                  <a:rPr lang="en-GB" dirty="0"/>
                  <a:t>Varies between -1 and 1</a:t>
                </a:r>
              </a:p>
              <a:p>
                <a:pPr lvl="2"/>
                <a:r>
                  <a:rPr lang="en-GB" dirty="0"/>
                  <a:t>Close to </a:t>
                </a:r>
                <a14:m>
                  <m:oMath xmlns:m="http://schemas.openxmlformats.org/officeDocument/2006/math">
                    <m:r>
                      <a:rPr lang="en-GB" i="1" dirty="0" smtClean="0">
                        <a:latin typeface="Cambria Math" panose="02040503050406030204" pitchFamily="18" charset="0"/>
                      </a:rPr>
                      <m:t>1</m:t>
                    </m:r>
                  </m:oMath>
                </a14:m>
                <a:r>
                  <a:rPr lang="en-GB" dirty="0"/>
                  <a:t> – instance is well inside its own cluster and far from other clusters</a:t>
                </a:r>
              </a:p>
              <a:p>
                <a:pPr lvl="2"/>
                <a:r>
                  <a:rPr lang="en-GB" dirty="0"/>
                  <a:t>Close to </a:t>
                </a:r>
                <a14:m>
                  <m:oMath xmlns:m="http://schemas.openxmlformats.org/officeDocument/2006/math">
                    <m:r>
                      <a:rPr lang="en-GB" i="1" dirty="0" smtClean="0">
                        <a:latin typeface="Cambria Math" panose="02040503050406030204" pitchFamily="18" charset="0"/>
                      </a:rPr>
                      <m:t>0</m:t>
                    </m:r>
                  </m:oMath>
                </a14:m>
                <a:r>
                  <a:rPr lang="en-GB" dirty="0"/>
                  <a:t> – close to a cluster boundary</a:t>
                </a:r>
              </a:p>
              <a:p>
                <a:pPr lvl="2"/>
                <a:r>
                  <a:rPr lang="en-GB" dirty="0"/>
                  <a:t>Close to </a:t>
                </a:r>
                <a14:m>
                  <m:oMath xmlns:m="http://schemas.openxmlformats.org/officeDocument/2006/math">
                    <m:r>
                      <a:rPr lang="en-GB" i="1" dirty="0" smtClean="0">
                        <a:latin typeface="Cambria Math" panose="02040503050406030204" pitchFamily="18" charset="0"/>
                      </a:rPr>
                      <m:t>−1</m:t>
                    </m:r>
                  </m:oMath>
                </a14:m>
                <a:r>
                  <a:rPr lang="en-GB" dirty="0"/>
                  <a:t> – instance may have been assigned to the wrong cluster</a:t>
                </a:r>
              </a:p>
              <a:p>
                <a:pPr lvl="1"/>
                <a:endParaRPr lang="en-GB" dirty="0"/>
              </a:p>
              <a:p>
                <a:pPr lvl="2"/>
                <a:endParaRPr lang="en-GB" dirty="0"/>
              </a:p>
              <a:p>
                <a:pPr lvl="1"/>
                <a:endParaRPr lang="en-GB" dirty="0"/>
              </a:p>
              <a:p>
                <a:pPr lvl="1"/>
                <a:endParaRPr lang="en-US" dirty="0"/>
              </a:p>
              <a:p>
                <a:pPr lvl="1"/>
                <a:endParaRPr lang="en-US" dirty="0"/>
              </a:p>
              <a:p>
                <a:pPr lvl="2"/>
                <a:endParaRPr lang="en-US" b="1" dirty="0"/>
              </a:p>
              <a:p>
                <a:endParaRPr lang="en-US" dirty="0"/>
              </a:p>
            </p:txBody>
          </p:sp>
        </mc:Choice>
        <mc:Fallback xmlns="">
          <p:sp>
            <p:nvSpPr>
              <p:cNvPr id="3" name="Text Placeholder 2">
                <a:extLst>
                  <a:ext uri="{FF2B5EF4-FFF2-40B4-BE49-F238E27FC236}">
                    <a16:creationId xmlns:a16="http://schemas.microsoft.com/office/drawing/2014/main" id="{2BA48F7E-02A6-39EA-B3CC-309D519A924D}"/>
                  </a:ext>
                </a:extLst>
              </p:cNvPr>
              <p:cNvSpPr>
                <a:spLocks noGrp="1" noRot="1" noChangeAspect="1" noMove="1" noResize="1" noEditPoints="1" noAdjustHandles="1" noChangeArrowheads="1" noChangeShapeType="1" noTextEdit="1"/>
              </p:cNvSpPr>
              <p:nvPr>
                <p:ph type="body" sz="quarter" idx="10"/>
              </p:nvPr>
            </p:nvSpPr>
            <p:spPr>
              <a:xfrm>
                <a:off x="467545" y="1412776"/>
                <a:ext cx="8136903" cy="4752528"/>
              </a:xfrm>
              <a:blipFill>
                <a:blip r:embed="rId3"/>
                <a:stretch>
                  <a:fillRect l="-623" t="-800" r="-1090" b="-7200"/>
                </a:stretch>
              </a:blipFill>
            </p:spPr>
            <p:txBody>
              <a:bodyPr/>
              <a:lstStyle/>
              <a:p>
                <a:r>
                  <a:rPr lang="en-US">
                    <a:noFill/>
                  </a:rPr>
                  <a:t> </a:t>
                </a:r>
              </a:p>
            </p:txBody>
          </p:sp>
        </mc:Fallback>
      </mc:AlternateContent>
    </p:spTree>
    <p:extLst>
      <p:ext uri="{BB962C8B-B14F-4D97-AF65-F5344CB8AC3E}">
        <p14:creationId xmlns:p14="http://schemas.microsoft.com/office/powerpoint/2010/main" val="4144644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F1E34-5F11-93DB-AB05-83965BE34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3F84F9-3463-6DB1-B218-5179B7E8C5E9}"/>
              </a:ext>
            </a:extLst>
          </p:cNvPr>
          <p:cNvSpPr>
            <a:spLocks noGrp="1"/>
          </p:cNvSpPr>
          <p:nvPr>
            <p:ph type="title"/>
          </p:nvPr>
        </p:nvSpPr>
        <p:spPr>
          <a:xfrm>
            <a:off x="467544" y="620688"/>
            <a:ext cx="8136904" cy="648072"/>
          </a:xfrm>
        </p:spPr>
        <p:txBody>
          <a:bodyPr/>
          <a:lstStyle/>
          <a:p>
            <a:r>
              <a:rPr lang="en-US" dirty="0"/>
              <a:t>Silhouette score vs. </a:t>
            </a:r>
            <a:r>
              <a:rPr lang="en-US" i="1" dirty="0"/>
              <a:t>k</a:t>
            </a:r>
          </a:p>
        </p:txBody>
      </p:sp>
      <p:sp>
        <p:nvSpPr>
          <p:cNvPr id="3" name="Text Placeholder 2">
            <a:extLst>
              <a:ext uri="{FF2B5EF4-FFF2-40B4-BE49-F238E27FC236}">
                <a16:creationId xmlns:a16="http://schemas.microsoft.com/office/drawing/2014/main" id="{F390BCF9-D453-81F9-BD03-D9F7ED3F7D41}"/>
              </a:ext>
            </a:extLst>
          </p:cNvPr>
          <p:cNvSpPr>
            <a:spLocks noGrp="1"/>
          </p:cNvSpPr>
          <p:nvPr>
            <p:ph type="body" sz="quarter" idx="10"/>
          </p:nvPr>
        </p:nvSpPr>
        <p:spPr>
          <a:xfrm>
            <a:off x="467545" y="1412776"/>
            <a:ext cx="8136903" cy="4752528"/>
          </a:xfrm>
        </p:spPr>
        <p:txBody>
          <a:bodyPr/>
          <a:lstStyle/>
          <a:p>
            <a:r>
              <a:rPr lang="en-GB" dirty="0"/>
              <a:t>Silhouette score for the example below</a:t>
            </a:r>
          </a:p>
          <a:p>
            <a:pPr marL="0" indent="0">
              <a:buNone/>
            </a:pPr>
            <a:endParaRPr lang="en-GB" dirty="0"/>
          </a:p>
          <a:p>
            <a:pPr lvl="1"/>
            <a:endParaRPr lang="en-GB" dirty="0"/>
          </a:p>
          <a:p>
            <a:pPr lvl="2"/>
            <a:endParaRPr lang="en-GB" dirty="0"/>
          </a:p>
          <a:p>
            <a:pPr lvl="1"/>
            <a:endParaRPr lang="en-GB" dirty="0"/>
          </a:p>
          <a:p>
            <a:pPr lvl="1"/>
            <a:endParaRPr lang="en-US" dirty="0"/>
          </a:p>
          <a:p>
            <a:pPr lvl="1"/>
            <a:endParaRPr lang="en-US" dirty="0"/>
          </a:p>
          <a:p>
            <a:pPr lvl="2"/>
            <a:endParaRPr lang="en-US" b="1" dirty="0"/>
          </a:p>
          <a:p>
            <a:endParaRPr lang="en-US" dirty="0"/>
          </a:p>
        </p:txBody>
      </p:sp>
      <p:pic>
        <p:nvPicPr>
          <p:cNvPr id="4" name="Picture 2" descr="mls2 0902">
            <a:extLst>
              <a:ext uri="{FF2B5EF4-FFF2-40B4-BE49-F238E27FC236}">
                <a16:creationId xmlns:a16="http://schemas.microsoft.com/office/drawing/2014/main" id="{0FB7EAEE-A501-E3D6-F8B8-6F1F810754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550" y="2132856"/>
            <a:ext cx="4062900" cy="1917181"/>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descr="mls2 0909">
            <a:extLst>
              <a:ext uri="{FF2B5EF4-FFF2-40B4-BE49-F238E27FC236}">
                <a16:creationId xmlns:a16="http://schemas.microsoft.com/office/drawing/2014/main" id="{FB61465C-8C8F-0E12-A9DF-1FF16A3CE6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0549" y="4432643"/>
            <a:ext cx="4062899" cy="13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0663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C922C-8270-EEDC-15FF-E7FD02E3F1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9CB122-D4B1-36B0-2A14-10743B1DC91C}"/>
              </a:ext>
            </a:extLst>
          </p:cNvPr>
          <p:cNvSpPr>
            <a:spLocks noGrp="1"/>
          </p:cNvSpPr>
          <p:nvPr>
            <p:ph type="title"/>
          </p:nvPr>
        </p:nvSpPr>
        <p:spPr>
          <a:xfrm>
            <a:off x="467544" y="620688"/>
            <a:ext cx="8136904" cy="648072"/>
          </a:xfrm>
        </p:spPr>
        <p:txBody>
          <a:bodyPr/>
          <a:lstStyle/>
          <a:p>
            <a:r>
              <a:rPr lang="en-US" dirty="0"/>
              <a:t>Silhouette score vs. </a:t>
            </a:r>
            <a:r>
              <a:rPr lang="en-US" i="1" dirty="0"/>
              <a:t>k</a:t>
            </a:r>
          </a:p>
        </p:txBody>
      </p:sp>
      <p:sp>
        <p:nvSpPr>
          <p:cNvPr id="3" name="Text Placeholder 2">
            <a:extLst>
              <a:ext uri="{FF2B5EF4-FFF2-40B4-BE49-F238E27FC236}">
                <a16:creationId xmlns:a16="http://schemas.microsoft.com/office/drawing/2014/main" id="{F2772FA6-E126-AF6D-96E9-29794A442183}"/>
              </a:ext>
            </a:extLst>
          </p:cNvPr>
          <p:cNvSpPr>
            <a:spLocks noGrp="1"/>
          </p:cNvSpPr>
          <p:nvPr>
            <p:ph type="body" sz="quarter" idx="10"/>
          </p:nvPr>
        </p:nvSpPr>
        <p:spPr>
          <a:xfrm>
            <a:off x="467545" y="1412776"/>
            <a:ext cx="8136903" cy="4752528"/>
          </a:xfrm>
        </p:spPr>
        <p:txBody>
          <a:bodyPr/>
          <a:lstStyle/>
          <a:p>
            <a:r>
              <a:rPr lang="en-GB" dirty="0"/>
              <a:t>Silhouette score for the example below</a:t>
            </a:r>
          </a:p>
          <a:p>
            <a:pPr marL="0" indent="0">
              <a:buNone/>
            </a:pPr>
            <a:endParaRPr lang="en-GB" dirty="0"/>
          </a:p>
          <a:p>
            <a:pPr lvl="1"/>
            <a:endParaRPr lang="en-GB" dirty="0"/>
          </a:p>
          <a:p>
            <a:pPr lvl="2"/>
            <a:endParaRPr lang="en-GB" dirty="0"/>
          </a:p>
          <a:p>
            <a:pPr lvl="1"/>
            <a:endParaRPr lang="en-GB" dirty="0"/>
          </a:p>
          <a:p>
            <a:pPr lvl="1"/>
            <a:endParaRPr lang="en-US" dirty="0"/>
          </a:p>
          <a:p>
            <a:pPr lvl="1"/>
            <a:endParaRPr lang="en-US" dirty="0"/>
          </a:p>
          <a:p>
            <a:pPr lvl="2"/>
            <a:endParaRPr lang="en-US" b="1" dirty="0"/>
          </a:p>
          <a:p>
            <a:endParaRPr lang="en-US" dirty="0"/>
          </a:p>
        </p:txBody>
      </p:sp>
      <p:pic>
        <p:nvPicPr>
          <p:cNvPr id="4" name="Picture 2" descr="mls2 0902">
            <a:extLst>
              <a:ext uri="{FF2B5EF4-FFF2-40B4-BE49-F238E27FC236}">
                <a16:creationId xmlns:a16="http://schemas.microsoft.com/office/drawing/2014/main" id="{CDCDB119-E812-BCDB-31D7-2AA231695B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550" y="2132856"/>
            <a:ext cx="4062900" cy="1917181"/>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descr="mls2 0909">
            <a:extLst>
              <a:ext uri="{FF2B5EF4-FFF2-40B4-BE49-F238E27FC236}">
                <a16:creationId xmlns:a16="http://schemas.microsoft.com/office/drawing/2014/main" id="{2B8B6FAB-0A5F-223D-988A-38755A37C7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0549" y="4432643"/>
            <a:ext cx="4062899" cy="138533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238F755-E1BE-D897-69BE-A23D337FC994}"/>
              </a:ext>
            </a:extLst>
          </p:cNvPr>
          <p:cNvSpPr txBox="1"/>
          <p:nvPr/>
        </p:nvSpPr>
        <p:spPr>
          <a:xfrm>
            <a:off x="6804248" y="3265207"/>
            <a:ext cx="2232248" cy="1569660"/>
          </a:xfrm>
          <a:prstGeom prst="rect">
            <a:avLst/>
          </a:prstGeom>
          <a:noFill/>
        </p:spPr>
        <p:txBody>
          <a:bodyPr wrap="square" rtlCol="0">
            <a:spAutoFit/>
          </a:bodyPr>
          <a:lstStyle/>
          <a:p>
            <a:r>
              <a:rPr lang="en-001" sz="1600" dirty="0">
                <a:solidFill>
                  <a:srgbClr val="495961"/>
                </a:solidFill>
              </a:rPr>
              <a:t>Limitations</a:t>
            </a:r>
            <a:r>
              <a:rPr lang="en-001" sz="1600" dirty="0"/>
              <a:t>:</a:t>
            </a:r>
          </a:p>
          <a:p>
            <a:pPr marL="285750" indent="-285750">
              <a:buFontTx/>
              <a:buChar char="-"/>
            </a:pPr>
            <a:r>
              <a:rPr lang="en-001" sz="1600" dirty="0"/>
              <a:t>Quadratic time complexity</a:t>
            </a:r>
          </a:p>
          <a:p>
            <a:pPr marL="285750" indent="-285750">
              <a:buFontTx/>
              <a:buChar char="-"/>
            </a:pPr>
            <a:r>
              <a:rPr lang="en-001" sz="1600" dirty="0"/>
              <a:t>Favours convex, compact clusters</a:t>
            </a:r>
          </a:p>
          <a:p>
            <a:pPr marL="285750" indent="-285750">
              <a:buFontTx/>
              <a:buChar char="-"/>
            </a:pPr>
            <a:endParaRPr lang="en-001" sz="1600" dirty="0"/>
          </a:p>
        </p:txBody>
      </p:sp>
    </p:spTree>
    <p:extLst>
      <p:ext uri="{BB962C8B-B14F-4D97-AF65-F5344CB8AC3E}">
        <p14:creationId xmlns:p14="http://schemas.microsoft.com/office/powerpoint/2010/main" val="344853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C592E-55CB-88D9-EC76-724F6A850E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D2E938-032C-5F7C-EEB1-FE3ED1C093DC}"/>
              </a:ext>
            </a:extLst>
          </p:cNvPr>
          <p:cNvSpPr>
            <a:spLocks noGrp="1"/>
          </p:cNvSpPr>
          <p:nvPr>
            <p:ph type="title"/>
          </p:nvPr>
        </p:nvSpPr>
        <p:spPr>
          <a:xfrm>
            <a:off x="467544" y="620688"/>
            <a:ext cx="8136904" cy="648072"/>
          </a:xfrm>
        </p:spPr>
        <p:txBody>
          <a:bodyPr/>
          <a:lstStyle/>
          <a:p>
            <a:r>
              <a:rPr lang="en-US" dirty="0"/>
              <a:t>Limitations of K-Means</a:t>
            </a:r>
            <a:endParaRPr lang="en-US" i="1" dirty="0"/>
          </a:p>
        </p:txBody>
      </p:sp>
      <p:sp>
        <p:nvSpPr>
          <p:cNvPr id="3" name="Text Placeholder 2">
            <a:extLst>
              <a:ext uri="{FF2B5EF4-FFF2-40B4-BE49-F238E27FC236}">
                <a16:creationId xmlns:a16="http://schemas.microsoft.com/office/drawing/2014/main" id="{1329D56B-9D92-025A-9660-B0CB0864CC17}"/>
              </a:ext>
            </a:extLst>
          </p:cNvPr>
          <p:cNvSpPr>
            <a:spLocks noGrp="1"/>
          </p:cNvSpPr>
          <p:nvPr>
            <p:ph type="body" sz="quarter" idx="10"/>
          </p:nvPr>
        </p:nvSpPr>
        <p:spPr>
          <a:xfrm>
            <a:off x="467545" y="1412776"/>
            <a:ext cx="8136903" cy="4752528"/>
          </a:xfrm>
        </p:spPr>
        <p:txBody>
          <a:bodyPr/>
          <a:lstStyle/>
          <a:p>
            <a:r>
              <a:rPr lang="en-GB" dirty="0"/>
              <a:t>Despite being fast and scalable, K-Means has some limitations</a:t>
            </a:r>
          </a:p>
          <a:p>
            <a:pPr lvl="1"/>
            <a:r>
              <a:rPr lang="en-GB" dirty="0"/>
              <a:t>You may need to run the algorithm several times to avoid suboptimal solutions</a:t>
            </a:r>
          </a:p>
          <a:p>
            <a:pPr lvl="1"/>
            <a:r>
              <a:rPr lang="en-GB" dirty="0"/>
              <a:t>You need to specify the number of clusters</a:t>
            </a:r>
          </a:p>
          <a:p>
            <a:pPr lvl="1"/>
            <a:r>
              <a:rPr lang="en-GB" dirty="0"/>
              <a:t>K-Means does not behave very well when the clusters have varying sizes, different densities, or nonspherical shapes</a:t>
            </a:r>
          </a:p>
          <a:p>
            <a:pPr marL="457200" lvl="1" indent="0">
              <a:buNone/>
            </a:pPr>
            <a:endParaRPr lang="en-GB" dirty="0"/>
          </a:p>
          <a:p>
            <a:pPr lvl="2"/>
            <a:endParaRPr lang="en-GB" dirty="0"/>
          </a:p>
          <a:p>
            <a:pPr lvl="1"/>
            <a:endParaRPr lang="en-GB" dirty="0"/>
          </a:p>
          <a:p>
            <a:pPr lvl="1"/>
            <a:endParaRPr lang="en-US" dirty="0"/>
          </a:p>
          <a:p>
            <a:pPr lvl="1"/>
            <a:endParaRPr lang="en-US" dirty="0"/>
          </a:p>
          <a:p>
            <a:pPr lvl="2"/>
            <a:endParaRPr lang="en-US" b="1" dirty="0"/>
          </a:p>
          <a:p>
            <a:endParaRPr lang="en-US" dirty="0"/>
          </a:p>
        </p:txBody>
      </p:sp>
      <p:pic>
        <p:nvPicPr>
          <p:cNvPr id="15362" name="Picture 2" descr="mls2 0911">
            <a:extLst>
              <a:ext uri="{FF2B5EF4-FFF2-40B4-BE49-F238E27FC236}">
                <a16:creationId xmlns:a16="http://schemas.microsoft.com/office/drawing/2014/main" id="{E0D32650-7F62-7F97-E275-7656E00025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7888" y="4077072"/>
            <a:ext cx="6588224" cy="194901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9CAF240-B6CC-21AA-4259-56F918D6760B}"/>
              </a:ext>
            </a:extLst>
          </p:cNvPr>
          <p:cNvSpPr txBox="1"/>
          <p:nvPr/>
        </p:nvSpPr>
        <p:spPr>
          <a:xfrm>
            <a:off x="2259281" y="6095754"/>
            <a:ext cx="4625438" cy="261610"/>
          </a:xfrm>
          <a:prstGeom prst="rect">
            <a:avLst/>
          </a:prstGeom>
          <a:noFill/>
        </p:spPr>
        <p:txBody>
          <a:bodyPr wrap="square">
            <a:spAutoFit/>
          </a:bodyPr>
          <a:lstStyle/>
          <a:p>
            <a:pPr algn="ctr"/>
            <a:r>
              <a:rPr lang="en-GB" sz="1100" b="0" i="0" u="none" strike="noStrike" dirty="0">
                <a:solidFill>
                  <a:srgbClr val="3D3B49"/>
                </a:solidFill>
                <a:effectLst/>
                <a:latin typeface="Noto serif" panose="02020600060500020200" pitchFamily="18" charset="0"/>
              </a:rPr>
              <a:t>K-Means fails to cluster ellipsoidal blobs properly</a:t>
            </a:r>
            <a:endParaRPr lang="en-US" sz="1100" dirty="0"/>
          </a:p>
        </p:txBody>
      </p:sp>
    </p:spTree>
    <p:extLst>
      <p:ext uri="{BB962C8B-B14F-4D97-AF65-F5344CB8AC3E}">
        <p14:creationId xmlns:p14="http://schemas.microsoft.com/office/powerpoint/2010/main" val="3957329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47BD7-35FA-23DA-9609-D47BBC3B0C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3C8640-D9C6-E808-BEC6-5AC09777267C}"/>
              </a:ext>
            </a:extLst>
          </p:cNvPr>
          <p:cNvSpPr>
            <a:spLocks noGrp="1"/>
          </p:cNvSpPr>
          <p:nvPr>
            <p:ph type="title"/>
          </p:nvPr>
        </p:nvSpPr>
        <p:spPr>
          <a:xfrm>
            <a:off x="467544" y="332656"/>
            <a:ext cx="8136904" cy="648072"/>
          </a:xfrm>
        </p:spPr>
        <p:txBody>
          <a:bodyPr/>
          <a:lstStyle/>
          <a:p>
            <a:r>
              <a:rPr lang="en-US" dirty="0"/>
              <a:t>DBSCAN</a:t>
            </a:r>
            <a:endParaRPr lang="en-US" i="1" dirty="0"/>
          </a:p>
        </p:txBody>
      </p:sp>
      <p:sp>
        <p:nvSpPr>
          <p:cNvPr id="3" name="Text Placeholder 2">
            <a:extLst>
              <a:ext uri="{FF2B5EF4-FFF2-40B4-BE49-F238E27FC236}">
                <a16:creationId xmlns:a16="http://schemas.microsoft.com/office/drawing/2014/main" id="{95DA02C4-926A-FF5A-3E51-95F3EF02F186}"/>
              </a:ext>
            </a:extLst>
          </p:cNvPr>
          <p:cNvSpPr>
            <a:spLocks noGrp="1"/>
          </p:cNvSpPr>
          <p:nvPr>
            <p:ph type="body" sz="quarter" idx="10"/>
          </p:nvPr>
        </p:nvSpPr>
        <p:spPr>
          <a:xfrm>
            <a:off x="467545" y="1124744"/>
            <a:ext cx="8136903" cy="4752528"/>
          </a:xfrm>
        </p:spPr>
        <p:txBody>
          <a:bodyPr/>
          <a:lstStyle/>
          <a:p>
            <a:r>
              <a:rPr lang="en-GB" dirty="0"/>
              <a:t>DBSCAN is a very simple yet powerful algorithm capable of identifying any number of clusters of any shape.</a:t>
            </a:r>
          </a:p>
          <a:p>
            <a:r>
              <a:rPr lang="en-GB" dirty="0"/>
              <a:t>DBSCAN defines clusters as continuous regions of high density.</a:t>
            </a:r>
          </a:p>
          <a:p>
            <a:pPr fontAlgn="base"/>
            <a:r>
              <a:rPr lang="en-GB" dirty="0"/>
              <a:t>For each instance, the algorithm counts how many instances are located within a small distance </a:t>
            </a:r>
            <a:r>
              <a:rPr lang="el-GR" dirty="0"/>
              <a:t>ε (</a:t>
            </a:r>
            <a:r>
              <a:rPr lang="en-GB" dirty="0"/>
              <a:t>epsilon) from it – called the instance’s </a:t>
            </a:r>
            <a:r>
              <a:rPr lang="el-GR" i="1" dirty="0"/>
              <a:t>ε-</a:t>
            </a:r>
            <a:r>
              <a:rPr lang="en-GB" i="1" dirty="0" err="1"/>
              <a:t>neighborhood</a:t>
            </a:r>
            <a:r>
              <a:rPr lang="en-GB" dirty="0"/>
              <a:t>.</a:t>
            </a:r>
          </a:p>
          <a:p>
            <a:pPr fontAlgn="base"/>
            <a:r>
              <a:rPr lang="en-GB" dirty="0"/>
              <a:t>If an instance has at least </a:t>
            </a:r>
            <a:r>
              <a:rPr lang="en-GB" i="1" dirty="0" err="1"/>
              <a:t>min_samples</a:t>
            </a:r>
            <a:r>
              <a:rPr lang="en-GB" i="1" dirty="0"/>
              <a:t> </a:t>
            </a:r>
            <a:r>
              <a:rPr lang="en-GB" dirty="0"/>
              <a:t>instances in its </a:t>
            </a:r>
            <a:r>
              <a:rPr lang="el-GR" dirty="0"/>
              <a:t>ε-</a:t>
            </a:r>
            <a:r>
              <a:rPr lang="en-GB" dirty="0" err="1"/>
              <a:t>neighborhood</a:t>
            </a:r>
            <a:r>
              <a:rPr lang="en-GB" dirty="0"/>
              <a:t> (including itself), it is considered a </a:t>
            </a:r>
            <a:r>
              <a:rPr lang="en-GB" i="1" dirty="0"/>
              <a:t>core instance</a:t>
            </a:r>
            <a:r>
              <a:rPr lang="en-GB" dirty="0"/>
              <a:t>. </a:t>
            </a:r>
            <a:r>
              <a:rPr lang="en-GB" dirty="0">
                <a:sym typeface="Wingdings" pitchFamily="2" charset="2"/>
              </a:rPr>
              <a:t> </a:t>
            </a:r>
            <a:r>
              <a:rPr lang="en-GB" dirty="0"/>
              <a:t>core instances are those that are located in dense regions.</a:t>
            </a:r>
          </a:p>
          <a:p>
            <a:pPr fontAlgn="base"/>
            <a:r>
              <a:rPr lang="en-GB" dirty="0"/>
              <a:t>All instances in the </a:t>
            </a:r>
            <a:r>
              <a:rPr lang="en-GB" dirty="0" err="1"/>
              <a:t>neighborhood</a:t>
            </a:r>
            <a:r>
              <a:rPr lang="en-GB" dirty="0"/>
              <a:t> of a core instance belong to the same cluster. This </a:t>
            </a:r>
            <a:r>
              <a:rPr lang="en-GB" dirty="0" err="1"/>
              <a:t>neighborhood</a:t>
            </a:r>
            <a:r>
              <a:rPr lang="en-GB" dirty="0"/>
              <a:t> may include other core instances; therefore, a long sequence of </a:t>
            </a:r>
            <a:r>
              <a:rPr lang="en-GB" dirty="0" err="1"/>
              <a:t>neighboring</a:t>
            </a:r>
            <a:r>
              <a:rPr lang="en-GB" dirty="0"/>
              <a:t> core instances forms a single cluster.</a:t>
            </a:r>
          </a:p>
          <a:p>
            <a:pPr lvl="1"/>
            <a:endParaRPr lang="en-GB" dirty="0"/>
          </a:p>
          <a:p>
            <a:pPr lvl="1"/>
            <a:endParaRPr lang="en-US" dirty="0"/>
          </a:p>
          <a:p>
            <a:pPr lvl="1"/>
            <a:endParaRPr lang="en-US" dirty="0"/>
          </a:p>
          <a:p>
            <a:pPr lvl="2"/>
            <a:endParaRPr lang="en-US" b="1" dirty="0"/>
          </a:p>
          <a:p>
            <a:endParaRPr lang="en-US" dirty="0"/>
          </a:p>
        </p:txBody>
      </p:sp>
    </p:spTree>
    <p:extLst>
      <p:ext uri="{BB962C8B-B14F-4D97-AF65-F5344CB8AC3E}">
        <p14:creationId xmlns:p14="http://schemas.microsoft.com/office/powerpoint/2010/main" val="341526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C3F53-BFF4-9677-5AE0-67C801B605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82C9D8-7E45-9417-1506-A5658F8B4C89}"/>
              </a:ext>
            </a:extLst>
          </p:cNvPr>
          <p:cNvSpPr>
            <a:spLocks noGrp="1"/>
          </p:cNvSpPr>
          <p:nvPr>
            <p:ph type="title"/>
          </p:nvPr>
        </p:nvSpPr>
        <p:spPr>
          <a:xfrm>
            <a:off x="467544" y="476672"/>
            <a:ext cx="8136904" cy="648072"/>
          </a:xfrm>
        </p:spPr>
        <p:txBody>
          <a:bodyPr/>
          <a:lstStyle/>
          <a:p>
            <a:r>
              <a:rPr lang="en-US" dirty="0"/>
              <a:t>DBSCAN</a:t>
            </a:r>
            <a:endParaRPr lang="en-US" i="1" dirty="0"/>
          </a:p>
        </p:txBody>
      </p:sp>
      <p:sp>
        <p:nvSpPr>
          <p:cNvPr id="3" name="Text Placeholder 2">
            <a:extLst>
              <a:ext uri="{FF2B5EF4-FFF2-40B4-BE49-F238E27FC236}">
                <a16:creationId xmlns:a16="http://schemas.microsoft.com/office/drawing/2014/main" id="{A2D4F1C8-0E81-EB38-4087-C2030EF31FA3}"/>
              </a:ext>
            </a:extLst>
          </p:cNvPr>
          <p:cNvSpPr>
            <a:spLocks noGrp="1"/>
          </p:cNvSpPr>
          <p:nvPr>
            <p:ph type="body" sz="quarter" idx="10"/>
          </p:nvPr>
        </p:nvSpPr>
        <p:spPr>
          <a:xfrm>
            <a:off x="467545" y="1268760"/>
            <a:ext cx="8136903" cy="4752528"/>
          </a:xfrm>
        </p:spPr>
        <p:txBody>
          <a:bodyPr/>
          <a:lstStyle/>
          <a:p>
            <a:pPr fontAlgn="base"/>
            <a:r>
              <a:rPr lang="en-GB" dirty="0"/>
              <a:t>Any instance that is not a core instance and does not have one in its </a:t>
            </a:r>
            <a:r>
              <a:rPr lang="en-GB" dirty="0" err="1"/>
              <a:t>neighborhood</a:t>
            </a:r>
            <a:r>
              <a:rPr lang="en-GB" dirty="0"/>
              <a:t> is considered an </a:t>
            </a:r>
            <a:r>
              <a:rPr lang="en-GB" b="1" dirty="0"/>
              <a:t>anomaly</a:t>
            </a:r>
            <a:r>
              <a:rPr lang="en-GB" dirty="0"/>
              <a:t>.</a:t>
            </a:r>
          </a:p>
          <a:p>
            <a:pPr fontAlgn="base"/>
            <a:r>
              <a:rPr lang="en-GB" dirty="0"/>
              <a:t>DBSCAN works well if all the clusters are dense enough and if they are well separated by low-density regions.</a:t>
            </a:r>
          </a:p>
          <a:p>
            <a:pPr fontAlgn="base"/>
            <a:r>
              <a:rPr lang="en-GB" dirty="0"/>
              <a:t>It has two hyperparameters – </a:t>
            </a:r>
            <a:r>
              <a:rPr lang="el-GR" dirty="0"/>
              <a:t>ε (</a:t>
            </a:r>
            <a:r>
              <a:rPr lang="en-GB" dirty="0"/>
              <a:t>epsilon) and </a:t>
            </a:r>
            <a:r>
              <a:rPr lang="en-GB" i="1" dirty="0" err="1"/>
              <a:t>min_samples</a:t>
            </a:r>
            <a:endParaRPr lang="en-GB" i="1" dirty="0"/>
          </a:p>
          <a:p>
            <a:pPr fontAlgn="base"/>
            <a:r>
              <a:rPr lang="en-GB" dirty="0"/>
              <a:t>If the density varies significantly across the clusters, it can be impossible for it to capture all the clusters properly.</a:t>
            </a:r>
          </a:p>
          <a:p>
            <a:pPr fontAlgn="base"/>
            <a:endParaRPr lang="en-GB" dirty="0"/>
          </a:p>
          <a:p>
            <a:pPr fontAlgn="base"/>
            <a:endParaRPr lang="en-GB" dirty="0"/>
          </a:p>
          <a:p>
            <a:pPr lvl="2"/>
            <a:endParaRPr lang="en-GB" dirty="0"/>
          </a:p>
          <a:p>
            <a:pPr lvl="1"/>
            <a:endParaRPr lang="en-GB" dirty="0"/>
          </a:p>
          <a:p>
            <a:pPr lvl="1"/>
            <a:endParaRPr lang="en-US" dirty="0"/>
          </a:p>
          <a:p>
            <a:pPr lvl="1"/>
            <a:endParaRPr lang="en-US" dirty="0"/>
          </a:p>
          <a:p>
            <a:pPr lvl="2"/>
            <a:endParaRPr lang="en-US" b="1" dirty="0"/>
          </a:p>
          <a:p>
            <a:endParaRPr lang="en-US" dirty="0"/>
          </a:p>
        </p:txBody>
      </p:sp>
      <p:pic>
        <p:nvPicPr>
          <p:cNvPr id="4" name="Picture 2" descr="mls2 0914">
            <a:extLst>
              <a:ext uri="{FF2B5EF4-FFF2-40B4-BE49-F238E27FC236}">
                <a16:creationId xmlns:a16="http://schemas.microsoft.com/office/drawing/2014/main" id="{74BC85B9-0A40-492A-CC54-F18BD476C5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9876" y="4077072"/>
            <a:ext cx="6804248" cy="2244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90838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78525-6F6A-1FE2-0EA4-4C9E5A83C6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8E050D-C037-B0F9-18EA-5B009172136C}"/>
              </a:ext>
            </a:extLst>
          </p:cNvPr>
          <p:cNvSpPr>
            <a:spLocks noGrp="1"/>
          </p:cNvSpPr>
          <p:nvPr>
            <p:ph type="title"/>
          </p:nvPr>
        </p:nvSpPr>
        <p:spPr>
          <a:xfrm>
            <a:off x="467544" y="476672"/>
            <a:ext cx="8136904" cy="648072"/>
          </a:xfrm>
        </p:spPr>
        <p:txBody>
          <a:bodyPr/>
          <a:lstStyle/>
          <a:p>
            <a:r>
              <a:rPr lang="en-US" dirty="0"/>
              <a:t>DBSCAN</a:t>
            </a:r>
            <a:endParaRPr lang="en-US" i="1" dirty="0"/>
          </a:p>
        </p:txBody>
      </p:sp>
      <p:sp>
        <p:nvSpPr>
          <p:cNvPr id="3" name="Text Placeholder 2">
            <a:extLst>
              <a:ext uri="{FF2B5EF4-FFF2-40B4-BE49-F238E27FC236}">
                <a16:creationId xmlns:a16="http://schemas.microsoft.com/office/drawing/2014/main" id="{FEE77E4F-870A-51BB-DEDA-5909E4512F46}"/>
              </a:ext>
            </a:extLst>
          </p:cNvPr>
          <p:cNvSpPr>
            <a:spLocks noGrp="1"/>
          </p:cNvSpPr>
          <p:nvPr>
            <p:ph type="body" sz="quarter" idx="10"/>
          </p:nvPr>
        </p:nvSpPr>
        <p:spPr>
          <a:xfrm>
            <a:off x="467545" y="1268760"/>
            <a:ext cx="8136903" cy="4752528"/>
          </a:xfrm>
        </p:spPr>
        <p:txBody>
          <a:bodyPr/>
          <a:lstStyle/>
          <a:p>
            <a:pPr fontAlgn="base"/>
            <a:r>
              <a:rPr lang="en-GB" dirty="0"/>
              <a:t>A powerful algorithm that can identify any number of clusters of any shape.</a:t>
            </a:r>
          </a:p>
          <a:p>
            <a:pPr fontAlgn="base"/>
            <a:endParaRPr lang="en-GB" dirty="0"/>
          </a:p>
          <a:p>
            <a:pPr fontAlgn="base"/>
            <a:r>
              <a:rPr lang="en-GB" dirty="0"/>
              <a:t>Computational Complexity:</a:t>
            </a:r>
          </a:p>
          <a:p>
            <a:pPr lvl="1" fontAlgn="base"/>
            <a:r>
              <a:rPr lang="en-GB" dirty="0"/>
              <a:t>O(m log m), indexed properly (e.g. spatially indexed using k-d tree)</a:t>
            </a:r>
          </a:p>
          <a:p>
            <a:pPr lvl="1" fontAlgn="base"/>
            <a:r>
              <a:rPr lang="en-GB" dirty="0"/>
              <a:t>Can require O(m</a:t>
            </a:r>
            <a:r>
              <a:rPr lang="en-GB" baseline="30000" dirty="0"/>
              <a:t>2</a:t>
            </a:r>
            <a:r>
              <a:rPr lang="en-GB" dirty="0"/>
              <a:t>) memory is eps is large;</a:t>
            </a:r>
          </a:p>
          <a:p>
            <a:pPr fontAlgn="base"/>
            <a:endParaRPr lang="en-GB" dirty="0"/>
          </a:p>
          <a:p>
            <a:pPr fontAlgn="base"/>
            <a:endParaRPr lang="en-GB" dirty="0"/>
          </a:p>
          <a:p>
            <a:pPr lvl="2"/>
            <a:endParaRPr lang="en-GB" dirty="0"/>
          </a:p>
          <a:p>
            <a:pPr lvl="1"/>
            <a:endParaRPr lang="en-GB" dirty="0"/>
          </a:p>
          <a:p>
            <a:pPr lvl="1"/>
            <a:endParaRPr lang="en-US" dirty="0"/>
          </a:p>
          <a:p>
            <a:pPr lvl="1"/>
            <a:endParaRPr lang="en-US" dirty="0"/>
          </a:p>
          <a:p>
            <a:pPr lvl="2"/>
            <a:endParaRPr lang="en-US" b="1" dirty="0"/>
          </a:p>
          <a:p>
            <a:endParaRPr lang="en-US" dirty="0"/>
          </a:p>
        </p:txBody>
      </p:sp>
    </p:spTree>
    <p:extLst>
      <p:ext uri="{BB962C8B-B14F-4D97-AF65-F5344CB8AC3E}">
        <p14:creationId xmlns:p14="http://schemas.microsoft.com/office/powerpoint/2010/main" val="843207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E04B3-6BF3-8AEF-4E7F-4B7C081CBE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F861B-91B3-849B-4A77-9AF8C146EB3D}"/>
              </a:ext>
            </a:extLst>
          </p:cNvPr>
          <p:cNvSpPr>
            <a:spLocks noGrp="1"/>
          </p:cNvSpPr>
          <p:nvPr>
            <p:ph type="title"/>
          </p:nvPr>
        </p:nvSpPr>
        <p:spPr>
          <a:xfrm>
            <a:off x="467544" y="764704"/>
            <a:ext cx="8136904" cy="648072"/>
          </a:xfrm>
        </p:spPr>
        <p:txBody>
          <a:bodyPr/>
          <a:lstStyle/>
          <a:p>
            <a:r>
              <a:rPr lang="en-US" dirty="0"/>
              <a:t>Gaussian Mixture Models</a:t>
            </a:r>
            <a:endParaRPr lang="en-US" i="1"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4A82941-6D85-44EF-8C8F-CF4A945B203E}"/>
                  </a:ext>
                </a:extLst>
              </p:cNvPr>
              <p:cNvSpPr>
                <a:spLocks noGrp="1"/>
              </p:cNvSpPr>
              <p:nvPr>
                <p:ph type="body" sz="quarter" idx="10"/>
              </p:nvPr>
            </p:nvSpPr>
            <p:spPr>
              <a:xfrm>
                <a:off x="467545" y="1556792"/>
                <a:ext cx="8136903" cy="4752528"/>
              </a:xfrm>
            </p:spPr>
            <p:txBody>
              <a:bodyPr/>
              <a:lstStyle/>
              <a:p>
                <a:pPr fontAlgn="base"/>
                <a:r>
                  <a:rPr lang="en-GB" i="1" dirty="0"/>
                  <a:t>Gaussian mixture model </a:t>
                </a:r>
                <a:r>
                  <a:rPr lang="en-GB" dirty="0"/>
                  <a:t>(GMM) is a probabilistic model –assumes that the instances were generated from a mixture of several Gaussian distributions whose parameters are unknown</a:t>
                </a:r>
              </a:p>
              <a:p>
                <a:pPr fontAlgn="base"/>
                <a:r>
                  <a:rPr lang="en-GB" dirty="0"/>
                  <a:t>For a known k number of Gaussian distributions, the dataset is assumed to be generated as follows:</a:t>
                </a:r>
              </a:p>
              <a:p>
                <a:pPr lvl="1" fontAlgn="base"/>
                <a:r>
                  <a:rPr lang="en-GB" dirty="0"/>
                  <a:t>For each instance, a cluster </a:t>
                </a:r>
                <a14:m>
                  <m:oMath xmlns:m="http://schemas.openxmlformats.org/officeDocument/2006/math">
                    <m:r>
                      <a:rPr lang="en-GB" i="1" dirty="0" smtClean="0">
                        <a:latin typeface="Cambria Math" panose="02040503050406030204" pitchFamily="18" charset="0"/>
                      </a:rPr>
                      <m:t>𝑗</m:t>
                    </m:r>
                  </m:oMath>
                </a14:m>
                <a:r>
                  <a:rPr lang="en-GB" dirty="0"/>
                  <a:t> is picked randomly from among </a:t>
                </a:r>
                <a:r>
                  <a:rPr lang="en-GB" i="1" dirty="0"/>
                  <a:t>k</a:t>
                </a:r>
                <a:r>
                  <a:rPr lang="en-GB" dirty="0"/>
                  <a:t> clusters.</a:t>
                </a:r>
              </a:p>
              <a:p>
                <a:pPr lvl="1" fontAlgn="base"/>
                <a:r>
                  <a:rPr lang="en-GB" dirty="0"/>
                  <a:t>The location of this instance is sampled randomly from the Gaussian distribution with mean </a:t>
                </a:r>
                <a:r>
                  <a:rPr lang="el-GR" b="1" dirty="0"/>
                  <a:t>μ</a:t>
                </a:r>
                <a:r>
                  <a:rPr lang="el-GR" b="1" baseline="30000" dirty="0"/>
                  <a:t>(</a:t>
                </a:r>
                <a:r>
                  <a:rPr lang="en-GB" b="1" i="1" baseline="30000" dirty="0"/>
                  <a:t>j</a:t>
                </a:r>
                <a:r>
                  <a:rPr lang="en-GB" b="1" baseline="30000" dirty="0"/>
                  <a:t>)</a:t>
                </a:r>
                <a:r>
                  <a:rPr lang="en-GB" dirty="0"/>
                  <a:t> and covariance matrix </a:t>
                </a:r>
                <a:r>
                  <a:rPr lang="el-GR" b="1" dirty="0"/>
                  <a:t>Σ</a:t>
                </a:r>
                <a:r>
                  <a:rPr lang="el-GR" b="1" baseline="30000" dirty="0"/>
                  <a:t>(</a:t>
                </a:r>
                <a:r>
                  <a:rPr lang="en-GB" b="1" i="1" baseline="30000" dirty="0"/>
                  <a:t>j</a:t>
                </a:r>
                <a:r>
                  <a:rPr lang="en-GB" b="1" baseline="30000" dirty="0"/>
                  <a:t>)</a:t>
                </a:r>
                <a:endParaRPr lang="en-GB" dirty="0"/>
              </a:p>
              <a:p>
                <a:pPr fontAlgn="base"/>
                <a:r>
                  <a:rPr lang="en-GB" dirty="0"/>
                  <a:t>All the instances generated from a single Gaussian distribution form a cluster that typically looks like an ellipsoid.</a:t>
                </a:r>
              </a:p>
              <a:p>
                <a:pPr fontAlgn="base"/>
                <a:endParaRPr lang="en-GB" dirty="0"/>
              </a:p>
              <a:p>
                <a:pPr fontAlgn="base"/>
                <a:endParaRPr lang="en-GB" dirty="0"/>
              </a:p>
              <a:p>
                <a:pPr lvl="2"/>
                <a:endParaRPr lang="en-GB" dirty="0"/>
              </a:p>
              <a:p>
                <a:pPr lvl="1"/>
                <a:endParaRPr lang="en-GB" dirty="0"/>
              </a:p>
              <a:p>
                <a:pPr lvl="1"/>
                <a:endParaRPr lang="en-US" dirty="0"/>
              </a:p>
              <a:p>
                <a:pPr lvl="1"/>
                <a:endParaRPr lang="en-US" dirty="0"/>
              </a:p>
              <a:p>
                <a:pPr lvl="2"/>
                <a:endParaRPr lang="en-US" b="1" dirty="0"/>
              </a:p>
              <a:p>
                <a:endParaRPr lang="en-US" dirty="0"/>
              </a:p>
            </p:txBody>
          </p:sp>
        </mc:Choice>
        <mc:Fallback xmlns="">
          <p:sp>
            <p:nvSpPr>
              <p:cNvPr id="3" name="Text Placeholder 2">
                <a:extLst>
                  <a:ext uri="{FF2B5EF4-FFF2-40B4-BE49-F238E27FC236}">
                    <a16:creationId xmlns:a16="http://schemas.microsoft.com/office/drawing/2014/main" id="{B4A82941-6D85-44EF-8C8F-CF4A945B203E}"/>
                  </a:ext>
                </a:extLst>
              </p:cNvPr>
              <p:cNvSpPr>
                <a:spLocks noGrp="1" noRot="1" noChangeAspect="1" noMove="1" noResize="1" noEditPoints="1" noAdjustHandles="1" noChangeArrowheads="1" noChangeShapeType="1" noTextEdit="1"/>
              </p:cNvSpPr>
              <p:nvPr>
                <p:ph type="body" sz="quarter" idx="10"/>
              </p:nvPr>
            </p:nvSpPr>
            <p:spPr>
              <a:xfrm>
                <a:off x="467545" y="1556792"/>
                <a:ext cx="8136903" cy="4752528"/>
              </a:xfrm>
              <a:blipFill>
                <a:blip r:embed="rId3"/>
                <a:stretch>
                  <a:fillRect l="-623" t="-533" r="-1558"/>
                </a:stretch>
              </a:blipFill>
            </p:spPr>
            <p:txBody>
              <a:bodyPr/>
              <a:lstStyle/>
              <a:p>
                <a:r>
                  <a:rPr lang="en-US">
                    <a:noFill/>
                  </a:rPr>
                  <a:t> </a:t>
                </a:r>
              </a:p>
            </p:txBody>
          </p:sp>
        </mc:Fallback>
      </mc:AlternateContent>
    </p:spTree>
    <p:extLst>
      <p:ext uri="{BB962C8B-B14F-4D97-AF65-F5344CB8AC3E}">
        <p14:creationId xmlns:p14="http://schemas.microsoft.com/office/powerpoint/2010/main" val="29067084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32756-3440-F583-BC79-212A3296E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3546D-89E1-23C8-2F8E-0E83A490A20D}"/>
              </a:ext>
            </a:extLst>
          </p:cNvPr>
          <p:cNvSpPr>
            <a:spLocks noGrp="1"/>
          </p:cNvSpPr>
          <p:nvPr>
            <p:ph type="title"/>
          </p:nvPr>
        </p:nvSpPr>
        <p:spPr>
          <a:xfrm>
            <a:off x="467544" y="764704"/>
            <a:ext cx="8136904" cy="648072"/>
          </a:xfrm>
        </p:spPr>
        <p:txBody>
          <a:bodyPr/>
          <a:lstStyle/>
          <a:p>
            <a:r>
              <a:rPr lang="en-US" dirty="0"/>
              <a:t>Data generation in GMMs</a:t>
            </a:r>
            <a:endParaRPr lang="en-US" i="1" dirty="0"/>
          </a:p>
        </p:txBody>
      </p:sp>
      <p:pic>
        <p:nvPicPr>
          <p:cNvPr id="6" name="Picture 2" descr="generative procees in GMM">
            <a:extLst>
              <a:ext uri="{FF2B5EF4-FFF2-40B4-BE49-F238E27FC236}">
                <a16:creationId xmlns:a16="http://schemas.microsoft.com/office/drawing/2014/main" id="{FCD156F1-6ECE-F799-ECA7-6DD1B46341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3882" y="1683240"/>
            <a:ext cx="6624228" cy="349152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A9E9823-E6C7-A363-5DED-67E9364885E2}"/>
              </a:ext>
            </a:extLst>
          </p:cNvPr>
          <p:cNvSpPr txBox="1"/>
          <p:nvPr/>
        </p:nvSpPr>
        <p:spPr>
          <a:xfrm>
            <a:off x="467544" y="5517232"/>
            <a:ext cx="8136904" cy="646331"/>
          </a:xfrm>
          <a:prstGeom prst="rect">
            <a:avLst/>
          </a:prstGeom>
          <a:noFill/>
        </p:spPr>
        <p:txBody>
          <a:bodyPr wrap="square">
            <a:spAutoFit/>
          </a:bodyPr>
          <a:lstStyle/>
          <a:p>
            <a:pPr fontAlgn="base"/>
            <a:r>
              <a:rPr lang="en-GB" dirty="0"/>
              <a:t>To train a GMM, given the dataset </a:t>
            </a:r>
            <a:r>
              <a:rPr lang="en-GB" b="1" dirty="0"/>
              <a:t>X</a:t>
            </a:r>
            <a:r>
              <a:rPr lang="en-GB" dirty="0"/>
              <a:t>, you want to estimate the weights </a:t>
            </a:r>
            <a:r>
              <a:rPr lang="el-GR" b="1" dirty="0" err="1"/>
              <a:t>ϕ</a:t>
            </a:r>
            <a:r>
              <a:rPr lang="el-GR" dirty="0"/>
              <a:t> </a:t>
            </a:r>
            <a:r>
              <a:rPr lang="en-GB" dirty="0"/>
              <a:t>and all the distribution parameters </a:t>
            </a:r>
            <a:r>
              <a:rPr lang="el-GR" b="1" dirty="0"/>
              <a:t>μ</a:t>
            </a:r>
            <a:r>
              <a:rPr lang="el-GR" b="1" baseline="30000" dirty="0"/>
              <a:t>(</a:t>
            </a:r>
            <a:r>
              <a:rPr lang="en-GB" b="1" i="1" baseline="30000" dirty="0"/>
              <a:t>j</a:t>
            </a:r>
            <a:r>
              <a:rPr lang="en-GB" b="1" baseline="30000" dirty="0"/>
              <a:t>)</a:t>
            </a:r>
            <a:r>
              <a:rPr lang="en-GB" dirty="0"/>
              <a:t> and </a:t>
            </a:r>
            <a:r>
              <a:rPr lang="el-GR" b="1" dirty="0"/>
              <a:t>Σ</a:t>
            </a:r>
            <a:r>
              <a:rPr lang="el-GR" b="1" baseline="30000" dirty="0"/>
              <a:t>(</a:t>
            </a:r>
            <a:r>
              <a:rPr lang="en-GB" b="1" i="1" baseline="30000" dirty="0"/>
              <a:t>j</a:t>
            </a:r>
            <a:r>
              <a:rPr lang="en-GB" b="1" baseline="30000" dirty="0"/>
              <a:t>)</a:t>
            </a:r>
            <a:r>
              <a:rPr lang="en-GB" dirty="0"/>
              <a:t>.</a:t>
            </a:r>
          </a:p>
        </p:txBody>
      </p:sp>
    </p:spTree>
    <p:extLst>
      <p:ext uri="{BB962C8B-B14F-4D97-AF65-F5344CB8AC3E}">
        <p14:creationId xmlns:p14="http://schemas.microsoft.com/office/powerpoint/2010/main" val="39331167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8DCEA-3F29-F758-E1B9-082ADC872B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198936-397A-2DB5-B4B0-7E8126EDE051}"/>
              </a:ext>
            </a:extLst>
          </p:cNvPr>
          <p:cNvSpPr>
            <a:spLocks noGrp="1"/>
          </p:cNvSpPr>
          <p:nvPr>
            <p:ph type="title"/>
          </p:nvPr>
        </p:nvSpPr>
        <p:spPr>
          <a:xfrm>
            <a:off x="467544" y="476671"/>
            <a:ext cx="8136904" cy="736445"/>
          </a:xfrm>
        </p:spPr>
        <p:txBody>
          <a:bodyPr/>
          <a:lstStyle/>
          <a:p>
            <a:r>
              <a:rPr lang="en-US" dirty="0"/>
              <a:t>Training Gaussian Mixture Models</a:t>
            </a:r>
            <a:endParaRPr lang="en-US" i="1"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9729FC3-64E6-1F21-5C13-E406586B767F}"/>
                  </a:ext>
                </a:extLst>
              </p:cNvPr>
              <p:cNvSpPr>
                <a:spLocks noGrp="1"/>
              </p:cNvSpPr>
              <p:nvPr>
                <p:ph type="body" sz="quarter" idx="10"/>
              </p:nvPr>
            </p:nvSpPr>
            <p:spPr>
              <a:xfrm>
                <a:off x="467545" y="1268760"/>
                <a:ext cx="8136903" cy="5400600"/>
              </a:xfrm>
            </p:spPr>
            <p:txBody>
              <a:bodyPr/>
              <a:lstStyle/>
              <a:p>
                <a:pPr fontAlgn="base"/>
                <a:r>
                  <a:rPr lang="en-GB" dirty="0"/>
                  <a:t>Expectation-Maximization (EM) Algorithm </a:t>
                </a:r>
              </a:p>
              <a:p>
                <a:pPr lvl="1" fontAlgn="base"/>
                <a:r>
                  <a:rPr lang="en-GB" dirty="0"/>
                  <a:t>Initialize the cluster parameters randomly</a:t>
                </a:r>
              </a:p>
              <a:p>
                <a:pPr lvl="1" fontAlgn="base"/>
                <a:r>
                  <a:rPr lang="en-GB" dirty="0"/>
                  <a:t>For each instance,</a:t>
                </a:r>
              </a:p>
              <a:p>
                <a:pPr lvl="2" fontAlgn="base"/>
                <a:r>
                  <a:rPr lang="en-GB" dirty="0"/>
                  <a:t>E-step – estimates the probabilities, also called </a:t>
                </a:r>
                <a:r>
                  <a:rPr lang="en-GB" b="1" dirty="0"/>
                  <a:t>responsibilities</a:t>
                </a:r>
                <a:r>
                  <a:rPr lang="en-GB" dirty="0"/>
                  <a:t>, that it belongs to each cluster (based on the current cluster parameters)</a:t>
                </a:r>
              </a:p>
              <a:p>
                <a:pPr marL="1371600" lvl="3" indent="0" fontAlgn="base">
                  <a:buNone/>
                </a:pPr>
                <a14:m>
                  <m:oMathPara xmlns:m="http://schemas.openxmlformats.org/officeDocument/2006/math">
                    <m:oMath>
                      <m:sSub>
                        <m:sSubPr>
                          <m:ctrlPr>
                            <a:rPr lang="en-GB" i="1" smtClean="0">
                              <a:latin typeface="Cambria Math" panose="02040503050406030204" pitchFamily="18" charset="0"/>
                              <a:ea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𝛾</m:t>
                          </m:r>
                        </m:e>
                        <m:sub>
                          <m:r>
                            <a:rPr lang="en-GB" b="0" i="1" smtClean="0">
                              <a:latin typeface="Cambria Math" panose="02040503050406030204" pitchFamily="18" charset="0"/>
                            </a:rPr>
                            <m:t>𝑖𝑘</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𝜋</m:t>
                              </m:r>
                            </m:e>
                            <m:sub>
                              <m:r>
                                <a:rPr lang="en-GB" b="0" i="1" smtClean="0">
                                  <a:latin typeface="Cambria Math" panose="02040503050406030204" pitchFamily="18" charset="0"/>
                                </a:rPr>
                                <m:t>𝑘</m:t>
                              </m:r>
                            </m:sub>
                          </m:sSub>
                          <m:r>
                            <a:rPr lang="en-GB" b="0" i="1" smtClean="0">
                              <a:latin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𝒩</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𝜇</m:t>
                              </m:r>
                            </m:e>
                            <m:sub>
                              <m:r>
                                <a:rPr lang="en-GB" b="0" i="1" smtClean="0">
                                  <a:latin typeface="Cambria Math" panose="02040503050406030204" pitchFamily="18" charset="0"/>
                                </a:rPr>
                                <m:t>𝑘</m:t>
                              </m:r>
                            </m:sub>
                          </m:sSub>
                          <m:r>
                            <a:rPr lang="en-GB" b="0" i="1" smtClean="0">
                              <a:latin typeface="Cambria Math" panose="02040503050406030204" pitchFamily="18" charset="0"/>
                            </a:rPr>
                            <m:t>,</m:t>
                          </m:r>
                          <m:sSub>
                            <m:sSubPr>
                              <m:ctrlPr>
                                <a:rPr lang="el-GR" b="0" i="1" smtClean="0">
                                  <a:latin typeface="Cambria Math" panose="02040503050406030204" pitchFamily="18" charset="0"/>
                                  <a:ea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Σ</m:t>
                              </m:r>
                            </m:e>
                            <m:sub>
                              <m:r>
                                <a:rPr lang="en-GB" b="0" i="1" smtClean="0">
                                  <a:latin typeface="Cambria Math" panose="02040503050406030204" pitchFamily="18" charset="0"/>
                                </a:rPr>
                                <m:t>𝑘</m:t>
                              </m:r>
                            </m:sub>
                          </m:sSub>
                          <m:r>
                            <a:rPr lang="en-GB" b="0" i="1" smtClean="0">
                              <a:latin typeface="Cambria Math" panose="02040503050406030204" pitchFamily="18" charset="0"/>
                            </a:rPr>
                            <m:t>)</m:t>
                          </m:r>
                        </m:num>
                        <m:den>
                          <m:nary>
                            <m:naryPr>
                              <m:chr m:val="∑"/>
                              <m:limLoc m:val="subSup"/>
                              <m:ctrlPr>
                                <a:rPr lang="en-GB" b="0" i="1" smtClean="0">
                                  <a:latin typeface="Cambria Math" panose="02040503050406030204" pitchFamily="18" charset="0"/>
                                </a:rPr>
                              </m:ctrlPr>
                            </m:naryPr>
                            <m:sub>
                              <m:r>
                                <m:rPr>
                                  <m:brk m:alnAt="25"/>
                                </m:rPr>
                                <a:rPr lang="en-GB" b="0" i="1" smtClean="0">
                                  <a:latin typeface="Cambria Math" panose="02040503050406030204" pitchFamily="18" charset="0"/>
                                </a:rPr>
                                <m:t>𝑗</m:t>
                              </m:r>
                              <m:r>
                                <a:rPr lang="en-GB" b="0" i="1" smtClean="0">
                                  <a:latin typeface="Cambria Math" panose="02040503050406030204" pitchFamily="18" charset="0"/>
                                </a:rPr>
                                <m:t>=1</m:t>
                              </m:r>
                            </m:sub>
                            <m:sup>
                              <m:r>
                                <a:rPr lang="en-GB" b="0" i="1" smtClean="0">
                                  <a:latin typeface="Cambria Math" panose="02040503050406030204" pitchFamily="18" charset="0"/>
                                </a:rPr>
                                <m:t>𝐾</m:t>
                              </m:r>
                            </m:sup>
                            <m:e>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𝜋</m:t>
                                  </m:r>
                                </m:e>
                                <m:sub>
                                  <m:r>
                                    <a:rPr lang="en-GB" b="0" i="1" smtClean="0">
                                      <a:latin typeface="Cambria Math" panose="02040503050406030204" pitchFamily="18" charset="0"/>
                                    </a:rPr>
                                    <m:t>𝑗</m:t>
                                  </m:r>
                                </m:sub>
                              </m:sSub>
                              <m:r>
                                <a:rPr lang="en-GB" b="0" i="1" smtClean="0">
                                  <a:latin typeface="Cambria Math" panose="02040503050406030204" pitchFamily="18" charset="0"/>
                                </a:rPr>
                                <m:t>.</m:t>
                              </m:r>
                              <m:r>
                                <a:rPr lang="el-GR" i="1">
                                  <a:latin typeface="Cambria Math" panose="02040503050406030204" pitchFamily="18" charset="0"/>
                                  <a:ea typeface="Cambria Math" panose="02040503050406030204" pitchFamily="18" charset="0"/>
                                </a:rPr>
                                <m:t>𝒩</m:t>
                              </m:r>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𝑥</m:t>
                                  </m:r>
                                </m:e>
                                <m:sub>
                                  <m:r>
                                    <a:rPr lang="en-GB" b="0" i="1" smtClean="0">
                                      <a:latin typeface="Cambria Math" panose="02040503050406030204" pitchFamily="18" charset="0"/>
                                      <a:ea typeface="Cambria Math" panose="02040503050406030204" pitchFamily="18" charset="0"/>
                                    </a:rPr>
                                    <m:t>𝑖</m:t>
                                  </m:r>
                                </m:sub>
                              </m:sSub>
                              <m:r>
                                <a:rPr lang="en-GB"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r>
                                    <a:rPr lang="en-GB" b="0" i="1" smtClean="0">
                                      <a:latin typeface="Cambria Math" panose="02040503050406030204" pitchFamily="18" charset="0"/>
                                      <a:ea typeface="Cambria Math" panose="02040503050406030204" pitchFamily="18" charset="0"/>
                                    </a:rPr>
                                    <m:t>𝑗</m:t>
                                  </m:r>
                                </m:sub>
                              </m:sSub>
                              <m:r>
                                <a:rPr lang="en-GB" i="1">
                                  <a:latin typeface="Cambria Math" panose="02040503050406030204" pitchFamily="18" charset="0"/>
                                </a:rPr>
                                <m:t>,</m:t>
                              </m:r>
                              <m:sSub>
                                <m:sSubPr>
                                  <m:ctrlPr>
                                    <a:rPr lang="el-GR" i="1">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Σ</m:t>
                                  </m:r>
                                </m:e>
                                <m:sub>
                                  <m:r>
                                    <a:rPr lang="en-GB" b="0" i="1" smtClean="0">
                                      <a:latin typeface="Cambria Math" panose="02040503050406030204" pitchFamily="18" charset="0"/>
                                      <a:ea typeface="Cambria Math" panose="02040503050406030204" pitchFamily="18" charset="0"/>
                                    </a:rPr>
                                    <m:t>𝑗</m:t>
                                  </m:r>
                                </m:sub>
                              </m:sSub>
                              <m:r>
                                <a:rPr lang="en-GB" b="0" i="1" smtClean="0">
                                  <a:latin typeface="Cambria Math" panose="02040503050406030204" pitchFamily="18" charset="0"/>
                                  <a:ea typeface="Cambria Math" panose="02040503050406030204" pitchFamily="18" charset="0"/>
                                </a:rPr>
                                <m:t>)</m:t>
                              </m:r>
                            </m:e>
                          </m:nary>
                        </m:den>
                      </m:f>
                    </m:oMath>
                  </m:oMathPara>
                </a14:m>
                <a:endParaRPr lang="en-GB" dirty="0"/>
              </a:p>
              <a:p>
                <a:pPr lvl="2" fontAlgn="base"/>
                <a:r>
                  <a:rPr lang="en-GB" dirty="0"/>
                  <a:t>M-step – Update the cluster parameters using </a:t>
                </a:r>
                <a:r>
                  <a:rPr lang="en-GB" i="1" dirty="0"/>
                  <a:t>all</a:t>
                </a:r>
                <a:r>
                  <a:rPr lang="en-GB" dirty="0"/>
                  <a:t> the instances in the dataset, with each instance weighted by the estimated probability that it belongs to that cluster</a:t>
                </a:r>
              </a:p>
              <a:p>
                <a:pPr marL="1371600" lvl="3" indent="0" fontAlgn="base">
                  <a:buNone/>
                </a:pPr>
                <a14:m>
                  <m:oMath xmlns:m="http://schemas.openxmlformats.org/officeDocument/2006/math">
                    <m:sSub>
                      <m:sSubPr>
                        <m:ctrlPr>
                          <a:rPr lang="en-GB" i="1" smtClean="0">
                            <a:latin typeface="Cambria Math" panose="02040503050406030204" pitchFamily="18" charset="0"/>
                            <a:ea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𝜇</m:t>
                        </m:r>
                      </m:e>
                      <m:sub>
                        <m:r>
                          <a:rPr lang="en-GB" b="0" i="1" smtClean="0">
                            <a:latin typeface="Cambria Math" panose="02040503050406030204" pitchFamily="18" charset="0"/>
                          </a:rPr>
                          <m:t>𝑘</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𝑘</m:t>
                            </m:r>
                          </m:sub>
                        </m:sSub>
                      </m:den>
                    </m:f>
                    <m:nary>
                      <m:naryPr>
                        <m:chr m:val="∑"/>
                        <m:limLoc m:val="subSup"/>
                        <m:ctrlPr>
                          <a:rPr lang="en-GB" b="0" i="1" smtClean="0">
                            <a:latin typeface="Cambria Math" panose="02040503050406030204" pitchFamily="18" charset="0"/>
                          </a:rPr>
                        </m:ctrlPr>
                      </m:naryPr>
                      <m:sub>
                        <m:r>
                          <m:rPr>
                            <m:brk m:alnAt="25"/>
                          </m:rPr>
                          <a:rPr lang="en-GB" b="0" i="1" smtClean="0">
                            <a:latin typeface="Cambria Math" panose="02040503050406030204" pitchFamily="18" charset="0"/>
                          </a:rPr>
                          <m:t>𝑖</m:t>
                        </m:r>
                        <m:r>
                          <a:rPr lang="en-GB" b="0" i="1" smtClean="0">
                            <a:latin typeface="Cambria Math" panose="02040503050406030204" pitchFamily="18" charset="0"/>
                          </a:rPr>
                          <m:t>=</m:t>
                        </m:r>
                      </m:sub>
                      <m:sup>
                        <m:r>
                          <a:rPr lang="en-GB" b="0" i="1" smtClean="0">
                            <a:latin typeface="Cambria Math" panose="02040503050406030204" pitchFamily="18" charset="0"/>
                          </a:rPr>
                          <m:t>𝑁</m:t>
                        </m:r>
                      </m:sup>
                      <m:e>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𝛾</m:t>
                            </m:r>
                          </m:e>
                          <m:sub>
                            <m:r>
                              <a:rPr lang="en-GB" b="0" i="1" smtClean="0">
                                <a:latin typeface="Cambria Math" panose="02040503050406030204" pitchFamily="18" charset="0"/>
                              </a:rPr>
                              <m:t>𝑖𝑘</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e>
                    </m:nary>
                  </m:oMath>
                </a14:m>
                <a:r>
                  <a:rPr lang="en-GB" dirty="0"/>
                  <a:t>; </a:t>
                </a:r>
                <a14:m>
                  <m:oMath xmlns:m="http://schemas.openxmlformats.org/officeDocument/2006/math">
                    <m:sSub>
                      <m:sSubPr>
                        <m:ctrlPr>
                          <a:rPr lang="el-GR" i="1" smtClean="0">
                            <a:latin typeface="Cambria Math" panose="02040503050406030204" pitchFamily="18" charset="0"/>
                            <a:ea typeface="Cambria Math" panose="02040503050406030204" pitchFamily="18" charset="0"/>
                          </a:rPr>
                        </m:ctrlPr>
                      </m:sSubPr>
                      <m:e>
                        <m:r>
                          <m:rPr>
                            <m:sty m:val="p"/>
                          </m:rPr>
                          <a:rPr lang="el-GR" i="1" smtClean="0">
                            <a:latin typeface="Cambria Math" panose="02040503050406030204" pitchFamily="18" charset="0"/>
                            <a:ea typeface="Cambria Math" panose="02040503050406030204" pitchFamily="18" charset="0"/>
                          </a:rPr>
                          <m:t>Σ</m:t>
                        </m:r>
                      </m:e>
                      <m:sub>
                        <m:r>
                          <a:rPr lang="en-GB" i="1">
                            <a:latin typeface="Cambria Math" panose="02040503050406030204" pitchFamily="18" charset="0"/>
                          </a:rPr>
                          <m:t>𝑘</m:t>
                        </m:r>
                      </m:sub>
                    </m:sSub>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sSub>
                          <m:sSubPr>
                            <m:ctrlPr>
                              <a:rPr lang="en-GB" i="1">
                                <a:latin typeface="Cambria Math" panose="02040503050406030204" pitchFamily="18" charset="0"/>
                              </a:rPr>
                            </m:ctrlPr>
                          </m:sSubPr>
                          <m:e>
                            <m:r>
                              <a:rPr lang="en-GB" i="1">
                                <a:latin typeface="Cambria Math" panose="02040503050406030204" pitchFamily="18" charset="0"/>
                              </a:rPr>
                              <m:t>𝑁</m:t>
                            </m:r>
                          </m:e>
                          <m:sub>
                            <m:r>
                              <a:rPr lang="en-GB" i="1">
                                <a:latin typeface="Cambria Math" panose="02040503050406030204" pitchFamily="18" charset="0"/>
                              </a:rPr>
                              <m:t>𝑘</m:t>
                            </m:r>
                          </m:sub>
                        </m:sSub>
                      </m:den>
                    </m:f>
                    <m:nary>
                      <m:naryPr>
                        <m:chr m:val="∑"/>
                        <m:limLoc m:val="subSup"/>
                        <m:ctrlPr>
                          <a:rPr lang="en-GB" i="1">
                            <a:latin typeface="Cambria Math" panose="02040503050406030204" pitchFamily="18" charset="0"/>
                          </a:rPr>
                        </m:ctrlPr>
                      </m:naryPr>
                      <m:sub>
                        <m:r>
                          <m:rPr>
                            <m:brk m:alnAt="25"/>
                          </m:rPr>
                          <a:rPr lang="en-GB" i="1">
                            <a:latin typeface="Cambria Math" panose="02040503050406030204" pitchFamily="18" charset="0"/>
                          </a:rPr>
                          <m:t>𝑖</m:t>
                        </m:r>
                        <m:r>
                          <a:rPr lang="en-GB" i="1">
                            <a:latin typeface="Cambria Math" panose="02040503050406030204" pitchFamily="18" charset="0"/>
                          </a:rPr>
                          <m:t>=</m:t>
                        </m:r>
                      </m:sub>
                      <m:sup>
                        <m:r>
                          <a:rPr lang="en-GB" i="1">
                            <a:latin typeface="Cambria Math" panose="02040503050406030204" pitchFamily="18" charset="0"/>
                          </a:rPr>
                          <m:t>𝑁</m:t>
                        </m:r>
                      </m:sup>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𝛾</m:t>
                            </m:r>
                          </m:e>
                          <m:sub>
                            <m:r>
                              <a:rPr lang="en-GB" i="1">
                                <a:latin typeface="Cambria Math" panose="02040503050406030204" pitchFamily="18" charset="0"/>
                              </a:rPr>
                              <m:t>𝑖𝑘</m:t>
                            </m:r>
                          </m:sub>
                        </m:sSub>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r>
                          <a:rPr lang="en-GB" b="0" i="1" smtClean="0">
                            <a:latin typeface="Cambria Math" panose="02040503050406030204" pitchFamily="18" charset="0"/>
                          </a:rPr>
                          <m:t>−</m:t>
                        </m:r>
                      </m:e>
                    </m:nary>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r>
                          <a:rPr lang="en-GB" i="1">
                            <a:latin typeface="Cambria Math" panose="02040503050406030204" pitchFamily="18" charset="0"/>
                          </a:rPr>
                          <m:t>𝑘</m:t>
                        </m:r>
                      </m:sub>
                    </m:sSub>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r>
                          <a:rPr lang="en-GB" b="0" i="1" smtClean="0">
                            <a:latin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r>
                              <a:rPr lang="en-GB" i="1">
                                <a:latin typeface="Cambria Math" panose="02040503050406030204" pitchFamily="18" charset="0"/>
                              </a:rPr>
                              <m:t>𝑘</m:t>
                            </m:r>
                          </m:sub>
                        </m:sSub>
                        <m:r>
                          <a:rPr lang="en-GB" b="0" i="1" smtClean="0">
                            <a:latin typeface="Cambria Math" panose="02040503050406030204" pitchFamily="18" charset="0"/>
                          </a:rPr>
                          <m:t>)</m:t>
                        </m:r>
                      </m:e>
                      <m:sup>
                        <m:r>
                          <a:rPr lang="en-GB" b="0" i="1" smtClean="0">
                            <a:latin typeface="Cambria Math" panose="02040503050406030204" pitchFamily="18" charset="0"/>
                          </a:rPr>
                          <m:t>𝑇</m:t>
                        </m:r>
                      </m:sup>
                    </m:sSup>
                  </m:oMath>
                </a14:m>
                <a:r>
                  <a:rPr lang="en-GB" dirty="0"/>
                  <a:t>; </a:t>
                </a:r>
                <a14:m>
                  <m:oMath xmlns:m="http://schemas.openxmlformats.org/officeDocument/2006/math">
                    <m:sSub>
                      <m:sSubPr>
                        <m:ctrlPr>
                          <a:rPr lang="en-GB" i="1" smtClean="0">
                            <a:latin typeface="Cambria Math" panose="02040503050406030204" pitchFamily="18" charset="0"/>
                            <a:ea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𝜋</m:t>
                        </m:r>
                      </m:e>
                      <m:sub>
                        <m:r>
                          <a:rPr lang="en-GB" b="0" i="1" smtClean="0">
                            <a:latin typeface="Cambria Math" panose="02040503050406030204" pitchFamily="18" charset="0"/>
                          </a:rPr>
                          <m:t>𝑘</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𝑘</m:t>
                            </m:r>
                          </m:sub>
                        </m:sSub>
                      </m:num>
                      <m:den>
                        <m:r>
                          <a:rPr lang="en-GB" b="0" i="1" smtClean="0">
                            <a:latin typeface="Cambria Math" panose="02040503050406030204" pitchFamily="18" charset="0"/>
                          </a:rPr>
                          <m:t>𝑁</m:t>
                        </m:r>
                      </m:den>
                    </m:f>
                  </m:oMath>
                </a14:m>
                <a:endParaRPr lang="en-GB" dirty="0"/>
              </a:p>
              <a:p>
                <a:pPr marL="1371600" lvl="3" indent="0" fontAlgn="base">
                  <a:buNone/>
                </a:pPr>
                <a:r>
                  <a:rPr lang="en-GB" dirty="0"/>
                  <a:t>where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𝑁</m:t>
                        </m:r>
                      </m:e>
                      <m:sub>
                        <m:r>
                          <a:rPr lang="en-GB" i="1">
                            <a:latin typeface="Cambria Math" panose="02040503050406030204" pitchFamily="18" charset="0"/>
                          </a:rPr>
                          <m:t>𝑘</m:t>
                        </m:r>
                      </m:sub>
                    </m:sSub>
                    <m:r>
                      <a:rPr lang="en-GB" b="0" i="1" smtClean="0">
                        <a:latin typeface="Cambria Math" panose="02040503050406030204" pitchFamily="18" charset="0"/>
                      </a:rPr>
                      <m:t>=</m:t>
                    </m:r>
                    <m:nary>
                      <m:naryPr>
                        <m:chr m:val="∑"/>
                        <m:limLoc m:val="subSup"/>
                        <m:ctrlPr>
                          <a:rPr lang="en-GB" b="0" i="1" smtClean="0">
                            <a:latin typeface="Cambria Math" panose="02040503050406030204" pitchFamily="18" charset="0"/>
                          </a:rPr>
                        </m:ctrlPr>
                      </m:naryPr>
                      <m:sub>
                        <m:r>
                          <m:rPr>
                            <m:brk m:alnAt="25"/>
                          </m:rPr>
                          <a:rPr lang="en-GB" b="0" i="1" smtClean="0">
                            <a:latin typeface="Cambria Math" panose="02040503050406030204" pitchFamily="18" charset="0"/>
                          </a:rPr>
                          <m:t>𝑖</m:t>
                        </m:r>
                        <m:r>
                          <a:rPr lang="en-GB" b="0" i="1" smtClean="0">
                            <a:latin typeface="Cambria Math" panose="02040503050406030204" pitchFamily="18" charset="0"/>
                          </a:rPr>
                          <m:t>=1</m:t>
                        </m:r>
                      </m:sub>
                      <m:sup>
                        <m:r>
                          <a:rPr lang="en-GB" b="0" i="1" smtClean="0">
                            <a:latin typeface="Cambria Math" panose="02040503050406030204" pitchFamily="18" charset="0"/>
                          </a:rPr>
                          <m:t>𝑁</m:t>
                        </m:r>
                      </m:sup>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𝛾</m:t>
                            </m:r>
                          </m:e>
                          <m:sub>
                            <m:r>
                              <a:rPr lang="en-GB" i="1">
                                <a:latin typeface="Cambria Math" panose="02040503050406030204" pitchFamily="18" charset="0"/>
                              </a:rPr>
                              <m:t>𝑖𝑘</m:t>
                            </m:r>
                          </m:sub>
                        </m:sSub>
                      </m:e>
                    </m:nary>
                  </m:oMath>
                </a14:m>
                <a:r>
                  <a:rPr lang="en-GB" dirty="0"/>
                  <a:t> (effective number of points assigned to cluster </a:t>
                </a:r>
                <a:r>
                  <a:rPr lang="en-GB" i="1" dirty="0"/>
                  <a:t>k</a:t>
                </a:r>
                <a:r>
                  <a:rPr lang="en-GB" dirty="0"/>
                  <a:t>) and </a:t>
                </a:r>
                <a14:m>
                  <m:oMath xmlns:m="http://schemas.openxmlformats.org/officeDocument/2006/math">
                    <m:r>
                      <a:rPr lang="en-GB" b="0" i="1" smtClean="0">
                        <a:latin typeface="Cambria Math" panose="02040503050406030204" pitchFamily="18" charset="0"/>
                      </a:rPr>
                      <m:t>𝑁</m:t>
                    </m:r>
                  </m:oMath>
                </a14:m>
                <a:r>
                  <a:rPr lang="en-GB" dirty="0"/>
                  <a:t> is the total number of data points</a:t>
                </a:r>
              </a:p>
              <a:p>
                <a:pPr fontAlgn="base"/>
                <a:endParaRPr lang="en-GB" dirty="0"/>
              </a:p>
              <a:p>
                <a:pPr lvl="2"/>
                <a:endParaRPr lang="en-GB" dirty="0"/>
              </a:p>
              <a:p>
                <a:pPr lvl="1"/>
                <a:endParaRPr lang="en-GB" dirty="0"/>
              </a:p>
              <a:p>
                <a:pPr lvl="1"/>
                <a:endParaRPr lang="en-US" dirty="0"/>
              </a:p>
              <a:p>
                <a:pPr lvl="1"/>
                <a:endParaRPr lang="en-US" dirty="0"/>
              </a:p>
              <a:p>
                <a:pPr lvl="2"/>
                <a:endParaRPr lang="en-US" b="1" dirty="0"/>
              </a:p>
              <a:p>
                <a:endParaRPr lang="en-US" dirty="0"/>
              </a:p>
            </p:txBody>
          </p:sp>
        </mc:Choice>
        <mc:Fallback xmlns="">
          <p:sp>
            <p:nvSpPr>
              <p:cNvPr id="3" name="Text Placeholder 2">
                <a:extLst>
                  <a:ext uri="{FF2B5EF4-FFF2-40B4-BE49-F238E27FC236}">
                    <a16:creationId xmlns:a16="http://schemas.microsoft.com/office/drawing/2014/main" id="{D9729FC3-64E6-1F21-5C13-E406586B767F}"/>
                  </a:ext>
                </a:extLst>
              </p:cNvPr>
              <p:cNvSpPr>
                <a:spLocks noGrp="1" noRot="1" noChangeAspect="1" noMove="1" noResize="1" noEditPoints="1" noAdjustHandles="1" noChangeArrowheads="1" noChangeShapeType="1" noTextEdit="1"/>
              </p:cNvSpPr>
              <p:nvPr>
                <p:ph type="body" sz="quarter" idx="10"/>
              </p:nvPr>
            </p:nvSpPr>
            <p:spPr>
              <a:xfrm>
                <a:off x="467545" y="1268760"/>
                <a:ext cx="8136903" cy="5400600"/>
              </a:xfrm>
              <a:blipFill>
                <a:blip r:embed="rId3"/>
                <a:stretch>
                  <a:fillRect l="-623" t="-468" r="-312" b="-937"/>
                </a:stretch>
              </a:blipFill>
            </p:spPr>
            <p:txBody>
              <a:bodyPr/>
              <a:lstStyle/>
              <a:p>
                <a:r>
                  <a:rPr lang="en-US">
                    <a:noFill/>
                  </a:rPr>
                  <a:t> </a:t>
                </a:r>
              </a:p>
            </p:txBody>
          </p:sp>
        </mc:Fallback>
      </mc:AlternateContent>
    </p:spTree>
    <p:extLst>
      <p:ext uri="{BB962C8B-B14F-4D97-AF65-F5344CB8AC3E}">
        <p14:creationId xmlns:p14="http://schemas.microsoft.com/office/powerpoint/2010/main" val="29024843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1914C-BF87-DC6B-9413-552063A7C9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CF6FB-2710-20BE-ABD4-CDECEB6DB1D8}"/>
              </a:ext>
            </a:extLst>
          </p:cNvPr>
          <p:cNvSpPr>
            <a:spLocks noGrp="1"/>
          </p:cNvSpPr>
          <p:nvPr>
            <p:ph type="title"/>
          </p:nvPr>
        </p:nvSpPr>
        <p:spPr>
          <a:xfrm>
            <a:off x="467544" y="476671"/>
            <a:ext cx="8136904" cy="736445"/>
          </a:xfrm>
        </p:spPr>
        <p:txBody>
          <a:bodyPr/>
          <a:lstStyle/>
          <a:p>
            <a:r>
              <a:rPr lang="en-US" dirty="0"/>
              <a:t>Visualizing GMMs</a:t>
            </a:r>
            <a:endParaRPr lang="en-US" i="1" dirty="0"/>
          </a:p>
        </p:txBody>
      </p:sp>
      <p:pic>
        <p:nvPicPr>
          <p:cNvPr id="5" name="Picture 4" descr="Elliptical clusters">
            <a:extLst>
              <a:ext uri="{FF2B5EF4-FFF2-40B4-BE49-F238E27FC236}">
                <a16:creationId xmlns:a16="http://schemas.microsoft.com/office/drawing/2014/main" id="{F5B5E362-C7B2-B532-F68A-3D1D85B906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0584" y="1242069"/>
            <a:ext cx="5529808" cy="2764904"/>
          </a:xfrm>
          <a:prstGeom prst="rect">
            <a:avLst/>
          </a:prstGeom>
        </p:spPr>
      </p:pic>
      <p:pic>
        <p:nvPicPr>
          <p:cNvPr id="25602" name="Picture 2" descr="mls2 0917">
            <a:extLst>
              <a:ext uri="{FF2B5EF4-FFF2-40B4-BE49-F238E27FC236}">
                <a16:creationId xmlns:a16="http://schemas.microsoft.com/office/drawing/2014/main" id="{FEFFD8F5-6537-51D9-1161-4B2443DF63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0584" y="4122389"/>
            <a:ext cx="5529808" cy="261897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D5E2159-06AB-89D8-3AF8-00CEA2BA8DF1}"/>
              </a:ext>
            </a:extLst>
          </p:cNvPr>
          <p:cNvSpPr txBox="1"/>
          <p:nvPr/>
        </p:nvSpPr>
        <p:spPr>
          <a:xfrm>
            <a:off x="323528" y="2967335"/>
            <a:ext cx="2247056" cy="738664"/>
          </a:xfrm>
          <a:prstGeom prst="rect">
            <a:avLst/>
          </a:prstGeom>
          <a:noFill/>
        </p:spPr>
        <p:txBody>
          <a:bodyPr wrap="square">
            <a:spAutoFit/>
          </a:bodyPr>
          <a:lstStyle/>
          <a:p>
            <a:r>
              <a:rPr lang="en-GB" sz="1400" b="0" i="0" u="none" strike="noStrike" dirty="0">
                <a:effectLst/>
              </a:rPr>
              <a:t>Dataset with elongated blobs and varying densities</a:t>
            </a:r>
            <a:endParaRPr lang="en-US" sz="1400" dirty="0"/>
          </a:p>
        </p:txBody>
      </p:sp>
      <p:sp>
        <p:nvSpPr>
          <p:cNvPr id="11" name="TextBox 10">
            <a:extLst>
              <a:ext uri="{FF2B5EF4-FFF2-40B4-BE49-F238E27FC236}">
                <a16:creationId xmlns:a16="http://schemas.microsoft.com/office/drawing/2014/main" id="{C11A5D32-8683-D459-9952-AAEFB1BED6F6}"/>
              </a:ext>
            </a:extLst>
          </p:cNvPr>
          <p:cNvSpPr txBox="1"/>
          <p:nvPr/>
        </p:nvSpPr>
        <p:spPr>
          <a:xfrm>
            <a:off x="251520" y="4661824"/>
            <a:ext cx="2247056" cy="1384995"/>
          </a:xfrm>
          <a:prstGeom prst="rect">
            <a:avLst/>
          </a:prstGeom>
          <a:noFill/>
        </p:spPr>
        <p:txBody>
          <a:bodyPr wrap="square">
            <a:spAutoFit/>
          </a:bodyPr>
          <a:lstStyle/>
          <a:p>
            <a:r>
              <a:rPr lang="en-GB" sz="1400" b="0" i="0" u="none" strike="noStrike" dirty="0">
                <a:solidFill>
                  <a:srgbClr val="3D3B49"/>
                </a:solidFill>
                <a:effectLst/>
              </a:rPr>
              <a:t>Cluster means, decision boundaries, and density contours of a trained Gaussian mixture model</a:t>
            </a:r>
          </a:p>
          <a:p>
            <a:pPr marL="285750" indent="-285750">
              <a:buFont typeface="Arial" panose="020B0604020202020204" pitchFamily="34" charset="0"/>
              <a:buChar char="•"/>
            </a:pPr>
            <a:endParaRPr lang="en-US" sz="1400" dirty="0"/>
          </a:p>
        </p:txBody>
      </p:sp>
    </p:spTree>
    <p:extLst>
      <p:ext uri="{BB962C8B-B14F-4D97-AF65-F5344CB8AC3E}">
        <p14:creationId xmlns:p14="http://schemas.microsoft.com/office/powerpoint/2010/main" val="14735068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08F3E-5C25-29C9-02F7-92A4A8660D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09846D-FE28-8186-5275-CCB27A9C9FBB}"/>
              </a:ext>
            </a:extLst>
          </p:cNvPr>
          <p:cNvSpPr>
            <a:spLocks noGrp="1"/>
          </p:cNvSpPr>
          <p:nvPr>
            <p:ph type="title"/>
          </p:nvPr>
        </p:nvSpPr>
        <p:spPr>
          <a:xfrm>
            <a:off x="467544" y="476671"/>
            <a:ext cx="8136904" cy="736445"/>
          </a:xfrm>
        </p:spPr>
        <p:txBody>
          <a:bodyPr/>
          <a:lstStyle/>
          <a:p>
            <a:r>
              <a:rPr lang="en-US" dirty="0"/>
              <a:t>GMM output – things to note</a:t>
            </a:r>
            <a:endParaRPr lang="en-US" i="1"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4E12319-987C-F442-6A0A-82874F565194}"/>
                  </a:ext>
                </a:extLst>
              </p:cNvPr>
              <p:cNvSpPr>
                <a:spLocks noGrp="1"/>
              </p:cNvSpPr>
              <p:nvPr>
                <p:ph type="body" sz="quarter" idx="10"/>
              </p:nvPr>
            </p:nvSpPr>
            <p:spPr>
              <a:xfrm>
                <a:off x="467545" y="1340768"/>
                <a:ext cx="8136903" cy="4536504"/>
              </a:xfrm>
            </p:spPr>
            <p:txBody>
              <a:bodyPr/>
              <a:lstStyle/>
              <a:p>
                <a:pPr fontAlgn="base"/>
                <a:r>
                  <a:rPr lang="en-GB" dirty="0"/>
                  <a:t>GMM not only finds the cluster centres, but also their size, shape, and orientation</a:t>
                </a:r>
              </a:p>
              <a:p>
                <a:pPr fontAlgn="base"/>
                <a:r>
                  <a:rPr lang="en-GB" dirty="0"/>
                  <a:t>GMM also uses </a:t>
                </a:r>
                <a:r>
                  <a:rPr lang="en-GB" i="1" dirty="0"/>
                  <a:t>soft cluster assignments </a:t>
                </a:r>
                <a:r>
                  <a:rPr lang="en-GB" dirty="0"/>
                  <a:t>by calculating probabilities that an instance belongs to all the clusters. Each data point is assigned to the cluster with the highest probability.</a:t>
                </a:r>
              </a:p>
              <a:p>
                <a:pPr fontAlgn="base"/>
                <a:r>
                  <a:rPr lang="en-GB" dirty="0"/>
                  <a:t>Centre of the cluster is represented by </a:t>
                </a:r>
                <a14:m>
                  <m:oMath xmlns:m="http://schemas.openxmlformats.org/officeDocument/2006/math">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r>
                          <a:rPr lang="en-GB" i="1">
                            <a:latin typeface="Cambria Math" panose="02040503050406030204" pitchFamily="18" charset="0"/>
                          </a:rPr>
                          <m:t>𝑘</m:t>
                        </m:r>
                      </m:sub>
                    </m:sSub>
                  </m:oMath>
                </a14:m>
                <a:endParaRPr lang="en-GB" dirty="0"/>
              </a:p>
              <a:p>
                <a:pPr fontAlgn="base"/>
                <a:r>
                  <a:rPr lang="en-GB" dirty="0"/>
                  <a:t>Shape and orientation of the cluster are determined by </a:t>
                </a:r>
                <a14:m>
                  <m:oMath xmlns:m="http://schemas.openxmlformats.org/officeDocument/2006/math">
                    <m:sSub>
                      <m:sSubPr>
                        <m:ctrlPr>
                          <a:rPr lang="el-GR" i="1">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Σ</m:t>
                        </m:r>
                      </m:e>
                      <m:sub>
                        <m:r>
                          <a:rPr lang="en-GB" i="1">
                            <a:latin typeface="Cambria Math" panose="02040503050406030204" pitchFamily="18" charset="0"/>
                          </a:rPr>
                          <m:t>𝑘</m:t>
                        </m:r>
                      </m:sub>
                    </m:sSub>
                  </m:oMath>
                </a14:m>
                <a:endParaRPr lang="en-GB" dirty="0"/>
              </a:p>
              <a:p>
                <a:pPr lvl="1" fontAlgn="base"/>
                <a:r>
                  <a:rPr lang="en-GB" dirty="0"/>
                  <a:t>Each ellipse corresponds to a covariance matrix </a:t>
                </a:r>
                <a14:m>
                  <m:oMath xmlns:m="http://schemas.openxmlformats.org/officeDocument/2006/math">
                    <m:sSub>
                      <m:sSubPr>
                        <m:ctrlPr>
                          <a:rPr lang="el-GR" i="1">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Σ</m:t>
                        </m:r>
                      </m:e>
                      <m:sub>
                        <m:r>
                          <a:rPr lang="en-GB" i="1">
                            <a:latin typeface="Cambria Math" panose="02040503050406030204" pitchFamily="18" charset="0"/>
                          </a:rPr>
                          <m:t>𝑘</m:t>
                        </m:r>
                      </m:sub>
                    </m:sSub>
                  </m:oMath>
                </a14:m>
                <a:endParaRPr lang="en-GB" dirty="0"/>
              </a:p>
              <a:p>
                <a:pPr lvl="1" fontAlgn="base"/>
                <a:r>
                  <a:rPr lang="en-GB" dirty="0"/>
                  <a:t>The </a:t>
                </a:r>
                <a:r>
                  <a:rPr lang="en-GB" i="1" dirty="0"/>
                  <a:t>major axis</a:t>
                </a:r>
                <a:r>
                  <a:rPr lang="en-GB" dirty="0"/>
                  <a:t> of the ellipse points in the direction where the data varies the most and </a:t>
                </a:r>
                <a:r>
                  <a:rPr lang="en-GB" i="1" dirty="0"/>
                  <a:t>minor axis </a:t>
                </a:r>
                <a:r>
                  <a:rPr lang="en-GB" dirty="0"/>
                  <a:t>points where the variance is smallest</a:t>
                </a:r>
              </a:p>
              <a:p>
                <a:pPr lvl="1" fontAlgn="base"/>
                <a:r>
                  <a:rPr lang="en-GB" dirty="0"/>
                  <a:t>If features are correlated, the ellipse rotates to align with the correlation direction</a:t>
                </a:r>
              </a:p>
              <a:p>
                <a:pPr lvl="1" fontAlgn="base"/>
                <a:endParaRPr lang="en-GB" dirty="0"/>
              </a:p>
              <a:p>
                <a:pPr fontAlgn="base"/>
                <a:endParaRPr lang="en-GB" dirty="0"/>
              </a:p>
              <a:p>
                <a:pPr fontAlgn="base"/>
                <a:endParaRPr lang="en-GB" dirty="0"/>
              </a:p>
              <a:p>
                <a:pPr fontAlgn="base"/>
                <a:endParaRPr lang="en-GB" dirty="0"/>
              </a:p>
              <a:p>
                <a:pPr fontAlgn="base"/>
                <a:endParaRPr lang="en-GB" dirty="0"/>
              </a:p>
              <a:p>
                <a:pPr lvl="2"/>
                <a:endParaRPr lang="en-GB" dirty="0"/>
              </a:p>
              <a:p>
                <a:pPr lvl="1"/>
                <a:endParaRPr lang="en-GB" dirty="0"/>
              </a:p>
              <a:p>
                <a:pPr lvl="1"/>
                <a:endParaRPr lang="en-US" dirty="0"/>
              </a:p>
              <a:p>
                <a:pPr lvl="1"/>
                <a:endParaRPr lang="en-US" dirty="0"/>
              </a:p>
              <a:p>
                <a:pPr lvl="2"/>
                <a:endParaRPr lang="en-US" b="1" dirty="0"/>
              </a:p>
              <a:p>
                <a:endParaRPr lang="en-US" dirty="0"/>
              </a:p>
            </p:txBody>
          </p:sp>
        </mc:Choice>
        <mc:Fallback xmlns="">
          <p:sp>
            <p:nvSpPr>
              <p:cNvPr id="3" name="Text Placeholder 2">
                <a:extLst>
                  <a:ext uri="{FF2B5EF4-FFF2-40B4-BE49-F238E27FC236}">
                    <a16:creationId xmlns:a16="http://schemas.microsoft.com/office/drawing/2014/main" id="{E4E12319-987C-F442-6A0A-82874F565194}"/>
                  </a:ext>
                </a:extLst>
              </p:cNvPr>
              <p:cNvSpPr>
                <a:spLocks noGrp="1" noRot="1" noChangeAspect="1" noMove="1" noResize="1" noEditPoints="1" noAdjustHandles="1" noChangeArrowheads="1" noChangeShapeType="1" noTextEdit="1"/>
              </p:cNvSpPr>
              <p:nvPr>
                <p:ph type="body" sz="quarter" idx="10"/>
              </p:nvPr>
            </p:nvSpPr>
            <p:spPr>
              <a:xfrm>
                <a:off x="467545" y="1340768"/>
                <a:ext cx="8136903" cy="4536504"/>
              </a:xfrm>
              <a:blipFill>
                <a:blip r:embed="rId3"/>
                <a:stretch>
                  <a:fillRect l="-623" t="-838" r="-1558" b="-14525"/>
                </a:stretch>
              </a:blipFill>
            </p:spPr>
            <p:txBody>
              <a:bodyPr/>
              <a:lstStyle/>
              <a:p>
                <a:r>
                  <a:rPr lang="en-US">
                    <a:noFill/>
                  </a:rPr>
                  <a:t> </a:t>
                </a:r>
              </a:p>
            </p:txBody>
          </p:sp>
        </mc:Fallback>
      </mc:AlternateContent>
    </p:spTree>
    <p:extLst>
      <p:ext uri="{BB962C8B-B14F-4D97-AF65-F5344CB8AC3E}">
        <p14:creationId xmlns:p14="http://schemas.microsoft.com/office/powerpoint/2010/main" val="16175896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1C075-5911-630C-3FDA-04F8E2A4BC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FCFA3F-1794-E20C-43DD-7C287F3432CD}"/>
              </a:ext>
            </a:extLst>
          </p:cNvPr>
          <p:cNvSpPr>
            <a:spLocks noGrp="1"/>
          </p:cNvSpPr>
          <p:nvPr>
            <p:ph type="title"/>
          </p:nvPr>
        </p:nvSpPr>
        <p:spPr>
          <a:xfrm>
            <a:off x="467544" y="604323"/>
            <a:ext cx="8136904" cy="736445"/>
          </a:xfrm>
        </p:spPr>
        <p:txBody>
          <a:bodyPr/>
          <a:lstStyle/>
          <a:p>
            <a:r>
              <a:rPr lang="en-US" dirty="0"/>
              <a:t>Selecting the Number of Clusters</a:t>
            </a:r>
            <a:endParaRPr lang="en-US" i="1"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ADDB299-A3FE-A2E7-BE7E-9805479F22DE}"/>
                  </a:ext>
                </a:extLst>
              </p:cNvPr>
              <p:cNvSpPr>
                <a:spLocks noGrp="1"/>
              </p:cNvSpPr>
              <p:nvPr>
                <p:ph type="body" sz="quarter" idx="10"/>
              </p:nvPr>
            </p:nvSpPr>
            <p:spPr>
              <a:xfrm>
                <a:off x="467545" y="1628800"/>
                <a:ext cx="8136903" cy="4824536"/>
              </a:xfrm>
            </p:spPr>
            <p:txBody>
              <a:bodyPr/>
              <a:lstStyle/>
              <a:p>
                <a:pPr fontAlgn="base"/>
                <a:r>
                  <a:rPr lang="en-GB" dirty="0"/>
                  <a:t>It is not possible to use Inertia and Silhouette score with GMMs as they are not reliable when the clusters are not spherical or have different sizes</a:t>
                </a:r>
              </a:p>
              <a:p>
                <a:pPr fontAlgn="base"/>
                <a:r>
                  <a:rPr lang="en-GB" dirty="0"/>
                  <a:t>Use </a:t>
                </a:r>
                <a:r>
                  <a:rPr lang="en-GB" i="1" dirty="0"/>
                  <a:t>theoretical information criterion</a:t>
                </a:r>
                <a:r>
                  <a:rPr lang="en-GB" dirty="0"/>
                  <a:t>, such as the </a:t>
                </a:r>
                <a:r>
                  <a:rPr lang="en-GB" i="1" dirty="0"/>
                  <a:t>Bayesian information criterion</a:t>
                </a:r>
                <a:r>
                  <a:rPr lang="en-GB" dirty="0"/>
                  <a:t> (BIC) or the </a:t>
                </a:r>
                <a:r>
                  <a:rPr lang="en-GB" i="1" dirty="0"/>
                  <a:t>Akaike information criterion</a:t>
                </a:r>
                <a:r>
                  <a:rPr lang="en-GB" dirty="0"/>
                  <a:t> (AIC) </a:t>
                </a:r>
                <a:r>
                  <a:rPr lang="en-GB" dirty="0">
                    <a:sym typeface="Wingdings" pitchFamily="2" charset="2"/>
                  </a:rPr>
                  <a:t> lower, better</a:t>
                </a:r>
                <a:endParaRPr lang="en-GB" dirty="0"/>
              </a:p>
              <a:p>
                <a:pPr marL="0" indent="0" fontAlgn="base">
                  <a:buNone/>
                </a:pPr>
                <a14:m>
                  <m:oMathPara xmlns:m="http://schemas.openxmlformats.org/officeDocument/2006/math">
                    <m:oMath>
                      <m:m>
                        <m:mPr>
                          <m:plcHide m:val="on"/>
                          <m:mcs>
                            <m:mc>
                              <m:mcPr>
                                <m:count m:val="2"/>
                                <m:mcJc m:val="center"/>
                              </m:mcPr>
                            </m:mc>
                          </m:mcs>
                          <m:ctrlPr>
                            <a:rPr lang="en-GB" i="1" dirty="0" smtClean="0">
                              <a:latin typeface="Cambria Math" panose="02040503050406030204" pitchFamily="18" charset="0"/>
                            </a:rPr>
                          </m:ctrlPr>
                        </m:mPr>
                        <m:mr>
                          <m:e>
                            <m:r>
                              <a:rPr lang="en-GB" i="1" dirty="0">
                                <a:latin typeface="Cambria Math" panose="02040503050406030204" pitchFamily="18" charset="0"/>
                              </a:rPr>
                              <m:t>𝐵𝐼𝐶</m:t>
                            </m:r>
                            <m:r>
                              <a:rPr lang="en-GB" i="0" dirty="0">
                                <a:latin typeface="Cambria Math" panose="02040503050406030204" pitchFamily="18" charset="0"/>
                              </a:rPr>
                              <m:t>= </m:t>
                            </m:r>
                          </m:e>
                          <m:e>
                            <m:r>
                              <a:rPr lang="en-GB" i="0" dirty="0">
                                <a:latin typeface="Cambria Math" panose="02040503050406030204" pitchFamily="18" charset="0"/>
                              </a:rPr>
                              <m:t> </m:t>
                            </m:r>
                            <m:r>
                              <m:rPr>
                                <m:sty m:val="p"/>
                              </m:rPr>
                              <a:rPr lang="en-GB" i="0" dirty="0">
                                <a:latin typeface="Cambria Math" panose="02040503050406030204" pitchFamily="18" charset="0"/>
                              </a:rPr>
                              <m:t>log</m:t>
                            </m:r>
                            <m:d>
                              <m:dPr>
                                <m:ctrlPr>
                                  <a:rPr lang="en-GB" i="1" dirty="0">
                                    <a:latin typeface="Cambria Math" panose="02040503050406030204" pitchFamily="18" charset="0"/>
                                  </a:rPr>
                                </m:ctrlPr>
                              </m:dPr>
                              <m:e>
                                <m:r>
                                  <a:rPr lang="en-GB" i="1" dirty="0">
                                    <a:latin typeface="Cambria Math" panose="02040503050406030204" pitchFamily="18" charset="0"/>
                                  </a:rPr>
                                  <m:t>𝑚</m:t>
                                </m:r>
                              </m:e>
                            </m:d>
                            <m:r>
                              <a:rPr lang="en-GB" i="1" dirty="0">
                                <a:latin typeface="Cambria Math" panose="02040503050406030204" pitchFamily="18" charset="0"/>
                              </a:rPr>
                              <m:t>𝑝</m:t>
                            </m:r>
                            <m:r>
                              <a:rPr lang="en-GB" i="0" dirty="0">
                                <a:latin typeface="Cambria Math" panose="02040503050406030204" pitchFamily="18" charset="0"/>
                              </a:rPr>
                              <m:t>−2</m:t>
                            </m:r>
                            <m:r>
                              <m:rPr>
                                <m:sty m:val="p"/>
                              </m:rPr>
                              <a:rPr lang="en-GB" i="0" dirty="0">
                                <a:latin typeface="Cambria Math" panose="02040503050406030204" pitchFamily="18" charset="0"/>
                              </a:rPr>
                              <m:t>log</m:t>
                            </m:r>
                            <m:d>
                              <m:dPr>
                                <m:ctrlPr>
                                  <a:rPr lang="en-GB" i="1" dirty="0">
                                    <a:latin typeface="Cambria Math" panose="02040503050406030204" pitchFamily="18" charset="0"/>
                                  </a:rPr>
                                </m:ctrlPr>
                              </m:dPr>
                              <m:e>
                                <m:acc>
                                  <m:accPr>
                                    <m:chr m:val="̂"/>
                                    <m:ctrlPr>
                                      <a:rPr lang="en-GB" i="1" dirty="0">
                                        <a:latin typeface="Cambria Math" panose="02040503050406030204" pitchFamily="18" charset="0"/>
                                      </a:rPr>
                                    </m:ctrlPr>
                                  </m:accPr>
                                  <m:e>
                                    <m:r>
                                      <a:rPr lang="en-GB" i="1" dirty="0">
                                        <a:latin typeface="Cambria Math" panose="02040503050406030204" pitchFamily="18" charset="0"/>
                                      </a:rPr>
                                      <m:t>𝐿</m:t>
                                    </m:r>
                                  </m:e>
                                </m:acc>
                              </m:e>
                            </m:d>
                          </m:e>
                        </m:mr>
                        <m:mr>
                          <m:e>
                            <m:r>
                              <a:rPr lang="en-GB" i="1" dirty="0">
                                <a:latin typeface="Cambria Math" panose="02040503050406030204" pitchFamily="18" charset="0"/>
                              </a:rPr>
                              <m:t>𝐴𝐼𝐶</m:t>
                            </m:r>
                            <m:r>
                              <a:rPr lang="en-GB" i="0" dirty="0">
                                <a:latin typeface="Cambria Math" panose="02040503050406030204" pitchFamily="18" charset="0"/>
                              </a:rPr>
                              <m:t>= </m:t>
                            </m:r>
                          </m:e>
                          <m:e>
                            <m:r>
                              <a:rPr lang="en-GB" i="0" dirty="0">
                                <a:latin typeface="Cambria Math" panose="02040503050406030204" pitchFamily="18" charset="0"/>
                              </a:rPr>
                              <m:t> 2</m:t>
                            </m:r>
                            <m:r>
                              <a:rPr lang="en-GB" i="1" dirty="0">
                                <a:latin typeface="Cambria Math" panose="02040503050406030204" pitchFamily="18" charset="0"/>
                              </a:rPr>
                              <m:t>𝑝</m:t>
                            </m:r>
                            <m:r>
                              <a:rPr lang="en-GB" i="0" dirty="0">
                                <a:latin typeface="Cambria Math" panose="02040503050406030204" pitchFamily="18" charset="0"/>
                              </a:rPr>
                              <m:t>−2</m:t>
                            </m:r>
                            <m:r>
                              <m:rPr>
                                <m:sty m:val="p"/>
                              </m:rPr>
                              <a:rPr lang="en-GB" i="0" dirty="0">
                                <a:latin typeface="Cambria Math" panose="02040503050406030204" pitchFamily="18" charset="0"/>
                              </a:rPr>
                              <m:t>log</m:t>
                            </m:r>
                            <m:d>
                              <m:dPr>
                                <m:ctrlPr>
                                  <a:rPr lang="en-GB" i="1" dirty="0">
                                    <a:latin typeface="Cambria Math" panose="02040503050406030204" pitchFamily="18" charset="0"/>
                                  </a:rPr>
                                </m:ctrlPr>
                              </m:dPr>
                              <m:e>
                                <m:acc>
                                  <m:accPr>
                                    <m:chr m:val="̂"/>
                                    <m:ctrlPr>
                                      <a:rPr lang="en-GB" i="1" dirty="0">
                                        <a:latin typeface="Cambria Math" panose="02040503050406030204" pitchFamily="18" charset="0"/>
                                      </a:rPr>
                                    </m:ctrlPr>
                                  </m:accPr>
                                  <m:e>
                                    <m:r>
                                      <a:rPr lang="en-GB" i="1" dirty="0">
                                        <a:latin typeface="Cambria Math" panose="02040503050406030204" pitchFamily="18" charset="0"/>
                                      </a:rPr>
                                      <m:t>𝐿</m:t>
                                    </m:r>
                                  </m:e>
                                </m:acc>
                              </m:e>
                            </m:d>
                          </m:e>
                        </m:mr>
                      </m:m>
                    </m:oMath>
                  </m:oMathPara>
                </a14:m>
                <a:endParaRPr lang="en-GB" dirty="0"/>
              </a:p>
              <a:p>
                <a:pPr lvl="1" fontAlgn="base"/>
                <a:r>
                  <a:rPr lang="en-GB" dirty="0"/>
                  <a:t>m is the number of instances; p is the number of parameters learned by the model; </a:t>
                </a:r>
                <a14:m>
                  <m:oMath xmlns:m="http://schemas.openxmlformats.org/officeDocument/2006/math">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𝐿</m:t>
                        </m:r>
                      </m:e>
                    </m:acc>
                  </m:oMath>
                </a14:m>
                <a:r>
                  <a:rPr lang="en-GB" dirty="0"/>
                  <a:t> is the maximized value of the likelihood function of the model.</a:t>
                </a:r>
              </a:p>
              <a:p>
                <a:pPr marL="0" indent="0" fontAlgn="base">
                  <a:buNone/>
                </a:pPr>
                <a:endParaRPr lang="en-GB" dirty="0"/>
              </a:p>
              <a:p>
                <a:pPr lvl="2"/>
                <a:endParaRPr lang="en-GB" dirty="0"/>
              </a:p>
              <a:p>
                <a:pPr lvl="1"/>
                <a:endParaRPr lang="en-GB" dirty="0"/>
              </a:p>
              <a:p>
                <a:pPr lvl="1"/>
                <a:endParaRPr lang="en-US" dirty="0"/>
              </a:p>
              <a:p>
                <a:pPr lvl="1"/>
                <a:endParaRPr lang="en-US" dirty="0"/>
              </a:p>
              <a:p>
                <a:pPr lvl="2"/>
                <a:endParaRPr lang="en-US" b="1" dirty="0"/>
              </a:p>
              <a:p>
                <a:endParaRPr lang="en-US" dirty="0"/>
              </a:p>
            </p:txBody>
          </p:sp>
        </mc:Choice>
        <mc:Fallback xmlns="">
          <p:sp>
            <p:nvSpPr>
              <p:cNvPr id="3" name="Text Placeholder 2">
                <a:extLst>
                  <a:ext uri="{FF2B5EF4-FFF2-40B4-BE49-F238E27FC236}">
                    <a16:creationId xmlns:a16="http://schemas.microsoft.com/office/drawing/2014/main" id="{6ADDB299-A3FE-A2E7-BE7E-9805479F22DE}"/>
                  </a:ext>
                </a:extLst>
              </p:cNvPr>
              <p:cNvSpPr>
                <a:spLocks noGrp="1" noRot="1" noChangeAspect="1" noMove="1" noResize="1" noEditPoints="1" noAdjustHandles="1" noChangeArrowheads="1" noChangeShapeType="1" noTextEdit="1"/>
              </p:cNvSpPr>
              <p:nvPr>
                <p:ph type="body" sz="quarter" idx="10"/>
              </p:nvPr>
            </p:nvSpPr>
            <p:spPr>
              <a:xfrm>
                <a:off x="467545" y="1628800"/>
                <a:ext cx="8136903" cy="4824536"/>
              </a:xfrm>
              <a:blipFill>
                <a:blip r:embed="rId3"/>
                <a:stretch>
                  <a:fillRect l="-623" t="-787" r="-935"/>
                </a:stretch>
              </a:blipFill>
            </p:spPr>
            <p:txBody>
              <a:bodyPr/>
              <a:lstStyle/>
              <a:p>
                <a:r>
                  <a:rPr lang="en-US">
                    <a:noFill/>
                  </a:rPr>
                  <a:t> </a:t>
                </a:r>
              </a:p>
            </p:txBody>
          </p:sp>
        </mc:Fallback>
      </mc:AlternateContent>
    </p:spTree>
    <p:extLst>
      <p:ext uri="{BB962C8B-B14F-4D97-AF65-F5344CB8AC3E}">
        <p14:creationId xmlns:p14="http://schemas.microsoft.com/office/powerpoint/2010/main" val="15184596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F0C1D-66A7-12E7-E383-1BA49DF23E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FD0CEC-4E56-058A-ED75-7899CD9A8CF5}"/>
              </a:ext>
            </a:extLst>
          </p:cNvPr>
          <p:cNvSpPr>
            <a:spLocks noGrp="1"/>
          </p:cNvSpPr>
          <p:nvPr>
            <p:ph type="title"/>
          </p:nvPr>
        </p:nvSpPr>
        <p:spPr>
          <a:xfrm>
            <a:off x="503548" y="620688"/>
            <a:ext cx="8136904" cy="736445"/>
          </a:xfrm>
        </p:spPr>
        <p:txBody>
          <a:bodyPr/>
          <a:lstStyle/>
          <a:p>
            <a:r>
              <a:rPr lang="en-US" dirty="0"/>
              <a:t>Selecting the Number of Clusters</a:t>
            </a:r>
            <a:endParaRPr lang="en-US" i="1" dirty="0"/>
          </a:p>
        </p:txBody>
      </p:sp>
      <p:sp>
        <p:nvSpPr>
          <p:cNvPr id="3" name="Text Placeholder 2">
            <a:extLst>
              <a:ext uri="{FF2B5EF4-FFF2-40B4-BE49-F238E27FC236}">
                <a16:creationId xmlns:a16="http://schemas.microsoft.com/office/drawing/2014/main" id="{5103465D-3104-C280-697F-AB5ECB7E79C7}"/>
              </a:ext>
            </a:extLst>
          </p:cNvPr>
          <p:cNvSpPr>
            <a:spLocks noGrp="1"/>
          </p:cNvSpPr>
          <p:nvPr>
            <p:ph type="body" sz="quarter" idx="10"/>
          </p:nvPr>
        </p:nvSpPr>
        <p:spPr>
          <a:xfrm>
            <a:off x="467545" y="1628800"/>
            <a:ext cx="8136903" cy="4464496"/>
          </a:xfrm>
        </p:spPr>
        <p:txBody>
          <a:bodyPr/>
          <a:lstStyle/>
          <a:p>
            <a:pPr fontAlgn="base"/>
            <a:r>
              <a:rPr lang="en-GB" dirty="0"/>
              <a:t>Both BIC and AIC penalize models that have more parameters to learn (e.g., more clusters) and reward models that fit the data well. </a:t>
            </a:r>
          </a:p>
          <a:p>
            <a:pPr fontAlgn="base"/>
            <a:r>
              <a:rPr lang="en-GB" dirty="0"/>
              <a:t>They often select the same model. When they differ, the model selected by the BIC tends to be simpler (fewer parameters) but tends to not fit the data quite as well (especially for larger datasets).</a:t>
            </a:r>
          </a:p>
          <a:p>
            <a:pPr fontAlgn="base"/>
            <a:endParaRPr lang="en-GB" dirty="0"/>
          </a:p>
          <a:p>
            <a:pPr lvl="2"/>
            <a:endParaRPr lang="en-GB" dirty="0"/>
          </a:p>
          <a:p>
            <a:pPr lvl="1"/>
            <a:endParaRPr lang="en-GB" dirty="0"/>
          </a:p>
          <a:p>
            <a:pPr lvl="1"/>
            <a:endParaRPr lang="en-US" dirty="0"/>
          </a:p>
          <a:p>
            <a:pPr lvl="1"/>
            <a:endParaRPr lang="en-US" dirty="0"/>
          </a:p>
          <a:p>
            <a:pPr lvl="2"/>
            <a:endParaRPr lang="en-US" b="1" dirty="0"/>
          </a:p>
          <a:p>
            <a:endParaRPr lang="en-US" dirty="0"/>
          </a:p>
        </p:txBody>
      </p:sp>
      <p:pic>
        <p:nvPicPr>
          <p:cNvPr id="27650" name="Picture 2" descr="mls2 0921">
            <a:extLst>
              <a:ext uri="{FF2B5EF4-FFF2-40B4-BE49-F238E27FC236}">
                <a16:creationId xmlns:a16="http://schemas.microsoft.com/office/drawing/2014/main" id="{102B41AF-74AC-D3A2-3DF8-3B84034468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8780" y="4120817"/>
            <a:ext cx="6246440" cy="210058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4C71839-068E-C3A7-24FA-B6814BECE0F1}"/>
              </a:ext>
            </a:extLst>
          </p:cNvPr>
          <p:cNvSpPr txBox="1"/>
          <p:nvPr/>
        </p:nvSpPr>
        <p:spPr>
          <a:xfrm>
            <a:off x="2051720" y="6237312"/>
            <a:ext cx="5040560" cy="307777"/>
          </a:xfrm>
          <a:prstGeom prst="rect">
            <a:avLst/>
          </a:prstGeom>
          <a:noFill/>
        </p:spPr>
        <p:txBody>
          <a:bodyPr wrap="square">
            <a:spAutoFit/>
          </a:bodyPr>
          <a:lstStyle/>
          <a:p>
            <a:pPr algn="ctr"/>
            <a:r>
              <a:rPr lang="en-GB" sz="1400" b="0" i="0" u="none" strike="noStrike" dirty="0">
                <a:effectLst/>
              </a:rPr>
              <a:t>Comparing BIC and AIC for the 3 elliptical blobs dataset</a:t>
            </a:r>
            <a:endParaRPr lang="en-US" sz="1400" dirty="0"/>
          </a:p>
        </p:txBody>
      </p:sp>
    </p:spTree>
    <p:extLst>
      <p:ext uri="{BB962C8B-B14F-4D97-AF65-F5344CB8AC3E}">
        <p14:creationId xmlns:p14="http://schemas.microsoft.com/office/powerpoint/2010/main" val="41134557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031A6-32D7-262B-7E80-A66D076F2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53833F-4319-63B6-3E66-5AFC4D722A2F}"/>
              </a:ext>
            </a:extLst>
          </p:cNvPr>
          <p:cNvSpPr>
            <a:spLocks noGrp="1"/>
          </p:cNvSpPr>
          <p:nvPr>
            <p:ph type="title"/>
          </p:nvPr>
        </p:nvSpPr>
        <p:spPr>
          <a:xfrm>
            <a:off x="503548" y="620688"/>
            <a:ext cx="8136904" cy="736445"/>
          </a:xfrm>
        </p:spPr>
        <p:txBody>
          <a:bodyPr/>
          <a:lstStyle/>
          <a:p>
            <a:r>
              <a:rPr lang="en-US" dirty="0"/>
              <a:t>Summary</a:t>
            </a:r>
          </a:p>
        </p:txBody>
      </p:sp>
      <p:sp>
        <p:nvSpPr>
          <p:cNvPr id="3" name="Text Placeholder 2">
            <a:extLst>
              <a:ext uri="{FF2B5EF4-FFF2-40B4-BE49-F238E27FC236}">
                <a16:creationId xmlns:a16="http://schemas.microsoft.com/office/drawing/2014/main" id="{02103CA0-8A26-34DF-2D82-0121A0F031F4}"/>
              </a:ext>
            </a:extLst>
          </p:cNvPr>
          <p:cNvSpPr>
            <a:spLocks noGrp="1"/>
          </p:cNvSpPr>
          <p:nvPr>
            <p:ph type="body" sz="quarter" idx="10"/>
          </p:nvPr>
        </p:nvSpPr>
        <p:spPr>
          <a:xfrm>
            <a:off x="467545" y="1628800"/>
            <a:ext cx="8136903" cy="4464496"/>
          </a:xfrm>
        </p:spPr>
        <p:txBody>
          <a:bodyPr/>
          <a:lstStyle/>
          <a:p>
            <a:r>
              <a:rPr lang="en-GB" dirty="0"/>
              <a:t>We looked at Unsupervised Learning Techniques – K-Means, DBSCAN and GMMs</a:t>
            </a:r>
          </a:p>
          <a:p>
            <a:endParaRPr lang="en-GB" dirty="0"/>
          </a:p>
          <a:p>
            <a:pPr lvl="1"/>
            <a:endParaRPr lang="en-GB" dirty="0"/>
          </a:p>
          <a:p>
            <a:pPr lvl="1"/>
            <a:endParaRPr lang="en-US" dirty="0"/>
          </a:p>
          <a:p>
            <a:pPr lvl="1"/>
            <a:endParaRPr lang="en-US" dirty="0"/>
          </a:p>
          <a:p>
            <a:pPr lvl="2"/>
            <a:endParaRPr lang="en-US" b="1" dirty="0"/>
          </a:p>
          <a:p>
            <a:endParaRPr lang="en-US" dirty="0"/>
          </a:p>
        </p:txBody>
      </p:sp>
      <p:graphicFrame>
        <p:nvGraphicFramePr>
          <p:cNvPr id="5" name="Table 4">
            <a:extLst>
              <a:ext uri="{FF2B5EF4-FFF2-40B4-BE49-F238E27FC236}">
                <a16:creationId xmlns:a16="http://schemas.microsoft.com/office/drawing/2014/main" id="{D6D1AB2C-01B7-B021-5EB3-E75D0D85B4F8}"/>
              </a:ext>
            </a:extLst>
          </p:cNvPr>
          <p:cNvGraphicFramePr>
            <a:graphicFrameLocks noGrp="1"/>
          </p:cNvGraphicFramePr>
          <p:nvPr>
            <p:extLst>
              <p:ext uri="{D42A27DB-BD31-4B8C-83A1-F6EECF244321}">
                <p14:modId xmlns:p14="http://schemas.microsoft.com/office/powerpoint/2010/main" val="3491340839"/>
              </p:ext>
            </p:extLst>
          </p:nvPr>
        </p:nvGraphicFramePr>
        <p:xfrm>
          <a:off x="1265802" y="2479288"/>
          <a:ext cx="6540388" cy="3581400"/>
        </p:xfrm>
        <a:graphic>
          <a:graphicData uri="http://schemas.openxmlformats.org/drawingml/2006/table">
            <a:tbl>
              <a:tblPr firstRow="1" bandRow="1">
                <a:tableStyleId>{5C22544A-7EE6-4342-B048-85BDC9FD1C3A}</a:tableStyleId>
              </a:tblPr>
              <a:tblGrid>
                <a:gridCol w="1635097">
                  <a:extLst>
                    <a:ext uri="{9D8B030D-6E8A-4147-A177-3AD203B41FA5}">
                      <a16:colId xmlns:a16="http://schemas.microsoft.com/office/drawing/2014/main" val="1485883439"/>
                    </a:ext>
                  </a:extLst>
                </a:gridCol>
                <a:gridCol w="1635097">
                  <a:extLst>
                    <a:ext uri="{9D8B030D-6E8A-4147-A177-3AD203B41FA5}">
                      <a16:colId xmlns:a16="http://schemas.microsoft.com/office/drawing/2014/main" val="3486645090"/>
                    </a:ext>
                  </a:extLst>
                </a:gridCol>
                <a:gridCol w="1635097">
                  <a:extLst>
                    <a:ext uri="{9D8B030D-6E8A-4147-A177-3AD203B41FA5}">
                      <a16:colId xmlns:a16="http://schemas.microsoft.com/office/drawing/2014/main" val="3062114928"/>
                    </a:ext>
                  </a:extLst>
                </a:gridCol>
                <a:gridCol w="1635097">
                  <a:extLst>
                    <a:ext uri="{9D8B030D-6E8A-4147-A177-3AD203B41FA5}">
                      <a16:colId xmlns:a16="http://schemas.microsoft.com/office/drawing/2014/main" val="841477056"/>
                    </a:ext>
                  </a:extLst>
                </a:gridCol>
              </a:tblGrid>
              <a:tr h="370840">
                <a:tc>
                  <a:txBody>
                    <a:bodyPr/>
                    <a:lstStyle/>
                    <a:p>
                      <a:endParaRPr lang="en-US" dirty="0"/>
                    </a:p>
                  </a:txBody>
                  <a:tcPr/>
                </a:tc>
                <a:tc>
                  <a:txBody>
                    <a:bodyPr/>
                    <a:lstStyle/>
                    <a:p>
                      <a:r>
                        <a:rPr lang="en-US" dirty="0"/>
                        <a:t>K-Means</a:t>
                      </a:r>
                    </a:p>
                  </a:txBody>
                  <a:tcPr/>
                </a:tc>
                <a:tc>
                  <a:txBody>
                    <a:bodyPr/>
                    <a:lstStyle/>
                    <a:p>
                      <a:r>
                        <a:rPr lang="en-US" dirty="0"/>
                        <a:t>DBSCAN</a:t>
                      </a:r>
                    </a:p>
                  </a:txBody>
                  <a:tcPr/>
                </a:tc>
                <a:tc>
                  <a:txBody>
                    <a:bodyPr/>
                    <a:lstStyle/>
                    <a:p>
                      <a:r>
                        <a:rPr lang="en-US" dirty="0"/>
                        <a:t>GMMs</a:t>
                      </a:r>
                    </a:p>
                  </a:txBody>
                  <a:tcPr/>
                </a:tc>
                <a:extLst>
                  <a:ext uri="{0D108BD9-81ED-4DB2-BD59-A6C34878D82A}">
                    <a16:rowId xmlns:a16="http://schemas.microsoft.com/office/drawing/2014/main" val="3021310161"/>
                  </a:ext>
                </a:extLst>
              </a:tr>
              <a:tr h="370840">
                <a:tc>
                  <a:txBody>
                    <a:bodyPr/>
                    <a:lstStyle/>
                    <a:p>
                      <a:r>
                        <a:rPr lang="en-US" dirty="0"/>
                        <a:t>Algorithm Type</a:t>
                      </a:r>
                    </a:p>
                  </a:txBody>
                  <a:tcPr/>
                </a:tc>
                <a:tc>
                  <a:txBody>
                    <a:bodyPr/>
                    <a:lstStyle/>
                    <a:p>
                      <a:r>
                        <a:rPr lang="en-US" dirty="0"/>
                        <a:t>Centroid-based</a:t>
                      </a:r>
                    </a:p>
                  </a:txBody>
                  <a:tcPr/>
                </a:tc>
                <a:tc>
                  <a:txBody>
                    <a:bodyPr/>
                    <a:lstStyle/>
                    <a:p>
                      <a:r>
                        <a:rPr lang="en-US" dirty="0"/>
                        <a:t>Density-based</a:t>
                      </a:r>
                    </a:p>
                  </a:txBody>
                  <a:tcPr/>
                </a:tc>
                <a:tc>
                  <a:txBody>
                    <a:bodyPr/>
                    <a:lstStyle/>
                    <a:p>
                      <a:r>
                        <a:rPr lang="en-US" dirty="0"/>
                        <a:t>Probabilistic</a:t>
                      </a:r>
                    </a:p>
                  </a:txBody>
                  <a:tcPr/>
                </a:tc>
                <a:extLst>
                  <a:ext uri="{0D108BD9-81ED-4DB2-BD59-A6C34878D82A}">
                    <a16:rowId xmlns:a16="http://schemas.microsoft.com/office/drawing/2014/main" val="3041204289"/>
                  </a:ext>
                </a:extLst>
              </a:tr>
              <a:tr h="370840">
                <a:tc>
                  <a:txBody>
                    <a:bodyPr/>
                    <a:lstStyle/>
                    <a:p>
                      <a:r>
                        <a:rPr lang="en-US" dirty="0"/>
                        <a:t>Clusters</a:t>
                      </a:r>
                    </a:p>
                  </a:txBody>
                  <a:tcPr/>
                </a:tc>
                <a:tc>
                  <a:txBody>
                    <a:bodyPr/>
                    <a:lstStyle/>
                    <a:p>
                      <a:r>
                        <a:rPr lang="en-US" dirty="0"/>
                        <a:t>Spherical</a:t>
                      </a:r>
                    </a:p>
                  </a:txBody>
                  <a:tcPr/>
                </a:tc>
                <a:tc>
                  <a:txBody>
                    <a:bodyPr/>
                    <a:lstStyle/>
                    <a:p>
                      <a:r>
                        <a:rPr lang="en-US" dirty="0"/>
                        <a:t>Arbitrary</a:t>
                      </a:r>
                    </a:p>
                  </a:txBody>
                  <a:tcPr/>
                </a:tc>
                <a:tc>
                  <a:txBody>
                    <a:bodyPr/>
                    <a:lstStyle/>
                    <a:p>
                      <a:r>
                        <a:rPr lang="en-US" dirty="0"/>
                        <a:t>Elliptical</a:t>
                      </a:r>
                    </a:p>
                  </a:txBody>
                  <a:tcPr/>
                </a:tc>
                <a:extLst>
                  <a:ext uri="{0D108BD9-81ED-4DB2-BD59-A6C34878D82A}">
                    <a16:rowId xmlns:a16="http://schemas.microsoft.com/office/drawing/2014/main" val="3542433421"/>
                  </a:ext>
                </a:extLst>
              </a:tr>
              <a:tr h="370840">
                <a:tc>
                  <a:txBody>
                    <a:bodyPr/>
                    <a:lstStyle/>
                    <a:p>
                      <a:r>
                        <a:rPr lang="en-US" dirty="0"/>
                        <a:t>Predefined k</a:t>
                      </a:r>
                    </a:p>
                  </a:txBody>
                  <a:tcPr/>
                </a:tc>
                <a:tc>
                  <a:txBody>
                    <a:bodyPr/>
                    <a:lstStyle/>
                    <a:p>
                      <a:r>
                        <a:rPr lang="en-US" dirty="0"/>
                        <a:t>Yes</a:t>
                      </a:r>
                    </a:p>
                  </a:txBody>
                  <a:tcPr/>
                </a:tc>
                <a:tc>
                  <a:txBody>
                    <a:bodyPr/>
                    <a:lstStyle/>
                    <a:p>
                      <a:r>
                        <a:rPr lang="en-US" dirty="0"/>
                        <a:t>No</a:t>
                      </a:r>
                    </a:p>
                  </a:txBody>
                  <a:tcPr/>
                </a:tc>
                <a:tc>
                  <a:txBody>
                    <a:bodyPr/>
                    <a:lstStyle/>
                    <a:p>
                      <a:r>
                        <a:rPr lang="en-US" dirty="0"/>
                        <a:t>Yes</a:t>
                      </a:r>
                    </a:p>
                  </a:txBody>
                  <a:tcPr/>
                </a:tc>
                <a:extLst>
                  <a:ext uri="{0D108BD9-81ED-4DB2-BD59-A6C34878D82A}">
                    <a16:rowId xmlns:a16="http://schemas.microsoft.com/office/drawing/2014/main" val="1738835586"/>
                  </a:ext>
                </a:extLst>
              </a:tr>
              <a:tr h="370840">
                <a:tc>
                  <a:txBody>
                    <a:bodyPr/>
                    <a:lstStyle/>
                    <a:p>
                      <a:r>
                        <a:rPr lang="en-US" dirty="0"/>
                        <a:t>Handling Outliers</a:t>
                      </a:r>
                    </a:p>
                  </a:txBody>
                  <a:tcPr/>
                </a:tc>
                <a:tc>
                  <a:txBody>
                    <a:bodyPr/>
                    <a:lstStyle/>
                    <a:p>
                      <a:r>
                        <a:rPr lang="en-US" dirty="0"/>
                        <a:t>No</a:t>
                      </a:r>
                    </a:p>
                  </a:txBody>
                  <a:tcPr/>
                </a:tc>
                <a:tc>
                  <a:txBody>
                    <a:bodyPr/>
                    <a:lstStyle/>
                    <a:p>
                      <a:r>
                        <a:rPr lang="en-US" dirty="0"/>
                        <a:t>Yes</a:t>
                      </a:r>
                    </a:p>
                  </a:txBody>
                  <a:tcPr/>
                </a:tc>
                <a:tc>
                  <a:txBody>
                    <a:bodyPr/>
                    <a:lstStyle/>
                    <a:p>
                      <a:r>
                        <a:rPr lang="en-US" dirty="0"/>
                        <a:t>No</a:t>
                      </a:r>
                    </a:p>
                  </a:txBody>
                  <a:tcPr/>
                </a:tc>
                <a:extLst>
                  <a:ext uri="{0D108BD9-81ED-4DB2-BD59-A6C34878D82A}">
                    <a16:rowId xmlns:a16="http://schemas.microsoft.com/office/drawing/2014/main" val="169146144"/>
                  </a:ext>
                </a:extLst>
              </a:tr>
              <a:tr h="370840">
                <a:tc>
                  <a:txBody>
                    <a:bodyPr/>
                    <a:lstStyle/>
                    <a:p>
                      <a:r>
                        <a:rPr lang="en-US" dirty="0" err="1"/>
                        <a:t>Usecases</a:t>
                      </a:r>
                      <a:endParaRPr lang="en-US" dirty="0"/>
                    </a:p>
                  </a:txBody>
                  <a:tcPr/>
                </a:tc>
                <a:tc>
                  <a:txBody>
                    <a:bodyPr/>
                    <a:lstStyle/>
                    <a:p>
                      <a:r>
                        <a:rPr lang="en-GB" sz="1800" b="0" i="0" u="none" strike="noStrike" kern="1200" dirty="0">
                          <a:solidFill>
                            <a:schemeClr val="dk1"/>
                          </a:solidFill>
                          <a:effectLst/>
                          <a:latin typeface="+mn-lt"/>
                          <a:ea typeface="+mn-ea"/>
                          <a:cs typeface="+mn-cs"/>
                        </a:rPr>
                        <a:t>Well-separated spherical clusters</a:t>
                      </a:r>
                      <a:endParaRPr lang="en-US" dirty="0"/>
                    </a:p>
                  </a:txBody>
                  <a:tcPr/>
                </a:tc>
                <a:tc>
                  <a:txBody>
                    <a:bodyPr/>
                    <a:lstStyle/>
                    <a:p>
                      <a:r>
                        <a:rPr lang="en-GB" sz="1800" b="0" i="0" u="none" strike="noStrike" kern="1200" dirty="0">
                          <a:solidFill>
                            <a:schemeClr val="dk1"/>
                          </a:solidFill>
                          <a:effectLst/>
                          <a:latin typeface="+mn-lt"/>
                          <a:ea typeface="+mn-ea"/>
                          <a:cs typeface="+mn-cs"/>
                        </a:rPr>
                        <a:t>Spatial data, anomaly detection</a:t>
                      </a:r>
                      <a:endParaRPr lang="en-US" dirty="0"/>
                    </a:p>
                  </a:txBody>
                  <a:tcPr/>
                </a:tc>
                <a:tc>
                  <a:txBody>
                    <a:bodyPr/>
                    <a:lstStyle/>
                    <a:p>
                      <a:r>
                        <a:rPr lang="en-GB" sz="1800" b="0" i="0" u="none" strike="noStrike" kern="1200" dirty="0">
                          <a:solidFill>
                            <a:schemeClr val="dk1"/>
                          </a:solidFill>
                          <a:effectLst/>
                          <a:latin typeface="+mn-lt"/>
                          <a:ea typeface="+mn-ea"/>
                          <a:cs typeface="+mn-cs"/>
                        </a:rPr>
                        <a:t>Soft clustering, overlapping clusters</a:t>
                      </a:r>
                      <a:endParaRPr lang="en-US" dirty="0"/>
                    </a:p>
                  </a:txBody>
                  <a:tcPr/>
                </a:tc>
                <a:extLst>
                  <a:ext uri="{0D108BD9-81ED-4DB2-BD59-A6C34878D82A}">
                    <a16:rowId xmlns:a16="http://schemas.microsoft.com/office/drawing/2014/main" val="3493192404"/>
                  </a:ext>
                </a:extLst>
              </a:tr>
            </a:tbl>
          </a:graphicData>
        </a:graphic>
      </p:graphicFrame>
    </p:spTree>
    <p:extLst>
      <p:ext uri="{BB962C8B-B14F-4D97-AF65-F5344CB8AC3E}">
        <p14:creationId xmlns:p14="http://schemas.microsoft.com/office/powerpoint/2010/main" val="7654188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7C18D-F11D-FCF0-8280-99AF471B747A}"/>
              </a:ext>
            </a:extLst>
          </p:cNvPr>
          <p:cNvSpPr>
            <a:spLocks noGrp="1"/>
          </p:cNvSpPr>
          <p:nvPr>
            <p:ph type="title"/>
          </p:nvPr>
        </p:nvSpPr>
        <p:spPr>
          <a:xfrm>
            <a:off x="503548" y="2960948"/>
            <a:ext cx="8136904" cy="936104"/>
          </a:xfrm>
        </p:spPr>
        <p:txBody>
          <a:bodyPr/>
          <a:lstStyle/>
          <a:p>
            <a:pPr algn="ctr"/>
            <a:r>
              <a:rPr lang="en-US" dirty="0"/>
              <a:t>Next Lecture: Dimensionality Reduction</a:t>
            </a:r>
            <a:br>
              <a:rPr lang="en-US" dirty="0"/>
            </a:br>
            <a:br>
              <a:rPr lang="en-US" dirty="0"/>
            </a:br>
            <a:r>
              <a:rPr lang="en-US" dirty="0"/>
              <a:t>Questions?</a:t>
            </a:r>
          </a:p>
        </p:txBody>
      </p:sp>
    </p:spTree>
    <p:extLst>
      <p:ext uri="{BB962C8B-B14F-4D97-AF65-F5344CB8AC3E}">
        <p14:creationId xmlns:p14="http://schemas.microsoft.com/office/powerpoint/2010/main" val="1223675653"/>
      </p:ext>
    </p:extLst>
  </p:cSld>
  <p:clrMapOvr>
    <a:masterClrMapping/>
  </p:clrMapOvr>
</p:sld>
</file>

<file path=ppt/theme/theme1.xml><?xml version="1.0" encoding="utf-8"?>
<a:theme xmlns:a="http://schemas.openxmlformats.org/drawingml/2006/main" name="UoS_Powerpoint_template">
  <a:themeElements>
    <a:clrScheme name="Rich Black">
      <a:dk1>
        <a:srgbClr val="231F20"/>
      </a:dk1>
      <a:lt1>
        <a:srgbClr val="FFFFFF"/>
      </a:lt1>
      <a:dk2>
        <a:srgbClr val="005C84"/>
      </a:dk2>
      <a:lt2>
        <a:srgbClr val="495961"/>
      </a:lt2>
      <a:accent1>
        <a:srgbClr val="9FB1BD"/>
      </a:accent1>
      <a:accent2>
        <a:srgbClr val="E73037"/>
      </a:accent2>
      <a:accent3>
        <a:srgbClr val="C1D100"/>
      </a:accent3>
      <a:accent4>
        <a:srgbClr val="8D3970"/>
      </a:accent4>
      <a:accent5>
        <a:srgbClr val="31BFC7"/>
      </a:accent5>
      <a:accent6>
        <a:srgbClr val="EF7D00"/>
      </a:accent6>
      <a:hlink>
        <a:srgbClr val="74C9E5"/>
      </a:hlink>
      <a:folHlink>
        <a:srgbClr val="D5007F"/>
      </a:folHlink>
    </a:clrScheme>
    <a:fontScheme name="Custom 1">
      <a:majorFont>
        <a:latin typeface="Lucida Sans"/>
        <a:ea typeface=""/>
        <a:cs typeface=""/>
      </a:majorFont>
      <a:minorFont>
        <a:latin typeface="Lucida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946433AF-ADAF-5043-992B-F8DA038F8EDD}" vid="{70BB0F00-7E88-EC42-8F76-723910B29191}"/>
    </a:ext>
  </a:extLst>
</a:theme>
</file>

<file path=ppt/theme/theme2.xml><?xml version="1.0" encoding="utf-8"?>
<a:theme xmlns:a="http://schemas.openxmlformats.org/drawingml/2006/main" name="Title and content">
  <a:themeElements>
    <a:clrScheme name="Custom 1">
      <a:dk1>
        <a:srgbClr val="231F20"/>
      </a:dk1>
      <a:lt1>
        <a:srgbClr val="FFFFFF"/>
      </a:lt1>
      <a:dk2>
        <a:srgbClr val="005C84"/>
      </a:dk2>
      <a:lt2>
        <a:srgbClr val="495961"/>
      </a:lt2>
      <a:accent1>
        <a:srgbClr val="9FB1BD"/>
      </a:accent1>
      <a:accent2>
        <a:srgbClr val="E73037"/>
      </a:accent2>
      <a:accent3>
        <a:srgbClr val="C1D100"/>
      </a:accent3>
      <a:accent4>
        <a:srgbClr val="8D3970"/>
      </a:accent4>
      <a:accent5>
        <a:srgbClr val="31BFC7"/>
      </a:accent5>
      <a:accent6>
        <a:srgbClr val="EF7D00"/>
      </a:accent6>
      <a:hlink>
        <a:srgbClr val="005C83"/>
      </a:hlink>
      <a:folHlink>
        <a:srgbClr val="495961"/>
      </a:folHlink>
    </a:clrScheme>
    <a:fontScheme name="UoS Powerpoint Fonts">
      <a:majorFont>
        <a:latin typeface="Lucida Sans"/>
        <a:ea typeface=""/>
        <a:cs typeface=""/>
      </a:majorFont>
      <a:minorFont>
        <a:latin typeface="Lucida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946433AF-ADAF-5043-992B-F8DA038F8EDD}" vid="{FB3B6721-CF41-CB4A-8BDA-0705E516CAA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23682EB-C5DD-B24C-B87B-2491F21400E6}">
  <we:reference id="3e0fcce7-415c-4081-926c-b4e449c650e4" version="1.1.0.2" store="EXCatalog" storeType="EXCatalog"/>
  <we:alternateReferences>
    <we:reference id="WA200004709" version="1.1.0.2" store="en-GB"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224FBB6BFB1D540934452F52CBBF22B" ma:contentTypeVersion="9" ma:contentTypeDescription="Create a new document." ma:contentTypeScope="" ma:versionID="21261a22b0a1492a5963e2cc5a02714f">
  <xsd:schema xmlns:xsd="http://www.w3.org/2001/XMLSchema" xmlns:xs="http://www.w3.org/2001/XMLSchema" xmlns:p="http://schemas.microsoft.com/office/2006/metadata/properties" xmlns:ns2="c17eb852-9151-42b7-bd36-545ee532f1a1" xmlns:ns3="1fc98906-40c9-4f56-92bd-f396bbed9311" targetNamespace="http://schemas.microsoft.com/office/2006/metadata/properties" ma:root="true" ma:fieldsID="210f28c92276b41fc3c7219090adcd97" ns2:_="" ns3:_="">
    <xsd:import namespace="c17eb852-9151-42b7-bd36-545ee532f1a1"/>
    <xsd:import namespace="1fc98906-40c9-4f56-92bd-f396bbed9311"/>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ObjectDetectorVersion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7eb852-9151-42b7-bd36-545ee532f1a1"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cbf2f534-9c3d-494b-83fb-768e807180cb"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fc98906-40c9-4f56-92bd-f396bbed9311"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40bfaa32-be88-4c32-8520-a8dac6cdd59d}" ma:internalName="TaxCatchAll" ma:showField="CatchAllData" ma:web="1fc98906-40c9-4f56-92bd-f396bbed931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1fc98906-40c9-4f56-92bd-f396bbed9311" xsi:nil="true"/>
    <lcf76f155ced4ddcb4097134ff3c332f xmlns="c17eb852-9151-42b7-bd36-545ee532f1a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1FE5E4C-A660-4B47-ADFF-41A96BE1AB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17eb852-9151-42b7-bd36-545ee532f1a1"/>
    <ds:schemaRef ds:uri="1fc98906-40c9-4f56-92bd-f396bbed931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20608EC-859B-4A99-8679-C05BD7B9789A}">
  <ds:schemaRefs>
    <ds:schemaRef ds:uri="http://schemas.microsoft.com/office/2006/documentManagement/types"/>
    <ds:schemaRef ds:uri="http://www.w3.org/XML/1998/namespace"/>
    <ds:schemaRef ds:uri="1fc98906-40c9-4f56-92bd-f396bbed9311"/>
    <ds:schemaRef ds:uri="http://purl.org/dc/terms/"/>
    <ds:schemaRef ds:uri="http://schemas.microsoft.com/office/2006/metadata/properties"/>
    <ds:schemaRef ds:uri="c17eb852-9151-42b7-bd36-545ee532f1a1"/>
    <ds:schemaRef ds:uri="http://purl.org/dc/elements/1.1/"/>
    <ds:schemaRef ds:uri="http://schemas.microsoft.com/office/infopath/2007/PartnerControls"/>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1F550B5B-764A-456A-890B-534F7E9CBEA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UoS_Powerpoint_template</Template>
  <TotalTime>11656</TotalTime>
  <Words>1708</Words>
  <Application>Microsoft Macintosh PowerPoint</Application>
  <PresentationFormat>On-screen Show (4:3)</PresentationFormat>
  <Paragraphs>290</Paragraphs>
  <Slides>28</Slides>
  <Notes>25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28</vt:i4>
      </vt:variant>
    </vt:vector>
  </HeadingPairs>
  <TitlesOfParts>
    <vt:vector size="36" baseType="lpstr">
      <vt:lpstr>Arial</vt:lpstr>
      <vt:lpstr>Calibri</vt:lpstr>
      <vt:lpstr>Cambria Math</vt:lpstr>
      <vt:lpstr>Lucida Sans</vt:lpstr>
      <vt:lpstr>Noto serif</vt:lpstr>
      <vt:lpstr>Wingdings</vt:lpstr>
      <vt:lpstr>UoS_Powerpoint_template</vt:lpstr>
      <vt:lpstr>Title and content</vt:lpstr>
      <vt:lpstr>Unsupervised Learning</vt:lpstr>
      <vt:lpstr>Lecture Outline</vt:lpstr>
      <vt:lpstr>Unsupervised Learning</vt:lpstr>
      <vt:lpstr>Unsupervised Learning Tasks</vt:lpstr>
      <vt:lpstr>Clustering</vt:lpstr>
      <vt:lpstr>K-Means Clustering</vt:lpstr>
      <vt:lpstr>K-Means Algorithm</vt:lpstr>
      <vt:lpstr>K-Means Algorithm – Convergence </vt:lpstr>
      <vt:lpstr>Improving Centroid Initialization</vt:lpstr>
      <vt:lpstr>K-Means++</vt:lpstr>
      <vt:lpstr>Finding the optimal number of clusters</vt:lpstr>
      <vt:lpstr>Using Inertia to choose k</vt:lpstr>
      <vt:lpstr>Silhouette score</vt:lpstr>
      <vt:lpstr>Silhouette score vs. k</vt:lpstr>
      <vt:lpstr>Silhouette score vs. k</vt:lpstr>
      <vt:lpstr>Limitations of K-Means</vt:lpstr>
      <vt:lpstr>DBSCAN</vt:lpstr>
      <vt:lpstr>DBSCAN</vt:lpstr>
      <vt:lpstr>DBSCAN</vt:lpstr>
      <vt:lpstr>Gaussian Mixture Models</vt:lpstr>
      <vt:lpstr>Data generation in GMMs</vt:lpstr>
      <vt:lpstr>Training Gaussian Mixture Models</vt:lpstr>
      <vt:lpstr>Visualizing GMMs</vt:lpstr>
      <vt:lpstr>GMM output – things to note</vt:lpstr>
      <vt:lpstr>Selecting the Number of Clusters</vt:lpstr>
      <vt:lpstr>Selecting the Number of Clusters</vt:lpstr>
      <vt:lpstr>Summary</vt:lpstr>
      <vt:lpstr>Next Lecture: Dimensionality Reduction  Questions?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Indu Bodala</dc:creator>
  <cp:keywords/>
  <dc:description/>
  <cp:lastModifiedBy>Daniela Mihai</cp:lastModifiedBy>
  <cp:revision>29</cp:revision>
  <dcterms:created xsi:type="dcterms:W3CDTF">2025-09-08T14:16:43Z</dcterms:created>
  <dcterms:modified xsi:type="dcterms:W3CDTF">2026-10-19T08:54:46Z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0x0101005224FBB6BFB1D540934452F52CBBF22B</vt:lpwstr>
  </property>
  <property fmtid="{D5CDD505-2E9C-101B-9397-08002B2CF9AE}" pid="3" name="MediaServiceImageTags">
    <vt:lpwstr/>
  </property>
</Properties>
</file>