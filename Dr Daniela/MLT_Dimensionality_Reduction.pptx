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04" r:id="rId5"/>
  </p:sldMasterIdLst>
  <p:notesMasterIdLst>
    <p:notesMasterId r:id="rId30"/>
  </p:notesMasterIdLst>
  <p:handoutMasterIdLst>
    <p:handoutMasterId r:id="rId31"/>
  </p:handoutMasterIdLst>
  <p:sldIdLst>
    <p:sldId id="256" r:id="rId6"/>
    <p:sldId id="285" r:id="rId7"/>
    <p:sldId id="412" r:id="rId8"/>
    <p:sldId id="455" r:id="rId9"/>
    <p:sldId id="431" r:id="rId10"/>
    <p:sldId id="465" r:id="rId11"/>
    <p:sldId id="456" r:id="rId12"/>
    <p:sldId id="457" r:id="rId13"/>
    <p:sldId id="458" r:id="rId14"/>
    <p:sldId id="466" r:id="rId15"/>
    <p:sldId id="435" r:id="rId16"/>
    <p:sldId id="440" r:id="rId17"/>
    <p:sldId id="438" r:id="rId18"/>
    <p:sldId id="462" r:id="rId19"/>
    <p:sldId id="441" r:id="rId20"/>
    <p:sldId id="442" r:id="rId21"/>
    <p:sldId id="459" r:id="rId22"/>
    <p:sldId id="443" r:id="rId23"/>
    <p:sldId id="464" r:id="rId24"/>
    <p:sldId id="460" r:id="rId25"/>
    <p:sldId id="463" r:id="rId26"/>
    <p:sldId id="453" r:id="rId27"/>
    <p:sldId id="461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D5F"/>
    <a:srgbClr val="005C84"/>
    <a:srgbClr val="495961"/>
    <a:srgbClr val="8D3970"/>
    <a:srgbClr val="662953"/>
    <a:srgbClr val="F9FBFF"/>
    <a:srgbClr val="CA287A"/>
    <a:srgbClr val="DE2B32"/>
    <a:srgbClr val="4AAD87"/>
    <a:srgbClr val="AACF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 autoAdjust="0"/>
    <p:restoredTop sz="85248" autoAdjust="0"/>
  </p:normalViewPr>
  <p:slideViewPr>
    <p:cSldViewPr>
      <p:cViewPr varScale="1">
        <p:scale>
          <a:sx n="103" d="100"/>
          <a:sy n="103" d="100"/>
        </p:scale>
        <p:origin x="1064" y="3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400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54761-1460-C44E-8EE9-132392DCD1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82BE9-307A-AB49-B561-9E71E3CE8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290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3D421-3143-47CA-ACA9-5443A0940D9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A50D6-6132-4FF4-AFC5-01B946DDB4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7693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91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A2E4A-D2B7-DAB7-AB09-C0C8BD1B2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8396AE-16F3-7CF0-5024-7FA40811E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C8360-5243-33C4-FF03-4434D262E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A03C2-1535-7A31-E620-3912056E9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277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2B5E3-F144-3CB9-9043-1F41B761C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6337F-480B-6B84-2E53-959C2206E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FA8A5-120C-161F-DC37-19884B769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2D1F8-0446-1266-DCB3-06404574D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788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C4E9A-C8B6-7BD0-0615-CAB13B581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64652-49EE-6E5E-C786-6DDA04D47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FD5E5C-A182-D984-9581-3F9D24B7D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3EB78-9705-02F7-7572-DF602C119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295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B3D72-2C0C-D5D9-8A8F-FBCEE2A88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BA969-49AE-74D7-2A33-581E62D1E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9101C-73A8-5D66-3CE1-B3C5A0F17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D09CF-FD7B-B4D4-67EB-AA6024B8B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341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8BB24-1C3A-CDA5-2335-A4175FD1A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FAAA55-21AA-CC16-F35E-873F5F63B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050CCB-D2CE-B1F0-FBBC-D928231B3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EFB6D-DA49-C995-0205-CD58C110F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339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6EC2-6B8D-8224-3B0A-361DA5B63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69E362-6C6B-E57E-33CE-B32CE1B34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8F345-7B91-62F2-188F-DF7E23426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8A214-4CBA-9DCA-10F3-1C2EE9FEF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971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E5C2E-802A-5141-ED05-20E2A2144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07552-E081-8DFF-BE1A-7286044B9B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C41D1-7674-0CB8-EDED-C2191A2B8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27EDD-22C0-2833-6D73-C64A99272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937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342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821B7-7D62-AE4E-3439-7355DFE5A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8D118-3DF1-FFAE-F9F1-4E675EC2B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16F24-DA19-2E85-79C9-7AF75712B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A32BE-9C3A-AFC5-6B78-C56B307157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036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CCC76-1106-CD70-AB73-3E5FD3CD6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3B730-9BD1-4EA6-117B-5CBF30B3D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ADC00-4CDC-9AE8-8E6B-291D42B9D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4C933-D016-18A9-782A-D356EA02E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634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13F86-86EE-AFEC-0ED1-12DE33555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609C6-67A2-4005-AEEE-CDE03267E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92A90-8191-16B9-4D44-BBE0DAF62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D60E8-8208-B4B1-DE2C-B352D09DA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51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C1ABC-F602-9893-C3F7-4F7D0956F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FFAD2-2745-5AF8-D4A0-10DFA9786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86476-154B-4447-9382-7DCC56F34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49F3C-4279-BFB7-5768-79B8F9A65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9335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AD7ED-C1C9-41BB-F35A-618E60B76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8515F0-91D7-96FA-B179-B956E2ADF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FC7489-BE33-2651-24C7-94037E758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D908F-0FF3-4380-88C7-F27A3085F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435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10878-3972-C2FC-0717-B065DC2C7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92ADC-4A4E-7A52-224A-B57F17A4B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AB409-B0C2-9F69-04BC-299A18218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BBC9F-88BB-17DD-5695-9157E5E4C1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9517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81FEC-569F-D907-10FC-FE8E4C080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AE43F-AB9F-7001-16F7-503677B126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51523-AE41-C72A-746B-1954995C6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looks very similar to the first step, but instead of keeping the instances fixed and finding the optimal weights, we are doing the reverse: keeping the weights fixed and finding the optimal position of the instances’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E4788-BFF4-92C8-B405-ADC3BBF22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5727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5BD9-3B6D-96B1-3007-9645DF3E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FE6DF-9208-9457-4889-53E6EF623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FE767-4E2A-464A-D015-C6D42378E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Kullback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</a:t>
            </a:r>
            <a:r>
              <a:rPr lang="en-GB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Leibler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(KL) divergence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measure from information theory that quantifies how one probability distribution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 a second, reference probability distribution. It’s often used to compare how well a model approximates a true distribution.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783DF-9E20-5A02-3B2B-2CD8963D0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61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2B354-6AD7-B2A9-512F-13FC8B260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6F6CD-8E77-50AE-C50C-CF8BDCC39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178DB-7C38-C76F-27B7-5504E0D57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9F7A9-A48F-CE1E-4C15-D6A8517E6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2196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8BF0E-71E0-0DB1-4533-E31DD78B2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9865F-FE10-8805-CCF1-A406515CB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746B6C-E72C-719B-9892-57705A9AE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Kullback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</a:t>
            </a:r>
            <a:r>
              <a:rPr lang="en-GB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Leibler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(KL) divergence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measure from information theory that quantifies how one probability distribution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 a second, reference probability distribution. It’s often used to compare how well a model approximates a true distribution.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2C5F4-1E12-B96A-27F6-F25EF7DAE9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30628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76750-6C7B-0750-AA6A-8B64C717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D24BE-A8D4-5774-732E-E8E01CE86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3F791-C5A9-DCC8-FD83-94563DD10C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17201-11ED-32E3-16DC-A9104628E3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5870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D5983-7D57-A195-34F4-A8D567BD9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ECEDD-2916-31C3-CE23-362562A3B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9A4F1-59C0-BFED-FD3D-C5FB8D6EF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09397-1F3C-0BE4-7F71-15971723F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28919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752C3-4A43-56AE-3A94-F2EECC3E7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5FFC8C-4317-69E0-995D-B2782F988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A11F1-33A9-34A9-C142-83A8B4902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A876D-C955-AF7A-3CBC-D8EB22EAC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731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765920" y="2060848"/>
            <a:ext cx="5693680" cy="1226567"/>
          </a:xfrm>
          <a:prstGeom prst="rect">
            <a:avLst/>
          </a:prstGeom>
        </p:spPr>
        <p:txBody>
          <a:bodyPr anchor="ctr" anchorCtr="0"/>
          <a:lstStyle>
            <a:lvl1pPr algn="l">
              <a:defRPr sz="3200" b="1" spc="-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3688" y="3287415"/>
            <a:ext cx="5688632" cy="864096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763688" y="4149080"/>
            <a:ext cx="2303462" cy="359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22 March 2021</a:t>
            </a:r>
          </a:p>
        </p:txBody>
      </p:sp>
      <p:pic>
        <p:nvPicPr>
          <p:cNvPr id="10" name="University Logo (White)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298F6F96-0FFE-614A-9446-F08F9EE47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-279124"/>
            <a:ext cx="2880320" cy="161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03511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 userDrawn="1"/>
        </p:nvSpPr>
        <p:spPr>
          <a:xfrm>
            <a:off x="1763688" y="2700209"/>
            <a:ext cx="5688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spc="-150" dirty="0">
                <a:solidFill>
                  <a:schemeClr val="bg1"/>
                </a:solidFill>
              </a:rPr>
              <a:t>YOUR</a:t>
            </a:r>
            <a:r>
              <a:rPr lang="en-GB" sz="3200" b="1" spc="-150" baseline="0" dirty="0">
                <a:solidFill>
                  <a:schemeClr val="bg1"/>
                </a:solidFill>
              </a:rPr>
              <a:t> QUESTIONS</a:t>
            </a:r>
            <a:endParaRPr lang="en-GB" sz="3200" b="1" spc="-150" dirty="0">
              <a:solidFill>
                <a:schemeClr val="bg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1763688" y="3356521"/>
            <a:ext cx="5688632" cy="18006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spc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Copy here</a:t>
            </a:r>
            <a:endParaRPr lang="en-GB" dirty="0"/>
          </a:p>
        </p:txBody>
      </p:sp>
      <p:pic>
        <p:nvPicPr>
          <p:cNvPr id="5" name="University Logo (White)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2BA0B3BF-62C4-C043-98EF-4A8D9C6E47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-279124"/>
            <a:ext cx="2880320" cy="161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85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495961"/>
                </a:solidFill>
              </a:defRPr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67544" y="1844824"/>
            <a:ext cx="8135937" cy="4393059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2000">
                <a:solidFill>
                  <a:srgbClr val="495961"/>
                </a:solidFill>
              </a:defRPr>
            </a:lvl1pPr>
            <a:lvl2pPr>
              <a:spcBef>
                <a:spcPts val="0"/>
              </a:spcBef>
              <a:spcAft>
                <a:spcPts val="1200"/>
              </a:spcAft>
              <a:defRPr sz="1800">
                <a:solidFill>
                  <a:srgbClr val="495961"/>
                </a:solidFill>
              </a:defRPr>
            </a:lvl2pPr>
            <a:lvl3pPr>
              <a:spcBef>
                <a:spcPts val="0"/>
              </a:spcBef>
              <a:spcAft>
                <a:spcPts val="1200"/>
              </a:spcAft>
              <a:defRPr>
                <a:solidFill>
                  <a:srgbClr val="495961"/>
                </a:solidFill>
              </a:defRPr>
            </a:lvl3pPr>
            <a:lvl4pPr>
              <a:spcBef>
                <a:spcPts val="0"/>
              </a:spcBef>
              <a:spcAft>
                <a:spcPts val="1200"/>
              </a:spcAft>
              <a:defRPr>
                <a:solidFill>
                  <a:srgbClr val="495961"/>
                </a:solidFill>
              </a:defRPr>
            </a:lvl4pPr>
            <a:lvl5pPr>
              <a:spcBef>
                <a:spcPts val="0"/>
              </a:spcBef>
              <a:spcAft>
                <a:spcPts val="1200"/>
              </a:spcAft>
              <a:defRPr>
                <a:solidFill>
                  <a:srgbClr val="49596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669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vox 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2F2E-3F20-0DC0-CFA3-D11D49B0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D3D74-F972-E096-E828-44B6C11A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657D-8E22-4681-BD7E-16E8F6F56673}" type="datetimeFigureOut">
              <a:rPr lang="en-FI" smtClean="0"/>
              <a:t>10/19/26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A18-8950-3A86-D6FB-14BF0F08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9F6BC-1B26-1DC3-0C4B-4C12F07C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‹#›</a:t>
            </a:fld>
            <a:endParaRPr lang="en-F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ADAFE8-3608-FDE7-C3ED-12BD6811F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50" y="1798320"/>
            <a:ext cx="7886700" cy="4429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41323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1071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706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136904" cy="93610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67544" y="1844824"/>
            <a:ext cx="8147248" cy="43819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3"/>
          <p:cNvSpPr txBox="1"/>
          <p:nvPr/>
        </p:nvSpPr>
        <p:spPr>
          <a:xfrm>
            <a:off x="8244408" y="6400134"/>
            <a:ext cx="720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4274112-3819-4E3C-A2C8-15D563C4EB1E}" type="slidenum">
              <a:rPr lang="en-GB" sz="1000" smtClean="0">
                <a:solidFill>
                  <a:srgbClr val="495961"/>
                </a:solidFill>
              </a:rPr>
              <a:t>‹#›</a:t>
            </a:fld>
            <a:endParaRPr lang="en-GB" sz="1000" dirty="0">
              <a:solidFill>
                <a:srgbClr val="495961"/>
              </a:solidFill>
            </a:endParaRPr>
          </a:p>
        </p:txBody>
      </p:sp>
      <p:pic>
        <p:nvPicPr>
          <p:cNvPr id="9" name="University Logo" descr="Logo&#10;&#10;Description automatically generated with medium confidence">
            <a:extLst>
              <a:ext uri="{FF2B5EF4-FFF2-40B4-BE49-F238E27FC236}">
                <a16:creationId xmlns:a16="http://schemas.microsoft.com/office/drawing/2014/main" id="{6745DF3F-7D11-3742-A2BB-7A033F566A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198" y="-279125"/>
            <a:ext cx="2880322" cy="161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0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7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 spc="-150">
          <a:solidFill>
            <a:srgbClr val="49596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rgbClr val="49596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800" kern="1200">
          <a:solidFill>
            <a:srgbClr val="49596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rgbClr val="49596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600" kern="1200">
          <a:solidFill>
            <a:srgbClr val="49596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»"/>
        <a:defRPr sz="1400" kern="1200">
          <a:solidFill>
            <a:srgbClr val="49596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2.03426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550C5-E4B1-7B5E-88F4-C463F7B66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984" y="2223723"/>
            <a:ext cx="6776032" cy="1226567"/>
          </a:xfrm>
        </p:spPr>
        <p:txBody>
          <a:bodyPr lIns="91440" tIns="45720" rIns="91440" bIns="45720" anchor="ctr" anchorCtr="0"/>
          <a:lstStyle/>
          <a:p>
            <a:r>
              <a:rPr lang="en-US" dirty="0"/>
              <a:t>Dimensionality Reduction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2480B-B2A9-5A74-0EB9-DF24B8A56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3984" y="3428217"/>
            <a:ext cx="7799968" cy="1226567"/>
          </a:xfrm>
        </p:spPr>
        <p:txBody>
          <a:bodyPr lIns="91440" tIns="45720" rIns="91440" bIns="45720" anchor="ctr" anchorCtr="0"/>
          <a:lstStyle/>
          <a:p>
            <a:r>
              <a:rPr lang="en-US" dirty="0"/>
              <a:t>COMP6246: Machine Learning Technologies (MSc)</a:t>
            </a:r>
          </a:p>
          <a:p>
            <a:r>
              <a:rPr lang="en-US" dirty="0"/>
              <a:t>Dr Daniela Mihai (</a:t>
            </a:r>
            <a:r>
              <a:rPr lang="en-US" dirty="0" err="1"/>
              <a:t>a-d.mihai@soton.ac.uk</a:t>
            </a:r>
            <a:r>
              <a:rPr lang="en-US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510FB-C974-AD36-DEE8-D9162F2E3F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3984" y="4654785"/>
            <a:ext cx="6776032" cy="359395"/>
          </a:xfrm>
        </p:spPr>
        <p:txBody>
          <a:bodyPr lIns="91440" tIns="45720" rIns="91440" bIns="45720" anchor="t"/>
          <a:lstStyle/>
          <a:p>
            <a:r>
              <a:rPr lang="en-US" dirty="0"/>
              <a:t>20 October 2026</a:t>
            </a:r>
          </a:p>
        </p:txBody>
      </p:sp>
    </p:spTree>
    <p:extLst>
      <p:ext uri="{BB962C8B-B14F-4D97-AF65-F5344CB8AC3E}">
        <p14:creationId xmlns:p14="http://schemas.microsoft.com/office/powerpoint/2010/main" val="782886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B73A1-687B-ECEB-9C90-D25B0D04A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2EF0-530B-67AB-C810-029A77E4D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92696"/>
            <a:ext cx="8136904" cy="720080"/>
          </a:xfrm>
        </p:spPr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8D5BB-98ED-13B1-ECCE-B15BFF994E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556792"/>
            <a:ext cx="8135937" cy="4681091"/>
          </a:xfrm>
        </p:spPr>
        <p:txBody>
          <a:bodyPr/>
          <a:lstStyle/>
          <a:p>
            <a:r>
              <a:rPr lang="en-US" dirty="0"/>
              <a:t>By the end of this lecture, you will be able to</a:t>
            </a:r>
          </a:p>
          <a:p>
            <a:pPr lvl="1"/>
            <a:r>
              <a:rPr lang="en-US" dirty="0"/>
              <a:t>Understand the benefits of Dimensionality Reduction</a:t>
            </a:r>
          </a:p>
          <a:p>
            <a:pPr lvl="1"/>
            <a:r>
              <a:rPr lang="en-US" dirty="0"/>
              <a:t>Understand different approaches to dimensionality reduction</a:t>
            </a:r>
          </a:p>
          <a:p>
            <a:pPr lvl="1"/>
            <a:r>
              <a:rPr lang="en-US" dirty="0"/>
              <a:t>Understand how different dimensionality reduction algorithms work</a:t>
            </a:r>
          </a:p>
          <a:p>
            <a:pPr lvl="2"/>
            <a:r>
              <a:rPr lang="en-US" dirty="0"/>
              <a:t>Principal Component Analysis and variants</a:t>
            </a:r>
          </a:p>
          <a:p>
            <a:pPr lvl="2"/>
            <a:r>
              <a:rPr lang="en-US" dirty="0"/>
              <a:t>Locally Linear Embedding</a:t>
            </a:r>
          </a:p>
          <a:p>
            <a:pPr lvl="2"/>
            <a:r>
              <a:rPr lang="en-US" dirty="0"/>
              <a:t>t-SNE</a:t>
            </a:r>
          </a:p>
          <a:p>
            <a:pPr lvl="2"/>
            <a:r>
              <a:rPr lang="en-US" dirty="0"/>
              <a:t>UMAP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354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008D8-7D4C-3D34-2458-0C02CF79D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9383E-E455-A87D-F51D-FEE64B298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92696"/>
            <a:ext cx="8136904" cy="648072"/>
          </a:xfrm>
        </p:spPr>
        <p:txBody>
          <a:bodyPr/>
          <a:lstStyle/>
          <a:p>
            <a:r>
              <a:rPr lang="en-US" dirty="0"/>
              <a:t>Why Reduce Dimensions?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1FAA9-1AE9-3BCD-EC0B-951A50FB57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484784"/>
            <a:ext cx="8135937" cy="4752528"/>
          </a:xfrm>
        </p:spPr>
        <p:txBody>
          <a:bodyPr/>
          <a:lstStyle/>
          <a:p>
            <a:r>
              <a:rPr lang="en-US" dirty="0"/>
              <a:t>To remove redundant or irrelevant features</a:t>
            </a:r>
          </a:p>
          <a:p>
            <a:pPr lvl="1"/>
            <a:r>
              <a:rPr lang="en-US" dirty="0"/>
              <a:t>Too many features can considerably slow down training</a:t>
            </a:r>
          </a:p>
          <a:p>
            <a:r>
              <a:rPr lang="en-US" dirty="0"/>
              <a:t>To mitigate Curse of Dimensionality</a:t>
            </a:r>
          </a:p>
          <a:p>
            <a:pPr lvl="1"/>
            <a:r>
              <a:rPr lang="en-US" dirty="0"/>
              <a:t>High-dimensional data tends to be </a:t>
            </a:r>
            <a:r>
              <a:rPr lang="en-US" b="1" dirty="0"/>
              <a:t>sparse</a:t>
            </a:r>
            <a:r>
              <a:rPr lang="en-US" dirty="0"/>
              <a:t> and increases the risk of overfitting</a:t>
            </a:r>
          </a:p>
          <a:p>
            <a:pPr lvl="1"/>
            <a:r>
              <a:rPr lang="en-US" dirty="0"/>
              <a:t>They can also make it much harder to find the best solution</a:t>
            </a:r>
          </a:p>
          <a:p>
            <a:r>
              <a:rPr lang="en-US" dirty="0"/>
              <a:t>Useful for data visualization in 2D or 3D</a:t>
            </a:r>
          </a:p>
          <a:p>
            <a:pPr lvl="1"/>
            <a:r>
              <a:rPr lang="en-US" dirty="0"/>
              <a:t>Can’t visualize all features at once</a:t>
            </a:r>
          </a:p>
          <a:p>
            <a:pPr lvl="1"/>
            <a:r>
              <a:rPr lang="en-US" dirty="0"/>
              <a:t>2D or 3D visualization will provide intuitive understanding of data</a:t>
            </a:r>
          </a:p>
          <a:p>
            <a:pPr lvl="1"/>
            <a:r>
              <a:rPr lang="en-US" dirty="0"/>
              <a:t>It makes sense to visualize the dimensions with the largest variance to understand the data better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954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42166-4E41-94AD-7100-5F7466E59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9CAE2-45E6-6F28-F7D3-61E45783B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92696"/>
            <a:ext cx="8136904" cy="648072"/>
          </a:xfrm>
        </p:spPr>
        <p:txBody>
          <a:bodyPr/>
          <a:lstStyle/>
          <a:p>
            <a:r>
              <a:rPr lang="en-US" dirty="0"/>
              <a:t>Why Reduce Dimensions?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5FAFB-CBDB-F218-EF70-FBDC491E06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484784"/>
            <a:ext cx="8135937" cy="4752528"/>
          </a:xfrm>
        </p:spPr>
        <p:txBody>
          <a:bodyPr/>
          <a:lstStyle/>
          <a:p>
            <a:r>
              <a:rPr lang="en-US" dirty="0"/>
              <a:t>To make the algorithms scalable and faster </a:t>
            </a:r>
          </a:p>
          <a:p>
            <a:pPr lvl="1"/>
            <a:r>
              <a:rPr lang="en-US" dirty="0"/>
              <a:t>Reducing computational complexity</a:t>
            </a:r>
          </a:p>
          <a:p>
            <a:r>
              <a:rPr lang="en-US" dirty="0"/>
              <a:t>Data Compression </a:t>
            </a:r>
          </a:p>
          <a:p>
            <a:pPr lvl="1"/>
            <a:r>
              <a:rPr lang="en-US" dirty="0"/>
              <a:t>for easy storage and retrieval</a:t>
            </a:r>
          </a:p>
          <a:p>
            <a:r>
              <a:rPr lang="en-US" dirty="0"/>
              <a:t>Warnings!</a:t>
            </a:r>
          </a:p>
          <a:p>
            <a:pPr lvl="1"/>
            <a:r>
              <a:rPr lang="en-US" dirty="0"/>
              <a:t>Dimensionality reduction may lead to loss of information, which can lead to worse performance sometimes</a:t>
            </a:r>
          </a:p>
          <a:p>
            <a:pPr lvl="1"/>
            <a:r>
              <a:rPr lang="en-US" dirty="0"/>
              <a:t>Dimensionality reduction can sometimes reduce the interpretability of the data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879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A8060-710F-5054-8AB3-229F6B86B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3D04-27B3-9AD1-AA4C-54AC65A4D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548680"/>
            <a:ext cx="8136904" cy="648072"/>
          </a:xfrm>
        </p:spPr>
        <p:txBody>
          <a:bodyPr/>
          <a:lstStyle/>
          <a:p>
            <a:r>
              <a:rPr lang="en-US" dirty="0"/>
              <a:t>Approaches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0DFD9-0FBC-9203-31DD-4380223C8A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340768"/>
            <a:ext cx="8135937" cy="4896544"/>
          </a:xfrm>
        </p:spPr>
        <p:txBody>
          <a:bodyPr/>
          <a:lstStyle/>
          <a:p>
            <a:r>
              <a:rPr lang="en-GB" dirty="0"/>
              <a:t>Projection</a:t>
            </a:r>
          </a:p>
          <a:p>
            <a:pPr lvl="1"/>
            <a:r>
              <a:rPr lang="en-001" dirty="0"/>
              <a:t>Assumes a global linear relationship. </a:t>
            </a:r>
          </a:p>
          <a:p>
            <a:pPr lvl="1"/>
            <a:r>
              <a:rPr lang="en-001" dirty="0"/>
              <a:t>It maps high-dimensional points onto a flat hyperplane or subspace.</a:t>
            </a:r>
            <a:endParaRPr lang="en-GB" dirty="0"/>
          </a:p>
          <a:p>
            <a:r>
              <a:rPr lang="en-GB" dirty="0"/>
              <a:t>Manifold</a:t>
            </a:r>
          </a:p>
          <a:p>
            <a:pPr lvl="1"/>
            <a:r>
              <a:rPr lang="en-001" dirty="0"/>
              <a:t>Assumes the data lives on a non-linear, lower-dimensional manifold embedded in a higher-dimensional space.</a:t>
            </a:r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1026" name="Picture 2" descr="mls2 0802">
            <a:extLst>
              <a:ext uri="{FF2B5EF4-FFF2-40B4-BE49-F238E27FC236}">
                <a16:creationId xmlns:a16="http://schemas.microsoft.com/office/drawing/2014/main" id="{2A63B7C6-DB30-7740-ACE3-432C0A001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117992"/>
            <a:ext cx="3257012" cy="211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mls2 0804">
            <a:extLst>
              <a:ext uri="{FF2B5EF4-FFF2-40B4-BE49-F238E27FC236}">
                <a16:creationId xmlns:a16="http://schemas.microsoft.com/office/drawing/2014/main" id="{1857B651-F0C1-168A-39D5-DE4FFB314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107754"/>
            <a:ext cx="2858468" cy="220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8897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1E426-E131-E76E-C15E-BAA5A7EF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0BFB8-8D66-AE1E-D91F-A9C6A0A96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548680"/>
            <a:ext cx="8136904" cy="648072"/>
          </a:xfrm>
        </p:spPr>
        <p:txBody>
          <a:bodyPr/>
          <a:lstStyle/>
          <a:p>
            <a:r>
              <a:rPr lang="en-US" dirty="0"/>
              <a:t>Approaches – Projection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B6B5F-42DF-34F6-8810-21F13C1AD3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340768"/>
            <a:ext cx="8135937" cy="4896544"/>
          </a:xfrm>
        </p:spPr>
        <p:txBody>
          <a:bodyPr/>
          <a:lstStyle/>
          <a:p>
            <a:r>
              <a:rPr lang="en-GB" dirty="0"/>
              <a:t>In most real-world problems, training data is not spread uniformly across all the dimensions</a:t>
            </a:r>
          </a:p>
          <a:p>
            <a:pPr lvl="1"/>
            <a:r>
              <a:rPr lang="en-GB" dirty="0"/>
              <a:t>Features may not change much</a:t>
            </a:r>
          </a:p>
          <a:p>
            <a:pPr lvl="1"/>
            <a:r>
              <a:rPr lang="en-GB" dirty="0"/>
              <a:t>Highly correlated features (e.g. MNIST digits)</a:t>
            </a:r>
          </a:p>
          <a:p>
            <a:r>
              <a:rPr lang="en-GB" dirty="0"/>
              <a:t>The training data might lie within (or close to) a lower-dimensional space within the actual higher-dimensional space</a:t>
            </a:r>
          </a:p>
          <a:p>
            <a:pPr marL="0" indent="0">
              <a:buNone/>
            </a:pPr>
            <a:endParaRPr lang="en-GB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1026" name="Picture 2" descr="mls2 0802">
            <a:extLst>
              <a:ext uri="{FF2B5EF4-FFF2-40B4-BE49-F238E27FC236}">
                <a16:creationId xmlns:a16="http://schemas.microsoft.com/office/drawing/2014/main" id="{349F8958-07CB-FEA9-362F-1F406C8E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948" y="4006110"/>
            <a:ext cx="3383409" cy="220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ls2 0803">
            <a:extLst>
              <a:ext uri="{FF2B5EF4-FFF2-40B4-BE49-F238E27FC236}">
                <a16:creationId xmlns:a16="http://schemas.microsoft.com/office/drawing/2014/main" id="{8CEAEE9F-D03E-CF4F-B117-6D9E527E4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7" y="3993905"/>
            <a:ext cx="2591321" cy="2198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35A28ADB-0771-4308-291A-AD041FC75CD8}"/>
              </a:ext>
            </a:extLst>
          </p:cNvPr>
          <p:cNvSpPr/>
          <p:nvPr/>
        </p:nvSpPr>
        <p:spPr>
          <a:xfrm>
            <a:off x="4516785" y="4804882"/>
            <a:ext cx="684560" cy="288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40FA16-5309-DA35-EF0F-DACA7EC0ADAB}"/>
              </a:ext>
            </a:extLst>
          </p:cNvPr>
          <p:cNvSpPr txBox="1"/>
          <p:nvPr/>
        </p:nvSpPr>
        <p:spPr>
          <a:xfrm>
            <a:off x="2303945" y="6237312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B9781F-69E4-E825-368E-C08C5199EE3C}"/>
              </a:ext>
            </a:extLst>
          </p:cNvPr>
          <p:cNvSpPr txBox="1"/>
          <p:nvPr/>
        </p:nvSpPr>
        <p:spPr>
          <a:xfrm>
            <a:off x="6588224" y="6196662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2D</a:t>
            </a:r>
          </a:p>
        </p:txBody>
      </p:sp>
    </p:spTree>
    <p:extLst>
      <p:ext uri="{BB962C8B-B14F-4D97-AF65-F5344CB8AC3E}">
        <p14:creationId xmlns:p14="http://schemas.microsoft.com/office/powerpoint/2010/main" val="1228664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B6AD3-28CA-D38E-1CAC-37D9FD568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BA3A-BAF4-344F-74BB-268E51779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548680"/>
            <a:ext cx="8136904" cy="648072"/>
          </a:xfrm>
        </p:spPr>
        <p:txBody>
          <a:bodyPr/>
          <a:lstStyle/>
          <a:p>
            <a:r>
              <a:rPr lang="en-US" dirty="0"/>
              <a:t>Approaches – Projection II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16012-6BC3-F8E7-5939-4BEF3D8292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340768"/>
            <a:ext cx="8135937" cy="4896544"/>
          </a:xfrm>
        </p:spPr>
        <p:txBody>
          <a:bodyPr/>
          <a:lstStyle/>
          <a:p>
            <a:r>
              <a:rPr lang="en-GB" dirty="0"/>
              <a:t>Projection may not always be the best approach</a:t>
            </a:r>
          </a:p>
          <a:p>
            <a:pPr marL="0" indent="0">
              <a:buNone/>
            </a:pPr>
            <a:endParaRPr lang="en-GB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3074" name="Picture 2" descr="mls2 0804">
            <a:extLst>
              <a:ext uri="{FF2B5EF4-FFF2-40B4-BE49-F238E27FC236}">
                <a16:creationId xmlns:a16="http://schemas.microsoft.com/office/drawing/2014/main" id="{D7C77546-48D0-055B-8747-D918E9BD0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492896"/>
            <a:ext cx="3926736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ls2 0805">
            <a:extLst>
              <a:ext uri="{FF2B5EF4-FFF2-40B4-BE49-F238E27FC236}">
                <a16:creationId xmlns:a16="http://schemas.microsoft.com/office/drawing/2014/main" id="{D3AAED3E-6111-FC19-95FE-276D2E1814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006"/>
          <a:stretch>
            <a:fillRect/>
          </a:stretch>
        </p:blipFill>
        <p:spPr bwMode="auto">
          <a:xfrm>
            <a:off x="5364088" y="1844824"/>
            <a:ext cx="3085599" cy="201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mls2 0805">
            <a:extLst>
              <a:ext uri="{FF2B5EF4-FFF2-40B4-BE49-F238E27FC236}">
                <a16:creationId xmlns:a16="http://schemas.microsoft.com/office/drawing/2014/main" id="{ABB4A4E6-FB9C-4CF4-DB47-8304E7EC95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56"/>
          <a:stretch>
            <a:fillRect/>
          </a:stretch>
        </p:blipFill>
        <p:spPr bwMode="auto">
          <a:xfrm>
            <a:off x="5364087" y="4311390"/>
            <a:ext cx="3085599" cy="214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DD938A-C106-0623-133F-16F45F347838}"/>
              </a:ext>
            </a:extLst>
          </p:cNvPr>
          <p:cNvSpPr txBox="1"/>
          <p:nvPr/>
        </p:nvSpPr>
        <p:spPr>
          <a:xfrm>
            <a:off x="2174437" y="5517232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Swiss roll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55518F-D4EC-56FE-F319-E0D58D5B5BFF}"/>
              </a:ext>
            </a:extLst>
          </p:cNvPr>
          <p:cNvSpPr txBox="1"/>
          <p:nvPr/>
        </p:nvSpPr>
        <p:spPr>
          <a:xfrm>
            <a:off x="6276745" y="3857005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Squashed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3EF2BB-78D3-0661-9790-6E958045CF30}"/>
              </a:ext>
            </a:extLst>
          </p:cNvPr>
          <p:cNvSpPr txBox="1"/>
          <p:nvPr/>
        </p:nvSpPr>
        <p:spPr>
          <a:xfrm>
            <a:off x="6340864" y="6458295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Unrolled</a:t>
            </a:r>
          </a:p>
        </p:txBody>
      </p:sp>
    </p:spTree>
    <p:extLst>
      <p:ext uri="{BB962C8B-B14F-4D97-AF65-F5344CB8AC3E}">
        <p14:creationId xmlns:p14="http://schemas.microsoft.com/office/powerpoint/2010/main" val="1060987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BB627-76AB-184C-6F1F-BF3761A75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83D69-096B-731E-EB60-445A53669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548680"/>
            <a:ext cx="8136904" cy="648072"/>
          </a:xfrm>
        </p:spPr>
        <p:txBody>
          <a:bodyPr/>
          <a:lstStyle/>
          <a:p>
            <a:r>
              <a:rPr lang="en-US" dirty="0"/>
              <a:t>Approaches – Manifold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6AD04-74FF-D3F9-366E-DB5338C83C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5" y="1340768"/>
            <a:ext cx="4248472" cy="4896544"/>
          </a:xfrm>
        </p:spPr>
        <p:txBody>
          <a:bodyPr/>
          <a:lstStyle/>
          <a:p>
            <a:r>
              <a:rPr lang="en-GB" dirty="0"/>
              <a:t>Many dimensionality reduction algorithms work by modelling the manifold on which the training instances lie</a:t>
            </a:r>
          </a:p>
          <a:p>
            <a:r>
              <a:rPr lang="en-GB" dirty="0"/>
              <a:t>Manifold assumption</a:t>
            </a:r>
          </a:p>
          <a:p>
            <a:pPr lvl="1"/>
            <a:r>
              <a:rPr lang="en-GB" dirty="0"/>
              <a:t>Most data lies close to a much lower-dimensional manifold</a:t>
            </a:r>
          </a:p>
          <a:p>
            <a:r>
              <a:rPr lang="en-GB" dirty="0"/>
              <a:t>The task at hand will be simpler if expressed in the lower-dimensional space of the manifold</a:t>
            </a:r>
          </a:p>
          <a:p>
            <a:pPr lvl="1"/>
            <a:r>
              <a:rPr lang="en-GB" dirty="0"/>
              <a:t>But not always</a:t>
            </a:r>
          </a:p>
          <a:p>
            <a:endParaRPr lang="en-GB" dirty="0"/>
          </a:p>
          <a:p>
            <a:endParaRPr lang="en-GB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122" name="Picture 2" descr="mls2 0806">
            <a:extLst>
              <a:ext uri="{FF2B5EF4-FFF2-40B4-BE49-F238E27FC236}">
                <a16:creationId xmlns:a16="http://schemas.microsoft.com/office/drawing/2014/main" id="{2FF80359-E8AF-5ECB-F0C8-0E3D95525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239" y="1899129"/>
            <a:ext cx="4418512" cy="333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861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1998F-0A48-0F67-2860-8BC7CD5FA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905E0-BCEF-E927-0740-530E9894A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548680"/>
            <a:ext cx="8136904" cy="648072"/>
          </a:xfrm>
        </p:spPr>
        <p:txBody>
          <a:bodyPr/>
          <a:lstStyle/>
          <a:p>
            <a:r>
              <a:rPr lang="en-US" dirty="0"/>
              <a:t>Principal Component Analysis (PCA)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F2B54-8853-D3E1-EB4D-82C3F449E7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484784"/>
            <a:ext cx="8136903" cy="4752528"/>
          </a:xfrm>
        </p:spPr>
        <p:txBody>
          <a:bodyPr/>
          <a:lstStyle/>
          <a:p>
            <a:r>
              <a:rPr lang="en-GB" dirty="0"/>
              <a:t>Most popular dimensionality reduction technique</a:t>
            </a:r>
          </a:p>
          <a:p>
            <a:r>
              <a:rPr lang="en-GB" dirty="0"/>
              <a:t>Identifies the lower-dimensional hyperplane to project the data</a:t>
            </a:r>
          </a:p>
          <a:p>
            <a:endParaRPr lang="en-GB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7170" name="Picture 2" descr="mls2 0807">
            <a:extLst>
              <a:ext uri="{FF2B5EF4-FFF2-40B4-BE49-F238E27FC236}">
                <a16:creationId xmlns:a16="http://schemas.microsoft.com/office/drawing/2014/main" id="{37E7BBE5-6E3C-59E0-F9FA-0F74658FB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54" y="3068960"/>
            <a:ext cx="5283796" cy="248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FAB7AF-3C28-2506-1B58-678F0053396A}"/>
              </a:ext>
            </a:extLst>
          </p:cNvPr>
          <p:cNvSpPr txBox="1"/>
          <p:nvPr/>
        </p:nvSpPr>
        <p:spPr>
          <a:xfrm>
            <a:off x="6085968" y="2606129"/>
            <a:ext cx="251848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95961"/>
                </a:solidFill>
              </a:rPr>
              <a:t>The data projected onto C1 preserves most variance in the data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95961"/>
                </a:solidFill>
              </a:rPr>
              <a:t>C1 also minimizes the mean squared distance between the original dataset and its projection onto that axis</a:t>
            </a:r>
            <a:endParaRPr lang="en-US" dirty="0">
              <a:solidFill>
                <a:srgbClr val="4959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453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D059F-8120-F30A-067C-9823D6F633D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err="1"/>
              <a:t>Standardise</a:t>
            </a:r>
            <a:r>
              <a:rPr lang="en-001" dirty="0"/>
              <a:t> the data </a:t>
            </a:r>
          </a:p>
          <a:p>
            <a:pPr marL="400050" lvl="1" indent="0">
              <a:buNone/>
            </a:pPr>
            <a:r>
              <a:rPr lang="en-001" dirty="0"/>
              <a:t>- mean </a:t>
            </a:r>
            <a:r>
              <a:rPr lang="en-US" dirty="0"/>
              <a:t>centering,</a:t>
            </a:r>
            <a:r>
              <a:rPr lang="en-001" dirty="0"/>
              <a:t> scaling variance</a:t>
            </a:r>
          </a:p>
          <a:p>
            <a:pPr marL="457200" indent="-457200">
              <a:buFont typeface="+mj-lt"/>
              <a:buAutoNum type="arabicPeriod"/>
            </a:pPr>
            <a:r>
              <a:rPr lang="en-001" dirty="0"/>
              <a:t>Calculate Covariance Matrix</a:t>
            </a:r>
          </a:p>
          <a:p>
            <a:pPr marL="400050" lvl="1" indent="0">
              <a:buNone/>
            </a:pPr>
            <a:r>
              <a:rPr lang="en-001" dirty="0"/>
              <a:t>- to understand the feature correlations present in the data</a:t>
            </a:r>
          </a:p>
          <a:p>
            <a:pPr>
              <a:buFont typeface="+mj-lt"/>
              <a:buAutoNum type="arabicPeriod"/>
            </a:pPr>
            <a:r>
              <a:rPr lang="en-001" dirty="0"/>
              <a:t>Eigendecomposition (or SVD)</a:t>
            </a:r>
          </a:p>
          <a:p>
            <a:pPr marL="457200" lvl="1" indent="0">
              <a:buNone/>
            </a:pPr>
            <a:r>
              <a:rPr lang="en-001" dirty="0"/>
              <a:t>- Either eigendecomposition or SVD to find eigenvalues and eigenvectors</a:t>
            </a:r>
          </a:p>
          <a:p>
            <a:pPr>
              <a:buFont typeface="+mj-lt"/>
              <a:buAutoNum type="arabicPeriod"/>
            </a:pPr>
            <a:r>
              <a:rPr lang="en-001" dirty="0"/>
              <a:t>Select Principal Components (PCs)</a:t>
            </a:r>
          </a:p>
          <a:p>
            <a:pPr marL="457200" lvl="1" indent="0">
              <a:buNone/>
            </a:pPr>
            <a:r>
              <a:rPr lang="en-001" dirty="0"/>
              <a:t>- rank the eigenvalues and choose the top k eigenvectors (components)</a:t>
            </a:r>
          </a:p>
          <a:p>
            <a:pPr>
              <a:buFont typeface="+mj-lt"/>
              <a:buAutoNum type="arabicPeriod"/>
            </a:pPr>
            <a:r>
              <a:rPr lang="en-001" dirty="0"/>
              <a:t>Project the data </a:t>
            </a:r>
            <a:r>
              <a:rPr lang="en-US" dirty="0"/>
              <a:t>onto the principal components to obtain the reduced-dimensionality data.</a:t>
            </a:r>
          </a:p>
          <a:p>
            <a:pPr marL="457200" lvl="1" indent="0">
              <a:buNone/>
            </a:pPr>
            <a:endParaRPr lang="en-001" dirty="0"/>
          </a:p>
          <a:p>
            <a:pPr>
              <a:buFont typeface="+mj-lt"/>
              <a:buAutoNum type="arabicPeriod"/>
            </a:pPr>
            <a:endParaRPr lang="en-001" dirty="0"/>
          </a:p>
          <a:p>
            <a:pPr marL="457200" indent="-457200">
              <a:buFont typeface="+mj-lt"/>
              <a:buAutoNum type="arabicPeriod"/>
            </a:pPr>
            <a:endParaRPr lang="en-00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C975B-6F5C-6A3A-762E-712929F5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dirty="0"/>
              <a:t>PCA steps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1B9643-76AD-F885-D2AE-761D5CBF5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10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29295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D02C3-B9AD-2D9C-48C2-CF523C1AC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72DE-E2FA-14C5-04E6-FD033B7B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20688"/>
            <a:ext cx="8136904" cy="648072"/>
          </a:xfrm>
        </p:spPr>
        <p:txBody>
          <a:bodyPr/>
          <a:lstStyle/>
          <a:p>
            <a:r>
              <a:rPr lang="en-US" dirty="0"/>
              <a:t>Finding Principal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16FCA-A0FD-359B-46FB-66BF0992F6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5" y="1412776"/>
            <a:ext cx="8136903" cy="5184576"/>
          </a:xfrm>
        </p:spPr>
        <p:txBody>
          <a:bodyPr/>
          <a:lstStyle/>
          <a:p>
            <a:r>
              <a:rPr lang="en-GB" dirty="0"/>
              <a:t>PCA transforms a dataset with possibly correlated features into a new set of uncorrelated variables called principal components</a:t>
            </a:r>
          </a:p>
          <a:p>
            <a:r>
              <a:rPr lang="en-GB" dirty="0"/>
              <a:t>The principal components (PCs) are ordered such that the first few retain most of the variation in the original dataset</a:t>
            </a:r>
          </a:p>
          <a:p>
            <a:r>
              <a:rPr lang="en-GB" dirty="0"/>
              <a:t>The first PC is the axis that accounts for the largest variance</a:t>
            </a:r>
          </a:p>
          <a:p>
            <a:r>
              <a:rPr lang="en-GB" dirty="0"/>
              <a:t>The second PC is orthogonal to the first one and accounts for the largest amount of the remaining variance</a:t>
            </a:r>
          </a:p>
          <a:p>
            <a:r>
              <a:rPr lang="en-GB" dirty="0"/>
              <a:t>The third component is orthogonal to the first two and so on (as many axes as the number of dimensions in the dataset)</a:t>
            </a:r>
          </a:p>
          <a:p>
            <a:r>
              <a:rPr lang="en-GB" dirty="0"/>
              <a:t>PCA assumes that the data is centred around the origin (0,0)</a:t>
            </a:r>
          </a:p>
          <a:p>
            <a:pPr lvl="1"/>
            <a:r>
              <a:rPr lang="en-GB" dirty="0"/>
              <a:t>So, you start with centring the data around (0,0)</a:t>
            </a:r>
          </a:p>
          <a:p>
            <a:pPr lvl="1"/>
            <a:endParaRPr lang="en-GB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914400" lvl="2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20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F35D6-E8D4-178B-3AED-2EA5DBAFB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1B115-6522-4DBE-51AB-81B2FDDA5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20688"/>
            <a:ext cx="8136904" cy="648072"/>
          </a:xfrm>
        </p:spPr>
        <p:txBody>
          <a:bodyPr/>
          <a:lstStyle/>
          <a:p>
            <a:r>
              <a:rPr lang="en-US" dirty="0"/>
              <a:t>Singular Value Decomposition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083AD30-A1F4-3075-9C03-523B718D9D52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67545" y="1412776"/>
                <a:ext cx="8136903" cy="4752528"/>
              </a:xfrm>
            </p:spPr>
            <p:txBody>
              <a:bodyPr/>
              <a:lstStyle/>
              <a:p>
                <a:r>
                  <a:rPr lang="en-GB" dirty="0"/>
                  <a:t>Singular Value Decomposition (SVD) is a matrix factorization technique</a:t>
                </a:r>
              </a:p>
              <a:p>
                <a:r>
                  <a:rPr lang="en-GB" dirty="0"/>
                  <a:t>Decomposes the training set matrix </a:t>
                </a:r>
                <a:r>
                  <a:rPr lang="en-GB" b="1" dirty="0"/>
                  <a:t>X </a:t>
                </a:r>
                <a:r>
                  <a:rPr lang="en-GB" dirty="0"/>
                  <a:t>(size: </a:t>
                </a:r>
                <a:r>
                  <a:rPr lang="en-GB" dirty="0" err="1"/>
                  <a:t>mxn</a:t>
                </a:r>
                <a:r>
                  <a:rPr lang="en-GB" dirty="0"/>
                  <a:t>) into the matrix multiplication of three matrices </a:t>
                </a:r>
                <a:r>
                  <a:rPr lang="en-GB" b="1" dirty="0"/>
                  <a:t> X = U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en-GB" b="1" dirty="0"/>
                  <a:t>V</a:t>
                </a:r>
                <a:r>
                  <a:rPr lang="en-GB" b="1" baseline="30000" dirty="0"/>
                  <a:t>⊺</a:t>
                </a:r>
                <a:endParaRPr lang="en-GB" dirty="0"/>
              </a:p>
              <a:p>
                <a:pPr lvl="1"/>
                <a:r>
                  <a:rPr lang="en-GB" b="1" dirty="0"/>
                  <a:t>V </a:t>
                </a:r>
                <a:r>
                  <a:rPr lang="en-GB" dirty="0"/>
                  <a:t>(size: </a:t>
                </a:r>
                <a:r>
                  <a:rPr lang="en-GB" dirty="0" err="1"/>
                  <a:t>nxn</a:t>
                </a:r>
                <a:r>
                  <a:rPr lang="en-GB" dirty="0"/>
                  <a:t>) contains the unit vectors that define all the principal components 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en-GB" dirty="0"/>
                  <a:t> (size: mxn) is a diagonal matrix with singular values – can be used for ordering the PCs</a:t>
                </a:r>
              </a:p>
              <a:p>
                <a:r>
                  <a:rPr lang="en-GB" dirty="0"/>
                  <a:t>You can use </a:t>
                </a:r>
                <a:r>
                  <a:rPr lang="en-GB" dirty="0" err="1"/>
                  <a:t>Numpy’s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𝑠𝑣𝑑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GB" dirty="0"/>
                  <a:t> to obtain the PCs</a:t>
                </a:r>
              </a:p>
              <a:p>
                <a:r>
                  <a:rPr lang="en-GB" dirty="0"/>
                  <a:t>Once you identified all the PCs you can reduce the dimensionality to </a:t>
                </a:r>
                <a:r>
                  <a:rPr lang="en-GB" i="1" dirty="0"/>
                  <a:t>d</a:t>
                </a:r>
                <a:r>
                  <a:rPr lang="en-GB" dirty="0"/>
                  <a:t> dimensions by projecting the data onto the hyperplane defined by the first </a:t>
                </a:r>
                <a:r>
                  <a:rPr lang="en-GB" i="1" dirty="0"/>
                  <a:t>d</a:t>
                </a:r>
                <a:r>
                  <a:rPr lang="en-GB" dirty="0"/>
                  <a:t> PCs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X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 lvl="1"/>
                <a:endParaRPr lang="en-GB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2"/>
                <a:endParaRPr lang="en-US" b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083AD30-A1F4-3075-9C03-523B718D9D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67545" y="1412776"/>
                <a:ext cx="8136903" cy="4752528"/>
              </a:xfrm>
              <a:blipFill>
                <a:blip r:embed="rId3"/>
                <a:stretch>
                  <a:fillRect l="-623" t="-800" b="-2400"/>
                </a:stretch>
              </a:blipFill>
            </p:spPr>
            <p:txBody>
              <a:bodyPr/>
              <a:lstStyle/>
              <a:p>
                <a:r>
                  <a:rPr lang="en-001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915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B2A80-B4A4-D4AE-869B-A775D97E5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8623-762F-FCD1-F8CB-D984BC69D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20688"/>
            <a:ext cx="8136904" cy="648072"/>
          </a:xfrm>
        </p:spPr>
        <p:txBody>
          <a:bodyPr/>
          <a:lstStyle/>
          <a:p>
            <a:r>
              <a:rPr lang="en-US" dirty="0"/>
              <a:t>Explained Variance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0C270-CABD-EF4E-D0DC-DA3D870720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5" y="1412776"/>
            <a:ext cx="8136903" cy="4752528"/>
          </a:xfrm>
        </p:spPr>
        <p:txBody>
          <a:bodyPr/>
          <a:lstStyle/>
          <a:p>
            <a:r>
              <a:rPr lang="en-GB" dirty="0"/>
              <a:t>Explained Variance indicates the proportion of the dataset’s variance that lies along each principal component</a:t>
            </a:r>
          </a:p>
          <a:p>
            <a:r>
              <a:rPr lang="en-GB" dirty="0"/>
              <a:t>You can use it to choose the number of dimensions to reduce the data to</a:t>
            </a:r>
          </a:p>
          <a:p>
            <a:pPr lvl="1"/>
            <a:r>
              <a:rPr lang="en-GB" dirty="0"/>
              <a:t>E.g. choose the number of dimensions that add up to a sufficiently large portion of the variance ~95%</a:t>
            </a:r>
          </a:p>
          <a:p>
            <a:pPr lvl="1"/>
            <a:r>
              <a:rPr lang="en-GB" dirty="0"/>
              <a:t>However, for visualization choose only top 2 or 3 PCs</a:t>
            </a:r>
          </a:p>
          <a:p>
            <a:r>
              <a:rPr lang="en-GB" dirty="0"/>
              <a:t>Explained variance plot </a:t>
            </a:r>
            <a:br>
              <a:rPr lang="en-GB" dirty="0"/>
            </a:br>
            <a:r>
              <a:rPr lang="en-GB" dirty="0"/>
              <a:t>(also known as Scree plot)</a:t>
            </a:r>
          </a:p>
          <a:p>
            <a:pPr lvl="1"/>
            <a:r>
              <a:rPr lang="en-GB" dirty="0"/>
              <a:t>explained variance as a </a:t>
            </a:r>
            <a:br>
              <a:rPr lang="en-GB" dirty="0"/>
            </a:br>
            <a:r>
              <a:rPr lang="en-GB" dirty="0"/>
              <a:t>function of the number of </a:t>
            </a:r>
            <a:br>
              <a:rPr lang="en-GB" dirty="0"/>
            </a:br>
            <a:r>
              <a:rPr lang="en-GB" dirty="0"/>
              <a:t>dimensions</a:t>
            </a:r>
          </a:p>
          <a:p>
            <a:pPr marL="457200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b="1" dirty="0"/>
          </a:p>
          <a:p>
            <a:endParaRPr lang="en-US" dirty="0"/>
          </a:p>
        </p:txBody>
      </p:sp>
      <p:pic>
        <p:nvPicPr>
          <p:cNvPr id="9218" name="Picture 2" descr="mls2 0808">
            <a:extLst>
              <a:ext uri="{FF2B5EF4-FFF2-40B4-BE49-F238E27FC236}">
                <a16:creationId xmlns:a16="http://schemas.microsoft.com/office/drawing/2014/main" id="{901DE3F8-13F1-D7C7-7E09-B98C73ACD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238736"/>
            <a:ext cx="3779912" cy="241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199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4862F-2483-6B4E-A28F-1D80961E2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866E-167B-039F-EAE5-3A78C07B5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20688"/>
            <a:ext cx="8136904" cy="648072"/>
          </a:xfrm>
        </p:spPr>
        <p:txBody>
          <a:bodyPr/>
          <a:lstStyle/>
          <a:p>
            <a:r>
              <a:rPr lang="en-US" dirty="0"/>
              <a:t>Example of compression and reverse.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B50CE-6A34-D697-B531-C0EF75E88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5" y="1412776"/>
            <a:ext cx="8136903" cy="5445224"/>
          </a:xfrm>
        </p:spPr>
        <p:txBody>
          <a:bodyPr/>
          <a:lstStyle/>
          <a:p>
            <a:r>
              <a:rPr lang="en-GB" dirty="0"/>
              <a:t>E.g. MNIST compression that preserves 95% variance (with only 20% of the features)</a:t>
            </a:r>
          </a:p>
          <a:p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b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It’s also possible to recover (almost) the original data by applying the inverse transformation of the PCA projection.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0854B-A77A-C20D-FA77-1436468D9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96" y="2204864"/>
            <a:ext cx="7772400" cy="344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69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2EE1A-24C3-A680-EAE8-F3AA4C07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AC52-296B-E43D-B0D0-59C127B9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20688"/>
            <a:ext cx="8136904" cy="648072"/>
          </a:xfrm>
        </p:spPr>
        <p:txBody>
          <a:bodyPr/>
          <a:lstStyle/>
          <a:p>
            <a:r>
              <a:rPr lang="en-US" dirty="0"/>
              <a:t>PCA variants</a:t>
            </a:r>
            <a:endParaRPr lang="en-US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48F7E-02A6-39EA-B3CC-309D519A92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5" y="1412776"/>
            <a:ext cx="8136903" cy="5040560"/>
          </a:xfrm>
        </p:spPr>
        <p:txBody>
          <a:bodyPr/>
          <a:lstStyle/>
          <a:p>
            <a:r>
              <a:rPr lang="en-GB" dirty="0"/>
              <a:t>Randomized PCA </a:t>
            </a:r>
          </a:p>
          <a:p>
            <a:pPr lvl="1"/>
            <a:r>
              <a:rPr lang="en-GB" dirty="0"/>
              <a:t>Uses a stochastic algorithm to find an approximation of the first d principal components quickly. </a:t>
            </a:r>
          </a:p>
          <a:p>
            <a:pPr lvl="1"/>
            <a:r>
              <a:rPr lang="en-GB" dirty="0"/>
              <a:t>Faster than full PCA</a:t>
            </a:r>
          </a:p>
          <a:p>
            <a:r>
              <a:rPr lang="en-GB" dirty="0"/>
              <a:t>Incremental PCA </a:t>
            </a:r>
          </a:p>
          <a:p>
            <a:pPr lvl="1"/>
            <a:r>
              <a:rPr lang="en-GB" dirty="0"/>
              <a:t>Allows for splitting the training set into mini-batches and feeding one mini-batch at a time. </a:t>
            </a:r>
          </a:p>
          <a:p>
            <a:pPr lvl="1"/>
            <a:r>
              <a:rPr lang="en-GB" dirty="0"/>
              <a:t>Useful for large training sets and for applying PCA online </a:t>
            </a:r>
          </a:p>
          <a:p>
            <a:r>
              <a:rPr lang="en-GB" dirty="0"/>
              <a:t>Kernel PCA </a:t>
            </a:r>
          </a:p>
          <a:p>
            <a:pPr lvl="1"/>
            <a:r>
              <a:rPr lang="en-GB" dirty="0"/>
              <a:t>the kernel trick can be used to perform complex nonlinear projections for dimensionality reduction. </a:t>
            </a:r>
          </a:p>
          <a:p>
            <a:pPr lvl="1"/>
            <a:r>
              <a:rPr lang="en-GB" dirty="0"/>
              <a:t>Preserves clusters of instances after projection, or sometimes even unrolling datasets that lie close to a twisted manifold</a:t>
            </a:r>
          </a:p>
          <a:p>
            <a:pPr lvl="2"/>
            <a:endParaRPr lang="en-GB" dirty="0"/>
          </a:p>
          <a:p>
            <a:pPr lvl="1"/>
            <a:endParaRPr lang="en-GB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644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F1E34-5F11-93DB-AB05-83965BE34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84F9-3463-6DB1-B218-5179B7E8C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20688"/>
            <a:ext cx="8136904" cy="648072"/>
          </a:xfrm>
        </p:spPr>
        <p:txBody>
          <a:bodyPr/>
          <a:lstStyle/>
          <a:p>
            <a:r>
              <a:rPr lang="en-US" dirty="0"/>
              <a:t>Locally Linear Embedding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90BCF9-D453-81F9-BD03-D9F7ED3F7D41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67545" y="1412776"/>
                <a:ext cx="8136903" cy="4752528"/>
              </a:xfrm>
            </p:spPr>
            <p:txBody>
              <a:bodyPr/>
              <a:lstStyle/>
              <a:p>
                <a:r>
                  <a:rPr lang="en-GB" dirty="0"/>
                  <a:t>Another powerful nonlinear dimensionality reduction technique</a:t>
                </a:r>
              </a:p>
              <a:p>
                <a:r>
                  <a:rPr lang="en-GB" dirty="0"/>
                  <a:t>Manifold Learning technique that does not rely on projections</a:t>
                </a:r>
              </a:p>
              <a:p>
                <a:r>
                  <a:rPr lang="en-GB" dirty="0"/>
                  <a:t>Good at unrolling twisted manifolds, especially when there is not too much noise</a:t>
                </a:r>
              </a:p>
              <a:p>
                <a:r>
                  <a:rPr lang="en-GB" dirty="0"/>
                  <a:t>Step 1 – For each training instance </a:t>
                </a:r>
                <a:r>
                  <a:rPr lang="en-GB" b="1" dirty="0"/>
                  <a:t>x</a:t>
                </a:r>
                <a:r>
                  <a:rPr lang="en-GB" b="1" baseline="30000" dirty="0"/>
                  <a:t>(</a:t>
                </a:r>
                <a:r>
                  <a:rPr lang="en-GB" b="1" i="1" baseline="30000" dirty="0" err="1"/>
                  <a:t>i</a:t>
                </a:r>
                <a:r>
                  <a:rPr lang="en-GB" b="1" baseline="30000" dirty="0"/>
                  <a:t>)</a:t>
                </a:r>
                <a:r>
                  <a:rPr lang="en-GB" dirty="0"/>
                  <a:t>, the algorithm identifies its </a:t>
                </a:r>
                <a:r>
                  <a:rPr lang="en-GB" i="1" dirty="0"/>
                  <a:t>k </a:t>
                </a:r>
                <a:r>
                  <a:rPr lang="en-GB" dirty="0"/>
                  <a:t>closest neighbours and tries to reconstruct </a:t>
                </a:r>
                <a:r>
                  <a:rPr lang="en-GB" b="1" dirty="0"/>
                  <a:t>x</a:t>
                </a:r>
                <a:r>
                  <a:rPr lang="en-GB" b="1" baseline="30000" dirty="0"/>
                  <a:t>(</a:t>
                </a:r>
                <a:r>
                  <a:rPr lang="en-GB" b="1" i="1" baseline="30000" dirty="0" err="1"/>
                  <a:t>i</a:t>
                </a:r>
                <a:r>
                  <a:rPr lang="en-GB" b="1" baseline="30000" dirty="0"/>
                  <a:t>)</a:t>
                </a:r>
                <a:r>
                  <a:rPr lang="en-GB" dirty="0"/>
                  <a:t> as a linear function of these neighbours.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p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sty m:val="p"/>
                                          <m:brk m:alnAt="23"/>
                                        </m:r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  <m:sSup>
                                        <m:sSup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p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j</m:t>
                                          </m:r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nary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GB" dirty="0"/>
              </a:p>
              <a:p>
                <a:pPr marL="457200" lvl="1" indent="0">
                  <a:buNone/>
                </a:pPr>
                <a:r>
                  <a:rPr lang="en-GB" dirty="0"/>
                  <a:t>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GB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GB" dirty="0"/>
                  <a:t>=0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GB" i="1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GB" dirty="0"/>
                  <a:t> is not one of the k closest neighbours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b="0" i="1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GB" b="0" i="1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1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=1,2,…</m:t>
                    </m:r>
                    <m:r>
                      <m:rPr>
                        <m:sty m:val="p"/>
                      </m:rPr>
                      <a:rPr lang="en-GB" b="0" i="1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en-GB" dirty="0"/>
              </a:p>
              <a:p>
                <a:pPr lvl="1"/>
                <a:endParaRPr lang="en-GB" dirty="0"/>
              </a:p>
              <a:p>
                <a:pPr lvl="2"/>
                <a:endParaRPr lang="en-GB" dirty="0"/>
              </a:p>
              <a:p>
                <a:pPr lvl="1"/>
                <a:endParaRPr lang="en-GB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2"/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90BCF9-D453-81F9-BD03-D9F7ED3F7D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67545" y="1412776"/>
                <a:ext cx="8136903" cy="4752528"/>
              </a:xfrm>
              <a:blipFill>
                <a:blip r:embed="rId3"/>
                <a:stretch>
                  <a:fillRect l="-623" t="-800" r="-779" b="-17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663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54944-2A3F-7045-DAC2-FECEE46EE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9FDBB-5A26-904D-881D-E1CAE49EB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20688"/>
            <a:ext cx="8136904" cy="648072"/>
          </a:xfrm>
        </p:spPr>
        <p:txBody>
          <a:bodyPr/>
          <a:lstStyle/>
          <a:p>
            <a:r>
              <a:rPr lang="en-US" dirty="0"/>
              <a:t>Locally Linear Embedding II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A2BE940-3755-BD60-27FD-2BF1C4565E5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67545" y="1412776"/>
                <a:ext cx="8136903" cy="4752528"/>
              </a:xfrm>
            </p:spPr>
            <p:txBody>
              <a:bodyPr/>
              <a:lstStyle/>
              <a:p>
                <a:r>
                  <a:rPr lang="en-GB" dirty="0"/>
                  <a:t>After step 1, the weight matrix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1" smtClean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</m:acc>
                  </m:oMath>
                </a14:m>
                <a:r>
                  <a:rPr lang="en-GB" dirty="0"/>
                  <a:t> encodes the local linear relationships between the training instances </a:t>
                </a:r>
              </a:p>
              <a:p>
                <a:r>
                  <a:rPr lang="en-GB" dirty="0"/>
                  <a:t>Step 2 – maps the training instances into a </a:t>
                </a:r>
                <a:r>
                  <a:rPr lang="en-GB" i="1" dirty="0"/>
                  <a:t>d</a:t>
                </a:r>
                <a:r>
                  <a:rPr lang="en-GB" dirty="0"/>
                  <a:t>-dimensional space (where </a:t>
                </a:r>
                <a:r>
                  <a:rPr lang="en-GB" i="1" dirty="0"/>
                  <a:t>d</a:t>
                </a:r>
                <a:r>
                  <a:rPr lang="en-GB" dirty="0"/>
                  <a:t> &lt; </a:t>
                </a:r>
                <a:r>
                  <a:rPr lang="en-GB" i="1" dirty="0"/>
                  <a:t>n</a:t>
                </a:r>
                <a:r>
                  <a:rPr lang="en-GB" dirty="0"/>
                  <a:t>) while preserving these local relationships as much as possible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ac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GB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23"/>
                              </m:rPr>
                              <a:rPr lang="en-GB" i="1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GB" i="1">
                                <a:latin typeface="Cambria Math" panose="02040503050406030204" pitchFamily="18" charset="0"/>
                              </a:rPr>
                              <m:t>m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  <m:brk m:alnAt="23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j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GB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w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z</m:t>
                                        </m:r>
                                      </m:e>
                                      <m:sup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nary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func>
                  </m:oMath>
                </a14:m>
                <a:endParaRPr lang="en-GB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lvl="2"/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A2BE940-3755-BD60-27FD-2BF1C4565E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67545" y="1412776"/>
                <a:ext cx="8136903" cy="4752528"/>
              </a:xfrm>
              <a:blipFill>
                <a:blip r:embed="rId3"/>
                <a:stretch>
                  <a:fillRect l="-623" t="-800" r="-1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91" name="Picture 3" descr="mls2 0812">
            <a:extLst>
              <a:ext uri="{FF2B5EF4-FFF2-40B4-BE49-F238E27FC236}">
                <a16:creationId xmlns:a16="http://schemas.microsoft.com/office/drawing/2014/main" id="{18BE5D4F-82E6-0074-F84C-00B7852CF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996" y="3858544"/>
            <a:ext cx="3800751" cy="2378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mls2 0804">
            <a:extLst>
              <a:ext uri="{FF2B5EF4-FFF2-40B4-BE49-F238E27FC236}">
                <a16:creationId xmlns:a16="http://schemas.microsoft.com/office/drawing/2014/main" id="{8C140989-61E8-E435-86EC-87C1E53C6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53" y="3886712"/>
            <a:ext cx="3088544" cy="2378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852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C592E-55CB-88D9-EC76-724F6A850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2E938-032C-5F7C-EEB1-FE3ED1C0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20688"/>
            <a:ext cx="8136904" cy="648072"/>
          </a:xfrm>
        </p:spPr>
        <p:txBody>
          <a:bodyPr/>
          <a:lstStyle/>
          <a:p>
            <a:r>
              <a:rPr lang="en-GB" dirty="0"/>
              <a:t>t-distributed Stochastic Neighbour Embedding (t-SNE)</a:t>
            </a:r>
            <a:endParaRPr lang="en-US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329D56B-9D92-025A-9660-B0CB0864CC1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67545" y="1412776"/>
                <a:ext cx="8136903" cy="4752528"/>
              </a:xfrm>
            </p:spPr>
            <p:txBody>
              <a:bodyPr/>
              <a:lstStyle/>
              <a:p>
                <a:r>
                  <a:rPr lang="en-GB" u="sng" dirty="0"/>
                  <a:t>Non-linear</a:t>
                </a:r>
                <a:r>
                  <a:rPr lang="en-GB" dirty="0"/>
                  <a:t> reduction technique (data that cannot be separated by a straight line)</a:t>
                </a:r>
              </a:p>
              <a:p>
                <a:r>
                  <a:rPr lang="en-GB" dirty="0"/>
                  <a:t>Points that are close together in high-dimensional space stay close in the low-dimensional map</a:t>
                </a:r>
              </a:p>
              <a:p>
                <a:r>
                  <a:rPr lang="en-GB" dirty="0"/>
                  <a:t>Calculate joint probability on dataset for how likely two datapoints are to be neighbours (</a:t>
                </a:r>
                <a:r>
                  <a:rPr lang="en-GB" b="1" i="1" dirty="0"/>
                  <a:t>P</a:t>
                </a:r>
                <a:r>
                  <a:rPr lang="en-GB" dirty="0"/>
                  <a:t>)</a:t>
                </a:r>
              </a:p>
              <a:p>
                <a:r>
                  <a:rPr lang="en-GB" dirty="0"/>
                  <a:t>Build a random dataset in a lower (target) dimension an calculate joint probability for this one (</a:t>
                </a:r>
                <a:r>
                  <a:rPr lang="en-GB" b="1" i="1" dirty="0"/>
                  <a:t>Q</a:t>
                </a:r>
                <a:r>
                  <a:rPr lang="en-GB" dirty="0"/>
                  <a:t>)</a:t>
                </a:r>
              </a:p>
              <a:p>
                <a:r>
                  <a:rPr lang="en-GB" dirty="0"/>
                  <a:t>Apply KL divergence to make dataset from (2) as close as possible to the dataset from (1) by minimising the distance between </a:t>
                </a:r>
                <a:r>
                  <a:rPr lang="en-GB" b="1" i="1" dirty="0"/>
                  <a:t>P </a:t>
                </a:r>
                <a:r>
                  <a:rPr lang="en-GB" dirty="0"/>
                  <a:t>and </a:t>
                </a:r>
                <a:r>
                  <a:rPr lang="en-GB" b="1" i="1" dirty="0"/>
                  <a:t>Q </a:t>
                </a: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KL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m:rPr>
                          <m:sty m:val="p"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pPr lvl="2"/>
                <a:endParaRPr lang="en-GB" dirty="0"/>
              </a:p>
              <a:p>
                <a:pPr lvl="1"/>
                <a:endParaRPr lang="en-GB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2"/>
                <a:endParaRPr lang="en-US" b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329D56B-9D92-025A-9660-B0CB0864C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67545" y="1412776"/>
                <a:ext cx="8136903" cy="4752528"/>
              </a:xfrm>
              <a:blipFill>
                <a:blip r:embed="rId3"/>
                <a:stretch>
                  <a:fillRect l="-623" t="-800" r="-467" b="-35467"/>
                </a:stretch>
              </a:blipFill>
            </p:spPr>
            <p:txBody>
              <a:bodyPr/>
              <a:lstStyle/>
              <a:p>
                <a:r>
                  <a:rPr lang="en-001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7329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BAEE6-A6B5-5043-078A-F80CB78BC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33DE0-B458-4B7B-9F3D-CFCF1B7FC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20688"/>
            <a:ext cx="8136904" cy="648072"/>
          </a:xfrm>
        </p:spPr>
        <p:txBody>
          <a:bodyPr/>
          <a:lstStyle/>
          <a:p>
            <a:r>
              <a:rPr lang="en-GB" dirty="0"/>
              <a:t>t-distributed Stochastic Neighbour Embedding (t-SNE) – Why t?</a:t>
            </a:r>
            <a:endParaRPr lang="en-US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28D56-3EB5-295E-C579-CE5A0DF61B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6124" y="1988840"/>
            <a:ext cx="2952327" cy="4116156"/>
          </a:xfrm>
        </p:spPr>
        <p:txBody>
          <a:bodyPr/>
          <a:lstStyle/>
          <a:p>
            <a:pPr>
              <a:spcAft>
                <a:spcPts val="600"/>
              </a:spcAft>
              <a:buSzPct val="100000"/>
            </a:pPr>
            <a:r>
              <a:rPr lang="en-US" b="1" dirty="0"/>
              <a:t>P (high-dim): </a:t>
            </a:r>
            <a:r>
              <a:rPr lang="en-US" dirty="0"/>
              <a:t>Gaussian, width set per point by </a:t>
            </a:r>
            <a:r>
              <a:rPr lang="en-US" i="1" dirty="0"/>
              <a:t>perplexity</a:t>
            </a:r>
          </a:p>
          <a:p>
            <a:r>
              <a:rPr lang="en-GB" b="1" dirty="0"/>
              <a:t>Q (low-dim):</a:t>
            </a:r>
            <a:r>
              <a:rPr lang="en-GB" dirty="0"/>
              <a:t> Student-t with 1 degree of freedom, a heavy tail</a:t>
            </a:r>
          </a:p>
          <a:p>
            <a:pPr lvl="1"/>
            <a:r>
              <a:rPr lang="en-GB" dirty="0"/>
              <a:t>Avoids crowding tail</a:t>
            </a:r>
          </a:p>
          <a:p>
            <a:pPr lvl="1"/>
            <a:r>
              <a:rPr lang="en-GB" dirty="0"/>
              <a:t>Keeps clusters separated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pPr lvl="2"/>
            <a:endParaRPr lang="en-GB" dirty="0"/>
          </a:p>
          <a:p>
            <a:pPr lvl="1"/>
            <a:endParaRPr lang="en-GB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b="1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915B9F-F631-D100-3C1E-8CF38296C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672991"/>
            <a:ext cx="5184576" cy="452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24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E3570-D02F-ECFF-7D58-53EBE839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DC604-0949-053B-94F7-97F6ABD6D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20688"/>
            <a:ext cx="8136904" cy="648072"/>
          </a:xfrm>
        </p:spPr>
        <p:txBody>
          <a:bodyPr/>
          <a:lstStyle/>
          <a:p>
            <a:r>
              <a:rPr lang="en-GB" dirty="0"/>
              <a:t>t-distributed Stochastic Neighbour Embedding (t-SNE) (continued)</a:t>
            </a:r>
            <a:endParaRPr lang="en-US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DEA4E-E66D-2118-2C13-B9143A0C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5" y="1412776"/>
            <a:ext cx="8136903" cy="4752528"/>
          </a:xfrm>
        </p:spPr>
        <p:txBody>
          <a:bodyPr/>
          <a:lstStyle/>
          <a:p>
            <a:r>
              <a:rPr lang="en-GB" dirty="0"/>
              <a:t>Note: KL divergence is not symmetric</a:t>
            </a:r>
          </a:p>
          <a:p>
            <a:r>
              <a:rPr lang="en-GB" dirty="0"/>
              <a:t>t-SNE is often used to visualise complex datasets into two and three dimensions, allowing us to understand more about underlying patterns and relationships in the data.</a:t>
            </a:r>
          </a:p>
          <a:p>
            <a:r>
              <a:rPr lang="en-001" dirty="0"/>
              <a:t>!! </a:t>
            </a:r>
            <a:r>
              <a:rPr lang="en-US" dirty="0"/>
              <a:t>Preserves</a:t>
            </a:r>
            <a:r>
              <a:rPr lang="en-001" dirty="0"/>
              <a:t> local </a:t>
            </a:r>
            <a:r>
              <a:rPr lang="en-US" dirty="0" err="1"/>
              <a:t>neighbourhoods</a:t>
            </a:r>
            <a:r>
              <a:rPr lang="en-US" dirty="0"/>
              <a:t>,</a:t>
            </a:r>
            <a:r>
              <a:rPr lang="en-001" dirty="0"/>
              <a:t> but </a:t>
            </a:r>
            <a:r>
              <a:rPr lang="en-001" b="1" dirty="0"/>
              <a:t>not</a:t>
            </a:r>
            <a:r>
              <a:rPr lang="en-001" dirty="0"/>
              <a:t> in-between cluster distances or densities in the original space!</a:t>
            </a:r>
            <a:endParaRPr lang="en-GB" dirty="0"/>
          </a:p>
          <a:p>
            <a:r>
              <a:rPr lang="en-GB" dirty="0"/>
              <a:t>Use cases:</a:t>
            </a:r>
          </a:p>
          <a:p>
            <a:pPr lvl="1"/>
            <a:r>
              <a:rPr lang="en-GB" dirty="0"/>
              <a:t>Visualizing word embeddings</a:t>
            </a:r>
          </a:p>
          <a:p>
            <a:pPr lvl="1"/>
            <a:r>
              <a:rPr lang="en-GB" dirty="0"/>
              <a:t>Exploring large image </a:t>
            </a:r>
            <a:br>
              <a:rPr lang="en-GB" dirty="0"/>
            </a:br>
            <a:r>
              <a:rPr lang="en-GB" dirty="0"/>
              <a:t>datasets – </a:t>
            </a:r>
            <a:br>
              <a:rPr lang="en-GB" dirty="0"/>
            </a:br>
            <a:r>
              <a:rPr lang="en-GB" dirty="0"/>
              <a:t>useful in medical imaging</a:t>
            </a:r>
            <a:br>
              <a:rPr lang="en-GB" dirty="0"/>
            </a:br>
            <a:r>
              <a:rPr lang="en-GB" dirty="0"/>
              <a:t>(e.g. MNIST, EEG data, etc)</a:t>
            </a:r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pPr lvl="2"/>
            <a:endParaRPr lang="en-GB" dirty="0"/>
          </a:p>
          <a:p>
            <a:pPr lvl="1"/>
            <a:endParaRPr lang="en-GB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b="1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CBAF8E-188A-3466-589E-0D607B3C4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645" y="3645024"/>
            <a:ext cx="3557117" cy="28803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1A527B-F7C8-1A70-B63D-8E73139D6731}"/>
              </a:ext>
            </a:extLst>
          </p:cNvPr>
          <p:cNvSpPr txBox="1"/>
          <p:nvPr/>
        </p:nvSpPr>
        <p:spPr>
          <a:xfrm>
            <a:off x="1907704" y="5858108"/>
            <a:ext cx="3168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MNIST visualization using t-SNE (</a:t>
            </a:r>
            <a:r>
              <a:rPr lang="en-US" sz="1400" dirty="0" err="1"/>
              <a:t>Maaten</a:t>
            </a:r>
            <a:r>
              <a:rPr lang="en-US" sz="1400" dirty="0"/>
              <a:t> and Hinton 2008)</a:t>
            </a:r>
          </a:p>
        </p:txBody>
      </p:sp>
    </p:spTree>
    <p:extLst>
      <p:ext uri="{BB962C8B-B14F-4D97-AF65-F5344CB8AC3E}">
        <p14:creationId xmlns:p14="http://schemas.microsoft.com/office/powerpoint/2010/main" val="2763331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4B940-7235-5B24-FD0A-6CA757ECE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F057C-46CF-E093-9482-0F2C355F9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20688"/>
            <a:ext cx="8136904" cy="648072"/>
          </a:xfrm>
        </p:spPr>
        <p:txBody>
          <a:bodyPr/>
          <a:lstStyle/>
          <a:p>
            <a:r>
              <a:rPr lang="en-GB" dirty="0"/>
              <a:t>UMAP – the modern alternative</a:t>
            </a:r>
            <a:endParaRPr lang="en-US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651AD-A703-A9EB-9474-4D5EF1BBAB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5" y="1412776"/>
            <a:ext cx="8136903" cy="4752528"/>
          </a:xfrm>
        </p:spPr>
        <p:txBody>
          <a:bodyPr/>
          <a:lstStyle/>
          <a:p>
            <a:r>
              <a:rPr lang="en-001" dirty="0">
                <a:hlinkClick r:id="rId3"/>
              </a:rPr>
              <a:t>Novel manifold </a:t>
            </a:r>
            <a:r>
              <a:rPr lang="en-001" dirty="0"/>
              <a:t>learning technique for dimension reduction.</a:t>
            </a:r>
          </a:p>
          <a:p>
            <a:r>
              <a:rPr lang="en-001" dirty="0"/>
              <a:t>Similar to t</a:t>
            </a:r>
            <a:r>
              <a:rPr lang="en-GB" dirty="0"/>
              <a:t>-SNE, but </a:t>
            </a:r>
            <a:r>
              <a:rPr lang="en-001" dirty="0"/>
              <a:t>arguably preserves more of the global structure with superior </a:t>
            </a:r>
            <a:r>
              <a:rPr lang="en-US" dirty="0"/>
              <a:t>run-time</a:t>
            </a:r>
            <a:r>
              <a:rPr lang="en-001" dirty="0"/>
              <a:t> performance</a:t>
            </a:r>
            <a:r>
              <a:rPr lang="en-GB" dirty="0"/>
              <a:t>.</a:t>
            </a:r>
          </a:p>
          <a:p>
            <a:r>
              <a:rPr lang="en-001" dirty="0"/>
              <a:t>Builds a weighted </a:t>
            </a:r>
            <a:r>
              <a:rPr lang="en-001" b="1" dirty="0"/>
              <a:t>nearest-neighbour</a:t>
            </a:r>
            <a:r>
              <a:rPr lang="en-001" dirty="0"/>
              <a:t> graph of the data and optimises a low-dimensional layout that preserves its structure.</a:t>
            </a:r>
          </a:p>
          <a:p>
            <a:r>
              <a:rPr lang="en-GB" dirty="0"/>
              <a:t>Caution for both UMAP &amp; t-SNE:</a:t>
            </a:r>
          </a:p>
          <a:p>
            <a:pPr lvl="1"/>
            <a:r>
              <a:rPr lang="en-001" sz="1600" dirty="0"/>
              <a:t>Interpret cluster sizes and </a:t>
            </a:r>
          </a:p>
          <a:p>
            <a:pPr marL="457200" lvl="1" indent="0">
              <a:buNone/>
            </a:pPr>
            <a:r>
              <a:rPr lang="en-001" sz="1600" dirty="0"/>
              <a:t>inter-cluster distances with caution!</a:t>
            </a:r>
            <a:endParaRPr lang="en-GB" sz="1600" dirty="0"/>
          </a:p>
          <a:p>
            <a:pPr lvl="1"/>
            <a:r>
              <a:rPr lang="en-GB" sz="1600" dirty="0"/>
              <a:t>Better global structure, </a:t>
            </a:r>
          </a:p>
          <a:p>
            <a:pPr lvl="2"/>
            <a:r>
              <a:rPr lang="en-001" sz="1600" dirty="0"/>
              <a:t>Kobak and Linderman (2021) –</a:t>
            </a:r>
          </a:p>
          <a:p>
            <a:pPr marL="1371600" lvl="3" indent="0">
              <a:buNone/>
            </a:pPr>
            <a:r>
              <a:rPr lang="en-US" sz="1400" dirty="0"/>
              <a:t>s</a:t>
            </a:r>
            <a:r>
              <a:rPr lang="en-001" sz="1400" dirty="0"/>
              <a:t>howed t-SNE + PCA also works;</a:t>
            </a:r>
          </a:p>
          <a:p>
            <a:pPr marL="914400" lvl="2" indent="0">
              <a:buNone/>
            </a:pPr>
            <a:endParaRPr lang="en-GB" sz="1600" dirty="0"/>
          </a:p>
          <a:p>
            <a:endParaRPr lang="en-GB" dirty="0"/>
          </a:p>
          <a:p>
            <a:endParaRPr lang="en-GB" dirty="0"/>
          </a:p>
          <a:p>
            <a:pPr lvl="2"/>
            <a:endParaRPr lang="en-GB" dirty="0"/>
          </a:p>
          <a:p>
            <a:pPr lvl="1"/>
            <a:endParaRPr lang="en-GB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b="1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B206C-FC24-183C-C387-D2499DE70B13}"/>
              </a:ext>
            </a:extLst>
          </p:cNvPr>
          <p:cNvSpPr txBox="1"/>
          <p:nvPr/>
        </p:nvSpPr>
        <p:spPr>
          <a:xfrm>
            <a:off x="1417588" y="6165304"/>
            <a:ext cx="3514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MNIST visualization using UMAP (https://</a:t>
            </a:r>
            <a:r>
              <a:rPr lang="en-US" sz="1400" dirty="0" err="1"/>
              <a:t>arxiv.org</a:t>
            </a:r>
            <a:r>
              <a:rPr lang="en-US" sz="1400" dirty="0"/>
              <a:t>/html/2601.06168)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DC15E8-4B38-9CC1-5EFE-309CAEB74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773" y="3356992"/>
            <a:ext cx="3514452" cy="342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545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031A6-32D7-262B-7E80-A66D076F2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3833F-4319-63B6-3E66-5AFC4D722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548" y="620688"/>
            <a:ext cx="8136904" cy="736445"/>
          </a:xfrm>
        </p:spPr>
        <p:txBody>
          <a:bodyPr/>
          <a:lstStyle/>
          <a:p>
            <a:r>
              <a:rPr lang="en-US" dirty="0"/>
              <a:t>PCA vs LLE vs t-SNE vs UMAP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9BEA1D7-7C42-E077-93B2-74F65C867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482533"/>
              </p:ext>
            </p:extLst>
          </p:nvPr>
        </p:nvGraphicFramePr>
        <p:xfrm>
          <a:off x="179512" y="1556792"/>
          <a:ext cx="8784976" cy="5000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896101886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308517616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1622592575"/>
                    </a:ext>
                  </a:extLst>
                </a:gridCol>
                <a:gridCol w="1843406">
                  <a:extLst>
                    <a:ext uri="{9D8B030D-6E8A-4147-A177-3AD203B41FA5}">
                      <a16:colId xmlns:a16="http://schemas.microsoft.com/office/drawing/2014/main" val="2028691663"/>
                    </a:ext>
                  </a:extLst>
                </a:gridCol>
                <a:gridCol w="1756994">
                  <a:extLst>
                    <a:ext uri="{9D8B030D-6E8A-4147-A177-3AD203B41FA5}">
                      <a16:colId xmlns:a16="http://schemas.microsoft.com/office/drawing/2014/main" val="1414218471"/>
                    </a:ext>
                  </a:extLst>
                </a:gridCol>
              </a:tblGrid>
              <a:tr h="38183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t-SNE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395837"/>
                  </a:ext>
                </a:extLst>
              </a:tr>
              <a:tr h="381838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Non-linear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763136"/>
                  </a:ext>
                </a:extLst>
              </a:tr>
              <a:tr h="1223970">
                <a:tc>
                  <a:txBody>
                    <a:bodyPr/>
                    <a:lstStyle/>
                    <a:p>
                      <a:r>
                        <a:rPr lang="en-US" dirty="0"/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Preserves global 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Preserves local neighborhoods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Preserves pairwise similarities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Preserves local + some global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824344"/>
                  </a:ext>
                </a:extLst>
              </a:tr>
              <a:tr h="659062">
                <a:tc>
                  <a:txBody>
                    <a:bodyPr/>
                    <a:lstStyle/>
                    <a:p>
                      <a:r>
                        <a:rPr lang="en-US" dirty="0"/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017816"/>
                  </a:ext>
                </a:extLst>
              </a:tr>
              <a:tr h="2353790">
                <a:tc>
                  <a:txBody>
                    <a:bodyPr/>
                    <a:lstStyle/>
                    <a:p>
                      <a:r>
                        <a:rPr lang="en-US" dirty="0"/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Preprocessing</a:t>
                      </a:r>
                    </a:p>
                    <a:p>
                      <a:r>
                        <a:rPr lang="en-US" dirty="0"/>
                        <a:t>Feature selection/</a:t>
                      </a:r>
                      <a:br>
                        <a:rPr lang="en-US" dirty="0"/>
                      </a:br>
                      <a:r>
                        <a:rPr lang="en-US" dirty="0"/>
                        <a:t>engineering; </a:t>
                      </a:r>
                      <a:br>
                        <a:rPr lang="en-US" dirty="0"/>
                      </a:br>
                      <a:r>
                        <a:rPr lang="en-US" dirty="0"/>
                        <a:t>Noise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Manifold Learning, Preprocessing in non-linear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Visualization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Visualization, preprocessing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668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5418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BBF69-2046-7C55-17E6-995028D8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A279A-765D-71A1-FBA9-DDF27480A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20688"/>
            <a:ext cx="8136904" cy="648072"/>
          </a:xfrm>
        </p:spPr>
        <p:txBody>
          <a:bodyPr/>
          <a:lstStyle/>
          <a:p>
            <a:r>
              <a:rPr lang="en-GB" dirty="0"/>
              <a:t>Summary</a:t>
            </a:r>
            <a:endParaRPr lang="en-US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3C1BD-ABED-17D0-3B3B-F87C47813F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5" y="1412776"/>
            <a:ext cx="8136903" cy="4752528"/>
          </a:xfrm>
        </p:spPr>
        <p:txBody>
          <a:bodyPr/>
          <a:lstStyle/>
          <a:p>
            <a:r>
              <a:rPr lang="en-GB" dirty="0"/>
              <a:t>In this lecture, we looked at</a:t>
            </a:r>
          </a:p>
          <a:p>
            <a:pPr lvl="1"/>
            <a:r>
              <a:rPr lang="en-GB" dirty="0"/>
              <a:t>The uses and limitations of dimensionality reduction techniques</a:t>
            </a:r>
          </a:p>
          <a:p>
            <a:pPr lvl="1"/>
            <a:r>
              <a:rPr lang="en-GB" dirty="0"/>
              <a:t>How different dimensionality reduction techniques work</a:t>
            </a:r>
          </a:p>
          <a:p>
            <a:pPr lvl="2"/>
            <a:r>
              <a:rPr lang="en-GB" dirty="0"/>
              <a:t>PCA and variants</a:t>
            </a:r>
          </a:p>
          <a:p>
            <a:pPr lvl="2"/>
            <a:r>
              <a:rPr lang="en-GB" dirty="0"/>
              <a:t>LLE</a:t>
            </a:r>
          </a:p>
          <a:p>
            <a:pPr lvl="2"/>
            <a:r>
              <a:rPr lang="en-GB" dirty="0"/>
              <a:t>t-SNE</a:t>
            </a:r>
          </a:p>
          <a:p>
            <a:pPr lvl="2"/>
            <a:r>
              <a:rPr lang="en-GB" dirty="0"/>
              <a:t>UMAP</a:t>
            </a:r>
          </a:p>
          <a:p>
            <a:pPr lvl="1"/>
            <a:r>
              <a:rPr lang="en-GB" dirty="0"/>
              <a:t>Compared these techniques to understand when to select each technique</a:t>
            </a:r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pPr lvl="2"/>
            <a:endParaRPr lang="en-GB" dirty="0"/>
          </a:p>
          <a:p>
            <a:pPr lvl="1"/>
            <a:endParaRPr lang="en-GB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944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7C18D-F11D-FCF0-8280-99AF471B7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548" y="2960948"/>
            <a:ext cx="8136904" cy="2196244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Questions?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675653"/>
      </p:ext>
    </p:extLst>
  </p:cSld>
  <p:clrMapOvr>
    <a:masterClrMapping/>
  </p:clrMapOvr>
</p:sld>
</file>

<file path=ppt/theme/theme1.xml><?xml version="1.0" encoding="utf-8"?>
<a:theme xmlns:a="http://schemas.openxmlformats.org/drawingml/2006/main" name="UoS_Powerpoint_template">
  <a:themeElements>
    <a:clrScheme name="Rich Black">
      <a:dk1>
        <a:srgbClr val="231F20"/>
      </a:dk1>
      <a:lt1>
        <a:srgbClr val="FFFFFF"/>
      </a:lt1>
      <a:dk2>
        <a:srgbClr val="005C84"/>
      </a:dk2>
      <a:lt2>
        <a:srgbClr val="495961"/>
      </a:lt2>
      <a:accent1>
        <a:srgbClr val="9FB1BD"/>
      </a:accent1>
      <a:accent2>
        <a:srgbClr val="E73037"/>
      </a:accent2>
      <a:accent3>
        <a:srgbClr val="C1D100"/>
      </a:accent3>
      <a:accent4>
        <a:srgbClr val="8D3970"/>
      </a:accent4>
      <a:accent5>
        <a:srgbClr val="31BFC7"/>
      </a:accent5>
      <a:accent6>
        <a:srgbClr val="EF7D00"/>
      </a:accent6>
      <a:hlink>
        <a:srgbClr val="74C9E5"/>
      </a:hlink>
      <a:folHlink>
        <a:srgbClr val="D5007F"/>
      </a:folHlink>
    </a:clrScheme>
    <a:fontScheme name="Custom 1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46433AF-ADAF-5043-992B-F8DA038F8EDD}" vid="{70BB0F00-7E88-EC42-8F76-723910B29191}"/>
    </a:ext>
  </a:extLst>
</a:theme>
</file>

<file path=ppt/theme/theme2.xml><?xml version="1.0" encoding="utf-8"?>
<a:theme xmlns:a="http://schemas.openxmlformats.org/drawingml/2006/main" name="Title and content">
  <a:themeElements>
    <a:clrScheme name="Custom 1">
      <a:dk1>
        <a:srgbClr val="231F20"/>
      </a:dk1>
      <a:lt1>
        <a:srgbClr val="FFFFFF"/>
      </a:lt1>
      <a:dk2>
        <a:srgbClr val="005C84"/>
      </a:dk2>
      <a:lt2>
        <a:srgbClr val="495961"/>
      </a:lt2>
      <a:accent1>
        <a:srgbClr val="9FB1BD"/>
      </a:accent1>
      <a:accent2>
        <a:srgbClr val="E73037"/>
      </a:accent2>
      <a:accent3>
        <a:srgbClr val="C1D100"/>
      </a:accent3>
      <a:accent4>
        <a:srgbClr val="8D3970"/>
      </a:accent4>
      <a:accent5>
        <a:srgbClr val="31BFC7"/>
      </a:accent5>
      <a:accent6>
        <a:srgbClr val="EF7D00"/>
      </a:accent6>
      <a:hlink>
        <a:srgbClr val="005C83"/>
      </a:hlink>
      <a:folHlink>
        <a:srgbClr val="495961"/>
      </a:folHlink>
    </a:clrScheme>
    <a:fontScheme name="UoS Powerpoint Fonts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46433AF-ADAF-5043-992B-F8DA038F8EDD}" vid="{FB3B6721-CF41-CB4A-8BDA-0705E516CAA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23682EB-C5DD-B24C-B87B-2491F21400E6}">
  <we:reference id="3e0fcce7-415c-4081-926c-b4e449c650e4" version="1.1.0.2" store="EXCatalog" storeType="EXCatalog"/>
  <we:alternateReferences>
    <we:reference id="WA200004709" version="1.1.0.2" store="en-GB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c98906-40c9-4f56-92bd-f396bbed9311" xsi:nil="true"/>
    <lcf76f155ced4ddcb4097134ff3c332f xmlns="c17eb852-9151-42b7-bd36-545ee532f1a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24FBB6BFB1D540934452F52CBBF22B" ma:contentTypeVersion="9" ma:contentTypeDescription="Create a new document." ma:contentTypeScope="" ma:versionID="21261a22b0a1492a5963e2cc5a02714f">
  <xsd:schema xmlns:xsd="http://www.w3.org/2001/XMLSchema" xmlns:xs="http://www.w3.org/2001/XMLSchema" xmlns:p="http://schemas.microsoft.com/office/2006/metadata/properties" xmlns:ns2="c17eb852-9151-42b7-bd36-545ee532f1a1" xmlns:ns3="1fc98906-40c9-4f56-92bd-f396bbed9311" targetNamespace="http://schemas.microsoft.com/office/2006/metadata/properties" ma:root="true" ma:fieldsID="210f28c92276b41fc3c7219090adcd97" ns2:_="" ns3:_="">
    <xsd:import namespace="c17eb852-9151-42b7-bd36-545ee532f1a1"/>
    <xsd:import namespace="1fc98906-40c9-4f56-92bd-f396bbed9311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7eb852-9151-42b7-bd36-545ee532f1a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cbf2f534-9c3d-494b-83fb-768e807180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c98906-40c9-4f56-92bd-f396bbed9311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0bfaa32-be88-4c32-8520-a8dac6cdd59d}" ma:internalName="TaxCatchAll" ma:showField="CatchAllData" ma:web="1fc98906-40c9-4f56-92bd-f396bbed93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550B5B-764A-456A-890B-534F7E9CBE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0608EC-859B-4A99-8679-C05BD7B9789A}">
  <ds:schemaRefs>
    <ds:schemaRef ds:uri="http://schemas.microsoft.com/office/2006/documentManagement/types"/>
    <ds:schemaRef ds:uri="http://www.w3.org/XML/1998/namespace"/>
    <ds:schemaRef ds:uri="1fc98906-40c9-4f56-92bd-f396bbed9311"/>
    <ds:schemaRef ds:uri="http://purl.org/dc/terms/"/>
    <ds:schemaRef ds:uri="http://schemas.microsoft.com/office/2006/metadata/properties"/>
    <ds:schemaRef ds:uri="c17eb852-9151-42b7-bd36-545ee532f1a1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1FE5E4C-A660-4B47-ADFF-41A96BE1AB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7eb852-9151-42b7-bd36-545ee532f1a1"/>
    <ds:schemaRef ds:uri="1fc98906-40c9-4f56-92bd-f396bbed93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UoS_Powerpoint_template</Template>
  <TotalTime>13041</TotalTime>
  <Words>1690</Words>
  <Application>Microsoft Macintosh PowerPoint</Application>
  <PresentationFormat>On-screen Show (4:3)</PresentationFormat>
  <Paragraphs>292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Cambria Math</vt:lpstr>
      <vt:lpstr>Lucida Sans</vt:lpstr>
      <vt:lpstr>UoS_Powerpoint_template</vt:lpstr>
      <vt:lpstr>Title and content</vt:lpstr>
      <vt:lpstr>Dimensionality Reduction</vt:lpstr>
      <vt:lpstr>Lecture Outline</vt:lpstr>
      <vt:lpstr>Why Reduce Dimensions?</vt:lpstr>
      <vt:lpstr>Why Reduce Dimensions?</vt:lpstr>
      <vt:lpstr>Approaches </vt:lpstr>
      <vt:lpstr>Approaches – Projection </vt:lpstr>
      <vt:lpstr>Approaches – Projection II</vt:lpstr>
      <vt:lpstr>Approaches – Manifold Learning</vt:lpstr>
      <vt:lpstr>Principal Component Analysis (PCA)</vt:lpstr>
      <vt:lpstr>PCA steps</vt:lpstr>
      <vt:lpstr>Finding Principal Components</vt:lpstr>
      <vt:lpstr>Singular Value Decomposition</vt:lpstr>
      <vt:lpstr>Explained Variance </vt:lpstr>
      <vt:lpstr>Example of compression and reverse.</vt:lpstr>
      <vt:lpstr>PCA variants</vt:lpstr>
      <vt:lpstr>Locally Linear Embedding</vt:lpstr>
      <vt:lpstr>Locally Linear Embedding II</vt:lpstr>
      <vt:lpstr>t-distributed Stochastic Neighbour Embedding (t-SNE)</vt:lpstr>
      <vt:lpstr>t-distributed Stochastic Neighbour Embedding (t-SNE) – Why t?</vt:lpstr>
      <vt:lpstr>t-distributed Stochastic Neighbour Embedding (t-SNE) (continued)</vt:lpstr>
      <vt:lpstr>UMAP – the modern alternative</vt:lpstr>
      <vt:lpstr>PCA vs LLE vs t-SNE vs UMAP</vt:lpstr>
      <vt:lpstr>Summary</vt:lpstr>
      <vt:lpstr> Questions?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Indu Bodala</dc:creator>
  <cp:keywords/>
  <dc:description/>
  <cp:lastModifiedBy>Daniela Mihai</cp:lastModifiedBy>
  <cp:revision>40</cp:revision>
  <dcterms:created xsi:type="dcterms:W3CDTF">2025-09-08T14:16:43Z</dcterms:created>
  <dcterms:modified xsi:type="dcterms:W3CDTF">2026-10-20T09:23:18Z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0x0101005224FBB6BFB1D540934452F52CBBF22B</vt:lpwstr>
  </property>
  <property fmtid="{D5CDD505-2E9C-101B-9397-08002B2CF9AE}" pid="3" name="MediaServiceImageTags">
    <vt:lpwstr/>
  </property>
</Properties>
</file>