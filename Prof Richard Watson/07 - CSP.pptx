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38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302" r:id="rId13"/>
    <p:sldId id="270" r:id="rId14"/>
    <p:sldId id="303" r:id="rId15"/>
    <p:sldId id="291" r:id="rId16"/>
    <p:sldId id="292" r:id="rId17"/>
    <p:sldId id="304" r:id="rId18"/>
    <p:sldId id="273" r:id="rId19"/>
    <p:sldId id="274" r:id="rId20"/>
    <p:sldId id="275" r:id="rId21"/>
    <p:sldId id="276" r:id="rId22"/>
    <p:sldId id="277" r:id="rId23"/>
    <p:sldId id="278" r:id="rId24"/>
    <p:sldId id="293" r:id="rId25"/>
    <p:sldId id="294" r:id="rId26"/>
    <p:sldId id="295" r:id="rId27"/>
    <p:sldId id="282" r:id="rId28"/>
    <p:sldId id="300" r:id="rId29"/>
    <p:sldId id="283" r:id="rId30"/>
    <p:sldId id="298" r:id="rId31"/>
    <p:sldId id="299" r:id="rId32"/>
    <p:sldId id="287" r:id="rId33"/>
    <p:sldId id="288" r:id="rId34"/>
    <p:sldId id="289" r:id="rId35"/>
    <p:sldId id="301" r:id="rId36"/>
    <p:sldId id="290" r:id="rId37"/>
  </p:sldIdLst>
  <p:sldSz cx="9144000" cy="6858000" type="screen4x3"/>
  <p:notesSz cx="6858000" cy="9144000"/>
  <p:embeddedFontLst>
    <p:embeddedFont>
      <p:font typeface="Verdana" panose="020B0604030504040204" pitchFamily="34" charset="0"/>
      <p:regular r:id="rId39"/>
      <p:bold r:id="rId40"/>
      <p:italic r:id="rId41"/>
      <p:boldItalic r:id="rId42"/>
    </p:embeddedFont>
    <p:embeddedFont>
      <p:font typeface="Monotype Corsiva" panose="03010101010201010101" pitchFamily="66" charset="0"/>
      <p:italic r:id="rId43"/>
    </p:embeddedFont>
    <p:embeddedFont>
      <p:font typeface="ＭＳ Ｐゴシック" panose="020B0600070205080204" pitchFamily="34" charset="-128"/>
      <p:regular r:id="rId44"/>
    </p:embeddedFont>
    <p:embeddedFont>
      <p:font typeface="Tahoma" panose="020B0604030504040204" pitchFamily="34" charset="0"/>
      <p:regular r:id="rId45"/>
      <p:bold r:id="rId46"/>
    </p:embeddedFont>
    <p:embeddedFont>
      <p:font typeface="Wingdings 3" panose="05040102010807070707" pitchFamily="18" charset="2"/>
      <p:regular r:id="rId47"/>
    </p:embeddedFont>
    <p:embeddedFont>
      <p:font typeface="Lucida Sans Unicode" panose="020B0602030504020204" pitchFamily="34" charset="0"/>
      <p:regular r:id="rId48"/>
    </p:embeddedFont>
    <p:embeddedFont>
      <p:font typeface="Wingdings 2" panose="05020102010507070707" pitchFamily="18" charset="2"/>
      <p:regular r:id="rId4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F63EAEC1-CCCB-4EB8-AE4E-DFC57B4A23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26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GB">
              <a:solidFill>
                <a:srgbClr val="FFFFFF"/>
              </a:solidFill>
              <a:ea typeface="ＭＳ Ｐゴシック" pitchFamily="-65" charset="-128"/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9pPr>
            </a:lstStyle>
            <a:p>
              <a:pPr algn="ctr" eaLnBrk="1" hangingPunct="1"/>
              <a:endParaRPr lang="en-GB" sz="1800">
                <a:solidFill>
                  <a:srgbClr val="FFFFFF"/>
                </a:solidFill>
                <a:latin typeface="Lucida Sans Unicode" pitchFamily="-65" charset="-5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8F0F4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6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16F4E-AD33-47DA-901A-A98BC985E3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6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5" name="Chevron 4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5D39C2-7EA0-48B7-A95D-FD5453EF2C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45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8E08BA-ABD8-44D4-AD5F-502205854B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40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7F3C5-09F6-4945-A3E5-75826845D8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6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4 Feb 2004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 3243 - Constraint Satisfaction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AE12F3-45EE-46A0-B1D6-44B5DA91A4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49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B47DE1-F6F2-41AB-8F6E-0C3CFCCEEE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62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BD285-A0FB-4BD2-BC8C-BB5BDD5FE0A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28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pPr algn="ctr" eaLnBrk="1" hangingPunct="1"/>
            <a:endParaRPr lang="en-GB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10" name="Chevron 9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GB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0B42A-8E87-46A1-B1DE-D81A0A86C0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69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B5404-2D96-4401-A3DF-7B06526488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4 Feb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 3243 - Constraint Satisfaction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0D074-8A26-4817-BA05-D5C6AF22F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pPr algn="ctr" eaLnBrk="1" hangingPunct="1"/>
            <a:endParaRPr lang="en-GB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  <a:sp3d prstMaterial="softEdge">
              <a:bevelT w="25400" h="25400"/>
            </a:sp3d>
          </a:bodyPr>
          <a:lstStyle/>
          <a:p>
            <a:pPr lvl="0"/>
            <a:r>
              <a:rPr lang="en-GB" smtClean="0"/>
              <a:t>Click to edit Master title style</a:t>
            </a:r>
            <a:endParaRPr lang="en-US" smtClean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r>
              <a:rPr lang="en-US"/>
              <a:t>COMP6031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63838B2-E161-4901-A78F-150AB11FDF3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4" r:id="rId3"/>
    <p:sldLayoutId id="2147483705" r:id="rId4"/>
    <p:sldLayoutId id="2147483706" r:id="rId5"/>
    <p:sldLayoutId id="2147483707" r:id="rId6"/>
    <p:sldLayoutId id="2147483701" r:id="rId7"/>
    <p:sldLayoutId id="2147483708" r:id="rId8"/>
    <p:sldLayoutId id="2147483709" r:id="rId9"/>
    <p:sldLayoutId id="2147483700" r:id="rId10"/>
    <p:sldLayoutId id="2147483710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65" charset="2"/>
        <a:buChar char=""/>
        <a:defRPr sz="27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65" charset="0"/>
        <a:buChar char="◦"/>
        <a:defRPr sz="23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65" charset="2"/>
        <a:buChar char=""/>
        <a:defRPr sz="21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sz="19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a typeface="+mj-ea"/>
                <a:cs typeface="+mj-cs"/>
              </a:rPr>
              <a:t>Constraint </a:t>
            </a:r>
            <a:r>
              <a:rPr lang="en-US" dirty="0">
                <a:ea typeface="+mj-ea"/>
                <a:cs typeface="+mj-cs"/>
              </a:rPr>
              <a:t>Satisfaction Problems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/>
            <a:r>
              <a:rPr lang="en-US" smtClean="0"/>
              <a:t>Reading: Chapter  5</a:t>
            </a:r>
          </a:p>
        </p:txBody>
      </p:sp>
      <p:sp>
        <p:nvSpPr>
          <p:cNvPr id="14340" name="Rectangle 1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endParaRPr lang="en-GB" sz="1000">
              <a:solidFill>
                <a:srgbClr val="FFFFFF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endParaRPr lang="en-GB" sz="1000">
              <a:solidFill>
                <a:srgbClr val="E8F0F4"/>
              </a:solidFill>
            </a:endParaRPr>
          </a:p>
        </p:txBody>
      </p:sp>
      <p:sp>
        <p:nvSpPr>
          <p:cNvPr id="14342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endParaRPr lang="en-GB" sz="1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2000" dirty="0" smtClean="0"/>
              <a:t>Standard search problem:
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700" dirty="0" smtClean="0">
                <a:solidFill>
                  <a:schemeClr val="accent2"/>
                </a:solidFill>
              </a:rPr>
              <a:t>state</a:t>
            </a:r>
            <a:r>
              <a:rPr lang="en-US" sz="1700" dirty="0" smtClean="0"/>
              <a:t> is a "black box“ – any data structure that supports successor function, heuristic function, and goal test
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 smtClean="0"/>
              <a:t>CSP:
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700" dirty="0" smtClean="0">
                <a:solidFill>
                  <a:schemeClr val="accent2"/>
                </a:solidFill>
              </a:rPr>
              <a:t>state</a:t>
            </a:r>
            <a:r>
              <a:rPr lang="en-US" sz="1700" dirty="0" smtClean="0"/>
              <a:t> is defined by </a:t>
            </a:r>
            <a:r>
              <a:rPr lang="en-US" sz="1700" dirty="0" smtClean="0">
                <a:solidFill>
                  <a:srgbClr val="FF0000"/>
                </a:solidFill>
              </a:rPr>
              <a:t>variables</a:t>
            </a:r>
            <a:r>
              <a:rPr lang="en-US" sz="1700" dirty="0" smtClean="0"/>
              <a:t> </a:t>
            </a:r>
            <a:r>
              <a:rPr lang="en-US" sz="1700" i="1" dirty="0" smtClean="0"/>
              <a:t>X</a:t>
            </a:r>
            <a:r>
              <a:rPr lang="en-US" sz="1700" i="1" baseline="-25000" dirty="0" smtClean="0"/>
              <a:t>i</a:t>
            </a:r>
            <a:r>
              <a:rPr lang="en-US" sz="1700" dirty="0" smtClean="0"/>
              <a:t> with </a:t>
            </a:r>
            <a:r>
              <a:rPr lang="en-US" sz="1700" dirty="0" smtClean="0">
                <a:solidFill>
                  <a:srgbClr val="FF0000"/>
                </a:solidFill>
              </a:rPr>
              <a:t>values</a:t>
            </a:r>
            <a:r>
              <a:rPr lang="en-US" sz="1700" dirty="0" smtClean="0"/>
              <a:t> from </a:t>
            </a:r>
            <a:r>
              <a:rPr lang="en-US" sz="1700" dirty="0" smtClean="0">
                <a:solidFill>
                  <a:srgbClr val="FF0000"/>
                </a:solidFill>
              </a:rPr>
              <a:t>domain</a:t>
            </a:r>
            <a:r>
              <a:rPr lang="en-US" sz="1700" dirty="0" smtClean="0"/>
              <a:t> </a:t>
            </a:r>
            <a:r>
              <a:rPr lang="en-US" sz="1700" i="1" dirty="0" smtClean="0"/>
              <a:t>D</a:t>
            </a:r>
            <a:r>
              <a:rPr lang="en-US" sz="1700" i="1" baseline="-25000" dirty="0" smtClean="0"/>
              <a:t>i</a:t>
            </a:r>
            <a:r>
              <a:rPr lang="en-US" sz="1700" dirty="0" smtClean="0"/>
              <a:t>
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700" dirty="0" smtClean="0">
                <a:solidFill>
                  <a:schemeClr val="accent2"/>
                </a:solidFill>
              </a:rPr>
              <a:t>goal test</a:t>
            </a:r>
            <a:r>
              <a:rPr lang="en-US" sz="1700" dirty="0" smtClean="0"/>
              <a:t> is a set of </a:t>
            </a:r>
            <a:r>
              <a:rPr lang="en-US" sz="1700" dirty="0" smtClean="0">
                <a:solidFill>
                  <a:srgbClr val="FF0000"/>
                </a:solidFill>
              </a:rPr>
              <a:t>constraints</a:t>
            </a:r>
            <a:r>
              <a:rPr lang="en-US" sz="1700" dirty="0" smtClean="0"/>
              <a:t> specifying allowable combinations of values for subsets of variables</a:t>
            </a:r>
          </a:p>
          <a:p>
            <a:pPr lvl="1" eaLnBrk="1" hangingPunct="1">
              <a:lnSpc>
                <a:spcPct val="70000"/>
              </a:lnSpc>
            </a:pPr>
            <a:endParaRPr lang="en-US" sz="1700" dirty="0"/>
          </a:p>
          <a:p>
            <a:pPr lvl="1" eaLnBrk="1" hangingPunct="1">
              <a:lnSpc>
                <a:spcPct val="70000"/>
              </a:lnSpc>
            </a:pPr>
            <a:r>
              <a:rPr lang="en-US" sz="1700" dirty="0" smtClean="0"/>
              <a:t>E.g. graph </a:t>
            </a:r>
            <a:r>
              <a:rPr lang="en-US" sz="1700" dirty="0" err="1" smtClean="0"/>
              <a:t>colouring</a:t>
            </a:r>
            <a:r>
              <a:rPr lang="en-US" sz="1700" dirty="0" smtClean="0"/>
              <a:t>, N-queens</a:t>
            </a:r>
          </a:p>
          <a:p>
            <a:pPr lvl="1" eaLnBrk="1" hangingPunct="1">
              <a:lnSpc>
                <a:spcPct val="70000"/>
              </a:lnSpc>
            </a:pPr>
            <a:endParaRPr lang="en-US" sz="1700" dirty="0" smtClean="0"/>
          </a:p>
          <a:p>
            <a:pPr eaLnBrk="1" hangingPunct="1">
              <a:lnSpc>
                <a:spcPct val="70000"/>
              </a:lnSpc>
            </a:pPr>
            <a:r>
              <a:rPr lang="en-US" sz="2000" dirty="0" smtClean="0"/>
              <a:t>Simple example of a </a:t>
            </a:r>
            <a:r>
              <a:rPr lang="en-US" sz="2000" dirty="0" smtClean="0">
                <a:solidFill>
                  <a:srgbClr val="FF0000"/>
                </a:solidFill>
              </a:rPr>
              <a:t>formal representation language</a:t>
            </a:r>
            <a:endParaRPr lang="en-US" sz="2000" dirty="0" smtClean="0"/>
          </a:p>
          <a:p>
            <a:pPr eaLnBrk="1" hangingPunct="1">
              <a:lnSpc>
                <a:spcPct val="70000"/>
              </a:lnSpc>
            </a:pPr>
            <a:endParaRPr lang="en-US" sz="2000" dirty="0" smtClean="0"/>
          </a:p>
          <a:p>
            <a:pPr eaLnBrk="1" hangingPunct="1">
              <a:lnSpc>
                <a:spcPct val="70000"/>
              </a:lnSpc>
            </a:pPr>
            <a:r>
              <a:rPr lang="en-US" sz="2000" dirty="0" smtClean="0"/>
              <a:t>Allows useful </a:t>
            </a:r>
            <a:r>
              <a:rPr lang="en-US" sz="2000" dirty="0" smtClean="0">
                <a:solidFill>
                  <a:srgbClr val="FF0000"/>
                </a:solidFill>
              </a:rPr>
              <a:t>general-purpose</a:t>
            </a:r>
            <a:r>
              <a:rPr lang="en-US" sz="2000" dirty="0" smtClean="0"/>
              <a:t> algorithms with more power than standard search algorithms
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321F92CC-1335-446F-9341-791D94F4C898}" type="slidenum">
              <a:rPr lang="en-US" sz="1000"/>
              <a:pPr/>
              <a:t>2</a:t>
            </a:fld>
            <a:endParaRPr lang="en-US" sz="10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>
                <a:ea typeface="+mj-ea"/>
                <a:cs typeface="+mj-cs"/>
              </a:rPr>
              <a:t>Constraint satisfaction problems (CSPs)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4162425"/>
            <a:ext cx="8650288" cy="1970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2000" smtClean="0">
                <a:solidFill>
                  <a:schemeClr val="accent2"/>
                </a:solidFill>
              </a:rPr>
              <a:t>Variables</a:t>
            </a:r>
            <a:r>
              <a:rPr lang="en-US" sz="2000" smtClean="0"/>
              <a:t> </a:t>
            </a:r>
            <a:r>
              <a:rPr lang="en-US" sz="2000" i="1" smtClean="0"/>
              <a:t>WA, NT, Q, NSW, V, SA, T</a:t>
            </a:r>
            <a:r>
              <a:rPr lang="en-US" sz="2000" smtClean="0"/>
              <a:t> 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smtClean="0">
                <a:solidFill>
                  <a:schemeClr val="accent2"/>
                </a:solidFill>
              </a:rPr>
              <a:t>Domains</a:t>
            </a:r>
            <a:r>
              <a:rPr lang="en-US" sz="2000" smtClean="0"/>
              <a:t> </a:t>
            </a:r>
            <a:r>
              <a:rPr lang="en-US" sz="2000" i="1" smtClean="0"/>
              <a:t>D</a:t>
            </a:r>
            <a:r>
              <a:rPr lang="en-US" sz="2000" i="1" baseline="-25000" smtClean="0"/>
              <a:t>i</a:t>
            </a:r>
            <a:r>
              <a:rPr lang="en-US" sz="2000" smtClean="0"/>
              <a:t> = {red,green,blue}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smtClean="0">
                <a:solidFill>
                  <a:schemeClr val="accent2"/>
                </a:solidFill>
              </a:rPr>
              <a:t>Constraints</a:t>
            </a:r>
            <a:r>
              <a:rPr lang="en-US" sz="2000" smtClean="0"/>
              <a:t>: adjacent regions must have different colors
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e.g., WA </a:t>
            </a:r>
            <a:r>
              <a:rPr lang="en-US" sz="2000" smtClean="0">
                <a:cs typeface="Arial" charset="0"/>
              </a:rPr>
              <a:t>≠</a:t>
            </a:r>
            <a:r>
              <a:rPr lang="en-US" sz="2000" smtClean="0"/>
              <a:t> NT, or (WA,NT) in {(red,green),(red,blue),(green,red), (green,blue),(blue,red),(blue,green)}
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8C9041E5-BFC2-4027-AD8B-2D7D594D79BD}" type="slidenum">
              <a:rPr lang="en-US" sz="1000"/>
              <a:pPr/>
              <a:t>3</a:t>
            </a:fld>
            <a:endParaRPr lang="en-US" sz="100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Example: Map-Coloring</a:t>
            </a:r>
          </a:p>
        </p:txBody>
      </p:sp>
      <p:pic>
        <p:nvPicPr>
          <p:cNvPr id="16389" name="Picture 5" descr="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19200"/>
            <a:ext cx="3227388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4549775"/>
            <a:ext cx="8650288" cy="15827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600" smtClean="0">
                <a:solidFill>
                  <a:schemeClr val="accent2"/>
                </a:solidFill>
              </a:rPr>
              <a:t>Solutions</a:t>
            </a:r>
            <a:r>
              <a:rPr lang="en-US" sz="2600" smtClean="0"/>
              <a:t> are </a:t>
            </a:r>
            <a:r>
              <a:rPr lang="en-US" sz="2600" smtClean="0">
                <a:solidFill>
                  <a:srgbClr val="FF0000"/>
                </a:solidFill>
              </a:rPr>
              <a:t>complete</a:t>
            </a:r>
            <a:r>
              <a:rPr lang="en-US" sz="2600" smtClean="0"/>
              <a:t> and </a:t>
            </a:r>
            <a:r>
              <a:rPr lang="en-US" sz="2600" smtClean="0">
                <a:solidFill>
                  <a:srgbClr val="FF0000"/>
                </a:solidFill>
              </a:rPr>
              <a:t>consistent</a:t>
            </a:r>
            <a:r>
              <a:rPr lang="en-US" sz="2600" smtClean="0"/>
              <a:t> assignments, e.g., WA = red, NT = green,Q = red,NSW = green,V = red,SA = blue,T = green
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29385850-5162-45BE-B842-3F0433916DD4}" type="slidenum">
              <a:rPr lang="en-US" sz="1000"/>
              <a:pPr/>
              <a:t>4</a:t>
            </a:fld>
            <a:endParaRPr lang="en-US" sz="100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Example: Map-Coloring</a:t>
            </a:r>
          </a:p>
        </p:txBody>
      </p:sp>
      <p:pic>
        <p:nvPicPr>
          <p:cNvPr id="17413" name="Picture 4" descr="australia-s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australia-cs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895600"/>
            <a:ext cx="367665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Binary CSP:</a:t>
            </a:r>
            <a:r>
              <a:rPr lang="en-US" sz="2400" smtClean="0"/>
              <a:t> each constraint relates two variables
</a:t>
            </a:r>
          </a:p>
          <a:p>
            <a:pPr eaLnBrk="1" hangingPunct="1"/>
            <a:r>
              <a:rPr lang="en-US" sz="2400" smtClean="0">
                <a:solidFill>
                  <a:srgbClr val="FF0000"/>
                </a:solidFill>
              </a:rPr>
              <a:t>Constraint graph:</a:t>
            </a:r>
            <a:r>
              <a:rPr lang="en-US" sz="2400" smtClean="0"/>
              <a:t> nodes are variables, arcs are constraints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Colouring has many uses:</a:t>
            </a:r>
          </a:p>
          <a:p>
            <a:pPr eaLnBrk="1" hangingPunct="1">
              <a:buFont typeface="Wingdings 3" pitchFamily="-65" charset="2"/>
              <a:buNone/>
            </a:pPr>
            <a:r>
              <a:rPr lang="en-US" sz="2400" smtClean="0"/>
              <a:t>including bandwidth </a:t>
            </a:r>
          </a:p>
          <a:p>
            <a:pPr eaLnBrk="1" hangingPunct="1">
              <a:buFont typeface="Wingdings 3" pitchFamily="-65" charset="2"/>
              <a:buNone/>
            </a:pPr>
            <a:r>
              <a:rPr lang="en-US" sz="2400" smtClean="0"/>
              <a:t>assignment in mobile-phone</a:t>
            </a:r>
          </a:p>
          <a:p>
            <a:pPr eaLnBrk="1" hangingPunct="1">
              <a:buFont typeface="Wingdings 3" pitchFamily="-65" charset="2"/>
              <a:buNone/>
            </a:pPr>
            <a:r>
              <a:rPr lang="en-US" sz="2400" smtClean="0"/>
              <a:t>masts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18850735-4459-41A1-A974-E06ED9EF6721}" type="slidenum">
              <a:rPr lang="en-US" sz="1000"/>
              <a:pPr/>
              <a:t>5</a:t>
            </a:fld>
            <a:endParaRPr lang="en-US" sz="100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Constraint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200" smtClean="0"/>
              <a:t>Discrete variables
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smtClean="0"/>
              <a:t>finite domains: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700" i="1" smtClean="0"/>
              <a:t>n</a:t>
            </a:r>
            <a:r>
              <a:rPr lang="en-US" sz="1700" smtClean="0"/>
              <a:t> variables, domain size </a:t>
            </a:r>
            <a:r>
              <a:rPr lang="en-US" sz="1700" i="1" smtClean="0"/>
              <a:t>d </a:t>
            </a:r>
            <a:r>
              <a:rPr lang="en-US" sz="1700" i="1" smtClean="0">
                <a:sym typeface="Wingdings" pitchFamily="-65" charset="2"/>
              </a:rPr>
              <a:t> </a:t>
            </a:r>
            <a:r>
              <a:rPr lang="en-US" sz="1700" i="1" smtClean="0"/>
              <a:t>O(d</a:t>
            </a:r>
            <a:r>
              <a:rPr lang="en-US" sz="1700" i="1" baseline="30000" smtClean="0"/>
              <a:t>n</a:t>
            </a:r>
            <a:r>
              <a:rPr lang="en-US" sz="1700" i="1" smtClean="0"/>
              <a:t>) </a:t>
            </a:r>
            <a:r>
              <a:rPr lang="en-US" sz="1700" smtClean="0"/>
              <a:t>complete assignments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700" smtClean="0"/>
              <a:t>e.g., Boolean CSPs, incl.~Boolean satisfiability (NP-complete)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smtClean="0"/>
              <a:t>infinite domains: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700" smtClean="0"/>
              <a:t>integers, strings, etc.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700" smtClean="0"/>
              <a:t>e.g., job scheduling, variables are start/end days for each job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700" smtClean="0"/>
              <a:t>need a constraint language, e.g., </a:t>
            </a:r>
            <a:r>
              <a:rPr lang="en-US" sz="1700" i="1" smtClean="0"/>
              <a:t>StartJob</a:t>
            </a:r>
            <a:r>
              <a:rPr lang="en-US" sz="1700" i="1" baseline="-25000" smtClean="0"/>
              <a:t>1</a:t>
            </a:r>
            <a:r>
              <a:rPr lang="en-US" sz="1700" i="1" smtClean="0"/>
              <a:t> + 5 </a:t>
            </a:r>
            <a:r>
              <a:rPr lang="en-US" sz="1700" i="1" smtClean="0">
                <a:cs typeface="Arial" charset="0"/>
              </a:rPr>
              <a:t>≤ </a:t>
            </a:r>
            <a:r>
              <a:rPr lang="en-US" sz="1700" i="1" smtClean="0"/>
              <a:t>StartJob</a:t>
            </a:r>
            <a:r>
              <a:rPr lang="en-US" sz="1700" i="1" baseline="-25000" smtClean="0"/>
              <a:t>3</a:t>
            </a:r>
          </a:p>
          <a:p>
            <a:pPr lvl="2" eaLnBrk="1" hangingPunct="1">
              <a:lnSpc>
                <a:spcPct val="80000"/>
              </a:lnSpc>
            </a:pPr>
            <a:endParaRPr lang="en-US" sz="1700" i="1" smtClean="0"/>
          </a:p>
          <a:p>
            <a:pPr eaLnBrk="1" hangingPunct="1">
              <a:lnSpc>
                <a:spcPct val="80000"/>
              </a:lnSpc>
            </a:pPr>
            <a:r>
              <a:rPr lang="en-US" sz="2200" smtClean="0"/>
              <a:t>Continuous variables
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smtClean="0"/>
              <a:t>e.g., start/end times for Hubble Space Telescope observations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smtClean="0"/>
              <a:t>linear constraints solvable in polynomial time by linear programming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B6B18727-662E-44C2-A2C2-C93CC8BDE2FA}" type="slidenum">
              <a:rPr lang="en-US" sz="1000"/>
              <a:pPr/>
              <a:t>6</a:t>
            </a:fld>
            <a:endParaRPr lang="en-US" sz="100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Varieties of CSPs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600" smtClean="0">
                <a:solidFill>
                  <a:schemeClr val="accent2"/>
                </a:solidFill>
              </a:rPr>
              <a:t>Unary</a:t>
            </a:r>
            <a:r>
              <a:rPr lang="en-US" sz="2600" smtClean="0"/>
              <a:t> constraints involve a single variable,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e.g., SA </a:t>
            </a:r>
            <a:r>
              <a:rPr lang="en-US" sz="2200" smtClean="0">
                <a:cs typeface="Arial" charset="0"/>
              </a:rPr>
              <a:t>≠</a:t>
            </a:r>
            <a:r>
              <a:rPr lang="en-US" sz="2200" smtClean="0"/>
              <a:t> green
</a:t>
            </a:r>
          </a:p>
          <a:p>
            <a:pPr eaLnBrk="1" hangingPunct="1">
              <a:lnSpc>
                <a:spcPct val="90000"/>
              </a:lnSpc>
            </a:pPr>
            <a:endParaRPr lang="en-US" sz="260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600" smtClean="0">
                <a:solidFill>
                  <a:schemeClr val="accent2"/>
                </a:solidFill>
              </a:rPr>
              <a:t>Binary</a:t>
            </a:r>
            <a:r>
              <a:rPr lang="en-US" sz="2600" smtClean="0"/>
              <a:t> constraints involve pairs of variables,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e.g., SA </a:t>
            </a:r>
            <a:r>
              <a:rPr lang="en-US" sz="2200" smtClean="0">
                <a:cs typeface="Arial" charset="0"/>
              </a:rPr>
              <a:t>≠</a:t>
            </a:r>
            <a:r>
              <a:rPr lang="en-US" sz="2200" smtClean="0"/>
              <a:t> WA
</a:t>
            </a:r>
          </a:p>
          <a:p>
            <a:pPr lvl="1"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600" smtClean="0">
                <a:solidFill>
                  <a:schemeClr val="accent2"/>
                </a:solidFill>
              </a:rPr>
              <a:t>Higher-order</a:t>
            </a:r>
            <a:r>
              <a:rPr lang="en-US" sz="2600" smtClean="0"/>
              <a:t> constraints involve 3 or more variables,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e.g., cryptarithmetic column constraints
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EA068F5B-F7F4-4376-938A-D9176737E3FB}" type="slidenum">
              <a:rPr lang="en-US" sz="1000"/>
              <a:pPr/>
              <a:t>7</a:t>
            </a:fld>
            <a:endParaRPr lang="en-US" sz="100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Varieties of constraints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50288" cy="3724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60000"/>
              </a:lnSpc>
            </a:pPr>
            <a:r>
              <a:rPr lang="en-US" sz="2600" dirty="0" smtClean="0"/>
              <a:t>Assignment problems</a:t>
            </a:r>
          </a:p>
          <a:p>
            <a:pPr lvl="1" eaLnBrk="1" hangingPunct="1">
              <a:lnSpc>
                <a:spcPct val="60000"/>
              </a:lnSpc>
            </a:pPr>
            <a:r>
              <a:rPr lang="en-US" sz="2000" dirty="0" smtClean="0"/>
              <a:t>e.g., who teaches what class</a:t>
            </a:r>
          </a:p>
          <a:p>
            <a:pPr lvl="1" eaLnBrk="1" hangingPunct="1">
              <a:lnSpc>
                <a:spcPct val="60000"/>
              </a:lnSpc>
            </a:pPr>
            <a:endParaRPr lang="en-US" sz="1500" dirty="0" smtClean="0"/>
          </a:p>
          <a:p>
            <a:pPr lvl="1" eaLnBrk="1" hangingPunct="1">
              <a:lnSpc>
                <a:spcPct val="60000"/>
              </a:lnSpc>
            </a:pPr>
            <a:endParaRPr lang="en-US" sz="1500" dirty="0" smtClean="0"/>
          </a:p>
          <a:p>
            <a:pPr eaLnBrk="1" hangingPunct="1">
              <a:lnSpc>
                <a:spcPct val="60000"/>
              </a:lnSpc>
            </a:pPr>
            <a:r>
              <a:rPr lang="en-US" sz="2600" dirty="0" smtClean="0"/>
              <a:t>Timetabling problems</a:t>
            </a:r>
            <a:endParaRPr lang="en-US" sz="1800" dirty="0" smtClean="0"/>
          </a:p>
          <a:p>
            <a:pPr lvl="1" eaLnBrk="1" hangingPunct="1">
              <a:lnSpc>
                <a:spcPct val="60000"/>
              </a:lnSpc>
              <a:buFont typeface="Wingdings 3" pitchFamily="-65" charset="2"/>
              <a:buChar char=""/>
            </a:pPr>
            <a:r>
              <a:rPr lang="en-US" sz="2000" dirty="0" smtClean="0"/>
              <a:t>e.g., which class is offered when and where?</a:t>
            </a:r>
          </a:p>
          <a:p>
            <a:pPr lvl="1" eaLnBrk="1" hangingPunct="1">
              <a:lnSpc>
                <a:spcPct val="60000"/>
              </a:lnSpc>
              <a:buFont typeface="Wingdings 3" pitchFamily="-65" charset="2"/>
              <a:buChar char=""/>
            </a:pPr>
            <a:endParaRPr lang="en-US" sz="2000" dirty="0"/>
          </a:p>
          <a:p>
            <a:pPr lvl="1" eaLnBrk="1" hangingPunct="1">
              <a:lnSpc>
                <a:spcPct val="60000"/>
              </a:lnSpc>
              <a:buFont typeface="Wingdings 3" pitchFamily="-65" charset="2"/>
              <a:buChar char=""/>
            </a:pPr>
            <a:endParaRPr lang="en-US" sz="2000" dirty="0" smtClean="0"/>
          </a:p>
          <a:p>
            <a:pPr eaLnBrk="1" hangingPunct="1">
              <a:lnSpc>
                <a:spcPct val="60000"/>
              </a:lnSpc>
            </a:pPr>
            <a:r>
              <a:rPr lang="en-US" sz="2600" dirty="0" smtClean="0"/>
              <a:t>Transportation scheduling</a:t>
            </a:r>
          </a:p>
          <a:p>
            <a:pPr eaLnBrk="1" hangingPunct="1">
              <a:lnSpc>
                <a:spcPct val="60000"/>
              </a:lnSpc>
            </a:pPr>
            <a:endParaRPr lang="en-US" sz="2600" dirty="0" smtClean="0"/>
          </a:p>
          <a:p>
            <a:pPr eaLnBrk="1" hangingPunct="1">
              <a:lnSpc>
                <a:spcPct val="60000"/>
              </a:lnSpc>
            </a:pPr>
            <a:r>
              <a:rPr lang="en-US" sz="2600" dirty="0" smtClean="0"/>
              <a:t>Factory scheduling</a:t>
            </a:r>
            <a:endParaRPr lang="en-US" sz="1800" dirty="0"/>
          </a:p>
          <a:p>
            <a:pPr eaLnBrk="1" hangingPunct="1">
              <a:lnSpc>
                <a:spcPct val="60000"/>
              </a:lnSpc>
            </a:pPr>
            <a:endParaRPr lang="en-US" sz="1800" dirty="0" smtClean="0"/>
          </a:p>
          <a:p>
            <a:pPr eaLnBrk="1" hangingPunct="1">
              <a:lnSpc>
                <a:spcPct val="60000"/>
              </a:lnSpc>
            </a:pPr>
            <a:endParaRPr lang="en-US" sz="1800" dirty="0" smtClean="0"/>
          </a:p>
          <a:p>
            <a:pPr eaLnBrk="1" hangingPunct="1">
              <a:lnSpc>
                <a:spcPct val="60000"/>
              </a:lnSpc>
            </a:pPr>
            <a:r>
              <a:rPr lang="en-US" sz="2600" dirty="0" smtClean="0"/>
              <a:t>Note that many real-world problems involve real-valued variables</a:t>
            </a:r>
            <a:endParaRPr lang="en-US" sz="1800" dirty="0" smtClean="0"/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8DA3DD43-81C7-4099-ADE8-0E898C9FF746}" type="slidenum">
              <a:rPr lang="en-US" sz="1000"/>
              <a:pPr/>
              <a:t>8</a:t>
            </a:fld>
            <a:endParaRPr lang="en-US" sz="100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Real-world </a:t>
            </a:r>
            <a:r>
              <a:rPr lang="en-US" dirty="0" err="1">
                <a:ea typeface="+mj-ea"/>
                <a:cs typeface="+mj-cs"/>
              </a:rPr>
              <a:t>CSPs</a:t>
            </a:r>
            <a:endParaRPr lang="en-US" dirty="0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635500"/>
          </a:xfrm>
        </p:spPr>
        <p:txBody>
          <a:bodyPr>
            <a:normAutofit/>
          </a:bodyPr>
          <a:lstStyle/>
          <a:p>
            <a:pPr marL="381000" indent="-381000"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/>
              <a:t>Let's start with the straightforward approach, then fix it
</a:t>
            </a:r>
          </a:p>
          <a:p>
            <a:pPr marL="381000" indent="-381000"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/>
              <a:t>States are defined by the values assigned so far</a:t>
            </a:r>
          </a:p>
          <a:p>
            <a:pPr marL="381000" indent="-381000" eaLnBrk="1" hangingPunct="1">
              <a:lnSpc>
                <a:spcPct val="80000"/>
              </a:lnSpc>
            </a:pPr>
            <a:endParaRPr lang="en-US" sz="2000" dirty="0" smtClean="0">
              <a:solidFill>
                <a:schemeClr val="accent2"/>
              </a:solidFill>
            </a:endParaRPr>
          </a:p>
          <a:p>
            <a:pPr marL="381000" indent="-381000" eaLnBrk="1" hangingPunct="1">
              <a:lnSpc>
                <a:spcPct val="80000"/>
              </a:lnSpc>
            </a:pPr>
            <a:r>
              <a:rPr lang="en-US" sz="2000" dirty="0" smtClean="0">
                <a:solidFill>
                  <a:schemeClr val="accent2"/>
                </a:solidFill>
              </a:rPr>
              <a:t>Initial state</a:t>
            </a:r>
            <a:r>
              <a:rPr lang="en-US" sz="2000" dirty="0" smtClean="0"/>
              <a:t>: the empty assignment { }</a:t>
            </a:r>
          </a:p>
          <a:p>
            <a:pPr marL="381000" indent="-381000" eaLnBrk="1" hangingPunct="1">
              <a:lnSpc>
                <a:spcPct val="80000"/>
              </a:lnSpc>
            </a:pPr>
            <a:r>
              <a:rPr lang="en-US" sz="2000" dirty="0" smtClean="0">
                <a:solidFill>
                  <a:schemeClr val="accent2"/>
                </a:solidFill>
              </a:rPr>
              <a:t>Successor function</a:t>
            </a:r>
            <a:r>
              <a:rPr lang="en-US" sz="2000" dirty="0" smtClean="0"/>
              <a:t>: assign a value to an unassigned variable that does not conflict with current assignment</a:t>
            </a:r>
          </a:p>
          <a:p>
            <a:pPr marL="800100" lvl="1" indent="-342900"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1800" dirty="0" smtClean="0">
                <a:sym typeface="Wingdings" pitchFamily="-65" charset="2"/>
              </a:rPr>
              <a:t> </a:t>
            </a:r>
            <a:r>
              <a:rPr lang="en-US" sz="1800" dirty="0" smtClean="0"/>
              <a:t>fail if no legal assignments</a:t>
            </a:r>
          </a:p>
          <a:p>
            <a:pPr marL="381000" indent="-381000" eaLnBrk="1" hangingPunct="1">
              <a:lnSpc>
                <a:spcPct val="80000"/>
              </a:lnSpc>
            </a:pPr>
            <a:r>
              <a:rPr lang="en-US" sz="2000" dirty="0" smtClean="0">
                <a:solidFill>
                  <a:schemeClr val="accent2"/>
                </a:solidFill>
              </a:rPr>
              <a:t>Goal test</a:t>
            </a:r>
            <a:r>
              <a:rPr lang="en-US" sz="2000" dirty="0" smtClean="0"/>
              <a:t>: the current assignment is complete</a:t>
            </a:r>
          </a:p>
          <a:p>
            <a:pPr marL="381000" indent="-381000" eaLnBrk="1" hangingPunct="1">
              <a:lnSpc>
                <a:spcPct val="80000"/>
              </a:lnSpc>
            </a:pPr>
            <a:endParaRPr lang="en-US" sz="2000" dirty="0" smtClean="0"/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/>
              <a:t>This is the same for all CSPs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/>
              <a:t>Every solution appears at depth </a:t>
            </a:r>
            <a:r>
              <a:rPr lang="en-US" sz="2000" i="1" dirty="0" smtClean="0"/>
              <a:t>n</a:t>
            </a:r>
            <a:r>
              <a:rPr lang="en-US" sz="2000" dirty="0" smtClean="0"/>
              <a:t> with </a:t>
            </a:r>
            <a:r>
              <a:rPr lang="en-US" sz="2000" i="1" dirty="0" smtClean="0"/>
              <a:t>n</a:t>
            </a:r>
            <a:r>
              <a:rPr lang="en-US" sz="2000" dirty="0" smtClean="0"/>
              <a:t> variables</a:t>
            </a:r>
            <a:br>
              <a:rPr lang="en-US" sz="2000" dirty="0" smtClean="0"/>
            </a:br>
            <a:r>
              <a:rPr lang="en-US" sz="2000" dirty="0" smtClean="0">
                <a:sym typeface="Wingdings" pitchFamily="-65" charset="2"/>
              </a:rPr>
              <a:t></a:t>
            </a:r>
            <a:r>
              <a:rPr lang="en-US" sz="2000" dirty="0" smtClean="0"/>
              <a:t> use depth-first search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/>
              <a:t>Path is irrelevant, so can also use complete-state formulation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/>
              <a:t>b = (n - </a:t>
            </a:r>
            <a:r>
              <a:rPr lang="en-US" sz="2000" dirty="0" smtClean="0">
                <a:latin typeface="Monotype Corsiva" pitchFamily="-65" charset="0"/>
              </a:rPr>
              <a:t>l</a:t>
            </a:r>
            <a:r>
              <a:rPr lang="en-US" sz="2000" dirty="0" smtClean="0"/>
              <a:t> )d at depth </a:t>
            </a:r>
            <a:r>
              <a:rPr lang="en-US" sz="2000" dirty="0" smtClean="0">
                <a:latin typeface="Monotype Corsiva" pitchFamily="-65" charset="0"/>
              </a:rPr>
              <a:t>l</a:t>
            </a:r>
            <a:r>
              <a:rPr lang="en-US" sz="2000" dirty="0" smtClean="0"/>
              <a:t>, hence #leaves= </a:t>
            </a:r>
            <a:r>
              <a:rPr lang="en-US" sz="2000" dirty="0" err="1" smtClean="0"/>
              <a:t>n!d</a:t>
            </a:r>
            <a:r>
              <a:rPr lang="en-US" sz="2000" baseline="30000" dirty="0" err="1" smtClean="0"/>
              <a:t>n</a:t>
            </a:r>
            <a:r>
              <a:rPr lang="en-US" sz="2000" dirty="0" smtClean="0"/>
              <a:t>, even though there are only </a:t>
            </a:r>
            <a:r>
              <a:rPr lang="en-US" sz="2000" dirty="0" err="1" smtClean="0"/>
              <a:t>d</a:t>
            </a:r>
            <a:r>
              <a:rPr lang="en-US" sz="2000" baseline="30000" dirty="0" err="1" smtClean="0"/>
              <a:t>n</a:t>
            </a:r>
            <a:r>
              <a:rPr lang="en-US" sz="2000" dirty="0" smtClean="0"/>
              <a:t> assignments  </a:t>
            </a:r>
          </a:p>
          <a:p>
            <a:pPr marL="800100" lvl="1" indent="-342900" eaLnBrk="1" hangingPunct="1">
              <a:lnSpc>
                <a:spcPct val="80000"/>
              </a:lnSpc>
              <a:buFont typeface="Verdana" pitchFamily="-65" charset="0"/>
              <a:buNone/>
            </a:pPr>
            <a:endParaRPr lang="en-US" sz="1600" dirty="0" smtClean="0"/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059CA8DE-8E8F-483B-8C35-DBA19F7CBDE5}" type="slidenum">
              <a:rPr lang="en-US" sz="1000"/>
              <a:pPr/>
              <a:t>9</a:t>
            </a:fld>
            <a:endParaRPr lang="en-US" sz="100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>
                <a:ea typeface="+mj-ea"/>
                <a:cs typeface="+mj-cs"/>
              </a:rPr>
              <a:t>Standard search formulation (incremental)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6355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2000" smtClean="0"/>
              <a:t>Variable assignments are </a:t>
            </a:r>
            <a:r>
              <a:rPr lang="en-US" sz="2000" smtClean="0">
                <a:solidFill>
                  <a:schemeClr val="accent2"/>
                </a:solidFill>
              </a:rPr>
              <a:t>commutative</a:t>
            </a:r>
            <a:r>
              <a:rPr lang="en-US" sz="2000" smtClean="0"/>
              <a:t>}, i.e.,</a:t>
            </a:r>
          </a:p>
          <a:p>
            <a:pPr eaLnBrk="1" hangingPunct="1">
              <a:lnSpc>
                <a:spcPct val="70000"/>
              </a:lnSpc>
              <a:buFont typeface="Wingdings" pitchFamily="-65" charset="2"/>
              <a:buNone/>
            </a:pPr>
            <a:r>
              <a:rPr lang="en-US" sz="2000" smtClean="0"/>
              <a:t>[ WA = red then NT = green ] same as [ NT = green then WA = red ]</a:t>
            </a:r>
          </a:p>
          <a:p>
            <a:pPr eaLnBrk="1" hangingPunct="1">
              <a:lnSpc>
                <a:spcPct val="70000"/>
              </a:lnSpc>
            </a:pPr>
            <a:endParaRPr lang="en-US" sz="20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Only need to consider assignments to a single variable at each node</a:t>
            </a:r>
          </a:p>
          <a:p>
            <a:pPr lvl="1" eaLnBrk="1" hangingPunct="1">
              <a:lnSpc>
                <a:spcPct val="70000"/>
              </a:lnSpc>
              <a:buFont typeface="Wingdings" pitchFamily="-65" charset="2"/>
              <a:buChar char="à"/>
            </a:pPr>
            <a:r>
              <a:rPr lang="en-US" sz="1800" smtClean="0"/>
              <a:t>b = d and there are d</a:t>
            </a:r>
            <a:r>
              <a:rPr lang="en-US" sz="1800" baseline="30000" smtClean="0"/>
              <a:t>n</a:t>
            </a:r>
            <a:r>
              <a:rPr lang="en-US" sz="1800" smtClean="0"/>
              <a:t> leaves</a:t>
            </a:r>
          </a:p>
          <a:p>
            <a:pPr lvl="1" eaLnBrk="1" hangingPunct="1">
              <a:lnSpc>
                <a:spcPct val="70000"/>
              </a:lnSpc>
              <a:buFont typeface="Wingdings" pitchFamily="-65" charset="2"/>
              <a:buChar char="à"/>
            </a:pPr>
            <a:endParaRPr lang="en-US" sz="20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Depth-first search for CSPs with single-variable assignments is called </a:t>
            </a:r>
            <a:r>
              <a:rPr lang="en-US" sz="2000" smtClean="0">
                <a:solidFill>
                  <a:schemeClr val="accent2"/>
                </a:solidFill>
              </a:rPr>
              <a:t>backtracking</a:t>
            </a:r>
            <a:r>
              <a:rPr lang="en-US" sz="2000" smtClean="0"/>
              <a:t> search
</a:t>
            </a:r>
          </a:p>
          <a:p>
            <a:pPr eaLnBrk="1" hangingPunct="1">
              <a:lnSpc>
                <a:spcPct val="70000"/>
              </a:lnSpc>
            </a:pPr>
            <a:endParaRPr lang="en-US" sz="20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Backtracking search is the basic uninformed algorithm for CSPs
</a:t>
            </a:r>
          </a:p>
          <a:p>
            <a:pPr eaLnBrk="1" hangingPunct="1">
              <a:lnSpc>
                <a:spcPct val="70000"/>
              </a:lnSpc>
            </a:pPr>
            <a:endParaRPr lang="en-US" sz="20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Can solve </a:t>
            </a:r>
            <a:r>
              <a:rPr lang="en-US" sz="2000" i="1" smtClean="0"/>
              <a:t>n</a:t>
            </a:r>
            <a:r>
              <a:rPr lang="en-US" sz="2000" smtClean="0"/>
              <a:t>-queens for </a:t>
            </a:r>
            <a:r>
              <a:rPr lang="en-US" sz="2000" i="1" smtClean="0"/>
              <a:t>n</a:t>
            </a:r>
            <a:r>
              <a:rPr lang="en-US" sz="2000" smtClean="0"/>
              <a:t> </a:t>
            </a:r>
            <a:r>
              <a:rPr lang="en-US" sz="2000" smtClean="0">
                <a:cs typeface="Arial" charset="0"/>
              </a:rPr>
              <a:t>≈ </a:t>
            </a:r>
            <a:r>
              <a:rPr lang="en-US" sz="2000" smtClean="0"/>
              <a:t>25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FDCD1C4E-97C7-4A22-8C98-F2BD2A73C4F2}" type="slidenum">
              <a:rPr lang="en-US" sz="1000"/>
              <a:pPr/>
              <a:t>10</a:t>
            </a:fld>
            <a:endParaRPr lang="en-US" sz="1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ECA50456-AB7E-472C-9464-BB210E376D5C}" type="slidenum">
              <a:rPr lang="en-US" sz="1000"/>
              <a:pPr/>
              <a:t>11</a:t>
            </a:fld>
            <a:endParaRPr lang="en-US" sz="100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search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21875" r="13281" b="29167"/>
          <a:stretch>
            <a:fillRect/>
          </a:stretch>
        </p:blipFill>
        <p:spPr bwMode="auto">
          <a:xfrm>
            <a:off x="609600" y="1371600"/>
            <a:ext cx="78486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7900"/>
          </a:xfrm>
        </p:spPr>
        <p:txBody>
          <a:bodyPr/>
          <a:lstStyle/>
          <a:p>
            <a:r>
              <a:rPr lang="en-GB" dirty="0" smtClean="0"/>
              <a:t>Conceptually VERY similar</a:t>
            </a:r>
          </a:p>
          <a:p>
            <a:r>
              <a:rPr lang="en-GB" dirty="0" smtClean="0"/>
              <a:t>But in DFS we assumed that a node was expanded by applying all possible actions to add nodes to the fringe (then later, if </a:t>
            </a:r>
            <a:r>
              <a:rPr lang="en-GB" dirty="0" err="1" smtClean="0"/>
              <a:t>nec</a:t>
            </a:r>
            <a:r>
              <a:rPr lang="en-GB" dirty="0" smtClean="0"/>
              <a:t>, these nodes will be on the fringe ready to be expanded further)</a:t>
            </a:r>
          </a:p>
          <a:p>
            <a:r>
              <a:rPr lang="en-GB" dirty="0" smtClean="0"/>
              <a:t>Backtracking search just applies one action to produce one successor node, and continues on down (then later, if </a:t>
            </a:r>
            <a:r>
              <a:rPr lang="en-GB" dirty="0" err="1" smtClean="0"/>
              <a:t>nec</a:t>
            </a:r>
            <a:r>
              <a:rPr lang="en-GB" dirty="0" smtClean="0"/>
              <a:t>, on returning to this node it will check whether there are any other successors that can be generated) 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Backtracking </a:t>
            </a:r>
            <a:r>
              <a:rPr lang="en-GB" dirty="0" err="1" smtClean="0"/>
              <a:t>vs</a:t>
            </a:r>
            <a:r>
              <a:rPr lang="en-GB" dirty="0" smtClean="0"/>
              <a:t> depth-first search?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COMP6031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16F4E-AD33-47DA-901A-A98BC985E3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7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F0768058-EE61-46F7-BB19-0BBFA838C876}" type="slidenum">
              <a:rPr lang="en-US" sz="1000"/>
              <a:pPr/>
              <a:t>13</a:t>
            </a:fld>
            <a:endParaRPr lang="en-US" sz="100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6628" name="Picture 4" descr="backtrack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A4732E18-F003-43A3-8F31-C477B2A04C62}" type="slidenum">
              <a:rPr lang="en-US" sz="1000"/>
              <a:pPr/>
              <a:t>14</a:t>
            </a:fld>
            <a:endParaRPr lang="en-US" sz="100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7652" name="Picture 4" descr="backtrack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eft Brace 1"/>
          <p:cNvSpPr/>
          <p:nvPr/>
        </p:nvSpPr>
        <p:spPr>
          <a:xfrm>
            <a:off x="4114800" y="25146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ight Brace 2"/>
          <p:cNvSpPr/>
          <p:nvPr/>
        </p:nvSpPr>
        <p:spPr>
          <a:xfrm>
            <a:off x="6740305" y="2517058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172200" y="263719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….?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22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A4732E18-F003-43A3-8F31-C477B2A04C62}" type="slidenum">
              <a:rPr lang="en-US" sz="1000"/>
              <a:pPr/>
              <a:t>15</a:t>
            </a:fld>
            <a:endParaRPr lang="en-US" sz="100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7652" name="Picture 4" descr="backtrack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eft Brace 1"/>
          <p:cNvSpPr/>
          <p:nvPr/>
        </p:nvSpPr>
        <p:spPr>
          <a:xfrm>
            <a:off x="4114800" y="25146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ight Brace 2"/>
          <p:cNvSpPr/>
          <p:nvPr/>
        </p:nvSpPr>
        <p:spPr>
          <a:xfrm>
            <a:off x="5867400" y="25146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9B5ED922-9D14-4D0B-8399-FD6F34714A99}" type="slidenum">
              <a:rPr lang="en-US" sz="1000"/>
              <a:pPr/>
              <a:t>16</a:t>
            </a:fld>
            <a:endParaRPr lang="en-US" sz="100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8676" name="Picture 5" descr="backtrack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eft Brace 10"/>
          <p:cNvSpPr/>
          <p:nvPr/>
        </p:nvSpPr>
        <p:spPr>
          <a:xfrm>
            <a:off x="4114800" y="25146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>
            <a:off x="5867400" y="25146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e 12"/>
          <p:cNvSpPr/>
          <p:nvPr/>
        </p:nvSpPr>
        <p:spPr>
          <a:xfrm>
            <a:off x="3581400" y="35814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/>
          <p:cNvSpPr/>
          <p:nvPr/>
        </p:nvSpPr>
        <p:spPr>
          <a:xfrm>
            <a:off x="4800600" y="35814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9B5ED922-9D14-4D0B-8399-FD6F34714A99}" type="slidenum">
              <a:rPr lang="en-US" sz="1000"/>
              <a:pPr/>
              <a:t>17</a:t>
            </a:fld>
            <a:endParaRPr lang="en-US" sz="100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8676" name="Picture 5" descr="backtrack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eft Brace 10"/>
          <p:cNvSpPr/>
          <p:nvPr/>
        </p:nvSpPr>
        <p:spPr>
          <a:xfrm>
            <a:off x="4114800" y="25146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>
            <a:off x="5867400" y="25146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e 12"/>
          <p:cNvSpPr/>
          <p:nvPr/>
        </p:nvSpPr>
        <p:spPr>
          <a:xfrm>
            <a:off x="3581400" y="35814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/>
          <p:cNvSpPr/>
          <p:nvPr/>
        </p:nvSpPr>
        <p:spPr>
          <a:xfrm>
            <a:off x="4800600" y="35814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867400" y="3733800"/>
            <a:ext cx="2979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Is there a good reason to pick NT next rather than, say, NSW?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91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7E90B527-1914-471D-A149-FEF91DF01FB4}" type="slidenum">
              <a:rPr lang="en-US" sz="1000"/>
              <a:pPr/>
              <a:t>18</a:t>
            </a:fld>
            <a:endParaRPr lang="en-US" sz="100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Backtracking example</a:t>
            </a:r>
          </a:p>
        </p:txBody>
      </p:sp>
      <p:pic>
        <p:nvPicPr>
          <p:cNvPr id="29700" name="Picture 4" descr="backtrack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Brace 4"/>
          <p:cNvSpPr/>
          <p:nvPr/>
        </p:nvSpPr>
        <p:spPr>
          <a:xfrm>
            <a:off x="4114800" y="25146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Brace 5"/>
          <p:cNvSpPr/>
          <p:nvPr/>
        </p:nvSpPr>
        <p:spPr>
          <a:xfrm>
            <a:off x="5867400" y="25146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eft Brace 6"/>
          <p:cNvSpPr/>
          <p:nvPr/>
        </p:nvSpPr>
        <p:spPr>
          <a:xfrm>
            <a:off x="3581400" y="3581400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/>
          <p:cNvSpPr/>
          <p:nvPr/>
        </p:nvSpPr>
        <p:spPr>
          <a:xfrm>
            <a:off x="4800600" y="3581400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/>
          <p:cNvSpPr/>
          <p:nvPr/>
        </p:nvSpPr>
        <p:spPr>
          <a:xfrm>
            <a:off x="3048000" y="4582447"/>
            <a:ext cx="15240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/>
          <p:cNvSpPr/>
          <p:nvPr/>
        </p:nvSpPr>
        <p:spPr>
          <a:xfrm>
            <a:off x="4267200" y="4582447"/>
            <a:ext cx="152400" cy="609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General-purpose</a:t>
            </a:r>
            <a:r>
              <a:rPr lang="en-US" smtClean="0"/>
              <a:t> methods can give huge gains in speed:
</a:t>
            </a:r>
          </a:p>
          <a:p>
            <a:pPr lvl="1" eaLnBrk="1" hangingPunct="1"/>
            <a:r>
              <a:rPr lang="en-US" smtClean="0"/>
              <a:t>Which variable should be assigned next?
</a:t>
            </a:r>
          </a:p>
          <a:p>
            <a:pPr lvl="1" eaLnBrk="1" hangingPunct="1"/>
            <a:r>
              <a:rPr lang="en-US" smtClean="0"/>
              <a:t>In what order should its values be tried?
</a:t>
            </a:r>
          </a:p>
          <a:p>
            <a:pPr lvl="1" eaLnBrk="1" hangingPunct="1"/>
            <a:r>
              <a:rPr lang="en-US" smtClean="0"/>
              <a:t>Can we detect inevitable failure early?
</a:t>
            </a: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374FF300-CE2C-4D47-A0D9-3FE5C826802D}" type="slidenum">
              <a:rPr lang="en-US" sz="1000"/>
              <a:pPr/>
              <a:t>19</a:t>
            </a:fld>
            <a:endParaRPr lang="en-US" sz="100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>
                <a:ea typeface="+mj-ea"/>
                <a:cs typeface="+mj-cs"/>
              </a:rPr>
              <a:t>Improving backtracking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Most constrained variable:</a:t>
            </a:r>
          </a:p>
          <a:p>
            <a:pPr lvl="1" eaLnBrk="1" hangingPunct="1">
              <a:buFont typeface="Wingdings" pitchFamily="-65" charset="2"/>
              <a:buNone/>
            </a:pPr>
            <a:r>
              <a:rPr lang="en-US" dirty="0" smtClean="0"/>
              <a:t>choose the variable with the fewest legal values
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a.k.a. </a:t>
            </a:r>
            <a:r>
              <a:rPr lang="en-US" dirty="0" smtClean="0">
                <a:solidFill>
                  <a:schemeClr val="accent2"/>
                </a:solidFill>
              </a:rPr>
              <a:t>minimum remaining values (MRV)</a:t>
            </a:r>
            <a:r>
              <a:rPr lang="en-US" dirty="0" smtClean="0"/>
              <a:t> heuristic</a:t>
            </a:r>
          </a:p>
          <a:p>
            <a:pPr eaLnBrk="1" hangingPunct="1"/>
            <a:r>
              <a:rPr lang="en-US" sz="2100" dirty="0" smtClean="0"/>
              <a:t>Because these are the variables that are most likely to prune the search tree (e.g. consider a variable with no legal values remaining)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5F100D20-92C6-415C-A124-D5420F221AD8}" type="slidenum">
              <a:rPr lang="en-US" sz="1000"/>
              <a:pPr/>
              <a:t>20</a:t>
            </a:fld>
            <a:endParaRPr lang="en-US" sz="100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Most constrained variable</a:t>
            </a:r>
          </a:p>
        </p:txBody>
      </p:sp>
      <p:pic>
        <p:nvPicPr>
          <p:cNvPr id="31749" name="Picture 4" descr="australia-most-constrained-vari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38400"/>
            <a:ext cx="61055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7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300" smtClean="0"/>
              <a:t>Most constrain</a:t>
            </a:r>
            <a:r>
              <a:rPr lang="en-US" sz="2300" i="1" smtClean="0"/>
              <a:t>ed</a:t>
            </a:r>
            <a:r>
              <a:rPr lang="en-US" sz="2300" smtClean="0"/>
              <a:t> is more important heuristic, but most constrain</a:t>
            </a:r>
            <a:r>
              <a:rPr lang="en-US" sz="2300" i="1" smtClean="0"/>
              <a:t>ing</a:t>
            </a:r>
            <a:r>
              <a:rPr lang="en-US" sz="2300" smtClean="0"/>
              <a:t> is a useful tie-breaker among most constrained variables</a:t>
            </a:r>
          </a:p>
          <a:p>
            <a:pPr>
              <a:lnSpc>
                <a:spcPct val="90000"/>
              </a:lnSpc>
            </a:pPr>
            <a:r>
              <a:rPr lang="en-US" sz="2300" smtClean="0"/>
              <a:t>Most constraining variable = the variable with the most constraints on remaining variables</a:t>
            </a:r>
          </a:p>
          <a:p>
            <a:pPr lvl="1">
              <a:lnSpc>
                <a:spcPct val="90000"/>
              </a:lnSpc>
            </a:pPr>
            <a:endParaRPr lang="en-US" sz="2100" smtClean="0"/>
          </a:p>
          <a:p>
            <a:pPr lvl="1">
              <a:lnSpc>
                <a:spcPct val="90000"/>
              </a:lnSpc>
            </a:pPr>
            <a:endParaRPr lang="en-US" sz="2100" smtClean="0"/>
          </a:p>
          <a:p>
            <a:pPr lvl="1">
              <a:lnSpc>
                <a:spcPct val="90000"/>
              </a:lnSpc>
            </a:pPr>
            <a:endParaRPr lang="en-US" sz="2100" smtClean="0"/>
          </a:p>
          <a:p>
            <a:pPr lvl="1">
              <a:lnSpc>
                <a:spcPct val="90000"/>
              </a:lnSpc>
            </a:pPr>
            <a:endParaRPr lang="en-US" sz="2100" smtClean="0"/>
          </a:p>
          <a:p>
            <a:pPr lvl="1">
              <a:lnSpc>
                <a:spcPct val="90000"/>
              </a:lnSpc>
            </a:pPr>
            <a:endParaRPr lang="en-US" sz="2100" smtClean="0"/>
          </a:p>
          <a:p>
            <a:pPr lvl="1">
              <a:lnSpc>
                <a:spcPct val="90000"/>
              </a:lnSpc>
            </a:pPr>
            <a:r>
              <a:rPr lang="en-US" sz="2100" smtClean="0"/>
              <a:t>Because the variable involved in the most constraints -&gt; is again, most likely to cause a failure early/prune the search tree 
</a:t>
            </a: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51A492E1-4596-49FA-B427-BD6309EAC48D}" type="slidenum">
              <a:rPr lang="en-US" sz="1000"/>
              <a:pPr/>
              <a:t>21</a:t>
            </a:fld>
            <a:endParaRPr lang="en-US" sz="1000"/>
          </a:p>
        </p:txBody>
      </p:sp>
      <p:pic>
        <p:nvPicPr>
          <p:cNvPr id="32773" name="Picture 4" descr="australia-most-constraining-vari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7620000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8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mtClean="0">
                <a:effectLst/>
              </a:rPr>
              <a:t>Most constrain</a:t>
            </a:r>
            <a:r>
              <a:rPr lang="en-GB" i="1" smtClean="0">
                <a:effectLst/>
              </a:rPr>
              <a:t>ing</a:t>
            </a:r>
            <a:r>
              <a:rPr lang="en-GB" smtClean="0">
                <a:effectLst/>
              </a:rPr>
              <a:t>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6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mtClean="0">
                <a:effectLst/>
              </a:rPr>
              <a:t>Least constraining </a:t>
            </a:r>
            <a:r>
              <a:rPr lang="en-GB" i="1" smtClean="0">
                <a:effectLst/>
              </a:rPr>
              <a:t>value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dirty="0" smtClean="0"/>
              <a:t>Given a variable, choose the least constraining value: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900" dirty="0" smtClean="0"/>
              <a:t>the one that rules out the fewest values in the </a:t>
            </a:r>
            <a:r>
              <a:rPr lang="en-US" sz="1900" dirty="0" err="1" smtClean="0"/>
              <a:t>neighbouring</a:t>
            </a:r>
            <a:r>
              <a:rPr lang="en-US" sz="1900" dirty="0" smtClean="0"/>
              <a:t> variables – to leave other variables as open as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900" dirty="0" smtClean="0"/>
              <a:t>
</a:t>
            </a:r>
          </a:p>
          <a:p>
            <a:pPr lvl="1" eaLnBrk="1" hangingPunct="1">
              <a:lnSpc>
                <a:spcPct val="90000"/>
              </a:lnSpc>
            </a:pPr>
            <a:endParaRPr lang="en-US" sz="1900" dirty="0" smtClean="0"/>
          </a:p>
          <a:p>
            <a:pPr lvl="1" eaLnBrk="1" hangingPunct="1">
              <a:lnSpc>
                <a:spcPct val="90000"/>
              </a:lnSpc>
            </a:pPr>
            <a:endParaRPr lang="en-US" sz="1900" dirty="0" smtClean="0"/>
          </a:p>
          <a:p>
            <a:pPr lvl="1" eaLnBrk="1" hangingPunct="1">
              <a:lnSpc>
                <a:spcPct val="90000"/>
              </a:lnSpc>
            </a:pPr>
            <a:endParaRPr lang="en-US" sz="1900" dirty="0" smtClean="0"/>
          </a:p>
          <a:p>
            <a:pPr lvl="1" eaLnBrk="1" hangingPunct="1">
              <a:lnSpc>
                <a:spcPct val="90000"/>
              </a:lnSpc>
            </a:pPr>
            <a:endParaRPr lang="en-US" sz="1900" dirty="0" smtClean="0"/>
          </a:p>
          <a:p>
            <a:pPr eaLnBrk="1" hangingPunct="1">
              <a:lnSpc>
                <a:spcPct val="90000"/>
              </a:lnSpc>
            </a:pPr>
            <a:endParaRPr lang="en-US" sz="2100" dirty="0" smtClean="0"/>
          </a:p>
          <a:p>
            <a:pPr eaLnBrk="1" hangingPunct="1">
              <a:lnSpc>
                <a:spcPct val="90000"/>
              </a:lnSpc>
            </a:pPr>
            <a:endParaRPr lang="en-US" sz="2100" dirty="0" smtClean="0"/>
          </a:p>
          <a:p>
            <a:pPr eaLnBrk="1" hangingPunct="1">
              <a:lnSpc>
                <a:spcPct val="90000"/>
              </a:lnSpc>
            </a:pPr>
            <a:r>
              <a:rPr lang="en-US" sz="2100" dirty="0" smtClean="0"/>
              <a:t>Combining these heuristics makes 1000 queens feasible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dirty="0" smtClean="0"/>
              <a:t>
</a:t>
            </a:r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9CD07247-96D3-4305-BCEE-6AFC480E2BF3}" type="slidenum">
              <a:rPr lang="en-US" sz="1000"/>
              <a:pPr/>
              <a:t>22</a:t>
            </a:fld>
            <a:endParaRPr lang="en-US" sz="1000"/>
          </a:p>
        </p:txBody>
      </p:sp>
      <p:pic>
        <p:nvPicPr>
          <p:cNvPr id="33797" name="Picture 4" descr="australia-least-constraining-va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14600"/>
            <a:ext cx="708660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accent2"/>
                </a:solidFill>
              </a:rPr>
              <a:t>Idea</a:t>
            </a:r>
            <a:r>
              <a:rPr lang="en-US" sz="2400" smtClean="0"/>
              <a:t>: </a:t>
            </a:r>
          </a:p>
          <a:p>
            <a:pPr lvl="1" eaLnBrk="1" hangingPunct="1"/>
            <a:r>
              <a:rPr lang="en-US" sz="2000" smtClean="0"/>
              <a:t>Keep track of remaining legal values for unassigned variables</a:t>
            </a:r>
          </a:p>
          <a:p>
            <a:pPr lvl="1" eaLnBrk="1" hangingPunct="1"/>
            <a:r>
              <a:rPr lang="en-US" sz="2000" smtClean="0"/>
              <a:t>Terminate search when any variable has no legal values
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C49F1946-07D4-4FD6-8F49-7C195D841D1F}" type="slidenum">
              <a:rPr lang="en-US" sz="1000"/>
              <a:pPr/>
              <a:t>23</a:t>
            </a:fld>
            <a:endParaRPr lang="en-US" sz="100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Forward checking</a:t>
            </a:r>
          </a:p>
        </p:txBody>
      </p:sp>
      <p:pic>
        <p:nvPicPr>
          <p:cNvPr id="34821" name="Picture 4" descr="forward-checking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accent2"/>
                </a:solidFill>
              </a:rPr>
              <a:t>Idea</a:t>
            </a:r>
            <a:r>
              <a:rPr lang="en-US" sz="2400" smtClean="0"/>
              <a:t>: </a:t>
            </a:r>
          </a:p>
          <a:p>
            <a:pPr lvl="1" eaLnBrk="1" hangingPunct="1"/>
            <a:r>
              <a:rPr lang="en-US" sz="2000" smtClean="0"/>
              <a:t>Keep track of remaining legal values for unassigned variables</a:t>
            </a:r>
          </a:p>
          <a:p>
            <a:pPr lvl="1" eaLnBrk="1" hangingPunct="1"/>
            <a:r>
              <a:rPr lang="en-US" sz="2000" smtClean="0"/>
              <a:t>Terminate search when any variable has no legal values
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4B3E2197-1993-429B-AC6C-A84D0F75415E}" type="slidenum">
              <a:rPr lang="en-US" sz="1000"/>
              <a:pPr/>
              <a:t>24</a:t>
            </a:fld>
            <a:endParaRPr lang="en-US" sz="100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Forward checking</a:t>
            </a:r>
          </a:p>
        </p:txBody>
      </p:sp>
      <p:pic>
        <p:nvPicPr>
          <p:cNvPr id="35845" name="Picture 4" descr="forward-checking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accent2"/>
                </a:solidFill>
              </a:rPr>
              <a:t>Idea</a:t>
            </a:r>
            <a:r>
              <a:rPr lang="en-US" sz="2400" smtClean="0"/>
              <a:t>: </a:t>
            </a:r>
          </a:p>
          <a:p>
            <a:pPr lvl="1" eaLnBrk="1" hangingPunct="1"/>
            <a:r>
              <a:rPr lang="en-US" sz="2000" smtClean="0"/>
              <a:t>Keep track of remaining legal values for unassigned variables</a:t>
            </a:r>
          </a:p>
          <a:p>
            <a:pPr lvl="1" eaLnBrk="1" hangingPunct="1"/>
            <a:r>
              <a:rPr lang="en-US" sz="2000" smtClean="0"/>
              <a:t>Terminate search when any variable has no legal values
</a:t>
            </a: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313BFC83-9BED-4E25-BAF4-63756011CE6E}" type="slidenum">
              <a:rPr lang="en-US" sz="1000"/>
              <a:pPr/>
              <a:t>25</a:t>
            </a:fld>
            <a:endParaRPr lang="en-US" sz="100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Forward checking</a:t>
            </a:r>
          </a:p>
        </p:txBody>
      </p:sp>
      <p:pic>
        <p:nvPicPr>
          <p:cNvPr id="36869" name="Picture 4" descr="forward-checking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solidFill>
                  <a:schemeClr val="accent2"/>
                </a:solidFill>
              </a:rPr>
              <a:t>Idea</a:t>
            </a:r>
            <a:r>
              <a:rPr lang="en-US" sz="2400" smtClean="0"/>
              <a:t>: </a:t>
            </a:r>
          </a:p>
          <a:p>
            <a:pPr lvl="1" eaLnBrk="1" hangingPunct="1"/>
            <a:r>
              <a:rPr lang="en-US" sz="2000" smtClean="0"/>
              <a:t>Keep track of remaining legal values for unassigned variables</a:t>
            </a:r>
          </a:p>
          <a:p>
            <a:pPr lvl="1" eaLnBrk="1" hangingPunct="1"/>
            <a:r>
              <a:rPr lang="en-US" sz="2000" smtClean="0"/>
              <a:t>Terminate search when any variable has no legal values
</a:t>
            </a: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1FCAE8AF-EADD-439E-B86D-CB3515A71B34}" type="slidenum">
              <a:rPr lang="en-US" sz="1000"/>
              <a:pPr/>
              <a:t>26</a:t>
            </a:fld>
            <a:endParaRPr lang="en-US" sz="100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Forward checking</a:t>
            </a:r>
          </a:p>
        </p:txBody>
      </p:sp>
      <p:pic>
        <p:nvPicPr>
          <p:cNvPr id="37893" name="Picture 4" descr="forward-checking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0" y="5710395"/>
            <a:ext cx="5151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Detects failure because no options remain for SA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Forward checking propagates information from assigned to unassigned variables, but doesn't provide early detection for all failures:
</a:t>
            </a:r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NT and SA cannot both be blue! – we would find this out eventually via search, but is there a faster way?
</a:t>
            </a:r>
            <a:r>
              <a:rPr lang="en-US" sz="2200" dirty="0" smtClean="0">
                <a:solidFill>
                  <a:schemeClr val="accent2"/>
                </a:solidFill>
              </a:rPr>
              <a:t>Constraint propagation</a:t>
            </a:r>
            <a:r>
              <a:rPr lang="en-US" sz="2200" dirty="0" smtClean="0"/>
              <a:t> repeatedly enforces constraints locally
</a:t>
            </a: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6A988F4B-A638-4843-8488-DDCAB1591ACA}" type="slidenum">
              <a:rPr lang="en-US" sz="1000"/>
              <a:pPr/>
              <a:t>27</a:t>
            </a:fld>
            <a:endParaRPr lang="en-US" sz="100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Constraint propagation</a:t>
            </a:r>
          </a:p>
        </p:txBody>
      </p:sp>
      <p:pic>
        <p:nvPicPr>
          <p:cNvPr id="38917" name="Picture 4" descr="forward-checking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90800"/>
            <a:ext cx="51339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Simplest form of propagation makes each arc </a:t>
            </a:r>
            <a:r>
              <a:rPr lang="en-US" sz="2400" smtClean="0">
                <a:solidFill>
                  <a:schemeClr val="accent2"/>
                </a:solidFill>
              </a:rPr>
              <a:t>consistent</a:t>
            </a:r>
            <a:endParaRPr lang="en-US" sz="2400" smtClean="0"/>
          </a:p>
          <a:p>
            <a:pPr eaLnBrk="1" hangingPunct="1"/>
            <a:r>
              <a:rPr lang="en-US" sz="2400" i="1" smtClean="0"/>
              <a:t>X </a:t>
            </a:r>
            <a:r>
              <a:rPr lang="en-US" sz="2400" smtClean="0">
                <a:sym typeface="Wingdings" pitchFamily="-65" charset="2"/>
              </a:rPr>
              <a:t></a:t>
            </a:r>
            <a:r>
              <a:rPr lang="en-US" sz="2400" i="1" smtClean="0"/>
              <a:t>Y</a:t>
            </a:r>
            <a:r>
              <a:rPr lang="en-US" sz="2400" smtClean="0"/>
              <a:t> is consistent iff </a:t>
            </a:r>
            <a:r>
              <a:rPr lang="en-US" sz="2000" smtClean="0"/>
              <a:t>for </a:t>
            </a:r>
            <a:r>
              <a:rPr lang="en-US" sz="2000" smtClean="0">
                <a:solidFill>
                  <a:srgbClr val="FF0000"/>
                </a:solidFill>
              </a:rPr>
              <a:t>every</a:t>
            </a:r>
            <a:r>
              <a:rPr lang="en-US" sz="2000" smtClean="0"/>
              <a:t> value </a:t>
            </a:r>
            <a:r>
              <a:rPr lang="en-US" sz="2000" i="1" smtClean="0"/>
              <a:t>x </a:t>
            </a:r>
            <a:r>
              <a:rPr lang="en-US" sz="2000" smtClean="0"/>
              <a:t>of </a:t>
            </a:r>
            <a:r>
              <a:rPr lang="en-US" sz="2000" i="1" smtClean="0"/>
              <a:t>X </a:t>
            </a:r>
            <a:r>
              <a:rPr lang="en-US" sz="2000" smtClean="0"/>
              <a:t>there is </a:t>
            </a:r>
            <a:r>
              <a:rPr lang="en-US" sz="2000" smtClean="0">
                <a:solidFill>
                  <a:srgbClr val="FF0000"/>
                </a:solidFill>
              </a:rPr>
              <a:t>some</a:t>
            </a:r>
            <a:r>
              <a:rPr lang="en-US" sz="2000" smtClean="0"/>
              <a:t> allowed </a:t>
            </a:r>
            <a:r>
              <a:rPr lang="en-US" sz="2000" i="1" smtClean="0"/>
              <a:t>y</a:t>
            </a:r>
            <a:r>
              <a:rPr lang="en-US" sz="2000" smtClean="0"/>
              <a:t>
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EAD60E9D-8E38-4452-83C3-A0DA79258B40}" type="slidenum">
              <a:rPr lang="en-US" sz="1000"/>
              <a:pPr/>
              <a:t>28</a:t>
            </a:fld>
            <a:endParaRPr lang="en-US" sz="1000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Arc consistency</a:t>
            </a:r>
          </a:p>
        </p:txBody>
      </p:sp>
      <p:pic>
        <p:nvPicPr>
          <p:cNvPr id="39941" name="Picture 6" descr="ac-example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267200"/>
            <a:ext cx="55499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Simplest form of propagation makes each arc </a:t>
            </a:r>
            <a:r>
              <a:rPr lang="en-US" sz="2400" smtClean="0">
                <a:solidFill>
                  <a:schemeClr val="accent2"/>
                </a:solidFill>
              </a:rPr>
              <a:t>consistent</a:t>
            </a:r>
            <a:endParaRPr lang="en-US" sz="2400" smtClean="0"/>
          </a:p>
          <a:p>
            <a:pPr eaLnBrk="1" hangingPunct="1"/>
            <a:r>
              <a:rPr lang="en-US" sz="2400" i="1" smtClean="0"/>
              <a:t>X </a:t>
            </a:r>
            <a:r>
              <a:rPr lang="en-US" sz="2400" smtClean="0">
                <a:sym typeface="Wingdings" pitchFamily="-65" charset="2"/>
              </a:rPr>
              <a:t></a:t>
            </a:r>
            <a:r>
              <a:rPr lang="en-US" sz="2400" i="1" smtClean="0"/>
              <a:t>Y</a:t>
            </a:r>
            <a:r>
              <a:rPr lang="en-US" sz="2400" smtClean="0"/>
              <a:t> is consistent iff </a:t>
            </a:r>
            <a:r>
              <a:rPr lang="en-US" sz="2000" smtClean="0"/>
              <a:t>for </a:t>
            </a:r>
            <a:r>
              <a:rPr lang="en-US" sz="2000" smtClean="0">
                <a:solidFill>
                  <a:srgbClr val="FF0000"/>
                </a:solidFill>
              </a:rPr>
              <a:t>every</a:t>
            </a:r>
            <a:r>
              <a:rPr lang="en-US" sz="2000" smtClean="0"/>
              <a:t> value </a:t>
            </a:r>
            <a:r>
              <a:rPr lang="en-US" sz="2000" i="1" smtClean="0"/>
              <a:t>x </a:t>
            </a:r>
            <a:r>
              <a:rPr lang="en-US" sz="2000" smtClean="0"/>
              <a:t>of </a:t>
            </a:r>
            <a:r>
              <a:rPr lang="en-US" sz="2000" i="1" smtClean="0"/>
              <a:t>X </a:t>
            </a:r>
            <a:r>
              <a:rPr lang="en-US" sz="2000" smtClean="0"/>
              <a:t>there is </a:t>
            </a:r>
            <a:r>
              <a:rPr lang="en-US" sz="2000" smtClean="0">
                <a:solidFill>
                  <a:srgbClr val="FF0000"/>
                </a:solidFill>
              </a:rPr>
              <a:t>some</a:t>
            </a:r>
            <a:r>
              <a:rPr lang="en-US" sz="2000" smtClean="0"/>
              <a:t> allowed </a:t>
            </a:r>
            <a:r>
              <a:rPr lang="en-US" sz="2000" i="1" smtClean="0"/>
              <a:t>y</a:t>
            </a:r>
            <a:r>
              <a:rPr lang="en-US" sz="2000" smtClean="0"/>
              <a:t>
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DC0DE68B-0D91-4D44-BEE7-6FA6DAAA96BB}" type="slidenum">
              <a:rPr lang="en-US" sz="1000"/>
              <a:pPr/>
              <a:t>29</a:t>
            </a:fld>
            <a:endParaRPr lang="en-US" sz="10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Arc consistency</a:t>
            </a:r>
          </a:p>
        </p:txBody>
      </p:sp>
      <p:pic>
        <p:nvPicPr>
          <p:cNvPr id="40965" name="Picture 6" descr="ac-example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267200"/>
            <a:ext cx="55499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Simplest form of propagation makes each arc </a:t>
            </a:r>
            <a:r>
              <a:rPr lang="en-US" sz="2400" smtClean="0">
                <a:solidFill>
                  <a:schemeClr val="accent2"/>
                </a:solidFill>
              </a:rPr>
              <a:t>consistent</a:t>
            </a:r>
            <a:endParaRPr lang="en-US" sz="2400" smtClean="0"/>
          </a:p>
          <a:p>
            <a:pPr eaLnBrk="1" hangingPunct="1"/>
            <a:r>
              <a:rPr lang="en-US" sz="2400" i="1" smtClean="0"/>
              <a:t>X </a:t>
            </a:r>
            <a:r>
              <a:rPr lang="en-US" sz="2400" smtClean="0">
                <a:sym typeface="Wingdings" pitchFamily="-65" charset="2"/>
              </a:rPr>
              <a:t></a:t>
            </a:r>
            <a:r>
              <a:rPr lang="en-US" sz="2400" i="1" smtClean="0"/>
              <a:t>Y</a:t>
            </a:r>
            <a:r>
              <a:rPr lang="en-US" sz="2400" smtClean="0"/>
              <a:t> is consistent iff </a:t>
            </a:r>
            <a:r>
              <a:rPr lang="en-US" sz="2000" smtClean="0"/>
              <a:t>for </a:t>
            </a:r>
            <a:r>
              <a:rPr lang="en-US" sz="2000" smtClean="0">
                <a:solidFill>
                  <a:srgbClr val="FF0000"/>
                </a:solidFill>
              </a:rPr>
              <a:t>every</a:t>
            </a:r>
            <a:r>
              <a:rPr lang="en-US" sz="2000" smtClean="0"/>
              <a:t> value </a:t>
            </a:r>
            <a:r>
              <a:rPr lang="en-US" sz="2000" i="1" smtClean="0"/>
              <a:t>x </a:t>
            </a:r>
            <a:r>
              <a:rPr lang="en-US" sz="2000" smtClean="0"/>
              <a:t>of </a:t>
            </a:r>
            <a:r>
              <a:rPr lang="en-US" sz="2000" i="1" smtClean="0"/>
              <a:t>X </a:t>
            </a:r>
            <a:r>
              <a:rPr lang="en-US" sz="2000" smtClean="0"/>
              <a:t>there is </a:t>
            </a:r>
            <a:r>
              <a:rPr lang="en-US" sz="2000" smtClean="0">
                <a:solidFill>
                  <a:srgbClr val="FF0000"/>
                </a:solidFill>
              </a:rPr>
              <a:t>some</a:t>
            </a:r>
            <a:r>
              <a:rPr lang="en-US" sz="2000" smtClean="0"/>
              <a:t> allowed </a:t>
            </a:r>
            <a:r>
              <a:rPr lang="en-US" sz="2000" i="1" smtClean="0"/>
              <a:t>y</a:t>
            </a:r>
            <a:endParaRPr lang="en-US" sz="2000" smtClean="0"/>
          </a:p>
          <a:p>
            <a:pPr eaLnBrk="1" hangingPunct="1"/>
            <a:r>
              <a:rPr lang="en-US" sz="2400" smtClean="0"/>
              <a:t>If </a:t>
            </a:r>
            <a:r>
              <a:rPr lang="en-US" sz="2400" i="1" smtClean="0"/>
              <a:t>X</a:t>
            </a:r>
            <a:r>
              <a:rPr lang="en-US" sz="2400" smtClean="0"/>
              <a:t> loses a value, neighbors of </a:t>
            </a:r>
            <a:r>
              <a:rPr lang="en-US" sz="2400" i="1" smtClean="0"/>
              <a:t>X</a:t>
            </a:r>
            <a:r>
              <a:rPr lang="en-US" sz="2400" smtClean="0"/>
              <a:t> need to be rechecked
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424E02BF-A0B4-490C-869A-A64849F954FE}" type="slidenum">
              <a:rPr lang="en-US" sz="1000"/>
              <a:pPr/>
              <a:t>30</a:t>
            </a:fld>
            <a:endParaRPr lang="en-US" sz="100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Arc consistency</a:t>
            </a:r>
          </a:p>
        </p:txBody>
      </p:sp>
      <p:pic>
        <p:nvPicPr>
          <p:cNvPr id="41989" name="Picture 6" descr="ac-example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267200"/>
            <a:ext cx="55499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200" dirty="0" smtClean="0"/>
              <a:t>Simplest form of propagation makes each arc </a:t>
            </a:r>
            <a:r>
              <a:rPr lang="en-US" sz="2200" dirty="0" smtClean="0">
                <a:solidFill>
                  <a:schemeClr val="accent2"/>
                </a:solidFill>
              </a:rPr>
              <a:t>consistent</a:t>
            </a:r>
            <a:endParaRPr lang="en-US" sz="2200" dirty="0" smtClean="0"/>
          </a:p>
          <a:p>
            <a:pPr eaLnBrk="1" hangingPunct="1"/>
            <a:r>
              <a:rPr lang="en-US" sz="2200" i="1" dirty="0" smtClean="0"/>
              <a:t>X </a:t>
            </a:r>
            <a:r>
              <a:rPr lang="en-US" sz="2200" dirty="0" smtClean="0">
                <a:sym typeface="Wingdings" pitchFamily="-65" charset="2"/>
              </a:rPr>
              <a:t></a:t>
            </a:r>
            <a:r>
              <a:rPr lang="en-US" sz="2200" i="1" dirty="0" smtClean="0"/>
              <a:t>Y</a:t>
            </a:r>
            <a:r>
              <a:rPr lang="en-US" sz="2200" dirty="0" smtClean="0"/>
              <a:t> is consistent </a:t>
            </a:r>
            <a:r>
              <a:rPr lang="en-US" sz="2200" dirty="0" err="1" smtClean="0"/>
              <a:t>iff</a:t>
            </a:r>
            <a:r>
              <a:rPr lang="en-US" sz="2200" dirty="0" smtClean="0"/>
              <a:t> </a:t>
            </a:r>
            <a:r>
              <a:rPr lang="en-US" sz="1900" dirty="0" smtClean="0"/>
              <a:t>for </a:t>
            </a:r>
            <a:r>
              <a:rPr lang="en-US" sz="1900" dirty="0" smtClean="0">
                <a:solidFill>
                  <a:srgbClr val="FF0000"/>
                </a:solidFill>
              </a:rPr>
              <a:t>every</a:t>
            </a:r>
            <a:r>
              <a:rPr lang="en-US" sz="1900" dirty="0" smtClean="0"/>
              <a:t> value </a:t>
            </a:r>
            <a:r>
              <a:rPr lang="en-US" sz="1900" i="1" dirty="0" smtClean="0"/>
              <a:t>x </a:t>
            </a:r>
            <a:r>
              <a:rPr lang="en-US" sz="1900" dirty="0" smtClean="0"/>
              <a:t>of </a:t>
            </a:r>
            <a:r>
              <a:rPr lang="en-US" sz="1900" i="1" dirty="0" smtClean="0"/>
              <a:t>X </a:t>
            </a:r>
            <a:r>
              <a:rPr lang="en-US" sz="1900" dirty="0" smtClean="0"/>
              <a:t>there is </a:t>
            </a:r>
            <a:r>
              <a:rPr lang="en-US" sz="1900" dirty="0" smtClean="0">
                <a:solidFill>
                  <a:srgbClr val="FF0000"/>
                </a:solidFill>
              </a:rPr>
              <a:t>some</a:t>
            </a:r>
            <a:r>
              <a:rPr lang="en-US" sz="1900" dirty="0" smtClean="0"/>
              <a:t> allowed </a:t>
            </a:r>
            <a:r>
              <a:rPr lang="en-US" sz="1900" i="1" dirty="0" smtClean="0"/>
              <a:t>y</a:t>
            </a:r>
            <a:endParaRPr lang="en-US" sz="1700" dirty="0" smtClean="0"/>
          </a:p>
          <a:p>
            <a:pPr eaLnBrk="1" hangingPunct="1"/>
            <a:r>
              <a:rPr lang="en-US" sz="2200" dirty="0" smtClean="0"/>
              <a:t>If </a:t>
            </a:r>
            <a:r>
              <a:rPr lang="en-US" sz="2200" i="1" dirty="0" smtClean="0"/>
              <a:t>X</a:t>
            </a:r>
            <a:r>
              <a:rPr lang="en-US" sz="2200" dirty="0" smtClean="0"/>
              <a:t> loses a value, neighbors of </a:t>
            </a:r>
            <a:r>
              <a:rPr lang="en-US" sz="2200" i="1" dirty="0" smtClean="0"/>
              <a:t>X</a:t>
            </a:r>
            <a:r>
              <a:rPr lang="en-US" sz="2200" dirty="0" smtClean="0"/>
              <a:t> need to be rechecked</a:t>
            </a:r>
          </a:p>
          <a:p>
            <a:pPr eaLnBrk="1" hangingPunct="1"/>
            <a:r>
              <a:rPr lang="en-US" sz="2200" dirty="0" smtClean="0"/>
              <a:t>Arc consistency detects failure earlier than forward checking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US" sz="2200" dirty="0" smtClean="0"/>
              <a:t>
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215E4CCB-2D13-4AF6-99CF-CE06EAD95EFD}" type="slidenum">
              <a:rPr lang="en-US" sz="1000"/>
              <a:pPr/>
              <a:t>31</a:t>
            </a:fld>
            <a:endParaRPr lang="en-US" sz="100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Arc consistency</a:t>
            </a:r>
          </a:p>
        </p:txBody>
      </p:sp>
      <p:pic>
        <p:nvPicPr>
          <p:cNvPr id="43013" name="Picture 6" descr="ac-example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267200"/>
            <a:ext cx="55499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559425"/>
            <a:ext cx="8650288" cy="573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1700" smtClean="0"/>
              <a:t>Time complexity: O(n</a:t>
            </a:r>
            <a:r>
              <a:rPr lang="en-US" sz="1700" baseline="30000" smtClean="0"/>
              <a:t>2</a:t>
            </a:r>
            <a:r>
              <a:rPr lang="en-US" sz="1700" smtClean="0"/>
              <a:t>d</a:t>
            </a:r>
            <a:r>
              <a:rPr lang="en-US" sz="1700" baseline="30000" smtClean="0"/>
              <a:t>3</a:t>
            </a:r>
            <a:r>
              <a:rPr lang="en-US" sz="1700" smtClean="0"/>
              <a:t>)
</a:t>
            </a:r>
          </a:p>
        </p:txBody>
      </p:sp>
      <p:sp>
        <p:nvSpPr>
          <p:cNvPr id="4403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C8D948AD-0C1D-4DF1-BFE3-818FACEBF0E2}" type="slidenum">
              <a:rPr lang="en-US" sz="1000"/>
              <a:pPr/>
              <a:t>32</a:t>
            </a:fld>
            <a:endParaRPr lang="en-US" sz="100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>
                <a:ea typeface="+mj-ea"/>
                <a:cs typeface="+mj-cs"/>
              </a:rPr>
              <a:t>Arc consistency algorithm AC-3</a:t>
            </a:r>
          </a:p>
        </p:txBody>
      </p:sp>
      <p:pic>
        <p:nvPicPr>
          <p:cNvPr id="4403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t="21875" r="13281" b="22917"/>
          <a:stretch>
            <a:fillRect/>
          </a:stretch>
        </p:blipFill>
        <p:spPr bwMode="auto">
          <a:xfrm>
            <a:off x="1295400" y="1371600"/>
            <a:ext cx="6858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2200" dirty="0" smtClean="0"/>
              <a:t>Hill-climbing, simulated annealing typically work with "complete" states, i.e., all variables assigned
</a:t>
            </a:r>
          </a:p>
          <a:p>
            <a:pPr eaLnBrk="1" hangingPunct="1">
              <a:lnSpc>
                <a:spcPct val="70000"/>
              </a:lnSpc>
            </a:pPr>
            <a:endParaRPr lang="en-US" sz="2200" dirty="0" smtClean="0"/>
          </a:p>
          <a:p>
            <a:pPr eaLnBrk="1" hangingPunct="1">
              <a:lnSpc>
                <a:spcPct val="70000"/>
              </a:lnSpc>
            </a:pPr>
            <a:r>
              <a:rPr lang="en-US" sz="2200" dirty="0" smtClean="0"/>
              <a:t>To apply to CSPs: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900" dirty="0" smtClean="0"/>
              <a:t>allow states with constraint violations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900" dirty="0" smtClean="0"/>
              <a:t>operators </a:t>
            </a:r>
            <a:r>
              <a:rPr lang="en-US" sz="1900" dirty="0" smtClean="0">
                <a:solidFill>
                  <a:srgbClr val="FF0000"/>
                </a:solidFill>
              </a:rPr>
              <a:t>reassign</a:t>
            </a:r>
            <a:r>
              <a:rPr lang="en-US" sz="1900" dirty="0" smtClean="0"/>
              <a:t> variable values
</a:t>
            </a:r>
          </a:p>
          <a:p>
            <a:pPr eaLnBrk="1" hangingPunct="1">
              <a:lnSpc>
                <a:spcPct val="70000"/>
              </a:lnSpc>
            </a:pPr>
            <a:endParaRPr lang="en-US" sz="2200" dirty="0" smtClean="0"/>
          </a:p>
          <a:p>
            <a:pPr eaLnBrk="1" hangingPunct="1">
              <a:lnSpc>
                <a:spcPct val="70000"/>
              </a:lnSpc>
            </a:pPr>
            <a:r>
              <a:rPr lang="en-US" sz="2200" dirty="0" smtClean="0"/>
              <a:t>Variable selection: randomly select any conflicted variable
</a:t>
            </a:r>
          </a:p>
          <a:p>
            <a:pPr eaLnBrk="1" hangingPunct="1">
              <a:lnSpc>
                <a:spcPct val="70000"/>
              </a:lnSpc>
            </a:pPr>
            <a:endParaRPr lang="en-US" sz="2200" dirty="0" smtClean="0"/>
          </a:p>
          <a:p>
            <a:pPr eaLnBrk="1" hangingPunct="1">
              <a:lnSpc>
                <a:spcPct val="70000"/>
              </a:lnSpc>
            </a:pPr>
            <a:r>
              <a:rPr lang="en-US" sz="2200" dirty="0" smtClean="0"/>
              <a:t>Value selection by </a:t>
            </a:r>
            <a:r>
              <a:rPr lang="en-US" sz="2200" dirty="0" smtClean="0">
                <a:solidFill>
                  <a:srgbClr val="FF0000"/>
                </a:solidFill>
              </a:rPr>
              <a:t>min-conflicts </a:t>
            </a:r>
            <a:r>
              <a:rPr lang="en-US" sz="2200" dirty="0" smtClean="0"/>
              <a:t>heuristic: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900" dirty="0" smtClean="0"/>
              <a:t>choose value that violates the fewest constraints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900" dirty="0" smtClean="0"/>
              <a:t>i.e., hill-climb with </a:t>
            </a:r>
            <a:r>
              <a:rPr lang="en-US" sz="1900" i="1" dirty="0" smtClean="0"/>
              <a:t>h(n) </a:t>
            </a:r>
            <a:r>
              <a:rPr lang="en-US" sz="1900" dirty="0" smtClean="0"/>
              <a:t>= total number of violated constraints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8FDE34CE-D823-4641-80AB-F6CB3C99CD2D}" type="slidenum">
              <a:rPr lang="en-US" sz="1000"/>
              <a:pPr/>
              <a:t>33</a:t>
            </a:fld>
            <a:endParaRPr lang="en-US" sz="100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Local search for CSPs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accent2"/>
                </a:solidFill>
              </a:rPr>
              <a:t>States</a:t>
            </a:r>
            <a:r>
              <a:rPr lang="en-US" sz="2400" smtClean="0"/>
              <a:t>: 4 queens in 4 columns (4</a:t>
            </a:r>
            <a:r>
              <a:rPr lang="en-US" sz="2400" baseline="30000" smtClean="0"/>
              <a:t>4</a:t>
            </a:r>
            <a:r>
              <a:rPr lang="en-US" sz="2400" smtClean="0"/>
              <a:t> = 256 states)
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accent2"/>
                </a:solidFill>
              </a:rPr>
              <a:t>Actions</a:t>
            </a:r>
            <a:r>
              <a:rPr lang="en-US" sz="2400" smtClean="0"/>
              <a:t>: move queen in column
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accent2"/>
                </a:solidFill>
              </a:rPr>
              <a:t>Goal test</a:t>
            </a:r>
            <a:r>
              <a:rPr lang="en-US" sz="2400" smtClean="0"/>
              <a:t>: no attacks
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accent2"/>
                </a:solidFill>
              </a:rPr>
              <a:t>Evaluation</a:t>
            </a:r>
            <a:r>
              <a:rPr lang="en-US" sz="2400" smtClean="0"/>
              <a:t>: </a:t>
            </a:r>
            <a:r>
              <a:rPr lang="en-US" sz="2400" i="1" smtClean="0"/>
              <a:t>h(n) </a:t>
            </a:r>
            <a:r>
              <a:rPr lang="en-US" sz="2400" smtClean="0"/>
              <a:t>= number of attacks
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4E8AD70E-637A-4B4D-B3EA-AF52318BFBDD}" type="slidenum">
              <a:rPr lang="en-US" sz="1000"/>
              <a:pPr/>
              <a:t>34</a:t>
            </a:fld>
            <a:endParaRPr lang="en-US" sz="100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Example: 4-Queens</a:t>
            </a:r>
          </a:p>
        </p:txBody>
      </p:sp>
      <p:pic>
        <p:nvPicPr>
          <p:cNvPr id="46085" name="Picture 4" descr="4queens-iterat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343400"/>
            <a:ext cx="57912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While we are not at a solution:</a:t>
            </a:r>
          </a:p>
          <a:p>
            <a:pPr lvl="1" eaLnBrk="1" hangingPunct="1"/>
            <a:r>
              <a:rPr lang="en-US" dirty="0" smtClean="0"/>
              <a:t>Choose a random conflicted variable</a:t>
            </a:r>
          </a:p>
          <a:p>
            <a:pPr lvl="1" eaLnBrk="1" hangingPunct="1"/>
            <a:r>
              <a:rPr lang="en-US" dirty="0" smtClean="0"/>
              <a:t>Pick a value for this that has minimum conflicts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Works surprisingly well (on N-queens)!</a:t>
            </a:r>
          </a:p>
          <a:p>
            <a:pPr lvl="1" eaLnBrk="1" hangingPunct="1"/>
            <a:r>
              <a:rPr lang="en-US" dirty="0" smtClean="0"/>
              <a:t>For n-queens, almost independent of problem size - due to dense solution space</a:t>
            </a:r>
          </a:p>
          <a:p>
            <a:pPr lvl="1" eaLnBrk="1" hangingPunct="1"/>
            <a:r>
              <a:rPr lang="en-US" dirty="0" smtClean="0"/>
              <a:t>Also works on scheduling problems</a:t>
            </a:r>
          </a:p>
          <a:p>
            <a:pPr lvl="2" eaLnBrk="1" hangingPunct="1"/>
            <a:r>
              <a:rPr lang="en-US" dirty="0" smtClean="0"/>
              <a:t>Note: No need to restart and re-run backtracking…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en-US" dirty="0" smtClean="0"/>
              <a:t>Iterative Min-Conflicts</a:t>
            </a:r>
            <a:endParaRPr lang="en-US" dirty="0"/>
          </a:p>
        </p:txBody>
      </p:sp>
      <p:sp>
        <p:nvSpPr>
          <p:cNvPr id="4710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endParaRPr lang="en-GB" sz="1000"/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r>
              <a:rPr lang="en-US" sz="1000"/>
              <a:t>COMP6031</a:t>
            </a:r>
          </a:p>
        </p:txBody>
      </p:sp>
      <p:sp>
        <p:nvSpPr>
          <p:cNvPr id="471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E2514BF0-C88E-4A62-A994-27D0AA71D144}" type="slidenum">
              <a:rPr lang="en-US" sz="1000"/>
              <a:pPr/>
              <a:t>35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sz="2000" smtClean="0"/>
              <a:t>CSPs are a special kind of problem: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800" smtClean="0"/>
              <a:t>states defined by values of a fixed set of variables</a:t>
            </a:r>
          </a:p>
          <a:p>
            <a:pPr lvl="1" eaLnBrk="1" hangingPunct="1">
              <a:lnSpc>
                <a:spcPct val="70000"/>
              </a:lnSpc>
            </a:pPr>
            <a:r>
              <a:rPr lang="en-US" sz="1800" smtClean="0"/>
              <a:t>goal test defined by constraints on variable values
</a:t>
            </a:r>
            <a:endParaRPr lang="en-US" sz="14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Backtracking = depth-first search with one variable assigned per node</a:t>
            </a:r>
          </a:p>
          <a:p>
            <a:pPr lvl="4" eaLnBrk="1" hangingPunct="1">
              <a:lnSpc>
                <a:spcPct val="70000"/>
              </a:lnSpc>
            </a:pPr>
            <a:endParaRPr lang="en-US" sz="14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Variable ordering and value selection heuristics help significantly
</a:t>
            </a:r>
            <a:endParaRPr lang="en-US" sz="14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Forward checking prevents assignments that guarantee later failure
</a:t>
            </a:r>
            <a:endParaRPr lang="en-US" sz="14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Constraint propagation (e.g., arc consistency) does additional work to constrain values and detect inconsistencies
</a:t>
            </a:r>
            <a:endParaRPr lang="en-US" sz="1400" smtClean="0"/>
          </a:p>
          <a:p>
            <a:pPr eaLnBrk="1" hangingPunct="1">
              <a:lnSpc>
                <a:spcPct val="70000"/>
              </a:lnSpc>
            </a:pPr>
            <a:r>
              <a:rPr lang="en-US" sz="2000" smtClean="0"/>
              <a:t>Iterative min-conflicts is usually effective in practice
</a:t>
            </a:r>
          </a:p>
        </p:txBody>
      </p:sp>
      <p:sp>
        <p:nvSpPr>
          <p:cNvPr id="481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fld id="{FA06F410-1D9D-485C-8C26-BB7A788BB2AF}" type="slidenum">
              <a:rPr lang="en-US" sz="1000"/>
              <a:pPr/>
              <a:t>36</a:t>
            </a:fld>
            <a:endParaRPr lang="en-US" sz="100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Concourse.thmx</Template>
  <TotalTime>4783</TotalTime>
  <Words>1491</Words>
  <Application>Microsoft Office PowerPoint</Application>
  <PresentationFormat>On-screen Show (4:3)</PresentationFormat>
  <Paragraphs>258</Paragraphs>
  <Slides>36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Verdana</vt:lpstr>
      <vt:lpstr>Monotype Corsiva</vt:lpstr>
      <vt:lpstr>Arial</vt:lpstr>
      <vt:lpstr>Wingdings</vt:lpstr>
      <vt:lpstr>ＭＳ Ｐゴシック</vt:lpstr>
      <vt:lpstr>Tahoma</vt:lpstr>
      <vt:lpstr>Wingdings 3</vt:lpstr>
      <vt:lpstr>Lucida Sans Unicode</vt:lpstr>
      <vt:lpstr>Wingdings 2</vt:lpstr>
      <vt:lpstr>Concourse</vt:lpstr>
      <vt:lpstr>Constraint Satisfaction Problems</vt:lpstr>
      <vt:lpstr>Constraint satisfaction problems (CSPs)</vt:lpstr>
      <vt:lpstr>Example: Map-Coloring</vt:lpstr>
      <vt:lpstr>Example: Map-Coloring</vt:lpstr>
      <vt:lpstr>Constraint graph</vt:lpstr>
      <vt:lpstr>Varieties of CSPs</vt:lpstr>
      <vt:lpstr>Varieties of constraints</vt:lpstr>
      <vt:lpstr>Real-world CSPs</vt:lpstr>
      <vt:lpstr>Standard search formulation (incremental)</vt:lpstr>
      <vt:lpstr>Backtracking search</vt:lpstr>
      <vt:lpstr>Backtracking search</vt:lpstr>
      <vt:lpstr>Backtracking vs depth-first search?</vt:lpstr>
      <vt:lpstr>Backtracking example</vt:lpstr>
      <vt:lpstr>Backtracking example</vt:lpstr>
      <vt:lpstr>Backtracking example</vt:lpstr>
      <vt:lpstr>Backtracking example</vt:lpstr>
      <vt:lpstr>Backtracking example</vt:lpstr>
      <vt:lpstr>Backtracking example</vt:lpstr>
      <vt:lpstr>Improving backtracking efficiency</vt:lpstr>
      <vt:lpstr>Most constrained variable</vt:lpstr>
      <vt:lpstr>Most constraining variable</vt:lpstr>
      <vt:lpstr>Least constraining value</vt:lpstr>
      <vt:lpstr>Forward checking</vt:lpstr>
      <vt:lpstr>Forward checking</vt:lpstr>
      <vt:lpstr>Forward checking</vt:lpstr>
      <vt:lpstr>Forward checking</vt:lpstr>
      <vt:lpstr>Constraint propagation</vt:lpstr>
      <vt:lpstr>Arc consistency</vt:lpstr>
      <vt:lpstr>Arc consistency</vt:lpstr>
      <vt:lpstr>Arc consistency</vt:lpstr>
      <vt:lpstr>Arc consistency</vt:lpstr>
      <vt:lpstr>Arc consistency algorithm AC-3</vt:lpstr>
      <vt:lpstr>Local search for CSPs</vt:lpstr>
      <vt:lpstr>Example: 4-Queens</vt:lpstr>
      <vt:lpstr>Iterative Min-Conflicts</vt:lpstr>
      <vt:lpstr>Summary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Satisfaction Problems</dc:title>
  <dc:creator>Min-Yen Kan</dc:creator>
  <cp:lastModifiedBy>Richard Watson</cp:lastModifiedBy>
  <cp:revision>30</cp:revision>
  <dcterms:created xsi:type="dcterms:W3CDTF">2008-10-20T06:55:00Z</dcterms:created>
  <dcterms:modified xsi:type="dcterms:W3CDTF">2020-10-25T11:17:33Z</dcterms:modified>
</cp:coreProperties>
</file>