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sldIdLst>
    <p:sldId id="256" r:id="rId2"/>
    <p:sldId id="257" r:id="rId3"/>
    <p:sldId id="259" r:id="rId4"/>
    <p:sldId id="260" r:id="rId5"/>
    <p:sldId id="267" r:id="rId6"/>
    <p:sldId id="262" r:id="rId7"/>
    <p:sldId id="266" r:id="rId8"/>
    <p:sldId id="265" r:id="rId9"/>
    <p:sldId id="263" r:id="rId10"/>
    <p:sldId id="278" r:id="rId11"/>
    <p:sldId id="269" r:id="rId12"/>
    <p:sldId id="283" r:id="rId13"/>
    <p:sldId id="289" r:id="rId14"/>
    <p:sldId id="270" r:id="rId15"/>
    <p:sldId id="271" r:id="rId16"/>
    <p:sldId id="272" r:id="rId17"/>
    <p:sldId id="334" r:id="rId18"/>
    <p:sldId id="276" r:id="rId19"/>
    <p:sldId id="279" r:id="rId20"/>
    <p:sldId id="322" r:id="rId21"/>
    <p:sldId id="330" r:id="rId22"/>
    <p:sldId id="331" r:id="rId23"/>
    <p:sldId id="332" r:id="rId24"/>
    <p:sldId id="333" r:id="rId25"/>
    <p:sldId id="274" r:id="rId26"/>
    <p:sldId id="328" r:id="rId27"/>
    <p:sldId id="329" r:id="rId28"/>
    <p:sldId id="277" r:id="rId29"/>
    <p:sldId id="280" r:id="rId30"/>
    <p:sldId id="327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>
              <a:solidFill>
                <a:srgbClr val="FFFFFF"/>
              </a:solidFill>
              <a:cs typeface="Arial" charset="0"/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endParaRPr lang="en-GB" sz="1800">
                <a:solidFill>
                  <a:srgbClr val="FFFFFF"/>
                </a:solidFill>
                <a:latin typeface="Lucida Sans Unicode" pitchFamily="-65" charset="-5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8F0F4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BEF9B64-764D-4378-A704-CDA64FBF3D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51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214253-7E59-46D2-8137-D4903BBE76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5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>
            <a:spLocks noChangeArrowheads="1"/>
          </p:cNvSpPr>
          <p:nvPr/>
        </p:nvSpPr>
        <p:spPr bwMode="auto"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endParaRPr lang="en-GB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5" name="Chevron 4"/>
          <p:cNvSpPr>
            <a:spLocks noChangeArrowheads="1"/>
          </p:cNvSpPr>
          <p:nvPr/>
        </p:nvSpPr>
        <p:spPr bwMode="auto"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endParaRPr lang="en-GB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BF4618-E66F-44B4-B149-DC7E51A3E6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0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4F1F-063B-4B1E-8412-49F4A63BD3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4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26479E-32AF-46CB-ACBE-248FA49F34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6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9DEE2-62DD-419F-9693-C1A0EAFDFE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6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32FF57-B976-4D8F-96C4-2E7D59FF62A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01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2F3F51-D9CC-4C6D-919A-61DFDF7302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9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GB" sz="1800">
              <a:solidFill>
                <a:srgbClr val="FFFFFF"/>
              </a:solidFill>
              <a:latin typeface="Lucida Sans Unicode" pitchFamily="-65" charset="-52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>
            <a:spLocks noChangeArrowheads="1"/>
          </p:cNvSpPr>
          <p:nvPr/>
        </p:nvSpPr>
        <p:spPr bwMode="auto"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endParaRPr lang="en-GB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10" name="Chevron 9"/>
          <p:cNvSpPr>
            <a:spLocks noChangeArrowheads="1"/>
          </p:cNvSpPr>
          <p:nvPr/>
        </p:nvSpPr>
        <p:spPr bwMode="auto"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endParaRPr lang="en-GB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GB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FB93A-4BA0-40DF-A766-427D1F14BEF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9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8CEFA-96AD-4F20-B9FC-59DD6E0835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26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84528B-A8C6-471F-976D-98506958A4C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1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GB" sz="1800">
              <a:solidFill>
                <a:srgbClr val="FFFFFF"/>
              </a:solidFill>
              <a:latin typeface="Lucida Sans Unicode" pitchFamily="-65" charset="-52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  <a:sp3d prstMaterial="softEdge">
              <a:bevelT w="25400" h="25400"/>
            </a:sp3d>
          </a:bodyPr>
          <a:lstStyle/>
          <a:p>
            <a:pPr lvl="0"/>
            <a:r>
              <a:rPr lang="en-GB" smtClean="0"/>
              <a:t>Click to edit Master title style</a:t>
            </a:r>
            <a:endParaRPr lang="en-US" smtClean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smtClean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r>
              <a:rPr lang="en-US"/>
              <a:t>COMP 6013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8D6560BF-05F0-46FD-8758-D317594BAE0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-65" charset="-52"/>
          <a:ea typeface="ＭＳ Ｐゴシック" pitchFamily="-65" charset="-128"/>
          <a:cs typeface="ＭＳ Ｐゴシック" pitchFamily="-65" charset="-128"/>
        </a:defRPr>
      </a:lvl9pPr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-65" charset="2"/>
        <a:buChar char=""/>
        <a:defRPr sz="27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-65" charset="0"/>
        <a:buChar char="◦"/>
        <a:defRPr sz="23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-65" charset="2"/>
        <a:buChar char=""/>
        <a:defRPr sz="21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65" charset="2"/>
        <a:buChar char=""/>
        <a:defRPr sz="19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65" charset="2"/>
        <a:buChar char=""/>
        <a:defRPr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err="1">
                <a:ea typeface="+mj-ea"/>
                <a:cs typeface="+mj-cs"/>
              </a:rPr>
              <a:t>Minimax</a:t>
            </a:r>
            <a:r>
              <a:rPr lang="en-GB">
                <a:ea typeface="+mj-ea"/>
                <a:cs typeface="+mj-cs"/>
              </a:rPr>
              <a:t> </a:t>
            </a:r>
            <a:r>
              <a:rPr lang="en-GB" smtClean="0">
                <a:ea typeface="+mj-ea"/>
                <a:cs typeface="+mj-cs"/>
              </a:rPr>
              <a:t>Search 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/>
          <a:lstStyle/>
          <a:p>
            <a:pPr marR="0" eaLnBrk="1" hangingPunct="1">
              <a:lnSpc>
                <a:spcPct val="80000"/>
              </a:lnSpc>
            </a:pPr>
            <a:endParaRPr lang="en-GB" sz="2100" dirty="0" smtClean="0"/>
          </a:p>
          <a:p>
            <a:pPr marR="0" eaLnBrk="1" hangingPunct="1">
              <a:lnSpc>
                <a:spcPct val="80000"/>
              </a:lnSpc>
            </a:pPr>
            <a:r>
              <a:rPr lang="en-GB" sz="2100" smtClean="0"/>
              <a:t>Adversarial Game Playing </a:t>
            </a:r>
          </a:p>
          <a:p>
            <a:pPr marR="0" eaLnBrk="1" hangingPunct="1">
              <a:lnSpc>
                <a:spcPct val="80000"/>
              </a:lnSpc>
            </a:pPr>
            <a:r>
              <a:rPr lang="en-GB" sz="2100" dirty="0" smtClean="0"/>
              <a:t>Reading: Chapter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States, actions, goals</a:t>
            </a:r>
          </a:p>
          <a:p>
            <a:pPr eaLnBrk="1" hangingPunct="1"/>
            <a:r>
              <a:rPr lang="en-GB" smtClean="0"/>
              <a:t>Search techniques</a:t>
            </a:r>
          </a:p>
          <a:p>
            <a:pPr lvl="1" eaLnBrk="1" hangingPunct="1"/>
            <a:r>
              <a:rPr lang="en-GB" smtClean="0"/>
              <a:t>Blind (depth-first, breadth-first, IDS)</a:t>
            </a:r>
          </a:p>
          <a:p>
            <a:pPr lvl="1" eaLnBrk="1" hangingPunct="1"/>
            <a:r>
              <a:rPr lang="en-GB" smtClean="0"/>
              <a:t>Heuristic (best-first, A*)</a:t>
            </a:r>
          </a:p>
          <a:p>
            <a:pPr lvl="1" eaLnBrk="1" hangingPunct="1"/>
            <a:r>
              <a:rPr lang="en-GB" smtClean="0"/>
              <a:t>Local (hill-climbing, etc)</a:t>
            </a:r>
            <a:endParaRPr lang="en-US" smtClean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AI Search so far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600" smtClean="0"/>
              <a:t>Search examples so far have concentrated on unopposed search problems (e.g. 8-square problem, eight queens, etc)</a:t>
            </a:r>
          </a:p>
          <a:p>
            <a:pPr eaLnBrk="1" hangingPunct="1"/>
            <a:r>
              <a:rPr lang="en-GB" sz="2600" smtClean="0"/>
              <a:t>Game playing is a traditional focus for Artificial Intelligence</a:t>
            </a:r>
          </a:p>
          <a:p>
            <a:pPr lvl="1" eaLnBrk="1" hangingPunct="1"/>
            <a:r>
              <a:rPr lang="en-GB" sz="2400" smtClean="0"/>
              <a:t>Checkers (Samuels, 1959)</a:t>
            </a:r>
          </a:p>
          <a:p>
            <a:pPr lvl="1" eaLnBrk="1" hangingPunct="1"/>
            <a:r>
              <a:rPr lang="en-GB" sz="2400" smtClean="0"/>
              <a:t>Chess (Turing, 1957; Greenblatt, 1966)</a:t>
            </a:r>
          </a:p>
          <a:p>
            <a:pPr lvl="1" eaLnBrk="1" hangingPunct="1"/>
            <a:r>
              <a:rPr lang="en-GB" sz="2400" smtClean="0"/>
              <a:t>…</a:t>
            </a:r>
          </a:p>
          <a:p>
            <a:pPr eaLnBrk="1" hangingPunct="1"/>
            <a:r>
              <a:rPr lang="en-GB" sz="2600" smtClean="0"/>
              <a:t>Must take account of the opponent</a:t>
            </a:r>
            <a:endParaRPr lang="en-US" sz="2600" smtClean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Adversarial Games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600" smtClean="0"/>
              <a:t>Start with a single pile of seven matches</a:t>
            </a:r>
          </a:p>
          <a:p>
            <a:pPr eaLnBrk="1" hangingPunct="1"/>
            <a:endParaRPr lang="en-GB" sz="2600" smtClean="0"/>
          </a:p>
          <a:p>
            <a:pPr eaLnBrk="1" hangingPunct="1"/>
            <a:r>
              <a:rPr lang="en-GB" sz="2600" smtClean="0"/>
              <a:t>Each player takes it in turn to take a pile of matches and split into two differently-sized piles of matches</a:t>
            </a:r>
          </a:p>
          <a:p>
            <a:pPr eaLnBrk="1" hangingPunct="1"/>
            <a:endParaRPr lang="en-GB" sz="2600" smtClean="0"/>
          </a:p>
          <a:p>
            <a:pPr eaLnBrk="1" hangingPunct="1"/>
            <a:r>
              <a:rPr lang="en-GB" sz="2600" smtClean="0"/>
              <a:t>The last player who is able to make a move is the winner</a:t>
            </a:r>
          </a:p>
          <a:p>
            <a:pPr eaLnBrk="1" hangingPunct="1">
              <a:buFont typeface="Wingdings" pitchFamily="-65" charset="2"/>
              <a:buNone/>
            </a:pPr>
            <a:r>
              <a:rPr lang="en-GB" sz="2600" smtClean="0"/>
              <a:t> </a:t>
            </a:r>
            <a:endParaRPr lang="en-US" sz="2600" smtClean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The Game Of Nim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600" smtClean="0"/>
              <a:t>Very small game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smtClean="0"/>
              <a:t>Few legal states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smtClean="0"/>
              <a:t>Few legal moves from each state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smtClean="0"/>
              <a:t>Game doesn’t last long (few turns)</a:t>
            </a:r>
          </a:p>
          <a:p>
            <a:pPr lvl="1"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600" smtClean="0"/>
              <a:t>Player who plays second has an (unfair) advantage</a:t>
            </a:r>
          </a:p>
          <a:p>
            <a:pPr eaLnBrk="1" hangingPunct="1">
              <a:lnSpc>
                <a:spcPct val="90000"/>
              </a:lnSpc>
            </a:pPr>
            <a:endParaRPr lang="en-GB" sz="2600" smtClean="0"/>
          </a:p>
          <a:p>
            <a:pPr eaLnBrk="1" hangingPunct="1">
              <a:lnSpc>
                <a:spcPct val="90000"/>
              </a:lnSpc>
            </a:pPr>
            <a:r>
              <a:rPr lang="en-GB" sz="2600" smtClean="0"/>
              <a:t>Possible to construct a tree representing all the states of the game</a:t>
            </a:r>
            <a:endParaRPr lang="en-US" sz="2600" smtClean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The Game of Nim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Nim Game Tree</a:t>
            </a:r>
            <a:endParaRPr lang="en-US">
              <a:ea typeface="+mj-ea"/>
              <a:cs typeface="+mj-cs"/>
            </a:endParaRPr>
          </a:p>
        </p:txBody>
      </p:sp>
      <p:grpSp>
        <p:nvGrpSpPr>
          <p:cNvPr id="18435" name="Group 39"/>
          <p:cNvGrpSpPr>
            <a:grpSpLocks/>
          </p:cNvGrpSpPr>
          <p:nvPr/>
        </p:nvGrpSpPr>
        <p:grpSpPr bwMode="auto">
          <a:xfrm>
            <a:off x="1295400" y="1524000"/>
            <a:ext cx="6705600" cy="4567238"/>
            <a:chOff x="1200" y="1008"/>
            <a:chExt cx="4224" cy="2877"/>
          </a:xfrm>
        </p:grpSpPr>
        <p:sp>
          <p:nvSpPr>
            <p:cNvPr id="18436" name="Text Box 5"/>
            <p:cNvSpPr txBox="1">
              <a:spLocks noChangeArrowheads="1"/>
            </p:cNvSpPr>
            <p:nvPr/>
          </p:nvSpPr>
          <p:spPr bwMode="auto">
            <a:xfrm>
              <a:off x="2736" y="1008"/>
              <a:ext cx="336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7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37" name="Text Box 6"/>
            <p:cNvSpPr txBox="1">
              <a:spLocks noChangeArrowheads="1"/>
            </p:cNvSpPr>
            <p:nvPr/>
          </p:nvSpPr>
          <p:spPr bwMode="auto">
            <a:xfrm>
              <a:off x="1488" y="1536"/>
              <a:ext cx="330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6-1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38" name="Text Box 7"/>
            <p:cNvSpPr txBox="1">
              <a:spLocks noChangeArrowheads="1"/>
            </p:cNvSpPr>
            <p:nvPr/>
          </p:nvSpPr>
          <p:spPr bwMode="auto">
            <a:xfrm>
              <a:off x="2688" y="1536"/>
              <a:ext cx="432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5-2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39" name="Text Box 8"/>
            <p:cNvSpPr txBox="1">
              <a:spLocks noChangeArrowheads="1"/>
            </p:cNvSpPr>
            <p:nvPr/>
          </p:nvSpPr>
          <p:spPr bwMode="auto">
            <a:xfrm>
              <a:off x="1392" y="2064"/>
              <a:ext cx="528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5-1-1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40" name="Text Box 9"/>
            <p:cNvSpPr txBox="1">
              <a:spLocks noChangeArrowheads="1"/>
            </p:cNvSpPr>
            <p:nvPr/>
          </p:nvSpPr>
          <p:spPr bwMode="auto">
            <a:xfrm>
              <a:off x="3840" y="1536"/>
              <a:ext cx="384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4-3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41" name="Text Box 10"/>
            <p:cNvSpPr txBox="1">
              <a:spLocks noChangeArrowheads="1"/>
            </p:cNvSpPr>
            <p:nvPr/>
          </p:nvSpPr>
          <p:spPr bwMode="auto">
            <a:xfrm>
              <a:off x="2640" y="2064"/>
              <a:ext cx="528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4-2-1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42" name="Text Box 11"/>
            <p:cNvSpPr txBox="1">
              <a:spLocks noChangeArrowheads="1"/>
            </p:cNvSpPr>
            <p:nvPr/>
          </p:nvSpPr>
          <p:spPr bwMode="auto">
            <a:xfrm>
              <a:off x="1344" y="2592"/>
              <a:ext cx="624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4-1-1-1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43" name="Text Box 12"/>
            <p:cNvSpPr txBox="1">
              <a:spLocks noChangeArrowheads="1"/>
            </p:cNvSpPr>
            <p:nvPr/>
          </p:nvSpPr>
          <p:spPr bwMode="auto">
            <a:xfrm>
              <a:off x="1200" y="3648"/>
              <a:ext cx="912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2-1-1-1-1-1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44" name="Text Box 13"/>
            <p:cNvSpPr txBox="1">
              <a:spLocks noChangeArrowheads="1"/>
            </p:cNvSpPr>
            <p:nvPr/>
          </p:nvSpPr>
          <p:spPr bwMode="auto">
            <a:xfrm>
              <a:off x="1296" y="3120"/>
              <a:ext cx="714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3-1-1-1-1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45" name="Text Box 14"/>
            <p:cNvSpPr txBox="1">
              <a:spLocks noChangeArrowheads="1"/>
            </p:cNvSpPr>
            <p:nvPr/>
          </p:nvSpPr>
          <p:spPr bwMode="auto">
            <a:xfrm>
              <a:off x="4848" y="2064"/>
              <a:ext cx="480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3-2-2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46" name="Text Box 15"/>
            <p:cNvSpPr txBox="1">
              <a:spLocks noChangeArrowheads="1"/>
            </p:cNvSpPr>
            <p:nvPr/>
          </p:nvSpPr>
          <p:spPr bwMode="auto">
            <a:xfrm>
              <a:off x="2544" y="2592"/>
              <a:ext cx="720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3-2-1-1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47" name="Text Box 16"/>
            <p:cNvSpPr txBox="1">
              <a:spLocks noChangeArrowheads="1"/>
            </p:cNvSpPr>
            <p:nvPr/>
          </p:nvSpPr>
          <p:spPr bwMode="auto">
            <a:xfrm>
              <a:off x="3792" y="2064"/>
              <a:ext cx="480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3-3-1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48" name="Text Box 18"/>
            <p:cNvSpPr txBox="1">
              <a:spLocks noChangeArrowheads="1"/>
            </p:cNvSpPr>
            <p:nvPr/>
          </p:nvSpPr>
          <p:spPr bwMode="auto">
            <a:xfrm>
              <a:off x="4752" y="2592"/>
              <a:ext cx="672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2-2-2-1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8449" name="Text Box 19"/>
            <p:cNvSpPr txBox="1">
              <a:spLocks noChangeArrowheads="1"/>
            </p:cNvSpPr>
            <p:nvPr/>
          </p:nvSpPr>
          <p:spPr bwMode="auto">
            <a:xfrm>
              <a:off x="2448" y="3120"/>
              <a:ext cx="912" cy="23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GB" sz="1800">
                  <a:solidFill>
                    <a:schemeClr val="tx2"/>
                  </a:solidFill>
                </a:rPr>
                <a:t>2-2-1-1-1</a:t>
              </a:r>
              <a:endParaRPr lang="en-US" sz="1800">
                <a:solidFill>
                  <a:schemeClr val="tx2"/>
                </a:solidFill>
              </a:endParaRPr>
            </a:p>
          </p:txBody>
        </p:sp>
        <p:cxnSp>
          <p:nvCxnSpPr>
            <p:cNvPr id="18450" name="AutoShape 20"/>
            <p:cNvCxnSpPr>
              <a:cxnSpLocks noChangeShapeType="1"/>
              <a:stCxn id="18436" idx="2"/>
              <a:endCxn id="18437" idx="0"/>
            </p:cNvCxnSpPr>
            <p:nvPr/>
          </p:nvCxnSpPr>
          <p:spPr bwMode="auto">
            <a:xfrm flipH="1">
              <a:off x="1653" y="1245"/>
              <a:ext cx="1251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1" name="AutoShape 21"/>
            <p:cNvCxnSpPr>
              <a:cxnSpLocks noChangeShapeType="1"/>
              <a:stCxn id="18437" idx="2"/>
              <a:endCxn id="18439" idx="0"/>
            </p:cNvCxnSpPr>
            <p:nvPr/>
          </p:nvCxnSpPr>
          <p:spPr bwMode="auto">
            <a:xfrm>
              <a:off x="1653" y="1773"/>
              <a:ext cx="3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2" name="AutoShape 22"/>
            <p:cNvCxnSpPr>
              <a:cxnSpLocks noChangeShapeType="1"/>
              <a:stCxn id="18439" idx="2"/>
              <a:endCxn id="18442" idx="0"/>
            </p:cNvCxnSpPr>
            <p:nvPr/>
          </p:nvCxnSpPr>
          <p:spPr bwMode="auto">
            <a:xfrm>
              <a:off x="1656" y="2301"/>
              <a:ext cx="0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3" name="AutoShape 23"/>
            <p:cNvCxnSpPr>
              <a:cxnSpLocks noChangeShapeType="1"/>
              <a:stCxn id="18442" idx="2"/>
              <a:endCxn id="18444" idx="0"/>
            </p:cNvCxnSpPr>
            <p:nvPr/>
          </p:nvCxnSpPr>
          <p:spPr bwMode="auto">
            <a:xfrm flipH="1">
              <a:off x="1653" y="2829"/>
              <a:ext cx="3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4" name="AutoShape 24"/>
            <p:cNvCxnSpPr>
              <a:cxnSpLocks noChangeShapeType="1"/>
              <a:stCxn id="18436" idx="2"/>
              <a:endCxn id="18438" idx="0"/>
            </p:cNvCxnSpPr>
            <p:nvPr/>
          </p:nvCxnSpPr>
          <p:spPr bwMode="auto">
            <a:xfrm>
              <a:off x="2904" y="1245"/>
              <a:ext cx="0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5" name="AutoShape 25"/>
            <p:cNvCxnSpPr>
              <a:cxnSpLocks noChangeShapeType="1"/>
              <a:stCxn id="18436" idx="2"/>
              <a:endCxn id="18440" idx="0"/>
            </p:cNvCxnSpPr>
            <p:nvPr/>
          </p:nvCxnSpPr>
          <p:spPr bwMode="auto">
            <a:xfrm>
              <a:off x="2904" y="1245"/>
              <a:ext cx="1128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6" name="AutoShape 26"/>
            <p:cNvCxnSpPr>
              <a:cxnSpLocks noChangeShapeType="1"/>
              <a:stCxn id="18440" idx="2"/>
              <a:endCxn id="18441" idx="0"/>
            </p:cNvCxnSpPr>
            <p:nvPr/>
          </p:nvCxnSpPr>
          <p:spPr bwMode="auto">
            <a:xfrm flipH="1">
              <a:off x="2904" y="1773"/>
              <a:ext cx="1128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7" name="AutoShape 27"/>
            <p:cNvCxnSpPr>
              <a:cxnSpLocks noChangeShapeType="1"/>
              <a:stCxn id="18441" idx="2"/>
              <a:endCxn id="18446" idx="0"/>
            </p:cNvCxnSpPr>
            <p:nvPr/>
          </p:nvCxnSpPr>
          <p:spPr bwMode="auto">
            <a:xfrm>
              <a:off x="2904" y="2301"/>
              <a:ext cx="0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8" name="AutoShape 28"/>
            <p:cNvCxnSpPr>
              <a:cxnSpLocks noChangeShapeType="1"/>
              <a:stCxn id="18446" idx="2"/>
              <a:endCxn id="18449" idx="0"/>
            </p:cNvCxnSpPr>
            <p:nvPr/>
          </p:nvCxnSpPr>
          <p:spPr bwMode="auto">
            <a:xfrm>
              <a:off x="2904" y="2829"/>
              <a:ext cx="0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9" name="AutoShape 29"/>
            <p:cNvCxnSpPr>
              <a:cxnSpLocks noChangeShapeType="1"/>
              <a:stCxn id="18438" idx="2"/>
              <a:endCxn id="18441" idx="0"/>
            </p:cNvCxnSpPr>
            <p:nvPr/>
          </p:nvCxnSpPr>
          <p:spPr bwMode="auto">
            <a:xfrm>
              <a:off x="2904" y="1773"/>
              <a:ext cx="0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0" name="AutoShape 30"/>
            <p:cNvCxnSpPr>
              <a:cxnSpLocks noChangeShapeType="1"/>
              <a:stCxn id="18438" idx="2"/>
              <a:endCxn id="18445" idx="0"/>
            </p:cNvCxnSpPr>
            <p:nvPr/>
          </p:nvCxnSpPr>
          <p:spPr bwMode="auto">
            <a:xfrm>
              <a:off x="2904" y="1773"/>
              <a:ext cx="2184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1" name="AutoShape 31"/>
            <p:cNvCxnSpPr>
              <a:cxnSpLocks noChangeShapeType="1"/>
              <a:stCxn id="18445" idx="2"/>
              <a:endCxn id="18448" idx="0"/>
            </p:cNvCxnSpPr>
            <p:nvPr/>
          </p:nvCxnSpPr>
          <p:spPr bwMode="auto">
            <a:xfrm>
              <a:off x="5088" y="2301"/>
              <a:ext cx="0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2" name="AutoShape 32"/>
            <p:cNvCxnSpPr>
              <a:cxnSpLocks noChangeShapeType="1"/>
              <a:stCxn id="18439" idx="2"/>
              <a:endCxn id="18446" idx="0"/>
            </p:cNvCxnSpPr>
            <p:nvPr/>
          </p:nvCxnSpPr>
          <p:spPr bwMode="auto">
            <a:xfrm>
              <a:off x="1656" y="2301"/>
              <a:ext cx="1248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3" name="AutoShape 33"/>
            <p:cNvCxnSpPr>
              <a:cxnSpLocks noChangeShapeType="1"/>
              <a:stCxn id="18440" idx="2"/>
              <a:endCxn id="18447" idx="0"/>
            </p:cNvCxnSpPr>
            <p:nvPr/>
          </p:nvCxnSpPr>
          <p:spPr bwMode="auto">
            <a:xfrm>
              <a:off x="4032" y="1773"/>
              <a:ext cx="0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4" name="AutoShape 34"/>
            <p:cNvCxnSpPr>
              <a:cxnSpLocks noChangeShapeType="1"/>
              <a:stCxn id="18447" idx="2"/>
              <a:endCxn id="18446" idx="0"/>
            </p:cNvCxnSpPr>
            <p:nvPr/>
          </p:nvCxnSpPr>
          <p:spPr bwMode="auto">
            <a:xfrm flipH="1">
              <a:off x="2904" y="2301"/>
              <a:ext cx="1128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5" name="AutoShape 35"/>
            <p:cNvCxnSpPr>
              <a:cxnSpLocks noChangeShapeType="1"/>
              <a:stCxn id="18437" idx="2"/>
              <a:endCxn id="18441" idx="0"/>
            </p:cNvCxnSpPr>
            <p:nvPr/>
          </p:nvCxnSpPr>
          <p:spPr bwMode="auto">
            <a:xfrm>
              <a:off x="1653" y="1773"/>
              <a:ext cx="1251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6" name="AutoShape 36"/>
            <p:cNvCxnSpPr>
              <a:cxnSpLocks noChangeShapeType="1"/>
              <a:stCxn id="18444" idx="2"/>
              <a:endCxn id="18443" idx="0"/>
            </p:cNvCxnSpPr>
            <p:nvPr/>
          </p:nvCxnSpPr>
          <p:spPr bwMode="auto">
            <a:xfrm>
              <a:off x="1653" y="3357"/>
              <a:ext cx="3" cy="291"/>
            </a:xfrm>
            <a:prstGeom prst="straightConnector1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Nim Game Tree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3733800" y="1524000"/>
            <a:ext cx="533400" cy="404813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7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1738313" y="2362200"/>
            <a:ext cx="552450" cy="404813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6-1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3657600" y="2362200"/>
            <a:ext cx="685800" cy="404813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5-2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1600200" y="3200400"/>
            <a:ext cx="83820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5-1-1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63" name="Text Box 8"/>
          <p:cNvSpPr txBox="1">
            <a:spLocks noChangeArrowheads="1"/>
          </p:cNvSpPr>
          <p:nvPr/>
        </p:nvSpPr>
        <p:spPr bwMode="auto">
          <a:xfrm>
            <a:off x="5486400" y="2362200"/>
            <a:ext cx="609600" cy="404813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4-3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64" name="Text Box 9"/>
          <p:cNvSpPr txBox="1">
            <a:spLocks noChangeArrowheads="1"/>
          </p:cNvSpPr>
          <p:nvPr/>
        </p:nvSpPr>
        <p:spPr bwMode="auto">
          <a:xfrm>
            <a:off x="3581400" y="3200400"/>
            <a:ext cx="838200" cy="404813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4-2-1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65" name="Text Box 10"/>
          <p:cNvSpPr txBox="1">
            <a:spLocks noChangeArrowheads="1"/>
          </p:cNvSpPr>
          <p:nvPr/>
        </p:nvSpPr>
        <p:spPr bwMode="auto">
          <a:xfrm>
            <a:off x="1524000" y="4038600"/>
            <a:ext cx="99060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4-1-1-1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66" name="Text Box 11"/>
          <p:cNvSpPr txBox="1">
            <a:spLocks noChangeArrowheads="1"/>
          </p:cNvSpPr>
          <p:nvPr/>
        </p:nvSpPr>
        <p:spPr bwMode="auto">
          <a:xfrm>
            <a:off x="1295400" y="5715000"/>
            <a:ext cx="144780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2-1-1-1-1-1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67" name="Text Box 12"/>
          <p:cNvSpPr txBox="1">
            <a:spLocks noChangeArrowheads="1"/>
          </p:cNvSpPr>
          <p:nvPr/>
        </p:nvSpPr>
        <p:spPr bwMode="auto">
          <a:xfrm>
            <a:off x="1447800" y="4876800"/>
            <a:ext cx="11334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3-1-1-1-1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68" name="Text Box 13"/>
          <p:cNvSpPr txBox="1">
            <a:spLocks noChangeArrowheads="1"/>
          </p:cNvSpPr>
          <p:nvPr/>
        </p:nvSpPr>
        <p:spPr bwMode="auto">
          <a:xfrm>
            <a:off x="7086600" y="3200400"/>
            <a:ext cx="76200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3-2-2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69" name="Text Box 14"/>
          <p:cNvSpPr txBox="1">
            <a:spLocks noChangeArrowheads="1"/>
          </p:cNvSpPr>
          <p:nvPr/>
        </p:nvSpPr>
        <p:spPr bwMode="auto">
          <a:xfrm>
            <a:off x="3429000" y="4038600"/>
            <a:ext cx="1143000" cy="404813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3-2-1-1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70" name="Text Box 15"/>
          <p:cNvSpPr txBox="1">
            <a:spLocks noChangeArrowheads="1"/>
          </p:cNvSpPr>
          <p:nvPr/>
        </p:nvSpPr>
        <p:spPr bwMode="auto">
          <a:xfrm>
            <a:off x="5410200" y="3200400"/>
            <a:ext cx="762000" cy="404813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3-3-1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71" name="Text Box 16"/>
          <p:cNvSpPr txBox="1">
            <a:spLocks noChangeArrowheads="1"/>
          </p:cNvSpPr>
          <p:nvPr/>
        </p:nvSpPr>
        <p:spPr bwMode="auto">
          <a:xfrm>
            <a:off x="6934200" y="4038600"/>
            <a:ext cx="106680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2-2-2-1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72" name="Text Box 17"/>
          <p:cNvSpPr txBox="1">
            <a:spLocks noChangeArrowheads="1"/>
          </p:cNvSpPr>
          <p:nvPr/>
        </p:nvSpPr>
        <p:spPr bwMode="auto">
          <a:xfrm>
            <a:off x="3276600" y="4876800"/>
            <a:ext cx="1447800" cy="404813"/>
          </a:xfrm>
          <a:prstGeom prst="rect">
            <a:avLst/>
          </a:prstGeom>
          <a:solidFill>
            <a:schemeClr val="tx2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bg1"/>
                </a:solidFill>
              </a:rPr>
              <a:t>2-2-1-1-1</a:t>
            </a:r>
            <a:endParaRPr lang="en-US" sz="1800">
              <a:solidFill>
                <a:schemeClr val="bg1"/>
              </a:solidFill>
            </a:endParaRPr>
          </a:p>
        </p:txBody>
      </p:sp>
      <p:cxnSp>
        <p:nvCxnSpPr>
          <p:cNvPr id="19473" name="AutoShape 18"/>
          <p:cNvCxnSpPr>
            <a:cxnSpLocks noChangeShapeType="1"/>
            <a:stCxn id="19459" idx="2"/>
            <a:endCxn id="19460" idx="0"/>
          </p:cNvCxnSpPr>
          <p:nvPr/>
        </p:nvCxnSpPr>
        <p:spPr bwMode="auto">
          <a:xfrm flipH="1">
            <a:off x="2014538" y="1947863"/>
            <a:ext cx="1985962" cy="3952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4" name="AutoShape 19"/>
          <p:cNvCxnSpPr>
            <a:cxnSpLocks noChangeShapeType="1"/>
            <a:stCxn id="19460" idx="2"/>
            <a:endCxn id="19462" idx="0"/>
          </p:cNvCxnSpPr>
          <p:nvPr/>
        </p:nvCxnSpPr>
        <p:spPr bwMode="auto">
          <a:xfrm>
            <a:off x="2014538" y="2786063"/>
            <a:ext cx="4762" cy="41433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5" name="AutoShape 20"/>
          <p:cNvCxnSpPr>
            <a:cxnSpLocks noChangeShapeType="1"/>
            <a:stCxn id="19462" idx="2"/>
            <a:endCxn id="19465" idx="0"/>
          </p:cNvCxnSpPr>
          <p:nvPr/>
        </p:nvCxnSpPr>
        <p:spPr bwMode="auto">
          <a:xfrm>
            <a:off x="2019300" y="3576638"/>
            <a:ext cx="0" cy="461962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6" name="AutoShape 21"/>
          <p:cNvCxnSpPr>
            <a:cxnSpLocks noChangeShapeType="1"/>
            <a:stCxn id="19465" idx="2"/>
            <a:endCxn id="19467" idx="0"/>
          </p:cNvCxnSpPr>
          <p:nvPr/>
        </p:nvCxnSpPr>
        <p:spPr bwMode="auto">
          <a:xfrm flipH="1">
            <a:off x="2014538" y="4414838"/>
            <a:ext cx="4762" cy="461962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7" name="AutoShape 22"/>
          <p:cNvCxnSpPr>
            <a:cxnSpLocks noChangeShapeType="1"/>
            <a:stCxn id="19459" idx="2"/>
            <a:endCxn id="19461" idx="0"/>
          </p:cNvCxnSpPr>
          <p:nvPr/>
        </p:nvCxnSpPr>
        <p:spPr bwMode="auto">
          <a:xfrm>
            <a:off x="4000500" y="1947863"/>
            <a:ext cx="0" cy="3952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8" name="AutoShape 23"/>
          <p:cNvCxnSpPr>
            <a:cxnSpLocks noChangeShapeType="1"/>
            <a:stCxn id="19459" idx="2"/>
            <a:endCxn id="19463" idx="0"/>
          </p:cNvCxnSpPr>
          <p:nvPr/>
        </p:nvCxnSpPr>
        <p:spPr bwMode="auto">
          <a:xfrm>
            <a:off x="4000500" y="1947863"/>
            <a:ext cx="1790700" cy="3952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9" name="AutoShape 24"/>
          <p:cNvCxnSpPr>
            <a:cxnSpLocks noChangeShapeType="1"/>
            <a:stCxn id="19463" idx="2"/>
            <a:endCxn id="19464" idx="0"/>
          </p:cNvCxnSpPr>
          <p:nvPr/>
        </p:nvCxnSpPr>
        <p:spPr bwMode="auto">
          <a:xfrm flipH="1">
            <a:off x="4000500" y="2786063"/>
            <a:ext cx="1790700" cy="3952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0" name="AutoShape 25"/>
          <p:cNvCxnSpPr>
            <a:cxnSpLocks noChangeShapeType="1"/>
            <a:stCxn id="19464" idx="2"/>
            <a:endCxn id="19469" idx="0"/>
          </p:cNvCxnSpPr>
          <p:nvPr/>
        </p:nvCxnSpPr>
        <p:spPr bwMode="auto">
          <a:xfrm>
            <a:off x="4000500" y="3624263"/>
            <a:ext cx="0" cy="3952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1" name="AutoShape 26"/>
          <p:cNvCxnSpPr>
            <a:cxnSpLocks noChangeShapeType="1"/>
            <a:stCxn id="19469" idx="2"/>
            <a:endCxn id="19472" idx="0"/>
          </p:cNvCxnSpPr>
          <p:nvPr/>
        </p:nvCxnSpPr>
        <p:spPr bwMode="auto">
          <a:xfrm>
            <a:off x="4000500" y="4462463"/>
            <a:ext cx="0" cy="3952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2" name="AutoShape 27"/>
          <p:cNvCxnSpPr>
            <a:cxnSpLocks noChangeShapeType="1"/>
            <a:stCxn id="19461" idx="2"/>
            <a:endCxn id="19464" idx="0"/>
          </p:cNvCxnSpPr>
          <p:nvPr/>
        </p:nvCxnSpPr>
        <p:spPr bwMode="auto">
          <a:xfrm>
            <a:off x="4000500" y="2786063"/>
            <a:ext cx="0" cy="3952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3" name="AutoShape 28"/>
          <p:cNvCxnSpPr>
            <a:cxnSpLocks noChangeShapeType="1"/>
            <a:stCxn id="19461" idx="2"/>
            <a:endCxn id="19468" idx="0"/>
          </p:cNvCxnSpPr>
          <p:nvPr/>
        </p:nvCxnSpPr>
        <p:spPr bwMode="auto">
          <a:xfrm>
            <a:off x="4000500" y="2786063"/>
            <a:ext cx="3467100" cy="414337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4" name="AutoShape 29"/>
          <p:cNvCxnSpPr>
            <a:cxnSpLocks noChangeShapeType="1"/>
            <a:stCxn id="19468" idx="2"/>
            <a:endCxn id="19471" idx="0"/>
          </p:cNvCxnSpPr>
          <p:nvPr/>
        </p:nvCxnSpPr>
        <p:spPr bwMode="auto">
          <a:xfrm>
            <a:off x="7467600" y="3576638"/>
            <a:ext cx="0" cy="461962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5" name="AutoShape 30"/>
          <p:cNvCxnSpPr>
            <a:cxnSpLocks noChangeShapeType="1"/>
            <a:stCxn id="19462" idx="2"/>
            <a:endCxn id="19469" idx="0"/>
          </p:cNvCxnSpPr>
          <p:nvPr/>
        </p:nvCxnSpPr>
        <p:spPr bwMode="auto">
          <a:xfrm>
            <a:off x="2019300" y="3576638"/>
            <a:ext cx="1981200" cy="442912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6" name="AutoShape 31"/>
          <p:cNvCxnSpPr>
            <a:cxnSpLocks noChangeShapeType="1"/>
            <a:stCxn id="19463" idx="2"/>
            <a:endCxn id="19470" idx="0"/>
          </p:cNvCxnSpPr>
          <p:nvPr/>
        </p:nvCxnSpPr>
        <p:spPr bwMode="auto">
          <a:xfrm>
            <a:off x="5791200" y="2786063"/>
            <a:ext cx="0" cy="3952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7" name="AutoShape 32"/>
          <p:cNvCxnSpPr>
            <a:cxnSpLocks noChangeShapeType="1"/>
            <a:stCxn id="19470" idx="2"/>
            <a:endCxn id="19469" idx="0"/>
          </p:cNvCxnSpPr>
          <p:nvPr/>
        </p:nvCxnSpPr>
        <p:spPr bwMode="auto">
          <a:xfrm flipH="1">
            <a:off x="4000500" y="3624263"/>
            <a:ext cx="1790700" cy="3952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8" name="AutoShape 33"/>
          <p:cNvCxnSpPr>
            <a:cxnSpLocks noChangeShapeType="1"/>
            <a:stCxn id="19460" idx="2"/>
            <a:endCxn id="19464" idx="0"/>
          </p:cNvCxnSpPr>
          <p:nvPr/>
        </p:nvCxnSpPr>
        <p:spPr bwMode="auto">
          <a:xfrm>
            <a:off x="2014538" y="2786063"/>
            <a:ext cx="1985962" cy="3952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9" name="AutoShape 34"/>
          <p:cNvCxnSpPr>
            <a:cxnSpLocks noChangeShapeType="1"/>
            <a:stCxn id="19467" idx="2"/>
            <a:endCxn id="19466" idx="0"/>
          </p:cNvCxnSpPr>
          <p:nvPr/>
        </p:nvCxnSpPr>
        <p:spPr bwMode="auto">
          <a:xfrm>
            <a:off x="2014538" y="5253038"/>
            <a:ext cx="4762" cy="461962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9490" name="Group 35"/>
          <p:cNvGrpSpPr>
            <a:grpSpLocks/>
          </p:cNvGrpSpPr>
          <p:nvPr/>
        </p:nvGrpSpPr>
        <p:grpSpPr bwMode="auto">
          <a:xfrm>
            <a:off x="0" y="2133600"/>
            <a:ext cx="9144000" cy="3352800"/>
            <a:chOff x="432" y="1392"/>
            <a:chExt cx="5136" cy="2112"/>
          </a:xfrm>
        </p:grpSpPr>
        <p:sp>
          <p:nvSpPr>
            <p:cNvPr id="19497" name="Line 36"/>
            <p:cNvSpPr>
              <a:spLocks noChangeShapeType="1"/>
            </p:cNvSpPr>
            <p:nvPr/>
          </p:nvSpPr>
          <p:spPr bwMode="auto">
            <a:xfrm>
              <a:off x="432" y="1392"/>
              <a:ext cx="513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8" name="Line 37"/>
            <p:cNvSpPr>
              <a:spLocks noChangeShapeType="1"/>
            </p:cNvSpPr>
            <p:nvPr/>
          </p:nvSpPr>
          <p:spPr bwMode="auto">
            <a:xfrm>
              <a:off x="432" y="1872"/>
              <a:ext cx="513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9" name="Line 38"/>
            <p:cNvSpPr>
              <a:spLocks noChangeShapeType="1"/>
            </p:cNvSpPr>
            <p:nvPr/>
          </p:nvSpPr>
          <p:spPr bwMode="auto">
            <a:xfrm>
              <a:off x="432" y="2400"/>
              <a:ext cx="513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00" name="Line 39"/>
            <p:cNvSpPr>
              <a:spLocks noChangeShapeType="1"/>
            </p:cNvSpPr>
            <p:nvPr/>
          </p:nvSpPr>
          <p:spPr bwMode="auto">
            <a:xfrm>
              <a:off x="432" y="2976"/>
              <a:ext cx="513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01" name="Line 40"/>
            <p:cNvSpPr>
              <a:spLocks noChangeShapeType="1"/>
            </p:cNvSpPr>
            <p:nvPr/>
          </p:nvSpPr>
          <p:spPr bwMode="auto">
            <a:xfrm>
              <a:off x="432" y="3504"/>
              <a:ext cx="513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491" name="Text Box 41"/>
          <p:cNvSpPr txBox="1">
            <a:spLocks noChangeArrowheads="1"/>
          </p:cNvSpPr>
          <p:nvPr/>
        </p:nvSpPr>
        <p:spPr bwMode="auto">
          <a:xfrm>
            <a:off x="381000" y="16764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YOU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92" name="Text Box 42"/>
          <p:cNvSpPr txBox="1">
            <a:spLocks noChangeArrowheads="1"/>
          </p:cNvSpPr>
          <p:nvPr/>
        </p:nvSpPr>
        <p:spPr bwMode="auto">
          <a:xfrm>
            <a:off x="381000" y="2362200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ME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93" name="Text Box 43"/>
          <p:cNvSpPr txBox="1">
            <a:spLocks noChangeArrowheads="1"/>
          </p:cNvSpPr>
          <p:nvPr/>
        </p:nvSpPr>
        <p:spPr bwMode="auto">
          <a:xfrm>
            <a:off x="381000" y="31242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YOU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94" name="Text Box 44"/>
          <p:cNvSpPr txBox="1">
            <a:spLocks noChangeArrowheads="1"/>
          </p:cNvSpPr>
          <p:nvPr/>
        </p:nvSpPr>
        <p:spPr bwMode="auto">
          <a:xfrm>
            <a:off x="381000" y="48768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YOU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95" name="Text Box 45"/>
          <p:cNvSpPr txBox="1">
            <a:spLocks noChangeArrowheads="1"/>
          </p:cNvSpPr>
          <p:nvPr/>
        </p:nvSpPr>
        <p:spPr bwMode="auto">
          <a:xfrm>
            <a:off x="381000" y="4038600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ME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9496" name="Text Box 46"/>
          <p:cNvSpPr txBox="1">
            <a:spLocks noChangeArrowheads="1"/>
          </p:cNvSpPr>
          <p:nvPr/>
        </p:nvSpPr>
        <p:spPr bwMode="auto">
          <a:xfrm>
            <a:off x="381000" y="5715000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ME</a:t>
            </a:r>
            <a:endParaRPr lang="en-US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mtClean="0"/>
              <a:t>Initial state: initial board state</a:t>
            </a:r>
          </a:p>
          <a:p>
            <a:pPr eaLnBrk="1" hangingPunct="1"/>
            <a:r>
              <a:rPr lang="en-GB" smtClean="0"/>
              <a:t>Goal state: winning positions</a:t>
            </a:r>
          </a:p>
          <a:p>
            <a:pPr eaLnBrk="1" hangingPunct="1"/>
            <a:r>
              <a:rPr lang="en-GB" smtClean="0"/>
              <a:t>Actions: one for each legal move</a:t>
            </a:r>
          </a:p>
          <a:p>
            <a:pPr eaLnBrk="1" hangingPunct="1"/>
            <a:r>
              <a:rPr lang="en-GB" smtClean="0"/>
              <a:t>Expand function: generate legal moves </a:t>
            </a:r>
          </a:p>
          <a:p>
            <a:pPr eaLnBrk="1" hangingPunct="1"/>
            <a:r>
              <a:rPr lang="en-GB" smtClean="0"/>
              <a:t>Evaluation function: assigns score to each board state</a:t>
            </a:r>
          </a:p>
          <a:p>
            <a:pPr eaLnBrk="1" hangingPunct="1"/>
            <a:r>
              <a:rPr lang="en-GB" smtClean="0"/>
              <a:t>Game tree: all possible games</a:t>
            </a:r>
            <a:endParaRPr lang="en-US" smtClean="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Game Tree Search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mtClean="0"/>
              <a:t>View of search in adversarial games</a:t>
            </a:r>
          </a:p>
          <a:p>
            <a:pPr eaLnBrk="1" hangingPunct="1"/>
            <a:r>
              <a:rPr lang="en-GB" smtClean="0"/>
              <a:t>MAX is traditionally the computer player, and picks the moves whose heuristic value is the best (maximum)</a:t>
            </a:r>
          </a:p>
          <a:p>
            <a:pPr eaLnBrk="1" hangingPunct="1"/>
            <a:r>
              <a:rPr lang="en-GB" smtClean="0"/>
              <a:t>MIN is the opponent, and picks moves that minimise MAX’s advantage</a:t>
            </a:r>
            <a:endParaRPr lang="en-US" smtClean="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Minimax Search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Nim Game Tree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3733800" y="1524000"/>
            <a:ext cx="5334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7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751013" y="2362200"/>
            <a:ext cx="52705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6-1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3657600" y="2362200"/>
            <a:ext cx="6858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5-2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1600200" y="3200400"/>
            <a:ext cx="8382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5-1-1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5486400" y="2362200"/>
            <a:ext cx="6096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4-3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3581400" y="3200400"/>
            <a:ext cx="8382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4-2-1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1524000" y="4038600"/>
            <a:ext cx="9906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4-1-1-1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1295400" y="5715000"/>
            <a:ext cx="14478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2-1-1-1-1-1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1446213" y="4876800"/>
            <a:ext cx="113665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3-1-1-1-1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7086600" y="3200400"/>
            <a:ext cx="7620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3-2-2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3429000" y="4038600"/>
            <a:ext cx="11430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3-2-1-1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5410200" y="3200400"/>
            <a:ext cx="7620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3-3-1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6934200" y="4038600"/>
            <a:ext cx="10668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2-2-2-1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3276600" y="4876800"/>
            <a:ext cx="14478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2-2-1-1-1</a:t>
            </a:r>
            <a:endParaRPr lang="en-US" sz="1800">
              <a:solidFill>
                <a:schemeClr val="tx2"/>
              </a:solidFill>
            </a:endParaRPr>
          </a:p>
        </p:txBody>
      </p:sp>
      <p:cxnSp>
        <p:nvCxnSpPr>
          <p:cNvPr id="22545" name="AutoShape 17"/>
          <p:cNvCxnSpPr>
            <a:cxnSpLocks noChangeShapeType="1"/>
            <a:stCxn id="22531" idx="2"/>
            <a:endCxn id="22532" idx="0"/>
          </p:cNvCxnSpPr>
          <p:nvPr/>
        </p:nvCxnSpPr>
        <p:spPr bwMode="auto">
          <a:xfrm flipH="1">
            <a:off x="2014538" y="1903413"/>
            <a:ext cx="1985962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6" name="AutoShape 18"/>
          <p:cNvCxnSpPr>
            <a:cxnSpLocks noChangeShapeType="1"/>
            <a:stCxn id="22532" idx="2"/>
            <a:endCxn id="22534" idx="0"/>
          </p:cNvCxnSpPr>
          <p:nvPr/>
        </p:nvCxnSpPr>
        <p:spPr bwMode="auto">
          <a:xfrm>
            <a:off x="2014538" y="2741613"/>
            <a:ext cx="4762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7" name="AutoShape 19"/>
          <p:cNvCxnSpPr>
            <a:cxnSpLocks noChangeShapeType="1"/>
            <a:stCxn id="22534" idx="2"/>
            <a:endCxn id="22537" idx="0"/>
          </p:cNvCxnSpPr>
          <p:nvPr/>
        </p:nvCxnSpPr>
        <p:spPr bwMode="auto">
          <a:xfrm>
            <a:off x="2019300" y="35798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8" name="AutoShape 20"/>
          <p:cNvCxnSpPr>
            <a:cxnSpLocks noChangeShapeType="1"/>
            <a:stCxn id="22537" idx="2"/>
            <a:endCxn id="22539" idx="0"/>
          </p:cNvCxnSpPr>
          <p:nvPr/>
        </p:nvCxnSpPr>
        <p:spPr bwMode="auto">
          <a:xfrm flipH="1">
            <a:off x="2014538" y="4418013"/>
            <a:ext cx="4762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9" name="AutoShape 21"/>
          <p:cNvCxnSpPr>
            <a:cxnSpLocks noChangeShapeType="1"/>
            <a:stCxn id="22531" idx="2"/>
            <a:endCxn id="22533" idx="0"/>
          </p:cNvCxnSpPr>
          <p:nvPr/>
        </p:nvCxnSpPr>
        <p:spPr bwMode="auto">
          <a:xfrm>
            <a:off x="4000500" y="19034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0" name="AutoShape 22"/>
          <p:cNvCxnSpPr>
            <a:cxnSpLocks noChangeShapeType="1"/>
            <a:stCxn id="22531" idx="2"/>
            <a:endCxn id="22535" idx="0"/>
          </p:cNvCxnSpPr>
          <p:nvPr/>
        </p:nvCxnSpPr>
        <p:spPr bwMode="auto">
          <a:xfrm>
            <a:off x="4000500" y="1903413"/>
            <a:ext cx="179070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1" name="AutoShape 23"/>
          <p:cNvCxnSpPr>
            <a:cxnSpLocks noChangeShapeType="1"/>
            <a:stCxn id="22535" idx="2"/>
            <a:endCxn id="22536" idx="0"/>
          </p:cNvCxnSpPr>
          <p:nvPr/>
        </p:nvCxnSpPr>
        <p:spPr bwMode="auto">
          <a:xfrm flipH="1">
            <a:off x="4000500" y="2741613"/>
            <a:ext cx="179070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2" name="AutoShape 24"/>
          <p:cNvCxnSpPr>
            <a:cxnSpLocks noChangeShapeType="1"/>
            <a:stCxn id="22536" idx="2"/>
            <a:endCxn id="22541" idx="0"/>
          </p:cNvCxnSpPr>
          <p:nvPr/>
        </p:nvCxnSpPr>
        <p:spPr bwMode="auto">
          <a:xfrm>
            <a:off x="4000500" y="35798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3" name="AutoShape 25"/>
          <p:cNvCxnSpPr>
            <a:cxnSpLocks noChangeShapeType="1"/>
            <a:stCxn id="22541" idx="2"/>
            <a:endCxn id="22544" idx="0"/>
          </p:cNvCxnSpPr>
          <p:nvPr/>
        </p:nvCxnSpPr>
        <p:spPr bwMode="auto">
          <a:xfrm>
            <a:off x="4000500" y="44180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4" name="AutoShape 26"/>
          <p:cNvCxnSpPr>
            <a:cxnSpLocks noChangeShapeType="1"/>
            <a:stCxn id="22533" idx="2"/>
            <a:endCxn id="22536" idx="0"/>
          </p:cNvCxnSpPr>
          <p:nvPr/>
        </p:nvCxnSpPr>
        <p:spPr bwMode="auto">
          <a:xfrm>
            <a:off x="4000500" y="27416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5" name="AutoShape 27"/>
          <p:cNvCxnSpPr>
            <a:cxnSpLocks noChangeShapeType="1"/>
            <a:stCxn id="22533" idx="2"/>
            <a:endCxn id="22540" idx="0"/>
          </p:cNvCxnSpPr>
          <p:nvPr/>
        </p:nvCxnSpPr>
        <p:spPr bwMode="auto">
          <a:xfrm>
            <a:off x="4000500" y="2741613"/>
            <a:ext cx="346710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6" name="AutoShape 28"/>
          <p:cNvCxnSpPr>
            <a:cxnSpLocks noChangeShapeType="1"/>
            <a:stCxn id="22540" idx="2"/>
            <a:endCxn id="22543" idx="0"/>
          </p:cNvCxnSpPr>
          <p:nvPr/>
        </p:nvCxnSpPr>
        <p:spPr bwMode="auto">
          <a:xfrm>
            <a:off x="7467600" y="35798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7" name="AutoShape 29"/>
          <p:cNvCxnSpPr>
            <a:cxnSpLocks noChangeShapeType="1"/>
            <a:stCxn id="22534" idx="2"/>
            <a:endCxn id="22541" idx="0"/>
          </p:cNvCxnSpPr>
          <p:nvPr/>
        </p:nvCxnSpPr>
        <p:spPr bwMode="auto">
          <a:xfrm>
            <a:off x="2019300" y="3579813"/>
            <a:ext cx="198120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8" name="AutoShape 30"/>
          <p:cNvCxnSpPr>
            <a:cxnSpLocks noChangeShapeType="1"/>
            <a:stCxn id="22535" idx="2"/>
            <a:endCxn id="22542" idx="0"/>
          </p:cNvCxnSpPr>
          <p:nvPr/>
        </p:nvCxnSpPr>
        <p:spPr bwMode="auto">
          <a:xfrm>
            <a:off x="5791200" y="27416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9" name="AutoShape 31"/>
          <p:cNvCxnSpPr>
            <a:cxnSpLocks noChangeShapeType="1"/>
            <a:stCxn id="22542" idx="2"/>
            <a:endCxn id="22541" idx="0"/>
          </p:cNvCxnSpPr>
          <p:nvPr/>
        </p:nvCxnSpPr>
        <p:spPr bwMode="auto">
          <a:xfrm flipH="1">
            <a:off x="4000500" y="3579813"/>
            <a:ext cx="179070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0" name="AutoShape 32"/>
          <p:cNvCxnSpPr>
            <a:cxnSpLocks noChangeShapeType="1"/>
            <a:stCxn id="22532" idx="2"/>
            <a:endCxn id="22536" idx="0"/>
          </p:cNvCxnSpPr>
          <p:nvPr/>
        </p:nvCxnSpPr>
        <p:spPr bwMode="auto">
          <a:xfrm>
            <a:off x="2014538" y="2741613"/>
            <a:ext cx="1985962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1" name="AutoShape 33"/>
          <p:cNvCxnSpPr>
            <a:cxnSpLocks noChangeShapeType="1"/>
            <a:stCxn id="22539" idx="2"/>
            <a:endCxn id="22538" idx="0"/>
          </p:cNvCxnSpPr>
          <p:nvPr/>
        </p:nvCxnSpPr>
        <p:spPr bwMode="auto">
          <a:xfrm>
            <a:off x="2014538" y="5256213"/>
            <a:ext cx="4762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2562" name="Group 34"/>
          <p:cNvGrpSpPr>
            <a:grpSpLocks/>
          </p:cNvGrpSpPr>
          <p:nvPr/>
        </p:nvGrpSpPr>
        <p:grpSpPr bwMode="auto">
          <a:xfrm>
            <a:off x="0" y="2133600"/>
            <a:ext cx="9144000" cy="3352800"/>
            <a:chOff x="432" y="1392"/>
            <a:chExt cx="5136" cy="2112"/>
          </a:xfrm>
        </p:grpSpPr>
        <p:sp>
          <p:nvSpPr>
            <p:cNvPr id="22569" name="Line 35"/>
            <p:cNvSpPr>
              <a:spLocks noChangeShapeType="1"/>
            </p:cNvSpPr>
            <p:nvPr/>
          </p:nvSpPr>
          <p:spPr bwMode="auto">
            <a:xfrm>
              <a:off x="432" y="1392"/>
              <a:ext cx="513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0" name="Line 36"/>
            <p:cNvSpPr>
              <a:spLocks noChangeShapeType="1"/>
            </p:cNvSpPr>
            <p:nvPr/>
          </p:nvSpPr>
          <p:spPr bwMode="auto">
            <a:xfrm>
              <a:off x="432" y="1872"/>
              <a:ext cx="513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1" name="Line 37"/>
            <p:cNvSpPr>
              <a:spLocks noChangeShapeType="1"/>
            </p:cNvSpPr>
            <p:nvPr/>
          </p:nvSpPr>
          <p:spPr bwMode="auto">
            <a:xfrm>
              <a:off x="432" y="2400"/>
              <a:ext cx="513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2" name="Line 38"/>
            <p:cNvSpPr>
              <a:spLocks noChangeShapeType="1"/>
            </p:cNvSpPr>
            <p:nvPr/>
          </p:nvSpPr>
          <p:spPr bwMode="auto">
            <a:xfrm>
              <a:off x="432" y="2976"/>
              <a:ext cx="513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3" name="Line 39"/>
            <p:cNvSpPr>
              <a:spLocks noChangeShapeType="1"/>
            </p:cNvSpPr>
            <p:nvPr/>
          </p:nvSpPr>
          <p:spPr bwMode="auto">
            <a:xfrm>
              <a:off x="432" y="3504"/>
              <a:ext cx="513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563" name="Text Box 40"/>
          <p:cNvSpPr txBox="1">
            <a:spLocks noChangeArrowheads="1"/>
          </p:cNvSpPr>
          <p:nvPr/>
        </p:nvSpPr>
        <p:spPr bwMode="auto">
          <a:xfrm>
            <a:off x="457200" y="23622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64" name="Text Box 42"/>
          <p:cNvSpPr txBox="1">
            <a:spLocks noChangeArrowheads="1"/>
          </p:cNvSpPr>
          <p:nvPr/>
        </p:nvSpPr>
        <p:spPr bwMode="auto">
          <a:xfrm>
            <a:off x="457200" y="40386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65" name="Text Box 43"/>
          <p:cNvSpPr txBox="1">
            <a:spLocks noChangeArrowheads="1"/>
          </p:cNvSpPr>
          <p:nvPr/>
        </p:nvSpPr>
        <p:spPr bwMode="auto">
          <a:xfrm>
            <a:off x="457200" y="57150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66" name="Text Box 41"/>
          <p:cNvSpPr txBox="1">
            <a:spLocks noChangeArrowheads="1"/>
          </p:cNvSpPr>
          <p:nvPr/>
        </p:nvSpPr>
        <p:spPr bwMode="auto">
          <a:xfrm>
            <a:off x="457200" y="152400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MIN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67" name="Text Box 45"/>
          <p:cNvSpPr txBox="1">
            <a:spLocks noChangeArrowheads="1"/>
          </p:cNvSpPr>
          <p:nvPr/>
        </p:nvSpPr>
        <p:spPr bwMode="auto">
          <a:xfrm>
            <a:off x="457200" y="487680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MIN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2568" name="Text Box 48"/>
          <p:cNvSpPr txBox="1">
            <a:spLocks noChangeArrowheads="1"/>
          </p:cNvSpPr>
          <p:nvPr/>
        </p:nvSpPr>
        <p:spPr bwMode="auto">
          <a:xfrm>
            <a:off x="457200" y="312420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MIN</a:t>
            </a:r>
            <a:endParaRPr lang="en-US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600" smtClean="0"/>
              <a:t>Search to a given ply (depth-limited search)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smtClean="0"/>
              <a:t>Evaluate heuristic for leaf nodes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smtClean="0"/>
              <a:t>Internal nodes propagate heuristic values towards tree root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smtClean="0"/>
              <a:t>MAX nodes take the maximum of their child values (we make the best move we can)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smtClean="0"/>
              <a:t>MIN nodes take the minimum of their child values (we assume our adversary makes the move that is worst for us)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smtClean="0"/>
              <a:t>Pick action with best guaranteed score</a:t>
            </a:r>
            <a:endParaRPr lang="en-US" sz="2600" smtClean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Minimax Search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function MAX-VALUE(state, depth)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if (depth ==0) then return EVAL(state)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v = -</a:t>
            </a:r>
            <a:r>
              <a:rPr lang="en-GB" sz="2600" smtClean="0">
                <a:latin typeface="Symbol" pitchFamily="-65" charset="2"/>
              </a:rPr>
              <a:t>¥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for each s in SUCCESSORS(state) do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	v = MAX(v, MIN-VALUE(s, depth-1))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end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return v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endParaRPr lang="en-GB" sz="2600" smtClean="0"/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 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 </a:t>
            </a: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Minimax Algorithm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function MIN-VALUE(state, depth)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if (depth ==0) then return EVAL(state)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v = </a:t>
            </a:r>
            <a:r>
              <a:rPr lang="en-GB" sz="2600" smtClean="0">
                <a:latin typeface="Symbol" pitchFamily="-65" charset="2"/>
              </a:rPr>
              <a:t>¥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for each s in SUCCESSORS(state) do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	v = MIN(v, MAX-VALUE(s, depth-1))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end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	return v</a:t>
            </a:r>
            <a:endParaRPr lang="en-US" sz="2600" smtClean="0"/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endParaRPr lang="en-GB" sz="2600" smtClean="0"/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endParaRPr lang="en-GB" sz="2600" smtClean="0"/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GB" sz="2600" smtClean="0"/>
              <a:t> </a:t>
            </a:r>
            <a:endParaRPr lang="en-US" sz="2600" smtClean="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Minimax Algorithm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Minimax Example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26627" name="Oval 4"/>
          <p:cNvSpPr>
            <a:spLocks noChangeArrowheads="1"/>
          </p:cNvSpPr>
          <p:nvPr/>
        </p:nvSpPr>
        <p:spPr bwMode="auto">
          <a:xfrm>
            <a:off x="1905000" y="48768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4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6628" name="Oval 6"/>
          <p:cNvSpPr>
            <a:spLocks noChangeArrowheads="1"/>
          </p:cNvSpPr>
          <p:nvPr/>
        </p:nvSpPr>
        <p:spPr bwMode="auto">
          <a:xfrm>
            <a:off x="3429000" y="48768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3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6629" name="Oval 7"/>
          <p:cNvSpPr>
            <a:spLocks noChangeArrowheads="1"/>
          </p:cNvSpPr>
          <p:nvPr/>
        </p:nvSpPr>
        <p:spPr bwMode="auto">
          <a:xfrm>
            <a:off x="4191000" y="48768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2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6630" name="Oval 8"/>
          <p:cNvSpPr>
            <a:spLocks noChangeArrowheads="1"/>
          </p:cNvSpPr>
          <p:nvPr/>
        </p:nvSpPr>
        <p:spPr bwMode="auto">
          <a:xfrm>
            <a:off x="4953000" y="48768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8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6631" name="Oval 9"/>
          <p:cNvSpPr>
            <a:spLocks noChangeArrowheads="1"/>
          </p:cNvSpPr>
          <p:nvPr/>
        </p:nvSpPr>
        <p:spPr bwMode="auto">
          <a:xfrm>
            <a:off x="5715000" y="48768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3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6632" name="Oval 10"/>
          <p:cNvSpPr>
            <a:spLocks noChangeArrowheads="1"/>
          </p:cNvSpPr>
          <p:nvPr/>
        </p:nvSpPr>
        <p:spPr bwMode="auto">
          <a:xfrm>
            <a:off x="2667000" y="48768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6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6633" name="Oval 11"/>
          <p:cNvSpPr>
            <a:spLocks noChangeArrowheads="1"/>
          </p:cNvSpPr>
          <p:nvPr/>
        </p:nvSpPr>
        <p:spPr bwMode="auto">
          <a:xfrm>
            <a:off x="6477000" y="48768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1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6634" name="Oval 12"/>
          <p:cNvSpPr>
            <a:spLocks noChangeArrowheads="1"/>
          </p:cNvSpPr>
          <p:nvPr/>
        </p:nvSpPr>
        <p:spPr bwMode="auto">
          <a:xfrm>
            <a:off x="2667000" y="3429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6635" name="Oval 13"/>
          <p:cNvSpPr>
            <a:spLocks noChangeArrowheads="1"/>
          </p:cNvSpPr>
          <p:nvPr/>
        </p:nvSpPr>
        <p:spPr bwMode="auto">
          <a:xfrm>
            <a:off x="4191000" y="3429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6636" name="Oval 14"/>
          <p:cNvSpPr>
            <a:spLocks noChangeArrowheads="1"/>
          </p:cNvSpPr>
          <p:nvPr/>
        </p:nvSpPr>
        <p:spPr bwMode="auto">
          <a:xfrm>
            <a:off x="6096000" y="3429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6637" name="Oval 15"/>
          <p:cNvSpPr>
            <a:spLocks noChangeArrowheads="1"/>
          </p:cNvSpPr>
          <p:nvPr/>
        </p:nvSpPr>
        <p:spPr bwMode="auto">
          <a:xfrm>
            <a:off x="4191000" y="19812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cxnSp>
        <p:nvCxnSpPr>
          <p:cNvPr id="26638" name="AutoShape 16"/>
          <p:cNvCxnSpPr>
            <a:cxnSpLocks noChangeShapeType="1"/>
            <a:stCxn id="26637" idx="4"/>
            <a:endCxn id="26635" idx="0"/>
          </p:cNvCxnSpPr>
          <p:nvPr/>
        </p:nvCxnSpPr>
        <p:spPr bwMode="auto">
          <a:xfrm>
            <a:off x="4381500" y="2362200"/>
            <a:ext cx="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7"/>
          <p:cNvCxnSpPr>
            <a:cxnSpLocks noChangeShapeType="1"/>
            <a:stCxn id="26637" idx="4"/>
            <a:endCxn id="26634" idx="0"/>
          </p:cNvCxnSpPr>
          <p:nvPr/>
        </p:nvCxnSpPr>
        <p:spPr bwMode="auto">
          <a:xfrm flipH="1">
            <a:off x="2857500" y="2362200"/>
            <a:ext cx="1524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18"/>
          <p:cNvCxnSpPr>
            <a:cxnSpLocks noChangeShapeType="1"/>
            <a:stCxn id="26637" idx="4"/>
            <a:endCxn id="26636" idx="0"/>
          </p:cNvCxnSpPr>
          <p:nvPr/>
        </p:nvCxnSpPr>
        <p:spPr bwMode="auto">
          <a:xfrm>
            <a:off x="4381500" y="2362200"/>
            <a:ext cx="1905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19"/>
          <p:cNvCxnSpPr>
            <a:cxnSpLocks noChangeShapeType="1"/>
            <a:stCxn id="26634" idx="4"/>
            <a:endCxn id="26627" idx="0"/>
          </p:cNvCxnSpPr>
          <p:nvPr/>
        </p:nvCxnSpPr>
        <p:spPr bwMode="auto">
          <a:xfrm flipH="1">
            <a:off x="2095500" y="3810000"/>
            <a:ext cx="762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2" name="AutoShape 20"/>
          <p:cNvCxnSpPr>
            <a:cxnSpLocks noChangeShapeType="1"/>
            <a:stCxn id="26634" idx="4"/>
            <a:endCxn id="26632" idx="0"/>
          </p:cNvCxnSpPr>
          <p:nvPr/>
        </p:nvCxnSpPr>
        <p:spPr bwMode="auto">
          <a:xfrm>
            <a:off x="2857500" y="3810000"/>
            <a:ext cx="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3" name="AutoShape 21"/>
          <p:cNvCxnSpPr>
            <a:cxnSpLocks noChangeShapeType="1"/>
            <a:stCxn id="26634" idx="4"/>
            <a:endCxn id="26628" idx="0"/>
          </p:cNvCxnSpPr>
          <p:nvPr/>
        </p:nvCxnSpPr>
        <p:spPr bwMode="auto">
          <a:xfrm>
            <a:off x="2857500" y="3810000"/>
            <a:ext cx="762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4" name="AutoShape 22"/>
          <p:cNvCxnSpPr>
            <a:cxnSpLocks noChangeShapeType="1"/>
            <a:stCxn id="26635" idx="4"/>
            <a:endCxn id="26629" idx="0"/>
          </p:cNvCxnSpPr>
          <p:nvPr/>
        </p:nvCxnSpPr>
        <p:spPr bwMode="auto">
          <a:xfrm>
            <a:off x="4381500" y="3810000"/>
            <a:ext cx="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5" name="AutoShape 23"/>
          <p:cNvCxnSpPr>
            <a:cxnSpLocks noChangeShapeType="1"/>
            <a:stCxn id="26635" idx="4"/>
            <a:endCxn id="26630" idx="0"/>
          </p:cNvCxnSpPr>
          <p:nvPr/>
        </p:nvCxnSpPr>
        <p:spPr bwMode="auto">
          <a:xfrm>
            <a:off x="4381500" y="3810000"/>
            <a:ext cx="762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6" name="AutoShape 24"/>
          <p:cNvCxnSpPr>
            <a:cxnSpLocks noChangeShapeType="1"/>
            <a:stCxn id="26636" idx="4"/>
            <a:endCxn id="26631" idx="0"/>
          </p:cNvCxnSpPr>
          <p:nvPr/>
        </p:nvCxnSpPr>
        <p:spPr bwMode="auto">
          <a:xfrm flipH="1">
            <a:off x="5905500" y="3810000"/>
            <a:ext cx="381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7" name="AutoShape 25"/>
          <p:cNvCxnSpPr>
            <a:cxnSpLocks noChangeShapeType="1"/>
            <a:stCxn id="26636" idx="4"/>
            <a:endCxn id="26633" idx="0"/>
          </p:cNvCxnSpPr>
          <p:nvPr/>
        </p:nvCxnSpPr>
        <p:spPr bwMode="auto">
          <a:xfrm>
            <a:off x="6286500" y="3810000"/>
            <a:ext cx="381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8" name="Line 30"/>
          <p:cNvSpPr>
            <a:spLocks noChangeShapeType="1"/>
          </p:cNvSpPr>
          <p:nvPr/>
        </p:nvSpPr>
        <p:spPr bwMode="auto">
          <a:xfrm>
            <a:off x="0" y="28956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49" name="Line 32"/>
          <p:cNvSpPr>
            <a:spLocks noChangeShapeType="1"/>
          </p:cNvSpPr>
          <p:nvPr/>
        </p:nvSpPr>
        <p:spPr bwMode="auto">
          <a:xfrm>
            <a:off x="0" y="43434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50" name="Text Box 34"/>
          <p:cNvSpPr txBox="1">
            <a:spLocks noChangeArrowheads="1"/>
          </p:cNvSpPr>
          <p:nvPr/>
        </p:nvSpPr>
        <p:spPr bwMode="auto">
          <a:xfrm>
            <a:off x="457200" y="19812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6651" name="Text Box 35"/>
          <p:cNvSpPr txBox="1">
            <a:spLocks noChangeArrowheads="1"/>
          </p:cNvSpPr>
          <p:nvPr/>
        </p:nvSpPr>
        <p:spPr bwMode="auto">
          <a:xfrm>
            <a:off x="457200" y="342900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MIN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6652" name="Text Box 36"/>
          <p:cNvSpPr txBox="1">
            <a:spLocks noChangeArrowheads="1"/>
          </p:cNvSpPr>
          <p:nvPr/>
        </p:nvSpPr>
        <p:spPr bwMode="auto">
          <a:xfrm>
            <a:off x="457200" y="48768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Minimax Example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1905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4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3429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3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4191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2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4953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8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5715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3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2667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6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6477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1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2667000" y="34290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3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4191000" y="34290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2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6096000" y="34290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1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7661" name="Oval 13"/>
          <p:cNvSpPr>
            <a:spLocks noChangeArrowheads="1"/>
          </p:cNvSpPr>
          <p:nvPr/>
        </p:nvSpPr>
        <p:spPr bwMode="auto">
          <a:xfrm>
            <a:off x="4191000" y="19812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cxnSp>
        <p:nvCxnSpPr>
          <p:cNvPr id="27662" name="AutoShape 14"/>
          <p:cNvCxnSpPr>
            <a:cxnSpLocks noChangeShapeType="1"/>
            <a:stCxn id="27661" idx="4"/>
            <a:endCxn id="27659" idx="0"/>
          </p:cNvCxnSpPr>
          <p:nvPr/>
        </p:nvCxnSpPr>
        <p:spPr bwMode="auto">
          <a:xfrm>
            <a:off x="4381500" y="2362200"/>
            <a:ext cx="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5"/>
          <p:cNvCxnSpPr>
            <a:cxnSpLocks noChangeShapeType="1"/>
            <a:stCxn id="27661" idx="4"/>
            <a:endCxn id="27658" idx="0"/>
          </p:cNvCxnSpPr>
          <p:nvPr/>
        </p:nvCxnSpPr>
        <p:spPr bwMode="auto">
          <a:xfrm flipH="1">
            <a:off x="2857500" y="2362200"/>
            <a:ext cx="1524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4" name="AutoShape 16"/>
          <p:cNvCxnSpPr>
            <a:cxnSpLocks noChangeShapeType="1"/>
            <a:stCxn id="27661" idx="4"/>
            <a:endCxn id="27660" idx="0"/>
          </p:cNvCxnSpPr>
          <p:nvPr/>
        </p:nvCxnSpPr>
        <p:spPr bwMode="auto">
          <a:xfrm>
            <a:off x="4381500" y="2362200"/>
            <a:ext cx="1905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5" name="AutoShape 17"/>
          <p:cNvCxnSpPr>
            <a:cxnSpLocks noChangeShapeType="1"/>
            <a:stCxn id="27658" idx="4"/>
            <a:endCxn id="27651" idx="0"/>
          </p:cNvCxnSpPr>
          <p:nvPr/>
        </p:nvCxnSpPr>
        <p:spPr bwMode="auto">
          <a:xfrm flipH="1">
            <a:off x="2095500" y="3829050"/>
            <a:ext cx="762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6" name="AutoShape 18"/>
          <p:cNvCxnSpPr>
            <a:cxnSpLocks noChangeShapeType="1"/>
            <a:stCxn id="27658" idx="4"/>
            <a:endCxn id="27656" idx="0"/>
          </p:cNvCxnSpPr>
          <p:nvPr/>
        </p:nvCxnSpPr>
        <p:spPr bwMode="auto">
          <a:xfrm>
            <a:off x="2857500" y="3829050"/>
            <a:ext cx="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7" name="AutoShape 19"/>
          <p:cNvCxnSpPr>
            <a:cxnSpLocks noChangeShapeType="1"/>
            <a:stCxn id="27658" idx="4"/>
            <a:endCxn id="27652" idx="0"/>
          </p:cNvCxnSpPr>
          <p:nvPr/>
        </p:nvCxnSpPr>
        <p:spPr bwMode="auto">
          <a:xfrm>
            <a:off x="2857500" y="3829050"/>
            <a:ext cx="762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8" name="AutoShape 20"/>
          <p:cNvCxnSpPr>
            <a:cxnSpLocks noChangeShapeType="1"/>
            <a:stCxn id="27659" idx="4"/>
            <a:endCxn id="27653" idx="0"/>
          </p:cNvCxnSpPr>
          <p:nvPr/>
        </p:nvCxnSpPr>
        <p:spPr bwMode="auto">
          <a:xfrm>
            <a:off x="4381500" y="3829050"/>
            <a:ext cx="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9" name="AutoShape 21"/>
          <p:cNvCxnSpPr>
            <a:cxnSpLocks noChangeShapeType="1"/>
            <a:stCxn id="27659" idx="4"/>
            <a:endCxn id="27654" idx="0"/>
          </p:cNvCxnSpPr>
          <p:nvPr/>
        </p:nvCxnSpPr>
        <p:spPr bwMode="auto">
          <a:xfrm>
            <a:off x="4381500" y="3829050"/>
            <a:ext cx="762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0" name="AutoShape 22"/>
          <p:cNvCxnSpPr>
            <a:cxnSpLocks noChangeShapeType="1"/>
            <a:stCxn id="27660" idx="4"/>
            <a:endCxn id="27655" idx="0"/>
          </p:cNvCxnSpPr>
          <p:nvPr/>
        </p:nvCxnSpPr>
        <p:spPr bwMode="auto">
          <a:xfrm flipH="1">
            <a:off x="5905500" y="3829050"/>
            <a:ext cx="381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1" name="AutoShape 23"/>
          <p:cNvCxnSpPr>
            <a:cxnSpLocks noChangeShapeType="1"/>
            <a:stCxn id="27660" idx="4"/>
            <a:endCxn id="27657" idx="0"/>
          </p:cNvCxnSpPr>
          <p:nvPr/>
        </p:nvCxnSpPr>
        <p:spPr bwMode="auto">
          <a:xfrm>
            <a:off x="6286500" y="3829050"/>
            <a:ext cx="381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2" name="Line 24"/>
          <p:cNvSpPr>
            <a:spLocks noChangeShapeType="1"/>
          </p:cNvSpPr>
          <p:nvPr/>
        </p:nvSpPr>
        <p:spPr bwMode="auto">
          <a:xfrm>
            <a:off x="0" y="28956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3" name="Line 25"/>
          <p:cNvSpPr>
            <a:spLocks noChangeShapeType="1"/>
          </p:cNvSpPr>
          <p:nvPr/>
        </p:nvSpPr>
        <p:spPr bwMode="auto">
          <a:xfrm>
            <a:off x="0" y="43434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4" name="Text Box 26"/>
          <p:cNvSpPr txBox="1">
            <a:spLocks noChangeArrowheads="1"/>
          </p:cNvSpPr>
          <p:nvPr/>
        </p:nvSpPr>
        <p:spPr bwMode="auto">
          <a:xfrm>
            <a:off x="457200" y="19812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7675" name="Text Box 27"/>
          <p:cNvSpPr txBox="1">
            <a:spLocks noChangeArrowheads="1"/>
          </p:cNvSpPr>
          <p:nvPr/>
        </p:nvSpPr>
        <p:spPr bwMode="auto">
          <a:xfrm>
            <a:off x="457200" y="342900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MIN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7676" name="Text Box 28"/>
          <p:cNvSpPr txBox="1">
            <a:spLocks noChangeArrowheads="1"/>
          </p:cNvSpPr>
          <p:nvPr/>
        </p:nvSpPr>
        <p:spPr bwMode="auto">
          <a:xfrm>
            <a:off x="457200" y="48768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Minimax Example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1905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4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3429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3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4191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2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4953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8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5715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3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2667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6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1" name="Oval 9"/>
          <p:cNvSpPr>
            <a:spLocks noChangeArrowheads="1"/>
          </p:cNvSpPr>
          <p:nvPr/>
        </p:nvSpPr>
        <p:spPr bwMode="auto">
          <a:xfrm>
            <a:off x="6477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1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2" name="Oval 10"/>
          <p:cNvSpPr>
            <a:spLocks noChangeArrowheads="1"/>
          </p:cNvSpPr>
          <p:nvPr/>
        </p:nvSpPr>
        <p:spPr bwMode="auto">
          <a:xfrm>
            <a:off x="2667000" y="3429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3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3" name="Oval 11"/>
          <p:cNvSpPr>
            <a:spLocks noChangeArrowheads="1"/>
          </p:cNvSpPr>
          <p:nvPr/>
        </p:nvSpPr>
        <p:spPr bwMode="auto">
          <a:xfrm>
            <a:off x="4191000" y="3429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2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4" name="Oval 12"/>
          <p:cNvSpPr>
            <a:spLocks noChangeArrowheads="1"/>
          </p:cNvSpPr>
          <p:nvPr/>
        </p:nvSpPr>
        <p:spPr bwMode="auto">
          <a:xfrm>
            <a:off x="6096000" y="3429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1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5" name="Oval 13"/>
          <p:cNvSpPr>
            <a:spLocks noChangeArrowheads="1"/>
          </p:cNvSpPr>
          <p:nvPr/>
        </p:nvSpPr>
        <p:spPr bwMode="auto">
          <a:xfrm>
            <a:off x="4191000" y="19812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3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28686" name="AutoShape 14"/>
          <p:cNvCxnSpPr>
            <a:cxnSpLocks noChangeShapeType="1"/>
            <a:stCxn id="28685" idx="4"/>
            <a:endCxn id="28683" idx="0"/>
          </p:cNvCxnSpPr>
          <p:nvPr/>
        </p:nvCxnSpPr>
        <p:spPr bwMode="auto">
          <a:xfrm>
            <a:off x="4381500" y="2381250"/>
            <a:ext cx="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7" name="AutoShape 15"/>
          <p:cNvCxnSpPr>
            <a:cxnSpLocks noChangeShapeType="1"/>
            <a:stCxn id="28685" idx="4"/>
            <a:endCxn id="28682" idx="0"/>
          </p:cNvCxnSpPr>
          <p:nvPr/>
        </p:nvCxnSpPr>
        <p:spPr bwMode="auto">
          <a:xfrm flipH="1">
            <a:off x="2857500" y="2381250"/>
            <a:ext cx="1524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8" name="AutoShape 16"/>
          <p:cNvCxnSpPr>
            <a:cxnSpLocks noChangeShapeType="1"/>
            <a:stCxn id="28685" idx="4"/>
            <a:endCxn id="28684" idx="0"/>
          </p:cNvCxnSpPr>
          <p:nvPr/>
        </p:nvCxnSpPr>
        <p:spPr bwMode="auto">
          <a:xfrm>
            <a:off x="4381500" y="2381250"/>
            <a:ext cx="1905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9" name="AutoShape 17"/>
          <p:cNvCxnSpPr>
            <a:cxnSpLocks noChangeShapeType="1"/>
            <a:stCxn id="28682" idx="4"/>
            <a:endCxn id="28675" idx="0"/>
          </p:cNvCxnSpPr>
          <p:nvPr/>
        </p:nvCxnSpPr>
        <p:spPr bwMode="auto">
          <a:xfrm flipH="1">
            <a:off x="2095500" y="3810000"/>
            <a:ext cx="762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18"/>
          <p:cNvCxnSpPr>
            <a:cxnSpLocks noChangeShapeType="1"/>
            <a:stCxn id="28682" idx="4"/>
            <a:endCxn id="28680" idx="0"/>
          </p:cNvCxnSpPr>
          <p:nvPr/>
        </p:nvCxnSpPr>
        <p:spPr bwMode="auto">
          <a:xfrm>
            <a:off x="2857500" y="3810000"/>
            <a:ext cx="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19"/>
          <p:cNvCxnSpPr>
            <a:cxnSpLocks noChangeShapeType="1"/>
            <a:stCxn id="28682" idx="4"/>
            <a:endCxn id="28676" idx="0"/>
          </p:cNvCxnSpPr>
          <p:nvPr/>
        </p:nvCxnSpPr>
        <p:spPr bwMode="auto">
          <a:xfrm>
            <a:off x="2857500" y="3810000"/>
            <a:ext cx="762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0"/>
          <p:cNvCxnSpPr>
            <a:cxnSpLocks noChangeShapeType="1"/>
            <a:stCxn id="28683" idx="4"/>
            <a:endCxn id="28677" idx="0"/>
          </p:cNvCxnSpPr>
          <p:nvPr/>
        </p:nvCxnSpPr>
        <p:spPr bwMode="auto">
          <a:xfrm>
            <a:off x="4381500" y="3810000"/>
            <a:ext cx="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3" name="AutoShape 21"/>
          <p:cNvCxnSpPr>
            <a:cxnSpLocks noChangeShapeType="1"/>
            <a:stCxn id="28683" idx="4"/>
            <a:endCxn id="28678" idx="0"/>
          </p:cNvCxnSpPr>
          <p:nvPr/>
        </p:nvCxnSpPr>
        <p:spPr bwMode="auto">
          <a:xfrm>
            <a:off x="4381500" y="3810000"/>
            <a:ext cx="762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4" name="AutoShape 22"/>
          <p:cNvCxnSpPr>
            <a:cxnSpLocks noChangeShapeType="1"/>
            <a:stCxn id="28684" idx="4"/>
            <a:endCxn id="28679" idx="0"/>
          </p:cNvCxnSpPr>
          <p:nvPr/>
        </p:nvCxnSpPr>
        <p:spPr bwMode="auto">
          <a:xfrm flipH="1">
            <a:off x="5905500" y="3810000"/>
            <a:ext cx="381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5" name="AutoShape 23"/>
          <p:cNvCxnSpPr>
            <a:cxnSpLocks noChangeShapeType="1"/>
            <a:stCxn id="28684" idx="4"/>
            <a:endCxn id="28681" idx="0"/>
          </p:cNvCxnSpPr>
          <p:nvPr/>
        </p:nvCxnSpPr>
        <p:spPr bwMode="auto">
          <a:xfrm>
            <a:off x="6286500" y="3810000"/>
            <a:ext cx="381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6" name="Line 24"/>
          <p:cNvSpPr>
            <a:spLocks noChangeShapeType="1"/>
          </p:cNvSpPr>
          <p:nvPr/>
        </p:nvSpPr>
        <p:spPr bwMode="auto">
          <a:xfrm>
            <a:off x="0" y="28956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97" name="Line 25"/>
          <p:cNvSpPr>
            <a:spLocks noChangeShapeType="1"/>
          </p:cNvSpPr>
          <p:nvPr/>
        </p:nvSpPr>
        <p:spPr bwMode="auto">
          <a:xfrm>
            <a:off x="0" y="43434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457200" y="19812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8699" name="Text Box 27"/>
          <p:cNvSpPr txBox="1">
            <a:spLocks noChangeArrowheads="1"/>
          </p:cNvSpPr>
          <p:nvPr/>
        </p:nvSpPr>
        <p:spPr bwMode="auto">
          <a:xfrm>
            <a:off x="533400" y="342900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MIN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8700" name="Text Box 28"/>
          <p:cNvSpPr txBox="1">
            <a:spLocks noChangeArrowheads="1"/>
          </p:cNvSpPr>
          <p:nvPr/>
        </p:nvSpPr>
        <p:spPr bwMode="auto">
          <a:xfrm>
            <a:off x="457200" y="48768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Minimax Example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1905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4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3429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3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4191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2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4953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8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5715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3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2667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6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1" name="Oval 9"/>
          <p:cNvSpPr>
            <a:spLocks noChangeArrowheads="1"/>
          </p:cNvSpPr>
          <p:nvPr/>
        </p:nvSpPr>
        <p:spPr bwMode="auto">
          <a:xfrm>
            <a:off x="6477000" y="4876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1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2" name="Oval 10"/>
          <p:cNvSpPr>
            <a:spLocks noChangeArrowheads="1"/>
          </p:cNvSpPr>
          <p:nvPr/>
        </p:nvSpPr>
        <p:spPr bwMode="auto">
          <a:xfrm>
            <a:off x="2667000" y="3429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3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3" name="Oval 11"/>
          <p:cNvSpPr>
            <a:spLocks noChangeArrowheads="1"/>
          </p:cNvSpPr>
          <p:nvPr/>
        </p:nvSpPr>
        <p:spPr bwMode="auto">
          <a:xfrm>
            <a:off x="4191000" y="3429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2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4" name="Oval 12"/>
          <p:cNvSpPr>
            <a:spLocks noChangeArrowheads="1"/>
          </p:cNvSpPr>
          <p:nvPr/>
        </p:nvSpPr>
        <p:spPr bwMode="auto">
          <a:xfrm>
            <a:off x="6096000" y="34290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tx2"/>
                </a:solidFill>
              </a:rPr>
              <a:t>1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8685" name="Oval 13"/>
          <p:cNvSpPr>
            <a:spLocks noChangeArrowheads="1"/>
          </p:cNvSpPr>
          <p:nvPr/>
        </p:nvSpPr>
        <p:spPr bwMode="auto">
          <a:xfrm>
            <a:off x="4191000" y="19812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b="1">
                <a:solidFill>
                  <a:srgbClr val="FF0000"/>
                </a:solidFill>
              </a:rPr>
              <a:t>3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28686" name="AutoShape 14"/>
          <p:cNvCxnSpPr>
            <a:cxnSpLocks noChangeShapeType="1"/>
            <a:stCxn id="28685" idx="4"/>
            <a:endCxn id="28683" idx="0"/>
          </p:cNvCxnSpPr>
          <p:nvPr/>
        </p:nvCxnSpPr>
        <p:spPr bwMode="auto">
          <a:xfrm>
            <a:off x="4381500" y="2381250"/>
            <a:ext cx="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7" name="AutoShape 15"/>
          <p:cNvCxnSpPr>
            <a:cxnSpLocks noChangeShapeType="1"/>
            <a:stCxn id="28685" idx="4"/>
            <a:endCxn id="28682" idx="0"/>
          </p:cNvCxnSpPr>
          <p:nvPr/>
        </p:nvCxnSpPr>
        <p:spPr bwMode="auto">
          <a:xfrm flipH="1">
            <a:off x="2857500" y="2381250"/>
            <a:ext cx="1524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8" name="AutoShape 16"/>
          <p:cNvCxnSpPr>
            <a:cxnSpLocks noChangeShapeType="1"/>
            <a:stCxn id="28685" idx="4"/>
            <a:endCxn id="28684" idx="0"/>
          </p:cNvCxnSpPr>
          <p:nvPr/>
        </p:nvCxnSpPr>
        <p:spPr bwMode="auto">
          <a:xfrm>
            <a:off x="4381500" y="2381250"/>
            <a:ext cx="1905000" cy="104775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9" name="AutoShape 17"/>
          <p:cNvCxnSpPr>
            <a:cxnSpLocks noChangeShapeType="1"/>
            <a:stCxn id="28682" idx="4"/>
            <a:endCxn id="28675" idx="0"/>
          </p:cNvCxnSpPr>
          <p:nvPr/>
        </p:nvCxnSpPr>
        <p:spPr bwMode="auto">
          <a:xfrm flipH="1">
            <a:off x="2095500" y="3810000"/>
            <a:ext cx="762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18"/>
          <p:cNvCxnSpPr>
            <a:cxnSpLocks noChangeShapeType="1"/>
            <a:stCxn id="28682" idx="4"/>
            <a:endCxn id="28680" idx="0"/>
          </p:cNvCxnSpPr>
          <p:nvPr/>
        </p:nvCxnSpPr>
        <p:spPr bwMode="auto">
          <a:xfrm>
            <a:off x="2857500" y="3810000"/>
            <a:ext cx="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19"/>
          <p:cNvCxnSpPr>
            <a:cxnSpLocks noChangeShapeType="1"/>
            <a:stCxn id="28682" idx="4"/>
            <a:endCxn id="28676" idx="0"/>
          </p:cNvCxnSpPr>
          <p:nvPr/>
        </p:nvCxnSpPr>
        <p:spPr bwMode="auto">
          <a:xfrm>
            <a:off x="2857500" y="3810000"/>
            <a:ext cx="762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0"/>
          <p:cNvCxnSpPr>
            <a:cxnSpLocks noChangeShapeType="1"/>
            <a:stCxn id="28683" idx="4"/>
            <a:endCxn id="28677" idx="0"/>
          </p:cNvCxnSpPr>
          <p:nvPr/>
        </p:nvCxnSpPr>
        <p:spPr bwMode="auto">
          <a:xfrm>
            <a:off x="4381500" y="3810000"/>
            <a:ext cx="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3" name="AutoShape 21"/>
          <p:cNvCxnSpPr>
            <a:cxnSpLocks noChangeShapeType="1"/>
            <a:stCxn id="28683" idx="4"/>
            <a:endCxn id="28678" idx="0"/>
          </p:cNvCxnSpPr>
          <p:nvPr/>
        </p:nvCxnSpPr>
        <p:spPr bwMode="auto">
          <a:xfrm>
            <a:off x="4381500" y="3810000"/>
            <a:ext cx="762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4" name="AutoShape 22"/>
          <p:cNvCxnSpPr>
            <a:cxnSpLocks noChangeShapeType="1"/>
            <a:stCxn id="28684" idx="4"/>
            <a:endCxn id="28679" idx="0"/>
          </p:cNvCxnSpPr>
          <p:nvPr/>
        </p:nvCxnSpPr>
        <p:spPr bwMode="auto">
          <a:xfrm flipH="1">
            <a:off x="5905500" y="3810000"/>
            <a:ext cx="381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5" name="AutoShape 23"/>
          <p:cNvCxnSpPr>
            <a:cxnSpLocks noChangeShapeType="1"/>
            <a:stCxn id="28684" idx="4"/>
            <a:endCxn id="28681" idx="0"/>
          </p:cNvCxnSpPr>
          <p:nvPr/>
        </p:nvCxnSpPr>
        <p:spPr bwMode="auto">
          <a:xfrm>
            <a:off x="6286500" y="3810000"/>
            <a:ext cx="381000" cy="106680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6" name="Line 24"/>
          <p:cNvSpPr>
            <a:spLocks noChangeShapeType="1"/>
          </p:cNvSpPr>
          <p:nvPr/>
        </p:nvSpPr>
        <p:spPr bwMode="auto">
          <a:xfrm>
            <a:off x="0" y="28956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97" name="Line 25"/>
          <p:cNvSpPr>
            <a:spLocks noChangeShapeType="1"/>
          </p:cNvSpPr>
          <p:nvPr/>
        </p:nvSpPr>
        <p:spPr bwMode="auto">
          <a:xfrm>
            <a:off x="0" y="43434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457200" y="19812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8699" name="Text Box 27"/>
          <p:cNvSpPr txBox="1">
            <a:spLocks noChangeArrowheads="1"/>
          </p:cNvSpPr>
          <p:nvPr/>
        </p:nvSpPr>
        <p:spPr bwMode="auto">
          <a:xfrm>
            <a:off x="533400" y="342900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MIN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28700" name="Text Box 28"/>
          <p:cNvSpPr txBox="1">
            <a:spLocks noChangeArrowheads="1"/>
          </p:cNvSpPr>
          <p:nvPr/>
        </p:nvSpPr>
        <p:spPr bwMode="auto">
          <a:xfrm>
            <a:off x="457200" y="48768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2857500" y="2381250"/>
            <a:ext cx="1333500" cy="895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048000" y="3810000"/>
            <a:ext cx="628650" cy="914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22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mtClean="0"/>
              <a:t>We use an evaluation function that is:</a:t>
            </a:r>
          </a:p>
          <a:p>
            <a:pPr lvl="1" eaLnBrk="1" hangingPunct="1"/>
            <a:r>
              <a:rPr lang="en-GB" smtClean="0"/>
              <a:t>+1 for a winning move for MAX</a:t>
            </a:r>
          </a:p>
          <a:p>
            <a:pPr lvl="1" eaLnBrk="1" hangingPunct="1"/>
            <a:r>
              <a:rPr lang="en-GB" smtClean="0"/>
              <a:t>-1 for a winning move for MIN</a:t>
            </a:r>
            <a:endParaRPr lang="en-US" smtClean="0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Minimax for Nim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Minimax for Nim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3733800" y="1524000"/>
            <a:ext cx="5334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7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751013" y="2362200"/>
            <a:ext cx="52705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6-1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3657600" y="2362200"/>
            <a:ext cx="6858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5-2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600200" y="3200400"/>
            <a:ext cx="8382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5-1-1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5486400" y="2362200"/>
            <a:ext cx="6096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4-3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3581400" y="3200400"/>
            <a:ext cx="8382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4-2-1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1524000" y="4038600"/>
            <a:ext cx="9906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4-1-1-1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1295400" y="5715000"/>
            <a:ext cx="14478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2-1-1-1-1-1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1446213" y="4876800"/>
            <a:ext cx="113665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3-1-1-1-1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7086600" y="3200400"/>
            <a:ext cx="7620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3-2-2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3429000" y="4038600"/>
            <a:ext cx="11430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3-2-1-1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5410200" y="3200400"/>
            <a:ext cx="7620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3-3-1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6934200" y="4038600"/>
            <a:ext cx="10668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2-2-2-1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3276600" y="4876800"/>
            <a:ext cx="1447800" cy="379413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2-2-1-1-1</a:t>
            </a:r>
            <a:endParaRPr lang="en-US" sz="1800">
              <a:solidFill>
                <a:schemeClr val="tx2"/>
              </a:solidFill>
            </a:endParaRPr>
          </a:p>
        </p:txBody>
      </p:sp>
      <p:cxnSp>
        <p:nvCxnSpPr>
          <p:cNvPr id="30737" name="AutoShape 17"/>
          <p:cNvCxnSpPr>
            <a:cxnSpLocks noChangeShapeType="1"/>
            <a:stCxn id="30723" idx="2"/>
            <a:endCxn id="30724" idx="0"/>
          </p:cNvCxnSpPr>
          <p:nvPr/>
        </p:nvCxnSpPr>
        <p:spPr bwMode="auto">
          <a:xfrm flipH="1">
            <a:off x="2014538" y="1903413"/>
            <a:ext cx="1985962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8" name="AutoShape 18"/>
          <p:cNvCxnSpPr>
            <a:cxnSpLocks noChangeShapeType="1"/>
            <a:stCxn id="30724" idx="2"/>
            <a:endCxn id="30726" idx="0"/>
          </p:cNvCxnSpPr>
          <p:nvPr/>
        </p:nvCxnSpPr>
        <p:spPr bwMode="auto">
          <a:xfrm>
            <a:off x="2014538" y="2741613"/>
            <a:ext cx="4762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9" name="AutoShape 19"/>
          <p:cNvCxnSpPr>
            <a:cxnSpLocks noChangeShapeType="1"/>
            <a:stCxn id="30726" idx="2"/>
            <a:endCxn id="30729" idx="0"/>
          </p:cNvCxnSpPr>
          <p:nvPr/>
        </p:nvCxnSpPr>
        <p:spPr bwMode="auto">
          <a:xfrm>
            <a:off x="2019300" y="35798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0" name="AutoShape 20"/>
          <p:cNvCxnSpPr>
            <a:cxnSpLocks noChangeShapeType="1"/>
            <a:stCxn id="30729" idx="2"/>
            <a:endCxn id="30731" idx="0"/>
          </p:cNvCxnSpPr>
          <p:nvPr/>
        </p:nvCxnSpPr>
        <p:spPr bwMode="auto">
          <a:xfrm flipH="1">
            <a:off x="2014538" y="4418013"/>
            <a:ext cx="4762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1" name="AutoShape 21"/>
          <p:cNvCxnSpPr>
            <a:cxnSpLocks noChangeShapeType="1"/>
            <a:stCxn id="30723" idx="2"/>
            <a:endCxn id="30725" idx="0"/>
          </p:cNvCxnSpPr>
          <p:nvPr/>
        </p:nvCxnSpPr>
        <p:spPr bwMode="auto">
          <a:xfrm>
            <a:off x="4000500" y="19034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2" name="AutoShape 22"/>
          <p:cNvCxnSpPr>
            <a:cxnSpLocks noChangeShapeType="1"/>
            <a:stCxn id="30723" idx="2"/>
            <a:endCxn id="30727" idx="0"/>
          </p:cNvCxnSpPr>
          <p:nvPr/>
        </p:nvCxnSpPr>
        <p:spPr bwMode="auto">
          <a:xfrm>
            <a:off x="4000500" y="1903413"/>
            <a:ext cx="179070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3" name="AutoShape 23"/>
          <p:cNvCxnSpPr>
            <a:cxnSpLocks noChangeShapeType="1"/>
            <a:stCxn id="30727" idx="2"/>
            <a:endCxn id="30728" idx="0"/>
          </p:cNvCxnSpPr>
          <p:nvPr/>
        </p:nvCxnSpPr>
        <p:spPr bwMode="auto">
          <a:xfrm flipH="1">
            <a:off x="4000500" y="2741613"/>
            <a:ext cx="179070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4" name="AutoShape 24"/>
          <p:cNvCxnSpPr>
            <a:cxnSpLocks noChangeShapeType="1"/>
            <a:stCxn id="30728" idx="2"/>
            <a:endCxn id="30733" idx="0"/>
          </p:cNvCxnSpPr>
          <p:nvPr/>
        </p:nvCxnSpPr>
        <p:spPr bwMode="auto">
          <a:xfrm>
            <a:off x="4000500" y="35798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5" name="AutoShape 25"/>
          <p:cNvCxnSpPr>
            <a:cxnSpLocks noChangeShapeType="1"/>
            <a:stCxn id="30733" idx="2"/>
            <a:endCxn id="30736" idx="0"/>
          </p:cNvCxnSpPr>
          <p:nvPr/>
        </p:nvCxnSpPr>
        <p:spPr bwMode="auto">
          <a:xfrm>
            <a:off x="4000500" y="44180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6" name="AutoShape 26"/>
          <p:cNvCxnSpPr>
            <a:cxnSpLocks noChangeShapeType="1"/>
            <a:stCxn id="30725" idx="2"/>
            <a:endCxn id="30728" idx="0"/>
          </p:cNvCxnSpPr>
          <p:nvPr/>
        </p:nvCxnSpPr>
        <p:spPr bwMode="auto">
          <a:xfrm>
            <a:off x="4000500" y="27416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7" name="AutoShape 27"/>
          <p:cNvCxnSpPr>
            <a:cxnSpLocks noChangeShapeType="1"/>
            <a:stCxn id="30725" idx="2"/>
            <a:endCxn id="30732" idx="0"/>
          </p:cNvCxnSpPr>
          <p:nvPr/>
        </p:nvCxnSpPr>
        <p:spPr bwMode="auto">
          <a:xfrm>
            <a:off x="4000500" y="2741613"/>
            <a:ext cx="346710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8" name="AutoShape 28"/>
          <p:cNvCxnSpPr>
            <a:cxnSpLocks noChangeShapeType="1"/>
            <a:stCxn id="30732" idx="2"/>
            <a:endCxn id="30735" idx="0"/>
          </p:cNvCxnSpPr>
          <p:nvPr/>
        </p:nvCxnSpPr>
        <p:spPr bwMode="auto">
          <a:xfrm>
            <a:off x="7467600" y="35798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9" name="AutoShape 29"/>
          <p:cNvCxnSpPr>
            <a:cxnSpLocks noChangeShapeType="1"/>
            <a:stCxn id="30726" idx="2"/>
            <a:endCxn id="30733" idx="0"/>
          </p:cNvCxnSpPr>
          <p:nvPr/>
        </p:nvCxnSpPr>
        <p:spPr bwMode="auto">
          <a:xfrm>
            <a:off x="2019300" y="3579813"/>
            <a:ext cx="198120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50" name="AutoShape 30"/>
          <p:cNvCxnSpPr>
            <a:cxnSpLocks noChangeShapeType="1"/>
            <a:stCxn id="30727" idx="2"/>
            <a:endCxn id="30734" idx="0"/>
          </p:cNvCxnSpPr>
          <p:nvPr/>
        </p:nvCxnSpPr>
        <p:spPr bwMode="auto">
          <a:xfrm>
            <a:off x="5791200" y="2741613"/>
            <a:ext cx="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51" name="AutoShape 31"/>
          <p:cNvCxnSpPr>
            <a:cxnSpLocks noChangeShapeType="1"/>
            <a:stCxn id="30734" idx="2"/>
            <a:endCxn id="30733" idx="0"/>
          </p:cNvCxnSpPr>
          <p:nvPr/>
        </p:nvCxnSpPr>
        <p:spPr bwMode="auto">
          <a:xfrm flipH="1">
            <a:off x="4000500" y="3579813"/>
            <a:ext cx="1790700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52" name="AutoShape 32"/>
          <p:cNvCxnSpPr>
            <a:cxnSpLocks noChangeShapeType="1"/>
            <a:stCxn id="30724" idx="2"/>
            <a:endCxn id="30728" idx="0"/>
          </p:cNvCxnSpPr>
          <p:nvPr/>
        </p:nvCxnSpPr>
        <p:spPr bwMode="auto">
          <a:xfrm>
            <a:off x="2014538" y="2741613"/>
            <a:ext cx="1985962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53" name="AutoShape 33"/>
          <p:cNvCxnSpPr>
            <a:cxnSpLocks noChangeShapeType="1"/>
            <a:stCxn id="30731" idx="2"/>
            <a:endCxn id="30730" idx="0"/>
          </p:cNvCxnSpPr>
          <p:nvPr/>
        </p:nvCxnSpPr>
        <p:spPr bwMode="auto">
          <a:xfrm>
            <a:off x="2014538" y="5256213"/>
            <a:ext cx="4762" cy="458787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0754" name="Group 34"/>
          <p:cNvGrpSpPr>
            <a:grpSpLocks/>
          </p:cNvGrpSpPr>
          <p:nvPr/>
        </p:nvGrpSpPr>
        <p:grpSpPr bwMode="auto">
          <a:xfrm>
            <a:off x="0" y="2133600"/>
            <a:ext cx="9144000" cy="3352800"/>
            <a:chOff x="432" y="1392"/>
            <a:chExt cx="5136" cy="2112"/>
          </a:xfrm>
        </p:grpSpPr>
        <p:sp>
          <p:nvSpPr>
            <p:cNvPr id="30775" name="Line 35"/>
            <p:cNvSpPr>
              <a:spLocks noChangeShapeType="1"/>
            </p:cNvSpPr>
            <p:nvPr/>
          </p:nvSpPr>
          <p:spPr bwMode="auto">
            <a:xfrm>
              <a:off x="432" y="1392"/>
              <a:ext cx="513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76" name="Line 36"/>
            <p:cNvSpPr>
              <a:spLocks noChangeShapeType="1"/>
            </p:cNvSpPr>
            <p:nvPr/>
          </p:nvSpPr>
          <p:spPr bwMode="auto">
            <a:xfrm>
              <a:off x="432" y="1872"/>
              <a:ext cx="513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77" name="Line 37"/>
            <p:cNvSpPr>
              <a:spLocks noChangeShapeType="1"/>
            </p:cNvSpPr>
            <p:nvPr/>
          </p:nvSpPr>
          <p:spPr bwMode="auto">
            <a:xfrm>
              <a:off x="432" y="2400"/>
              <a:ext cx="513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78" name="Line 38"/>
            <p:cNvSpPr>
              <a:spLocks noChangeShapeType="1"/>
            </p:cNvSpPr>
            <p:nvPr/>
          </p:nvSpPr>
          <p:spPr bwMode="auto">
            <a:xfrm>
              <a:off x="432" y="2976"/>
              <a:ext cx="513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79" name="Line 39"/>
            <p:cNvSpPr>
              <a:spLocks noChangeShapeType="1"/>
            </p:cNvSpPr>
            <p:nvPr/>
          </p:nvSpPr>
          <p:spPr bwMode="auto">
            <a:xfrm>
              <a:off x="432" y="3504"/>
              <a:ext cx="513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0755" name="Text Box 40"/>
          <p:cNvSpPr txBox="1">
            <a:spLocks noChangeArrowheads="1"/>
          </p:cNvSpPr>
          <p:nvPr/>
        </p:nvSpPr>
        <p:spPr bwMode="auto">
          <a:xfrm>
            <a:off x="381000" y="167640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MIN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56" name="Text Box 41"/>
          <p:cNvSpPr txBox="1">
            <a:spLocks noChangeArrowheads="1"/>
          </p:cNvSpPr>
          <p:nvPr/>
        </p:nvSpPr>
        <p:spPr bwMode="auto">
          <a:xfrm>
            <a:off x="381000" y="23622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57" name="Text Box 42"/>
          <p:cNvSpPr txBox="1">
            <a:spLocks noChangeArrowheads="1"/>
          </p:cNvSpPr>
          <p:nvPr/>
        </p:nvSpPr>
        <p:spPr bwMode="auto">
          <a:xfrm>
            <a:off x="381000" y="312420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MIN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58" name="Text Box 43"/>
          <p:cNvSpPr txBox="1">
            <a:spLocks noChangeArrowheads="1"/>
          </p:cNvSpPr>
          <p:nvPr/>
        </p:nvSpPr>
        <p:spPr bwMode="auto">
          <a:xfrm>
            <a:off x="381000" y="487680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MIN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59" name="Text Box 44"/>
          <p:cNvSpPr txBox="1">
            <a:spLocks noChangeArrowheads="1"/>
          </p:cNvSpPr>
          <p:nvPr/>
        </p:nvSpPr>
        <p:spPr bwMode="auto">
          <a:xfrm>
            <a:off x="381000" y="40386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60" name="Text Box 45"/>
          <p:cNvSpPr txBox="1">
            <a:spLocks noChangeArrowheads="1"/>
          </p:cNvSpPr>
          <p:nvPr/>
        </p:nvSpPr>
        <p:spPr bwMode="auto">
          <a:xfrm>
            <a:off x="381000" y="57150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chemeClr val="tx2"/>
                </a:solidFill>
              </a:rPr>
              <a:t>MAX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0761" name="Text Box 46"/>
          <p:cNvSpPr txBox="1">
            <a:spLocks noChangeArrowheads="1"/>
          </p:cNvSpPr>
          <p:nvPr/>
        </p:nvSpPr>
        <p:spPr bwMode="auto">
          <a:xfrm>
            <a:off x="2743200" y="57150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-1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62" name="Text Box 47"/>
          <p:cNvSpPr txBox="1">
            <a:spLocks noChangeArrowheads="1"/>
          </p:cNvSpPr>
          <p:nvPr/>
        </p:nvSpPr>
        <p:spPr bwMode="auto">
          <a:xfrm>
            <a:off x="2590800" y="48768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-1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63" name="Text Box 48"/>
          <p:cNvSpPr txBox="1">
            <a:spLocks noChangeArrowheads="1"/>
          </p:cNvSpPr>
          <p:nvPr/>
        </p:nvSpPr>
        <p:spPr bwMode="auto">
          <a:xfrm>
            <a:off x="2514600" y="40386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-1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64" name="Text Box 49"/>
          <p:cNvSpPr txBox="1">
            <a:spLocks noChangeArrowheads="1"/>
          </p:cNvSpPr>
          <p:nvPr/>
        </p:nvSpPr>
        <p:spPr bwMode="auto">
          <a:xfrm>
            <a:off x="2438400" y="32004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-1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65" name="Text Box 50"/>
          <p:cNvSpPr txBox="1">
            <a:spLocks noChangeArrowheads="1"/>
          </p:cNvSpPr>
          <p:nvPr/>
        </p:nvSpPr>
        <p:spPr bwMode="auto">
          <a:xfrm>
            <a:off x="2286000" y="2362200"/>
            <a:ext cx="444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+1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66" name="Text Box 51"/>
          <p:cNvSpPr txBox="1">
            <a:spLocks noChangeArrowheads="1"/>
          </p:cNvSpPr>
          <p:nvPr/>
        </p:nvSpPr>
        <p:spPr bwMode="auto">
          <a:xfrm>
            <a:off x="4724400" y="4876800"/>
            <a:ext cx="444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+1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67" name="Text Box 52"/>
          <p:cNvSpPr txBox="1">
            <a:spLocks noChangeArrowheads="1"/>
          </p:cNvSpPr>
          <p:nvPr/>
        </p:nvSpPr>
        <p:spPr bwMode="auto">
          <a:xfrm>
            <a:off x="4572000" y="4038600"/>
            <a:ext cx="444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+1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68" name="Text Box 53"/>
          <p:cNvSpPr txBox="1">
            <a:spLocks noChangeArrowheads="1"/>
          </p:cNvSpPr>
          <p:nvPr/>
        </p:nvSpPr>
        <p:spPr bwMode="auto">
          <a:xfrm>
            <a:off x="4419600" y="3200400"/>
            <a:ext cx="444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+1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69" name="Text Box 54"/>
          <p:cNvSpPr txBox="1">
            <a:spLocks noChangeArrowheads="1"/>
          </p:cNvSpPr>
          <p:nvPr/>
        </p:nvSpPr>
        <p:spPr bwMode="auto">
          <a:xfrm>
            <a:off x="4343400" y="2362200"/>
            <a:ext cx="444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+1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70" name="Text Box 55"/>
          <p:cNvSpPr txBox="1">
            <a:spLocks noChangeArrowheads="1"/>
          </p:cNvSpPr>
          <p:nvPr/>
        </p:nvSpPr>
        <p:spPr bwMode="auto">
          <a:xfrm>
            <a:off x="4267200" y="1524000"/>
            <a:ext cx="444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+1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71" name="Text Box 56"/>
          <p:cNvSpPr txBox="1">
            <a:spLocks noChangeArrowheads="1"/>
          </p:cNvSpPr>
          <p:nvPr/>
        </p:nvSpPr>
        <p:spPr bwMode="auto">
          <a:xfrm>
            <a:off x="6172200" y="3200400"/>
            <a:ext cx="444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+1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72" name="Text Box 57"/>
          <p:cNvSpPr txBox="1">
            <a:spLocks noChangeArrowheads="1"/>
          </p:cNvSpPr>
          <p:nvPr/>
        </p:nvSpPr>
        <p:spPr bwMode="auto">
          <a:xfrm>
            <a:off x="6096000" y="2362200"/>
            <a:ext cx="444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+1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73" name="Text Box 58"/>
          <p:cNvSpPr txBox="1">
            <a:spLocks noChangeArrowheads="1"/>
          </p:cNvSpPr>
          <p:nvPr/>
        </p:nvSpPr>
        <p:spPr bwMode="auto">
          <a:xfrm>
            <a:off x="8001000" y="40386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-1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30774" name="Text Box 59"/>
          <p:cNvSpPr txBox="1">
            <a:spLocks noChangeArrowheads="1"/>
          </p:cNvSpPr>
          <p:nvPr/>
        </p:nvSpPr>
        <p:spPr bwMode="auto">
          <a:xfrm>
            <a:off x="7848600" y="32004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 b="1">
                <a:solidFill>
                  <a:srgbClr val="FF0000"/>
                </a:solidFill>
              </a:rPr>
              <a:t>-1</a:t>
            </a:r>
            <a:endParaRPr lang="en-US" sz="1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600" u="sng" smtClean="0">
                <a:solidFill>
                  <a:srgbClr val="CC0099"/>
                </a:solidFill>
              </a:rPr>
              <a:t>Complete?</a:t>
            </a:r>
            <a:r>
              <a:rPr lang="en-US" sz="2600" smtClean="0"/>
              <a:t> Yes (if tree is finite)</a:t>
            </a:r>
          </a:p>
          <a:p>
            <a:pPr eaLnBrk="1" hangingPunct="1"/>
            <a:r>
              <a:rPr lang="en-US" sz="2600" u="sng" smtClean="0">
                <a:solidFill>
                  <a:srgbClr val="CC0099"/>
                </a:solidFill>
              </a:rPr>
              <a:t>Optimal?</a:t>
            </a:r>
            <a:r>
              <a:rPr lang="en-US" sz="2600" smtClean="0"/>
              <a:t> Yes (against an optimal opponent)</a:t>
            </a:r>
          </a:p>
          <a:p>
            <a:pPr eaLnBrk="1" hangingPunct="1"/>
            <a:r>
              <a:rPr lang="en-US" sz="2600" u="sng" smtClean="0">
                <a:solidFill>
                  <a:srgbClr val="CC0099"/>
                </a:solidFill>
              </a:rPr>
              <a:t>Time complexity?</a:t>
            </a:r>
            <a:r>
              <a:rPr lang="en-US" sz="2600" smtClean="0"/>
              <a:t> O(b</a:t>
            </a:r>
            <a:r>
              <a:rPr lang="en-US" sz="2600" baseline="30000" smtClean="0"/>
              <a:t>m</a:t>
            </a:r>
            <a:r>
              <a:rPr lang="en-US" sz="2600" smtClean="0"/>
              <a:t>)</a:t>
            </a:r>
          </a:p>
          <a:p>
            <a:pPr eaLnBrk="1" hangingPunct="1"/>
            <a:r>
              <a:rPr lang="en-US" sz="2600" u="sng" smtClean="0">
                <a:solidFill>
                  <a:srgbClr val="CC0099"/>
                </a:solidFill>
              </a:rPr>
              <a:t>Space complexity?</a:t>
            </a:r>
            <a:r>
              <a:rPr lang="en-US" sz="2600" smtClean="0"/>
              <a:t> O(bm) (depth-first exploration)</a:t>
            </a:r>
          </a:p>
          <a:p>
            <a:pPr eaLnBrk="1" hangingPunct="1"/>
            <a:endParaRPr lang="en-US" sz="2600" smtClean="0"/>
          </a:p>
          <a:p>
            <a:pPr eaLnBrk="1" hangingPunct="1"/>
            <a:r>
              <a:rPr lang="en-US" sz="2600" smtClean="0"/>
              <a:t>For chess, b ≈ 35, m ≈100 for "reasonable" games</a:t>
            </a:r>
            <a:br>
              <a:rPr lang="en-US" sz="2600" smtClean="0"/>
            </a:br>
            <a:r>
              <a:rPr lang="en-US" sz="2600" smtClean="0">
                <a:sym typeface="Wingdings" pitchFamily="-65" charset="2"/>
              </a:rPr>
              <a:t></a:t>
            </a:r>
            <a:r>
              <a:rPr lang="en-US" sz="2600" smtClean="0"/>
              <a:t> exact solution completely infeasible</a:t>
            </a:r>
          </a:p>
          <a:p>
            <a:pPr eaLnBrk="1" hangingPunct="1"/>
            <a:endParaRPr lang="en-GB" sz="2600" smtClean="0"/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Properties of Minimax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mtClean="0"/>
              <a:t>Typically a linear function in which coefficients are used to weight game features</a:t>
            </a:r>
          </a:p>
          <a:p>
            <a:pPr eaLnBrk="1" hangingPunct="1"/>
            <a:r>
              <a:rPr lang="en-GB" smtClean="0"/>
              <a:t>Unlikely to be a perfect, computable evaluation function for most games</a:t>
            </a:r>
          </a:p>
          <a:p>
            <a:pPr eaLnBrk="1" hangingPunct="1"/>
            <a:r>
              <a:rPr lang="en-GB" smtClean="0"/>
              <a:t>Games with uncertainty (backgammon, etc) add notions of expectation</a:t>
            </a:r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Evaluation Functions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-65" charset="2"/>
              <a:buNone/>
            </a:pPr>
            <a:r>
              <a:rPr lang="en-GB" smtClean="0"/>
              <a:t>For noughts and crosses:</a:t>
            </a:r>
          </a:p>
          <a:p>
            <a:pPr eaLnBrk="1" hangingPunct="1">
              <a:buFont typeface="Wingdings" pitchFamily="-65" charset="2"/>
              <a:buNone/>
            </a:pPr>
            <a:endParaRPr lang="en-GB" smtClean="0"/>
          </a:p>
          <a:p>
            <a:pPr eaLnBrk="1" hangingPunct="1">
              <a:buFont typeface="Wingdings" pitchFamily="-65" charset="2"/>
              <a:buNone/>
            </a:pPr>
            <a:r>
              <a:rPr lang="en-GB" smtClean="0"/>
              <a:t>S = 	#(potential nought lines)</a:t>
            </a:r>
          </a:p>
          <a:p>
            <a:pPr eaLnBrk="1" hangingPunct="1">
              <a:buFont typeface="Wingdings" pitchFamily="-65" charset="2"/>
              <a:buNone/>
            </a:pPr>
            <a:r>
              <a:rPr lang="en-GB" smtClean="0"/>
              <a:t>		-#(potential cross lines)</a:t>
            </a:r>
            <a:endParaRPr lang="en-US" smtClean="0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Evaluation Functions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-65" charset="2"/>
              <a:buNone/>
            </a:pPr>
            <a:r>
              <a:rPr lang="en-GB" smtClean="0"/>
              <a:t>For chess:</a:t>
            </a:r>
          </a:p>
          <a:p>
            <a:pPr eaLnBrk="1" hangingPunct="1"/>
            <a:r>
              <a:rPr lang="en-GB" smtClean="0"/>
              <a:t>Any ideas?</a:t>
            </a:r>
          </a:p>
          <a:p>
            <a:pPr eaLnBrk="1" hangingPunct="1"/>
            <a:r>
              <a:rPr lang="en-GB" smtClean="0"/>
              <a:t>Material is a good starting point</a:t>
            </a:r>
          </a:p>
          <a:p>
            <a:pPr lvl="1" eaLnBrk="1" hangingPunct="1"/>
            <a:r>
              <a:rPr lang="en-GB" smtClean="0"/>
              <a:t>e.g. S = (1 * numPawns) + (3 * numBishops) + …</a:t>
            </a:r>
          </a:p>
          <a:p>
            <a:pPr lvl="1" eaLnBrk="1" hangingPunct="1"/>
            <a:r>
              <a:rPr lang="en-GB" smtClean="0"/>
              <a:t>How do you decide on the weights?</a:t>
            </a:r>
          </a:p>
          <a:p>
            <a:pPr eaLnBrk="1" hangingPunct="1"/>
            <a:r>
              <a:rPr lang="en-GB" smtClean="0"/>
              <a:t>Anything else?</a:t>
            </a:r>
          </a:p>
          <a:p>
            <a:pPr eaLnBrk="1" hangingPunct="1">
              <a:buFont typeface="Wingdings" pitchFamily="-65" charset="2"/>
              <a:buNone/>
            </a:pPr>
            <a:endParaRPr lang="en-GB" smtClean="0"/>
          </a:p>
          <a:p>
            <a:pPr eaLnBrk="1" hangingPunct="1">
              <a:buFont typeface="Wingdings" pitchFamily="-65" charset="2"/>
              <a:buNone/>
            </a:pPr>
            <a:endParaRPr lang="en-GB" smtClean="0"/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Evaluation Functions</a:t>
            </a:r>
            <a:endParaRPr lang="en-US">
              <a:ea typeface="+mj-ea"/>
              <a:cs typeface="+mj-cs"/>
            </a:endParaRPr>
          </a:p>
        </p:txBody>
      </p:sp>
      <p:pic>
        <p:nvPicPr>
          <p:cNvPr id="1026" name="Picture 2" descr="http://ancientchess.com/graphics-rules/xiangqi_chinese_chess_allse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114800"/>
            <a:ext cx="1981200" cy="226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encrypted-tbn1.gstatic.com/images?q=tbn:ANd9GcS7rYEgs7PpKv_V6APj_Of_AccdJIwrTJLkeTosoGuVvs3qkoB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423775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-65" charset="2"/>
              <a:buNone/>
            </a:pPr>
            <a:r>
              <a:rPr lang="en-GB" sz="2600" smtClean="0"/>
              <a:t>For chess:</a:t>
            </a:r>
          </a:p>
          <a:p>
            <a:pPr eaLnBrk="1" hangingPunct="1">
              <a:buFont typeface="Wingdings" pitchFamily="-65" charset="2"/>
              <a:buNone/>
            </a:pPr>
            <a:endParaRPr lang="en-GB" sz="2600" smtClean="0"/>
          </a:p>
          <a:p>
            <a:pPr eaLnBrk="1" hangingPunct="1">
              <a:buFont typeface="Wingdings" pitchFamily="-65" charset="2"/>
              <a:buNone/>
            </a:pPr>
            <a:r>
              <a:rPr lang="en-GB" sz="2600" smtClean="0"/>
              <a:t>S = 	c1 * material</a:t>
            </a:r>
          </a:p>
          <a:p>
            <a:pPr eaLnBrk="1" hangingPunct="1">
              <a:buFont typeface="Wingdings" pitchFamily="-65" charset="2"/>
              <a:buNone/>
            </a:pPr>
            <a:r>
              <a:rPr lang="en-GB" sz="2600" smtClean="0"/>
              <a:t>		c2 * pawn structure</a:t>
            </a:r>
          </a:p>
          <a:p>
            <a:pPr eaLnBrk="1" hangingPunct="1">
              <a:buFont typeface="Wingdings" pitchFamily="-65" charset="2"/>
              <a:buNone/>
            </a:pPr>
            <a:r>
              <a:rPr lang="en-GB" sz="2600" smtClean="0"/>
              <a:t>		c3 * king safety</a:t>
            </a:r>
          </a:p>
          <a:p>
            <a:pPr eaLnBrk="1" hangingPunct="1">
              <a:buFont typeface="Wingdings" pitchFamily="-65" charset="2"/>
              <a:buNone/>
            </a:pPr>
            <a:r>
              <a:rPr lang="en-GB" sz="2600" smtClean="0"/>
              <a:t>		c4 * mobility</a:t>
            </a:r>
          </a:p>
          <a:p>
            <a:pPr eaLnBrk="1" hangingPunct="1">
              <a:buFont typeface="Wingdings" pitchFamily="-65" charset="2"/>
              <a:buNone/>
            </a:pPr>
            <a:r>
              <a:rPr lang="en-GB" sz="2600" smtClean="0"/>
              <a:t>		…</a:t>
            </a:r>
          </a:p>
          <a:p>
            <a:pPr eaLnBrk="1" hangingPunct="1">
              <a:buFont typeface="Wingdings" pitchFamily="-65" charset="2"/>
              <a:buNone/>
            </a:pPr>
            <a:r>
              <a:rPr lang="en-US" sz="2600" smtClean="0"/>
              <a:t>Each of these can be another linear function</a:t>
            </a:r>
          </a:p>
        </p:txBody>
      </p:sp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Evaluation Functions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mtClean="0"/>
              <a:t>Cannot exhaustively search most game trees</a:t>
            </a:r>
          </a:p>
          <a:p>
            <a:pPr eaLnBrk="1" hangingPunct="1">
              <a:lnSpc>
                <a:spcPct val="90000"/>
              </a:lnSpc>
            </a:pPr>
            <a:endParaRPr lang="en-GB" smtClean="0"/>
          </a:p>
          <a:p>
            <a:pPr eaLnBrk="1" hangingPunct="1">
              <a:lnSpc>
                <a:spcPct val="90000"/>
              </a:lnSpc>
            </a:pPr>
            <a:r>
              <a:rPr lang="en-GB" smtClean="0"/>
              <a:t>Significant events may exist just beyond that part of the tree we have searched</a:t>
            </a:r>
          </a:p>
          <a:p>
            <a:pPr eaLnBrk="1" hangingPunct="1">
              <a:lnSpc>
                <a:spcPct val="90000"/>
              </a:lnSpc>
            </a:pPr>
            <a:endParaRPr lang="en-GB" smtClean="0"/>
          </a:p>
          <a:p>
            <a:pPr eaLnBrk="1" hangingPunct="1">
              <a:lnSpc>
                <a:spcPct val="90000"/>
              </a:lnSpc>
            </a:pPr>
            <a:r>
              <a:rPr lang="en-GB" smtClean="0"/>
              <a:t>The further we look ahead, the better our evaluation of a position</a:t>
            </a:r>
            <a:endParaRPr lang="en-US" smtClean="0"/>
          </a:p>
          <a:p>
            <a:pPr eaLnBrk="1" hangingPunct="1">
              <a:lnSpc>
                <a:spcPct val="90000"/>
              </a:lnSpc>
            </a:pPr>
            <a:endParaRPr lang="en-GB" smtClean="0"/>
          </a:p>
          <a:p>
            <a:pPr eaLnBrk="1" hangingPunct="1">
              <a:lnSpc>
                <a:spcPct val="90000"/>
              </a:lnSpc>
            </a:pPr>
            <a:r>
              <a:rPr lang="en-GB" smtClean="0"/>
              <a:t>If we’re searching the game tree to a depth of </a:t>
            </a:r>
            <a:r>
              <a:rPr lang="en-GB" i="1" smtClean="0"/>
              <a:t>n</a:t>
            </a:r>
            <a:r>
              <a:rPr lang="en-GB" smtClean="0"/>
              <a:t> ply, what happens if our opponent is looking </a:t>
            </a:r>
            <a:r>
              <a:rPr lang="en-GB" i="1" smtClean="0"/>
              <a:t>n+1</a:t>
            </a:r>
            <a:r>
              <a:rPr lang="en-GB" smtClean="0"/>
              <a:t> moves ahead?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The Horizon Effect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229600" cy="4495800"/>
          </a:xfrm>
        </p:spPr>
        <p:txBody>
          <a:bodyPr/>
          <a:lstStyle/>
          <a:p>
            <a:pPr eaLnBrk="1" hangingPunct="1"/>
            <a:r>
              <a:rPr lang="en-GB" smtClean="0"/>
              <a:t>Bad evaluation function can lead to wild swings in behaviour</a:t>
            </a:r>
          </a:p>
          <a:p>
            <a:pPr lvl="1" eaLnBrk="1" hangingPunct="1"/>
            <a:r>
              <a:rPr lang="en-GB" smtClean="0"/>
              <a:t>Consider just material in chess (queen capture)</a:t>
            </a:r>
          </a:p>
          <a:p>
            <a:pPr eaLnBrk="1" hangingPunct="1"/>
            <a:endParaRPr lang="en-GB" smtClean="0"/>
          </a:p>
          <a:p>
            <a:pPr eaLnBrk="1" hangingPunct="1"/>
            <a:r>
              <a:rPr lang="en-GB" smtClean="0"/>
              <a:t>Look for stable (quiescent) positions</a:t>
            </a:r>
          </a:p>
          <a:p>
            <a:pPr eaLnBrk="1" hangingPunct="1"/>
            <a:endParaRPr lang="en-GB" smtClean="0"/>
          </a:p>
          <a:p>
            <a:pPr eaLnBrk="1" hangingPunct="1"/>
            <a:r>
              <a:rPr lang="en-GB" smtClean="0"/>
              <a:t>Can expand nodes in nonquiescent positions to a deeper ply, until a relatively stable situation is reached</a:t>
            </a:r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3550" y="6350"/>
            <a:ext cx="82296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Quiescent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4343400" cy="4953000"/>
          </a:xfrm>
        </p:spPr>
        <p:txBody>
          <a:bodyPr/>
          <a:lstStyle/>
          <a:p>
            <a:pPr eaLnBrk="1" hangingPunct="1"/>
            <a:r>
              <a:rPr lang="en-GB" sz="2600" dirty="0" smtClean="0"/>
              <a:t>Consider this</a:t>
            </a:r>
          </a:p>
          <a:p>
            <a:pPr eaLnBrk="1" hangingPunct="1"/>
            <a:endParaRPr lang="en-GB" sz="2600" dirty="0" smtClean="0"/>
          </a:p>
          <a:p>
            <a:pPr eaLnBrk="1" hangingPunct="1"/>
            <a:r>
              <a:rPr lang="en-GB" sz="2600" dirty="0" smtClean="0"/>
              <a:t>A ply of 14 is needed to see the white pawn become a queen</a:t>
            </a:r>
          </a:p>
          <a:p>
            <a:pPr eaLnBrk="1" hangingPunct="1"/>
            <a:endParaRPr lang="en-GB" sz="2600" dirty="0" smtClean="0"/>
          </a:p>
          <a:p>
            <a:pPr eaLnBrk="1" hangingPunct="1"/>
            <a:r>
              <a:rPr lang="en-GB" sz="2600" dirty="0" smtClean="0"/>
              <a:t>Single extension is when one move is clearly better.  (b=1!)</a:t>
            </a:r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Single Extension</a:t>
            </a:r>
          </a:p>
        </p:txBody>
      </p:sp>
      <p:pic>
        <p:nvPicPr>
          <p:cNvPr id="38916" name="Picture 4" descr="ch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676400"/>
            <a:ext cx="4114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2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The importance of ply depth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39939" name="Line 11"/>
          <p:cNvSpPr>
            <a:spLocks noChangeShapeType="1"/>
          </p:cNvSpPr>
          <p:nvPr/>
        </p:nvSpPr>
        <p:spPr bwMode="auto">
          <a:xfrm>
            <a:off x="1828800" y="20574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0" name="Line 12"/>
          <p:cNvSpPr>
            <a:spLocks noChangeShapeType="1"/>
          </p:cNvSpPr>
          <p:nvPr/>
        </p:nvSpPr>
        <p:spPr bwMode="auto">
          <a:xfrm>
            <a:off x="1828800" y="5486400"/>
            <a:ext cx="617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1" name="Line 13"/>
          <p:cNvSpPr>
            <a:spLocks noChangeShapeType="1"/>
          </p:cNvSpPr>
          <p:nvPr/>
        </p:nvSpPr>
        <p:spPr bwMode="auto">
          <a:xfrm>
            <a:off x="182880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2" name="Line 14"/>
          <p:cNvSpPr>
            <a:spLocks noChangeShapeType="1"/>
          </p:cNvSpPr>
          <p:nvPr/>
        </p:nvSpPr>
        <p:spPr bwMode="auto">
          <a:xfrm>
            <a:off x="251460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3" name="Line 15"/>
          <p:cNvSpPr>
            <a:spLocks noChangeShapeType="1"/>
          </p:cNvSpPr>
          <p:nvPr/>
        </p:nvSpPr>
        <p:spPr bwMode="auto">
          <a:xfrm>
            <a:off x="320040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4" name="Line 16"/>
          <p:cNvSpPr>
            <a:spLocks noChangeShapeType="1"/>
          </p:cNvSpPr>
          <p:nvPr/>
        </p:nvSpPr>
        <p:spPr bwMode="auto">
          <a:xfrm>
            <a:off x="388620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5" name="Line 17"/>
          <p:cNvSpPr>
            <a:spLocks noChangeShapeType="1"/>
          </p:cNvSpPr>
          <p:nvPr/>
        </p:nvSpPr>
        <p:spPr bwMode="auto">
          <a:xfrm>
            <a:off x="457200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6" name="Line 18"/>
          <p:cNvSpPr>
            <a:spLocks noChangeShapeType="1"/>
          </p:cNvSpPr>
          <p:nvPr/>
        </p:nvSpPr>
        <p:spPr bwMode="auto">
          <a:xfrm>
            <a:off x="525780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7" name="Line 19"/>
          <p:cNvSpPr>
            <a:spLocks noChangeShapeType="1"/>
          </p:cNvSpPr>
          <p:nvPr/>
        </p:nvSpPr>
        <p:spPr bwMode="auto">
          <a:xfrm>
            <a:off x="594360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8" name="Line 20"/>
          <p:cNvSpPr>
            <a:spLocks noChangeShapeType="1"/>
          </p:cNvSpPr>
          <p:nvPr/>
        </p:nvSpPr>
        <p:spPr bwMode="auto">
          <a:xfrm>
            <a:off x="662940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9" name="Line 21"/>
          <p:cNvSpPr>
            <a:spLocks noChangeShapeType="1"/>
          </p:cNvSpPr>
          <p:nvPr/>
        </p:nvSpPr>
        <p:spPr bwMode="auto">
          <a:xfrm>
            <a:off x="731520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0" name="Line 22"/>
          <p:cNvSpPr>
            <a:spLocks noChangeShapeType="1"/>
          </p:cNvSpPr>
          <p:nvPr/>
        </p:nvSpPr>
        <p:spPr bwMode="auto">
          <a:xfrm>
            <a:off x="8001000" y="5486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1" name="Line 23"/>
          <p:cNvSpPr>
            <a:spLocks noChangeShapeType="1"/>
          </p:cNvSpPr>
          <p:nvPr/>
        </p:nvSpPr>
        <p:spPr bwMode="auto">
          <a:xfrm>
            <a:off x="1676400" y="548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2" name="Line 24"/>
          <p:cNvSpPr>
            <a:spLocks noChangeShapeType="1"/>
          </p:cNvSpPr>
          <p:nvPr/>
        </p:nvSpPr>
        <p:spPr bwMode="auto">
          <a:xfrm>
            <a:off x="1676400" y="4267200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3" name="Line 25"/>
          <p:cNvSpPr>
            <a:spLocks noChangeShapeType="1"/>
          </p:cNvSpPr>
          <p:nvPr/>
        </p:nvSpPr>
        <p:spPr bwMode="auto">
          <a:xfrm>
            <a:off x="1676400" y="2895600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4" name="Text Box 26"/>
          <p:cNvSpPr txBox="1">
            <a:spLocks noChangeArrowheads="1"/>
          </p:cNvSpPr>
          <p:nvPr/>
        </p:nvSpPr>
        <p:spPr bwMode="auto">
          <a:xfrm>
            <a:off x="1676400" y="5715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4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55" name="Text Box 27"/>
          <p:cNvSpPr txBox="1">
            <a:spLocks noChangeArrowheads="1"/>
          </p:cNvSpPr>
          <p:nvPr/>
        </p:nvSpPr>
        <p:spPr bwMode="auto">
          <a:xfrm>
            <a:off x="2362200" y="5715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5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56" name="Text Box 28"/>
          <p:cNvSpPr txBox="1">
            <a:spLocks noChangeArrowheads="1"/>
          </p:cNvSpPr>
          <p:nvPr/>
        </p:nvSpPr>
        <p:spPr bwMode="auto">
          <a:xfrm>
            <a:off x="3048000" y="5715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6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57" name="Text Box 29"/>
          <p:cNvSpPr txBox="1">
            <a:spLocks noChangeArrowheads="1"/>
          </p:cNvSpPr>
          <p:nvPr/>
        </p:nvSpPr>
        <p:spPr bwMode="auto">
          <a:xfrm>
            <a:off x="3733800" y="5715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7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58" name="Text Box 30"/>
          <p:cNvSpPr txBox="1">
            <a:spLocks noChangeArrowheads="1"/>
          </p:cNvSpPr>
          <p:nvPr/>
        </p:nvSpPr>
        <p:spPr bwMode="auto">
          <a:xfrm>
            <a:off x="4419600" y="5715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8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59" name="Text Box 31"/>
          <p:cNvSpPr txBox="1">
            <a:spLocks noChangeArrowheads="1"/>
          </p:cNvSpPr>
          <p:nvPr/>
        </p:nvSpPr>
        <p:spPr bwMode="auto">
          <a:xfrm>
            <a:off x="5105400" y="5715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9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60" name="Text Box 32"/>
          <p:cNvSpPr txBox="1">
            <a:spLocks noChangeArrowheads="1"/>
          </p:cNvSpPr>
          <p:nvPr/>
        </p:nvSpPr>
        <p:spPr bwMode="auto">
          <a:xfrm>
            <a:off x="5715000" y="57150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10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61" name="Text Box 33"/>
          <p:cNvSpPr txBox="1">
            <a:spLocks noChangeArrowheads="1"/>
          </p:cNvSpPr>
          <p:nvPr/>
        </p:nvSpPr>
        <p:spPr bwMode="auto">
          <a:xfrm>
            <a:off x="6400800" y="57150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11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62" name="Text Box 34"/>
          <p:cNvSpPr txBox="1">
            <a:spLocks noChangeArrowheads="1"/>
          </p:cNvSpPr>
          <p:nvPr/>
        </p:nvSpPr>
        <p:spPr bwMode="auto">
          <a:xfrm>
            <a:off x="7086600" y="57150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12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63" name="Text Box 35"/>
          <p:cNvSpPr txBox="1">
            <a:spLocks noChangeArrowheads="1"/>
          </p:cNvSpPr>
          <p:nvPr/>
        </p:nvSpPr>
        <p:spPr bwMode="auto">
          <a:xfrm>
            <a:off x="7772400" y="57150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13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64" name="Text Box 36"/>
          <p:cNvSpPr txBox="1">
            <a:spLocks noChangeArrowheads="1"/>
          </p:cNvSpPr>
          <p:nvPr/>
        </p:nvSpPr>
        <p:spPr bwMode="auto">
          <a:xfrm>
            <a:off x="4191000" y="6172200"/>
            <a:ext cx="160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Max ply depth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65" name="Text Box 37"/>
          <p:cNvSpPr txBox="1">
            <a:spLocks noChangeArrowheads="1"/>
          </p:cNvSpPr>
          <p:nvPr/>
        </p:nvSpPr>
        <p:spPr bwMode="auto">
          <a:xfrm>
            <a:off x="914400" y="1828800"/>
            <a:ext cx="850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USCF Rating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66" name="Text Box 38"/>
          <p:cNvSpPr txBox="1">
            <a:spLocks noChangeArrowheads="1"/>
          </p:cNvSpPr>
          <p:nvPr/>
        </p:nvSpPr>
        <p:spPr bwMode="auto">
          <a:xfrm>
            <a:off x="990600" y="5257800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1200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67" name="Text Box 39"/>
          <p:cNvSpPr txBox="1">
            <a:spLocks noChangeArrowheads="1"/>
          </p:cNvSpPr>
          <p:nvPr/>
        </p:nvSpPr>
        <p:spPr bwMode="auto">
          <a:xfrm>
            <a:off x="914400" y="4038600"/>
            <a:ext cx="844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2000</a:t>
            </a:r>
          </a:p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Expert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68" name="Text Box 40"/>
          <p:cNvSpPr txBox="1">
            <a:spLocks noChangeArrowheads="1"/>
          </p:cNvSpPr>
          <p:nvPr/>
        </p:nvSpPr>
        <p:spPr bwMode="auto">
          <a:xfrm>
            <a:off x="838200" y="2667000"/>
            <a:ext cx="10033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2900</a:t>
            </a:r>
          </a:p>
          <a:p>
            <a:pPr algn="ctr" eaLnBrk="1" hangingPunct="1"/>
            <a:r>
              <a:rPr lang="en-GB" sz="1800">
                <a:solidFill>
                  <a:schemeClr val="tx2"/>
                </a:solidFill>
              </a:rPr>
              <a:t>World champ</a:t>
            </a: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9969" name="Oval 41"/>
          <p:cNvSpPr>
            <a:spLocks noChangeArrowheads="1"/>
          </p:cNvSpPr>
          <p:nvPr/>
        </p:nvSpPr>
        <p:spPr bwMode="auto">
          <a:xfrm>
            <a:off x="1752600" y="5410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9970" name="Oval 42"/>
          <p:cNvSpPr>
            <a:spLocks noChangeArrowheads="1"/>
          </p:cNvSpPr>
          <p:nvPr/>
        </p:nvSpPr>
        <p:spPr bwMode="auto">
          <a:xfrm>
            <a:off x="7924800" y="2819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9971" name="Oval 43"/>
          <p:cNvSpPr>
            <a:spLocks noChangeArrowheads="1"/>
          </p:cNvSpPr>
          <p:nvPr/>
        </p:nvSpPr>
        <p:spPr bwMode="auto">
          <a:xfrm>
            <a:off x="4495800" y="4191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9972" name="Line 44"/>
          <p:cNvSpPr>
            <a:spLocks noChangeShapeType="1"/>
          </p:cNvSpPr>
          <p:nvPr/>
        </p:nvSpPr>
        <p:spPr bwMode="auto">
          <a:xfrm flipV="1">
            <a:off x="1828800" y="2895600"/>
            <a:ext cx="6172200" cy="2590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3" name="Text Box 45"/>
          <p:cNvSpPr txBox="1">
            <a:spLocks noChangeArrowheads="1"/>
          </p:cNvSpPr>
          <p:nvPr/>
        </p:nvSpPr>
        <p:spPr bwMode="auto">
          <a:xfrm>
            <a:off x="1752600" y="4419600"/>
            <a:ext cx="186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rgbClr val="FF0000"/>
                </a:solidFill>
              </a:rPr>
              <a:t>MacHack (1966)</a:t>
            </a:r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39974" name="Text Box 46"/>
          <p:cNvSpPr txBox="1">
            <a:spLocks noChangeArrowheads="1"/>
          </p:cNvSpPr>
          <p:nvPr/>
        </p:nvSpPr>
        <p:spPr bwMode="auto">
          <a:xfrm>
            <a:off x="3429000" y="3810000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rgbClr val="FF0000"/>
                </a:solidFill>
              </a:rPr>
              <a:t>Belle (1977)</a:t>
            </a:r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39975" name="Text Box 47"/>
          <p:cNvSpPr txBox="1">
            <a:spLocks noChangeArrowheads="1"/>
          </p:cNvSpPr>
          <p:nvPr/>
        </p:nvSpPr>
        <p:spPr bwMode="auto">
          <a:xfrm>
            <a:off x="6019800" y="2438400"/>
            <a:ext cx="191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800">
                <a:solidFill>
                  <a:srgbClr val="FF0000"/>
                </a:solidFill>
              </a:rPr>
              <a:t>Deep Blue(1997)</a:t>
            </a: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mtClean="0"/>
              <a:t>The branching factor of a game is the number of actions which can be chosen</a:t>
            </a:r>
          </a:p>
          <a:p>
            <a:pPr eaLnBrk="1" hangingPunct="1"/>
            <a:endParaRPr lang="en-GB" smtClean="0"/>
          </a:p>
          <a:p>
            <a:pPr eaLnBrk="1" hangingPunct="1"/>
            <a:r>
              <a:rPr lang="en-GB" smtClean="0"/>
              <a:t>Nim has a low branching factor, but many games do not</a:t>
            </a:r>
          </a:p>
          <a:p>
            <a:pPr lvl="1" eaLnBrk="1" hangingPunct="1"/>
            <a:r>
              <a:rPr lang="en-GB" smtClean="0"/>
              <a:t>Chess (c. 36)</a:t>
            </a:r>
          </a:p>
          <a:p>
            <a:pPr lvl="1" eaLnBrk="1" hangingPunct="1"/>
            <a:r>
              <a:rPr lang="en-GB" smtClean="0"/>
              <a:t>Go (c. 200)</a:t>
            </a:r>
          </a:p>
          <a:p>
            <a:pPr eaLnBrk="1" hangingPunct="1"/>
            <a:endParaRPr lang="en-GB" smtClean="0"/>
          </a:p>
          <a:p>
            <a:pPr eaLnBrk="1" hangingPunct="1"/>
            <a:r>
              <a:rPr lang="en-GB" smtClean="0"/>
              <a:t>With game length (tree depth), affects complexity of decision making</a:t>
            </a:r>
            <a:endParaRPr lang="en-US" smtClean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Branching Factor</a:t>
            </a:r>
            <a:endParaRPr lang="en-US"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mtClean="0"/>
              <a:t>Evaluation functions are core to adversarial games</a:t>
            </a:r>
          </a:p>
          <a:p>
            <a:pPr lvl="1" eaLnBrk="1" hangingPunct="1"/>
            <a:r>
              <a:rPr lang="en-GB" smtClean="0"/>
              <a:t>Usually a linear weighted function of easily computed game attributes</a:t>
            </a:r>
          </a:p>
          <a:p>
            <a:pPr eaLnBrk="1" hangingPunct="1"/>
            <a:endParaRPr lang="en-GB" smtClean="0"/>
          </a:p>
          <a:p>
            <a:pPr eaLnBrk="1" hangingPunct="1"/>
            <a:r>
              <a:rPr lang="en-GB" smtClean="0"/>
              <a:t>Minimax is the de-facto algorithm</a:t>
            </a:r>
          </a:p>
          <a:p>
            <a:pPr lvl="1" eaLnBrk="1" hangingPunct="1"/>
            <a:r>
              <a:rPr lang="en-GB" smtClean="0"/>
              <a:t>Ply depth very important</a:t>
            </a:r>
          </a:p>
          <a:p>
            <a:pPr lvl="1" eaLnBrk="1" hangingPunct="1"/>
            <a:r>
              <a:rPr lang="en-GB" smtClean="0"/>
              <a:t>Not efficient!</a:t>
            </a: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Concourse.thmx</Template>
  <TotalTime>8172</TotalTime>
  <Words>1088</Words>
  <Application>Microsoft Office PowerPoint</Application>
  <PresentationFormat>On-screen Show (4:3)</PresentationFormat>
  <Paragraphs>313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ＭＳ Ｐゴシック</vt:lpstr>
      <vt:lpstr>Arial</vt:lpstr>
      <vt:lpstr>Lucida Sans Unicode</vt:lpstr>
      <vt:lpstr>Symbol</vt:lpstr>
      <vt:lpstr>Verdana</vt:lpstr>
      <vt:lpstr>Wingdings</vt:lpstr>
      <vt:lpstr>Wingdings 2</vt:lpstr>
      <vt:lpstr>Wingdings 3</vt:lpstr>
      <vt:lpstr>Concourse</vt:lpstr>
      <vt:lpstr>Minimax Search </vt:lpstr>
      <vt:lpstr>AI Search so far</vt:lpstr>
      <vt:lpstr>Adversarial Games</vt:lpstr>
      <vt:lpstr>The Game Of Nim</vt:lpstr>
      <vt:lpstr>The Game of Nim</vt:lpstr>
      <vt:lpstr>Nim Game Tree</vt:lpstr>
      <vt:lpstr>Nim Game Tree</vt:lpstr>
      <vt:lpstr>Game Tree Search</vt:lpstr>
      <vt:lpstr>Minimax Search</vt:lpstr>
      <vt:lpstr>Nim Game Tree</vt:lpstr>
      <vt:lpstr>Minimax Search</vt:lpstr>
      <vt:lpstr>Minimax Algorithm</vt:lpstr>
      <vt:lpstr>Minimax Algorithm</vt:lpstr>
      <vt:lpstr>Minimax Example</vt:lpstr>
      <vt:lpstr>Minimax Example</vt:lpstr>
      <vt:lpstr>Minimax Example</vt:lpstr>
      <vt:lpstr>Minimax Example</vt:lpstr>
      <vt:lpstr>Minimax for Nim</vt:lpstr>
      <vt:lpstr>Minimax for Nim</vt:lpstr>
      <vt:lpstr>Properties of Minimax</vt:lpstr>
      <vt:lpstr>Evaluation Functions</vt:lpstr>
      <vt:lpstr>Evaluation Functions</vt:lpstr>
      <vt:lpstr>Evaluation Functions</vt:lpstr>
      <vt:lpstr>Evaluation Functions</vt:lpstr>
      <vt:lpstr>The Horizon Effect</vt:lpstr>
      <vt:lpstr>Quiescent Search</vt:lpstr>
      <vt:lpstr>Single Extension</vt:lpstr>
      <vt:lpstr>The importance of ply depth</vt:lpstr>
      <vt:lpstr>Branching Factor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Richard Watson</cp:lastModifiedBy>
  <cp:revision>40</cp:revision>
  <cp:lastPrinted>1601-01-01T00:00:00Z</cp:lastPrinted>
  <dcterms:created xsi:type="dcterms:W3CDTF">1601-01-01T00:00:00Z</dcterms:created>
  <dcterms:modified xsi:type="dcterms:W3CDTF">2020-11-01T11:24:36Z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