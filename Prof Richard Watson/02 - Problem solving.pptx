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7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315" r:id="rId18"/>
    <p:sldId id="316" r:id="rId19"/>
    <p:sldId id="283" r:id="rId20"/>
    <p:sldId id="284" r:id="rId21"/>
    <p:sldId id="285" r:id="rId22"/>
    <p:sldId id="286" r:id="rId23"/>
    <p:sldId id="287" r:id="rId24"/>
    <p:sldId id="320" r:id="rId25"/>
    <p:sldId id="288" r:id="rId26"/>
    <p:sldId id="326" r:id="rId27"/>
    <p:sldId id="262" r:id="rId28"/>
    <p:sldId id="261" r:id="rId29"/>
    <p:sldId id="263" r:id="rId30"/>
    <p:sldId id="267" r:id="rId31"/>
    <p:sldId id="264" r:id="rId32"/>
    <p:sldId id="265" r:id="rId33"/>
    <p:sldId id="266" r:id="rId34"/>
    <p:sldId id="324" r:id="rId35"/>
    <p:sldId id="325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268" r:id="rId49"/>
    <p:sldId id="269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9" r:id="rId59"/>
    <p:sldId id="310" r:id="rId60"/>
    <p:sldId id="312" r:id="rId61"/>
    <p:sldId id="313" r:id="rId62"/>
    <p:sldId id="317" r:id="rId63"/>
    <p:sldId id="318" r:id="rId64"/>
    <p:sldId id="314" r:id="rId65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67"/>
    </p:embeddedFont>
    <p:embeddedFont>
      <p:font typeface="Wingdings 3" panose="05040102010807070707" pitchFamily="18" charset="2"/>
      <p:regular r:id="rId6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F3B26-FE23-4E19-91A9-EF7809ADEE5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A2375-5A77-43D1-A0AA-A5B1CB1FD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6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A2375-5A77-43D1-A0AA-A5B1CB1FD5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38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A2375-5A77-43D1-A0AA-A5B1CB1FD5D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1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21" y="352144"/>
            <a:ext cx="10058400" cy="636762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66800"/>
            <a:ext cx="10058400" cy="480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4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1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5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1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9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7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5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4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0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58D54-2DFC-45B2-9699-9BBB4448748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198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10/06/2025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0"/>
            <a:ext cx="105156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528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D021BC-5053-47DB-97CF-729C0E1C4DFA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222E07-0DAF-45FD-ABEA-80670C6C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87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FD3D-1051-8423-3C00-F620AE3B02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Problem solving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76503-5EE1-B3FA-3021-5929DDF26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Blind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2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E007-B353-F0C2-6B9B-8AFCC793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a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D1F77-B663-F17E-14F0-B839BEFD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are in some state of the world,</a:t>
            </a:r>
          </a:p>
          <a:p>
            <a:r>
              <a:rPr lang="en-GB" dirty="0"/>
              <a:t>Its not the state you want to be in.</a:t>
            </a:r>
          </a:p>
          <a:p>
            <a:r>
              <a:rPr lang="en-GB" dirty="0"/>
              <a:t>E.g.</a:t>
            </a:r>
          </a:p>
          <a:p>
            <a:r>
              <a:rPr lang="en-GB" dirty="0"/>
              <a:t>- in a lecture vs sleeping</a:t>
            </a:r>
          </a:p>
          <a:p>
            <a:r>
              <a:rPr lang="en-GB" dirty="0"/>
              <a:t>- I have an assignment to do and its not done</a:t>
            </a:r>
          </a:p>
          <a:p>
            <a:r>
              <a:rPr lang="en-GB" dirty="0"/>
              <a:t>- don’t have x, want x</a:t>
            </a:r>
          </a:p>
          <a:p>
            <a:r>
              <a:rPr lang="en-GB" dirty="0"/>
              <a:t>- job/money/secure comfortable future</a:t>
            </a:r>
          </a:p>
          <a:p>
            <a:r>
              <a:rPr lang="en-GB" dirty="0"/>
              <a:t>- a world full of people that treat each other kindly</a:t>
            </a:r>
          </a:p>
          <a:p>
            <a:r>
              <a:rPr lang="en-GB" dirty="0"/>
              <a:t>- I have an N-puzzle with the pieces in the wrong places</a:t>
            </a:r>
          </a:p>
          <a:p>
            <a:r>
              <a:rPr lang="en-GB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7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32AF-3B6A-7217-262F-98A6C5E0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</a:t>
            </a:r>
            <a:r>
              <a:rPr lang="en-GB" i="1" dirty="0"/>
              <a:t>you</a:t>
            </a:r>
            <a:r>
              <a:rPr lang="en-GB" dirty="0"/>
              <a:t> solve a problem?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CC57-357E-302F-CFC1-77D4851EF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Obvious: Do what needs doing</a:t>
            </a:r>
          </a:p>
          <a:p>
            <a:r>
              <a:rPr lang="en-GB" dirty="0"/>
              <a:t>Trial and error: do anything!</a:t>
            </a:r>
          </a:p>
          <a:p>
            <a:r>
              <a:rPr lang="en-GB" dirty="0"/>
              <a:t>Intuitive: do what feels right</a:t>
            </a:r>
          </a:p>
          <a:p>
            <a:r>
              <a:rPr lang="en-GB" dirty="0"/>
              <a:t>Ask for help (info or action)</a:t>
            </a:r>
          </a:p>
          <a:p>
            <a:r>
              <a:rPr lang="en-GB" dirty="0"/>
              <a:t>Learn</a:t>
            </a:r>
          </a:p>
          <a:p>
            <a:r>
              <a:rPr lang="en-GB" dirty="0"/>
              <a:t>Wait</a:t>
            </a:r>
          </a:p>
          <a:p>
            <a:r>
              <a:rPr lang="en-US" dirty="0"/>
              <a:t>Manage expectations</a:t>
            </a:r>
          </a:p>
          <a:p>
            <a:r>
              <a:rPr lang="en-US" dirty="0"/>
              <a:t>Logical: do the action(s) that change the state of the world as desired</a:t>
            </a:r>
          </a:p>
        </p:txBody>
      </p:sp>
    </p:spTree>
    <p:extLst>
      <p:ext uri="{BB962C8B-B14F-4D97-AF65-F5344CB8AC3E}">
        <p14:creationId xmlns:p14="http://schemas.microsoft.com/office/powerpoint/2010/main" val="273657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A7FD-BF8B-5AAF-5C88-9D8A1D2F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classical AI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92B89-E13E-C35E-FF0C-A4023B4A8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Assume a finite set of states</a:t>
            </a:r>
          </a:p>
          <a:p>
            <a:r>
              <a:rPr lang="en-GB" dirty="0"/>
              <a:t>Assume a set of actions is given</a:t>
            </a:r>
          </a:p>
          <a:p>
            <a:r>
              <a:rPr lang="en-GB" dirty="0"/>
              <a:t>Describing the new state of the world from each action</a:t>
            </a:r>
          </a:p>
          <a:p>
            <a:endParaRPr lang="en-GB" dirty="0"/>
          </a:p>
          <a:p>
            <a:r>
              <a:rPr lang="en-GB" dirty="0"/>
              <a:t>What if none of the new states match the goal state?</a:t>
            </a:r>
          </a:p>
          <a:p>
            <a:endParaRPr lang="en-GB" dirty="0"/>
          </a:p>
          <a:p>
            <a:r>
              <a:rPr lang="en-GB" dirty="0"/>
              <a:t>What is a solution to a problem?</a:t>
            </a:r>
          </a:p>
          <a:p>
            <a:r>
              <a:rPr lang="en-GB" dirty="0"/>
              <a:t>- a sequence of actions that takes you from the start state to the goal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9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9DB1-9986-30CC-A177-12B26CE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we find that sequence?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BDFE-3FAD-8404-966A-8A24C034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05" y="1931459"/>
            <a:ext cx="10058400" cy="4023360"/>
          </a:xfrm>
        </p:spPr>
        <p:txBody>
          <a:bodyPr/>
          <a:lstStyle/>
          <a:p>
            <a:r>
              <a:rPr lang="en-GB" dirty="0"/>
              <a:t>Enumerate all sequences of actions and see which ones arrive at goal? </a:t>
            </a:r>
          </a:p>
          <a:p>
            <a:r>
              <a:rPr lang="en-GB" dirty="0"/>
              <a:t>How many possible sequences of actions are there?</a:t>
            </a:r>
          </a:p>
          <a:p>
            <a:r>
              <a:rPr lang="en-GB" dirty="0"/>
              <a:t>How many solutions are there?</a:t>
            </a:r>
          </a:p>
          <a:p>
            <a:r>
              <a:rPr lang="en-GB" dirty="0"/>
              <a:t>Are all solutions equally good solutions?</a:t>
            </a:r>
          </a:p>
          <a:p>
            <a:r>
              <a:rPr lang="en-GB" dirty="0"/>
              <a:t>Are all methods that find a solution equally good methods?</a:t>
            </a:r>
          </a:p>
          <a:p>
            <a:r>
              <a:rPr lang="en-GB" dirty="0"/>
              <a:t>What criteria?</a:t>
            </a:r>
          </a:p>
          <a:p>
            <a:r>
              <a:rPr lang="en-GB" dirty="0"/>
              <a:t>If we are going to try sequences in a particular order, rather than generating all of them, then what order? </a:t>
            </a:r>
          </a:p>
          <a:p>
            <a:r>
              <a:rPr lang="en-GB" dirty="0"/>
              <a:t>And how does this choice affect those criteria?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ea typeface="ＭＳ Ｐゴシック" pitchFamily="34" charset="-128"/>
              </a:rPr>
              <a:t>On holiday in Romania; currently in Arad.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ea typeface="ＭＳ Ｐゴシック" pitchFamily="34" charset="-128"/>
              </a:rPr>
              <a:t>Flight leaves tomorrow from Bucharest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folHlink"/>
                </a:solidFill>
                <a:ea typeface="ＭＳ Ｐゴシック" pitchFamily="34" charset="-128"/>
              </a:rPr>
              <a:t>Formulate goal: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pitchFamily="34" charset="-128"/>
              </a:rPr>
              <a:t>be in Bucharest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folHlink"/>
                </a:solidFill>
                <a:ea typeface="ＭＳ Ｐゴシック" pitchFamily="34" charset="-128"/>
              </a:rPr>
              <a:t>Formulate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states</a:t>
            </a:r>
            <a:r>
              <a:rPr lang="en-US" sz="2400" dirty="0">
                <a:ea typeface="ＭＳ Ｐゴシック" pitchFamily="34" charset="-128"/>
              </a:rPr>
              <a:t>: various cities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actions</a:t>
            </a:r>
            <a:r>
              <a:rPr lang="en-US" sz="2400" dirty="0">
                <a:ea typeface="ＭＳ Ｐゴシック" pitchFamily="34" charset="-128"/>
              </a:rPr>
              <a:t>: drive between cities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chemeClr val="folHlink"/>
                </a:solidFill>
                <a:ea typeface="ＭＳ Ｐゴシック" pitchFamily="34" charset="-128"/>
              </a:rPr>
              <a:t>Find solution: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pitchFamily="34" charset="-128"/>
              </a:rPr>
              <a:t>sequence of cities (drives), e.g., Arad, Sibiu, </a:t>
            </a:r>
            <a:r>
              <a:rPr lang="en-US" sz="2400" dirty="0" err="1">
                <a:ea typeface="ＭＳ Ｐゴシック" pitchFamily="34" charset="-128"/>
              </a:rPr>
              <a:t>Fagaras</a:t>
            </a:r>
            <a:r>
              <a:rPr lang="en-US" sz="2400" dirty="0">
                <a:ea typeface="ＭＳ Ｐゴシック" pitchFamily="34" charset="-128"/>
              </a:rPr>
              <a:t>, Bucharest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Example: Romania</a:t>
            </a:r>
          </a:p>
        </p:txBody>
      </p:sp>
    </p:spTree>
    <p:extLst>
      <p:ext uri="{BB962C8B-B14F-4D97-AF65-F5344CB8AC3E}">
        <p14:creationId xmlns:p14="http://schemas.microsoft.com/office/powerpoint/2010/main" val="113419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romania-distanc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1175" y="1211264"/>
            <a:ext cx="8382000" cy="5037137"/>
          </a:xfrm>
          <a:noFill/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286604"/>
            <a:ext cx="10574655" cy="713522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Example: Romania</a:t>
            </a:r>
          </a:p>
        </p:txBody>
      </p:sp>
    </p:spTree>
    <p:extLst>
      <p:ext uri="{BB962C8B-B14F-4D97-AF65-F5344CB8AC3E}">
        <p14:creationId xmlns:p14="http://schemas.microsoft.com/office/powerpoint/2010/main" val="38875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1000" indent="-381000" eaLnBrk="1" hangingPunct="1">
              <a:lnSpc>
                <a:spcPct val="80000"/>
              </a:lnSpc>
              <a:buNone/>
            </a:pPr>
            <a:r>
              <a:rPr lang="en-US" sz="2000" dirty="0">
                <a:ea typeface="ＭＳ Ｐゴシック" pitchFamily="34" charset="-128"/>
              </a:rPr>
              <a:t>A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problem</a:t>
            </a:r>
            <a:r>
              <a:rPr lang="en-US" sz="2000" dirty="0">
                <a:ea typeface="ＭＳ Ｐゴシック" pitchFamily="34" charset="-128"/>
              </a:rPr>
              <a:t> is defined by four items:</a:t>
            </a:r>
          </a:p>
          <a:p>
            <a:pPr marL="381000" indent="-381000" eaLnBrk="1" hangingPunct="1">
              <a:lnSpc>
                <a:spcPct val="80000"/>
              </a:lnSpc>
              <a:buNone/>
            </a:pPr>
            <a:endParaRPr lang="en-US" sz="2000" dirty="0">
              <a:ea typeface="ＭＳ Ｐゴシック" pitchFamily="34" charset="-128"/>
            </a:endParaRP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initial state </a:t>
            </a:r>
            <a:r>
              <a:rPr lang="en-US" sz="2000" dirty="0">
                <a:ea typeface="ＭＳ Ｐゴシック" pitchFamily="34" charset="-128"/>
              </a:rPr>
              <a:t>e.g., "at Arad"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actions</a:t>
            </a:r>
            <a:r>
              <a:rPr lang="en-US" sz="2000" dirty="0">
                <a:ea typeface="ＭＳ Ｐゴシック" pitchFamily="34" charset="-128"/>
              </a:rPr>
              <a:t> or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successor function</a:t>
            </a:r>
            <a:r>
              <a:rPr lang="en-US" sz="2000" dirty="0">
                <a:ea typeface="ＭＳ Ｐゴシック" pitchFamily="34" charset="-128"/>
              </a:rPr>
              <a:t> </a:t>
            </a:r>
            <a:r>
              <a:rPr lang="en-US" sz="2000" i="1" dirty="0">
                <a:ea typeface="ＭＳ Ｐゴシック" pitchFamily="34" charset="-128"/>
              </a:rPr>
              <a:t>S(x)</a:t>
            </a:r>
            <a:r>
              <a:rPr lang="en-US" sz="2000" dirty="0">
                <a:ea typeface="ＭＳ Ｐゴシック" pitchFamily="34" charset="-128"/>
              </a:rPr>
              <a:t> = set of action–state pairs 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sz="1800" dirty="0">
                <a:ea typeface="ＭＳ Ｐゴシック" pitchFamily="34" charset="-128"/>
              </a:rPr>
              <a:t>e.g., </a:t>
            </a:r>
            <a:r>
              <a:rPr lang="en-US" sz="1800" i="1" dirty="0">
                <a:ea typeface="ＭＳ Ｐゴシック" pitchFamily="34" charset="-128"/>
              </a:rPr>
              <a:t>S(Arad) = </a:t>
            </a:r>
            <a:r>
              <a:rPr lang="en-US" sz="1800" dirty="0">
                <a:ea typeface="ＭＳ Ｐゴシック" pitchFamily="34" charset="-128"/>
              </a:rPr>
              <a:t>{</a:t>
            </a:r>
            <a:r>
              <a:rPr lang="en-US" sz="1800" i="1" dirty="0">
                <a:ea typeface="ＭＳ Ｐゴシック" pitchFamily="34" charset="-128"/>
              </a:rPr>
              <a:t>&lt;Arad </a:t>
            </a:r>
            <a:r>
              <a:rPr lang="en-US" sz="1800" i="1" dirty="0">
                <a:ea typeface="ＭＳ Ｐゴシック" pitchFamily="34" charset="-128"/>
                <a:sym typeface="Wingdings" pitchFamily="2" charset="2"/>
              </a:rPr>
              <a:t> </a:t>
            </a:r>
            <a:r>
              <a:rPr lang="en-US" sz="1800" i="1" dirty="0">
                <a:ea typeface="ＭＳ Ｐゴシック" pitchFamily="34" charset="-128"/>
              </a:rPr>
              <a:t>Zerind, Zerind&gt;, … </a:t>
            </a:r>
            <a:r>
              <a:rPr lang="en-US" sz="1800" dirty="0">
                <a:ea typeface="ＭＳ Ｐゴシック" pitchFamily="34" charset="-128"/>
              </a:rPr>
              <a:t>}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goal test</a:t>
            </a:r>
            <a:r>
              <a:rPr lang="en-US" sz="2000" dirty="0">
                <a:ea typeface="ＭＳ Ｐゴシック" pitchFamily="34" charset="-128"/>
              </a:rPr>
              <a:t>, can be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sz="1800" dirty="0">
                <a:solidFill>
                  <a:srgbClr val="FF0000"/>
                </a:solidFill>
                <a:ea typeface="ＭＳ Ｐゴシック" pitchFamily="34" charset="-128"/>
              </a:rPr>
              <a:t>explicit</a:t>
            </a:r>
            <a:r>
              <a:rPr lang="en-US" sz="1800" dirty="0">
                <a:ea typeface="ＭＳ Ｐゴシック" pitchFamily="34" charset="-128"/>
              </a:rPr>
              <a:t>, e.g., </a:t>
            </a:r>
            <a:r>
              <a:rPr lang="en-US" sz="1800" i="1" dirty="0">
                <a:ea typeface="ＭＳ Ｐゴシック" pitchFamily="34" charset="-128"/>
              </a:rPr>
              <a:t>x </a:t>
            </a:r>
            <a:r>
              <a:rPr lang="en-US" sz="1800" dirty="0">
                <a:ea typeface="ＭＳ Ｐゴシック" pitchFamily="34" charset="-128"/>
              </a:rPr>
              <a:t>= "at Bucharest"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sz="1800" dirty="0">
                <a:solidFill>
                  <a:srgbClr val="FF0000"/>
                </a:solidFill>
                <a:ea typeface="ＭＳ Ｐゴシック" pitchFamily="34" charset="-128"/>
              </a:rPr>
              <a:t>implicit</a:t>
            </a:r>
            <a:r>
              <a:rPr lang="en-US" sz="1800" dirty="0">
                <a:ea typeface="ＭＳ Ｐゴシック" pitchFamily="34" charset="-128"/>
              </a:rPr>
              <a:t>, e.g., </a:t>
            </a:r>
            <a:r>
              <a:rPr lang="en-US" sz="1800" i="1" dirty="0">
                <a:ea typeface="ＭＳ Ｐゴシック" pitchFamily="34" charset="-128"/>
              </a:rPr>
              <a:t>Checkmate(x)</a:t>
            </a:r>
            <a:endParaRPr lang="en-US" sz="1800" dirty="0">
              <a:ea typeface="ＭＳ Ｐゴシック" pitchFamily="34" charset="-128"/>
            </a:endParaRP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cost of actions </a:t>
            </a:r>
            <a:r>
              <a:rPr lang="en-US" sz="2000" dirty="0">
                <a:ea typeface="ＭＳ Ｐゴシック" pitchFamily="34" charset="-128"/>
              </a:rPr>
              <a:t>(additive)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sz="1800" dirty="0">
                <a:ea typeface="ＭＳ Ｐゴシック" pitchFamily="34" charset="-128"/>
              </a:rPr>
              <a:t>e.g., sum of distances, number of actions executed, etc.</a:t>
            </a:r>
          </a:p>
          <a:p>
            <a:pPr marL="800100" lvl="1" indent="-342900" eaLnBrk="1" hangingPunct="1">
              <a:lnSpc>
                <a:spcPct val="80000"/>
              </a:lnSpc>
            </a:pPr>
            <a:r>
              <a:rPr lang="en-US" sz="1800" i="1" dirty="0">
                <a:ea typeface="ＭＳ Ｐゴシック" pitchFamily="34" charset="-128"/>
              </a:rPr>
              <a:t>c(</a:t>
            </a:r>
            <a:r>
              <a:rPr lang="en-US" sz="1800" i="1" dirty="0" err="1">
                <a:ea typeface="ＭＳ Ｐゴシック" pitchFamily="34" charset="-128"/>
              </a:rPr>
              <a:t>x,a,y</a:t>
            </a:r>
            <a:r>
              <a:rPr lang="en-US" sz="1800" i="1" dirty="0">
                <a:ea typeface="ＭＳ Ｐゴシック" pitchFamily="34" charset="-128"/>
              </a:rPr>
              <a:t>) </a:t>
            </a:r>
            <a:r>
              <a:rPr lang="en-US" sz="1800" dirty="0">
                <a:ea typeface="ＭＳ Ｐゴシック" pitchFamily="34" charset="-128"/>
              </a:rPr>
              <a:t>is the </a:t>
            </a:r>
            <a:r>
              <a:rPr lang="en-US" sz="1800" dirty="0">
                <a:solidFill>
                  <a:schemeClr val="accent2"/>
                </a:solidFill>
                <a:ea typeface="ＭＳ Ｐゴシック" pitchFamily="34" charset="-128"/>
              </a:rPr>
              <a:t>step cost</a:t>
            </a:r>
            <a:r>
              <a:rPr lang="en-US" sz="1800" dirty="0">
                <a:ea typeface="ＭＳ Ｐゴシック" pitchFamily="34" charset="-128"/>
              </a:rPr>
              <a:t>, assumed to be </a:t>
            </a:r>
            <a:r>
              <a:rPr lang="en-US" sz="1800" dirty="0">
                <a:ea typeface="ＭＳ Ｐゴシック" pitchFamily="34" charset="-128"/>
                <a:cs typeface="Arial" pitchFamily="34" charset="0"/>
              </a:rPr>
              <a:t>≥ </a:t>
            </a:r>
            <a:r>
              <a:rPr lang="en-US" sz="1800" dirty="0">
                <a:ea typeface="ＭＳ Ｐゴシック" pitchFamily="34" charset="-128"/>
              </a:rPr>
              <a:t>0</a:t>
            </a:r>
          </a:p>
          <a:p>
            <a:pPr marL="381000" indent="-381000" eaLnBrk="1" hangingPunct="1">
              <a:lnSpc>
                <a:spcPct val="80000"/>
              </a:lnSpc>
            </a:pPr>
            <a:endParaRPr lang="en-US" sz="2000" dirty="0">
              <a:ea typeface="ＭＳ Ｐゴシック" pitchFamily="34" charset="-128"/>
            </a:endParaRPr>
          </a:p>
          <a:p>
            <a:pPr marL="381000" indent="-381000" eaLnBrk="1" hangingPunct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A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solution</a:t>
            </a:r>
            <a:r>
              <a:rPr lang="en-US" sz="2000" dirty="0">
                <a:ea typeface="ＭＳ Ｐゴシック" pitchFamily="34" charset="-128"/>
              </a:rPr>
              <a:t> is a sequence of actions leading from the initial state to a goal state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>
                <a:ea typeface="+mj-ea"/>
                <a:cs typeface="+mj-cs"/>
              </a:rPr>
              <a:t>Single-state 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371727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en-US" sz="28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800" dirty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800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states?</a:t>
            </a:r>
            <a:r>
              <a:rPr lang="en-US" sz="2800" dirty="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actions?</a:t>
            </a:r>
            <a:r>
              <a:rPr lang="en-US" sz="2800" dirty="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goal test?</a:t>
            </a:r>
            <a:r>
              <a:rPr lang="en-US" sz="2800" dirty="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path cost?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286603"/>
            <a:ext cx="10155555" cy="702303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Example: The 8-puzzle</a:t>
            </a:r>
          </a:p>
        </p:txBody>
      </p:sp>
      <p:pic>
        <p:nvPicPr>
          <p:cNvPr id="28676" name="Picture 4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143001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0456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en-US" sz="28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80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80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states?</a:t>
            </a:r>
            <a:r>
              <a:rPr lang="en-US" sz="280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r>
              <a:rPr lang="en-US" sz="2800">
                <a:ea typeface="ＭＳ Ｐゴシック" pitchFamily="34" charset="-128"/>
              </a:rPr>
              <a:t>configuration of tiles </a:t>
            </a: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actions?</a:t>
            </a:r>
            <a:r>
              <a:rPr lang="en-US" sz="280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r>
              <a:rPr lang="en-US" sz="2800">
                <a:ea typeface="ＭＳ Ｐゴシック" pitchFamily="34" charset="-128"/>
              </a:rPr>
              <a:t>move blank left, right, up, down </a:t>
            </a: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goal test?</a:t>
            </a:r>
            <a:r>
              <a:rPr lang="en-US" sz="280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r>
              <a:rPr lang="en-US" sz="2800">
                <a:ea typeface="ＭＳ Ｐゴシック" pitchFamily="34" charset="-128"/>
              </a:rPr>
              <a:t>= goal state (given)</a:t>
            </a: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path cost? </a:t>
            </a:r>
            <a:r>
              <a:rPr lang="en-US" sz="2800">
                <a:ea typeface="ＭＳ Ｐゴシック" pitchFamily="34" charset="-128"/>
              </a:rPr>
              <a:t>1 per move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ea typeface="ＭＳ Ｐゴシック" pitchFamily="34" charset="-128"/>
              </a:rPr>
              <a:t>[Note: optimal solution of </a:t>
            </a:r>
            <a:r>
              <a:rPr lang="en-US" sz="2400" i="1">
                <a:ea typeface="ＭＳ Ｐゴシック" pitchFamily="34" charset="-128"/>
              </a:rPr>
              <a:t>n</a:t>
            </a:r>
            <a:r>
              <a:rPr lang="en-US" sz="2400">
                <a:ea typeface="ＭＳ Ｐゴシック" pitchFamily="34" charset="-128"/>
              </a:rPr>
              <a:t>-Puzzle family is NP-hard]</a:t>
            </a:r>
          </a:p>
          <a:p>
            <a:pPr eaLnBrk="1" hangingPunct="1">
              <a:lnSpc>
                <a:spcPct val="80000"/>
              </a:lnSpc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Example: The 8-puzzle</a:t>
            </a:r>
          </a:p>
        </p:txBody>
      </p:sp>
      <p:pic>
        <p:nvPicPr>
          <p:cNvPr id="29700" name="Picture 4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1143001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909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Basic idea:</a:t>
            </a:r>
          </a:p>
          <a:p>
            <a:pPr lvl="1" eaLnBrk="1" hangingPunct="1"/>
            <a:r>
              <a:rPr lang="en-US" sz="2400">
                <a:ea typeface="ＭＳ Ｐゴシック" pitchFamily="34" charset="-128"/>
              </a:rPr>
              <a:t>offline, simulated exploration of state space by generating successors of already-explored states (a.k.a.~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expanding</a:t>
            </a:r>
            <a:r>
              <a:rPr lang="en-US" sz="2400">
                <a:ea typeface="ＭＳ Ｐゴシック" pitchFamily="34" charset="-128"/>
              </a:rPr>
              <a:t> states)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Tree search algorithms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37500" r="3125" b="28125"/>
          <a:stretch>
            <a:fillRect/>
          </a:stretch>
        </p:blipFill>
        <p:spPr bwMode="auto">
          <a:xfrm>
            <a:off x="2133600" y="3429000"/>
            <a:ext cx="8001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Tree search example</a:t>
            </a:r>
          </a:p>
        </p:txBody>
      </p:sp>
      <p:pic>
        <p:nvPicPr>
          <p:cNvPr id="31747" name="Picture 3" descr="search-map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2708275"/>
            <a:ext cx="81010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search-map2c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4825" y="2708276"/>
            <a:ext cx="8642350" cy="2119313"/>
          </a:xfrm>
          <a:noFill/>
        </p:spPr>
      </p:pic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Tree search 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search-map3c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93850" y="2636839"/>
            <a:ext cx="9074150" cy="2225675"/>
          </a:xfrm>
          <a:noFill/>
        </p:spPr>
      </p:pic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Tree search 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1338" y="286603"/>
            <a:ext cx="10304342" cy="743411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3600" dirty="0"/>
              <a:t>Implementation: general tree search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18750" r="3125" b="9375"/>
          <a:stretch>
            <a:fillRect/>
          </a:stretch>
        </p:blipFill>
        <p:spPr bwMode="auto">
          <a:xfrm>
            <a:off x="2514600" y="1371600"/>
            <a:ext cx="7315200" cy="480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ea typeface="ＭＳ Ｐゴシック" pitchFamily="34" charset="-128"/>
              </a:rPr>
              <a:t>A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state</a:t>
            </a:r>
            <a:r>
              <a:rPr lang="en-US" sz="2400">
                <a:ea typeface="ＭＳ Ｐゴシック" pitchFamily="34" charset="-128"/>
              </a:rPr>
              <a:t> is a (representation of) a physical configuration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ea typeface="ＭＳ Ｐゴシック" pitchFamily="34" charset="-128"/>
              </a:rPr>
              <a:t>A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node</a:t>
            </a:r>
            <a:r>
              <a:rPr lang="en-US" sz="2400">
                <a:ea typeface="ＭＳ Ｐゴシック" pitchFamily="34" charset="-128"/>
              </a:rPr>
              <a:t> is a data structure constituting part of a search tree includes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state</a:t>
            </a:r>
            <a:r>
              <a:rPr lang="en-US" sz="2400">
                <a:ea typeface="ＭＳ Ｐゴシック" pitchFamily="34" charset="-128"/>
              </a:rPr>
              <a:t>,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parent node</a:t>
            </a:r>
            <a:r>
              <a:rPr lang="en-US" sz="2400">
                <a:ea typeface="ＭＳ Ｐゴシック" pitchFamily="34" charset="-128"/>
              </a:rPr>
              <a:t>,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action</a:t>
            </a:r>
            <a:r>
              <a:rPr lang="en-US" sz="2400">
                <a:ea typeface="ＭＳ Ｐゴシック" pitchFamily="34" charset="-128"/>
              </a:rPr>
              <a:t>,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path cost</a:t>
            </a:r>
            <a:r>
              <a:rPr lang="en-US" sz="2400">
                <a:ea typeface="ＭＳ Ｐゴシック" pitchFamily="34" charset="-128"/>
              </a:rPr>
              <a:t> </a:t>
            </a:r>
            <a:r>
              <a:rPr lang="en-US" sz="2400" i="1">
                <a:ea typeface="ＭＳ Ｐゴシック" pitchFamily="34" charset="-128"/>
              </a:rPr>
              <a:t>g(x)</a:t>
            </a:r>
            <a:r>
              <a:rPr lang="en-US" sz="2400">
                <a:ea typeface="ＭＳ Ｐゴシック" pitchFamily="34" charset="-128"/>
              </a:rPr>
              <a:t>, </a:t>
            </a:r>
            <a:r>
              <a:rPr lang="en-US" sz="2400">
                <a:solidFill>
                  <a:srgbClr val="FF0000"/>
                </a:solidFill>
                <a:ea typeface="ＭＳ Ｐゴシック" pitchFamily="34" charset="-128"/>
              </a:rPr>
              <a:t>depth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ea typeface="ＭＳ Ｐゴシック" pitchFamily="34" charset="-128"/>
              </a:rPr>
              <a:t>States and nodes are not the same thing!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034" y="9625"/>
            <a:ext cx="84582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algn="ctr">
              <a:defRPr/>
            </a:pPr>
            <a:r>
              <a:rPr lang="en-US" sz="3600" dirty="0"/>
              <a:t>Implementation: states vs. nodes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ea typeface="ＭＳ Ｐゴシック" pitchFamily="34" charset="-128"/>
              </a:rPr>
              <a:t>The </a:t>
            </a:r>
            <a:r>
              <a:rPr lang="en-US" sz="2400" dirty="0">
                <a:latin typeface="Courier New" pitchFamily="49" charset="0"/>
                <a:ea typeface="ＭＳ Ｐゴシック" pitchFamily="34" charset="-128"/>
              </a:rPr>
              <a:t>Expand</a:t>
            </a:r>
            <a:r>
              <a:rPr lang="en-US" sz="2400" dirty="0">
                <a:ea typeface="ＭＳ Ｐゴシック" pitchFamily="34" charset="-128"/>
              </a:rPr>
              <a:t> function creates new nodes, filling in the various fields and using the </a:t>
            </a:r>
            <a:r>
              <a:rPr lang="en-US" sz="2400" dirty="0" err="1">
                <a:latin typeface="Courier New" pitchFamily="49" charset="0"/>
                <a:ea typeface="ＭＳ Ｐゴシック" pitchFamily="34" charset="-128"/>
              </a:rPr>
              <a:t>SuccessorFn</a:t>
            </a:r>
            <a:r>
              <a:rPr lang="en-US" sz="2400" dirty="0">
                <a:ea typeface="ＭＳ Ｐゴシック" pitchFamily="34" charset="-128"/>
              </a:rPr>
              <a:t> of the problem to create the corresponding states.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76250"/>
            <a:ext cx="84582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algn="ctr">
              <a:defRPr/>
            </a:pPr>
            <a:r>
              <a:rPr lang="en-US" sz="3600" dirty="0"/>
              <a:t>Implementation: states vs. nodes</a:t>
            </a:r>
          </a:p>
        </p:txBody>
      </p:sp>
      <p:pic>
        <p:nvPicPr>
          <p:cNvPr id="36868" name="Picture 4" descr="state-vs-n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366962"/>
            <a:ext cx="49815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pitchFamily="34" charset="-128"/>
              </a:rPr>
              <a:t>A search strategy is defined by picking the </a:t>
            </a: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order of node expansion</a:t>
            </a: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pitchFamily="34" charset="-128"/>
              </a:rPr>
              <a:t>Strategies are evaluated along the following dimensions: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completeness</a:t>
            </a:r>
            <a:r>
              <a:rPr lang="en-US" sz="2000" dirty="0">
                <a:ea typeface="ＭＳ Ｐゴシック" pitchFamily="34" charset="-128"/>
              </a:rPr>
              <a:t>: does it always find a solution if one exists?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time complexity</a:t>
            </a:r>
            <a:r>
              <a:rPr lang="en-US" sz="2000" dirty="0">
                <a:ea typeface="ＭＳ Ｐゴシック" pitchFamily="34" charset="-128"/>
              </a:rPr>
              <a:t>: number of nodes generated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space</a:t>
            </a:r>
            <a:r>
              <a:rPr lang="en-US" sz="2000" dirty="0">
                <a:solidFill>
                  <a:schemeClr val="folHlink"/>
                </a:solidFill>
                <a:ea typeface="ＭＳ Ｐゴシック" pitchFamily="34" charset="-128"/>
              </a:rPr>
              <a:t> </a:t>
            </a: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complexity</a:t>
            </a:r>
            <a:r>
              <a:rPr lang="en-US" sz="2000" dirty="0">
                <a:ea typeface="ＭＳ Ｐゴシック" pitchFamily="34" charset="-128"/>
              </a:rPr>
              <a:t>: maximum number of nodes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  <a:ea typeface="ＭＳ Ｐゴシック" pitchFamily="34" charset="-128"/>
              </a:rPr>
              <a:t>optimality</a:t>
            </a:r>
            <a:r>
              <a:rPr lang="en-US" sz="2000" dirty="0">
                <a:ea typeface="ＭＳ Ｐゴシック" pitchFamily="34" charset="-128"/>
              </a:rPr>
              <a:t>: does it always find a least-cost solution?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pitchFamily="34" charset="-128"/>
              </a:rPr>
              <a:t>Time and space complexity are measured in terms of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>
                <a:ea typeface="ＭＳ Ｐゴシック" pitchFamily="34" charset="-128"/>
              </a:rPr>
              <a:t>b:</a:t>
            </a:r>
            <a:r>
              <a:rPr lang="en-US" sz="2000" dirty="0">
                <a:ea typeface="ＭＳ Ｐゴシック" pitchFamily="34" charset="-128"/>
              </a:rPr>
              <a:t> maximum branching factor of the search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>
                <a:ea typeface="ＭＳ Ｐゴシック" pitchFamily="34" charset="-128"/>
              </a:rPr>
              <a:t>d: </a:t>
            </a:r>
            <a:r>
              <a:rPr lang="en-US" sz="2000" dirty="0">
                <a:ea typeface="ＭＳ Ｐゴシック" pitchFamily="34" charset="-128"/>
              </a:rPr>
              <a:t>depth of the least-cost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i="1" dirty="0">
                <a:ea typeface="ＭＳ Ｐゴシック" pitchFamily="34" charset="-128"/>
              </a:rPr>
              <a:t>m</a:t>
            </a:r>
            <a:r>
              <a:rPr lang="en-US" sz="2000" dirty="0">
                <a:ea typeface="ＭＳ Ｐゴシック" pitchFamily="34" charset="-128"/>
              </a:rPr>
              <a:t>: maximum depth of the state space (may be </a:t>
            </a:r>
            <a:r>
              <a:rPr lang="en-US" sz="2000" dirty="0">
                <a:ea typeface="ＭＳ Ｐゴシック" pitchFamily="34" charset="-128"/>
                <a:cs typeface="Arial" pitchFamily="34" charset="0"/>
              </a:rPr>
              <a:t>∞</a:t>
            </a:r>
            <a:r>
              <a:rPr lang="en-US" sz="2000" dirty="0">
                <a:ea typeface="ＭＳ Ｐゴシック" pitchFamily="34" charset="-128"/>
              </a:rPr>
              <a:t>)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Search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1371600"/>
            <a:ext cx="7772400" cy="43434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Uninformed</a:t>
            </a:r>
            <a:r>
              <a:rPr lang="en-US" dirty="0">
                <a:ea typeface="ＭＳ Ｐゴシック" pitchFamily="34" charset="-128"/>
              </a:rPr>
              <a:t> search strategies </a:t>
            </a:r>
          </a:p>
          <a:p>
            <a:pPr lvl="1" eaLnBrk="1" hangingPunct="1"/>
            <a:r>
              <a:rPr lang="en-US" dirty="0">
                <a:ea typeface="ＭＳ Ｐゴシック" pitchFamily="34" charset="-128"/>
              </a:rPr>
              <a:t>use only the information available in the problem definition</a:t>
            </a:r>
          </a:p>
          <a:p>
            <a:pPr eaLnBrk="1" hangingPunct="1"/>
            <a:endParaRPr lang="en-US" dirty="0">
              <a:ea typeface="ＭＳ Ｐゴシック" pitchFamily="34" charset="-128"/>
            </a:endParaRP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Breadth-first search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Depth-first search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Depth-limited search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Iterative deepening search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6397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Uninformed search strategies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Expand shallowest unexpanded node</a:t>
            </a:r>
          </a:p>
          <a:p>
            <a:pPr eaLnBrk="1" hangingPunct="1"/>
            <a:r>
              <a:rPr lang="en-US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i="1">
                <a:ea typeface="ＭＳ Ｐゴシック" pitchFamily="34" charset="-128"/>
              </a:rPr>
              <a:t>fringe</a:t>
            </a:r>
            <a:r>
              <a:rPr lang="en-US">
                <a:ea typeface="ＭＳ Ｐゴシック" pitchFamily="34" charset="-128"/>
              </a:rPr>
              <a:t> is a FIFO queue, i.e., new successors go at end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Breadth-first search</a:t>
            </a:r>
          </a:p>
        </p:txBody>
      </p:sp>
      <p:pic>
        <p:nvPicPr>
          <p:cNvPr id="39940" name="Picture 4" descr="bf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200401"/>
            <a:ext cx="4267200" cy="281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649995" y="228601"/>
            <a:ext cx="8971844" cy="1066799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1" y="1447800"/>
            <a:ext cx="7483475" cy="4114800"/>
          </a:xfrm>
        </p:spPr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Expand shallowest unexpanded node</a:t>
            </a:r>
          </a:p>
          <a:p>
            <a:pPr eaLnBrk="1" hangingPunct="1"/>
            <a:r>
              <a:rPr lang="en-US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i="1">
                <a:ea typeface="ＭＳ Ｐゴシック" pitchFamily="34" charset="-128"/>
              </a:rPr>
              <a:t>fringe</a:t>
            </a:r>
            <a:r>
              <a:rPr lang="en-US">
                <a:ea typeface="ＭＳ Ｐゴシック" pitchFamily="34" charset="-128"/>
              </a:rPr>
              <a:t> is a FIFO queue, i.e., new successors go at end</a:t>
            </a:r>
          </a:p>
        </p:txBody>
      </p:sp>
      <p:pic>
        <p:nvPicPr>
          <p:cNvPr id="40964" name="Picture 2" descr="bfs-progress2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0" y="3352800"/>
            <a:ext cx="4343400" cy="2800350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bf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1"/>
            <a:ext cx="4343400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Expand shallowest unexpanded node</a:t>
            </a:r>
          </a:p>
          <a:p>
            <a:pPr eaLnBrk="1" hangingPunct="1"/>
            <a:r>
              <a:rPr lang="en-US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i="1">
                <a:ea typeface="ＭＳ Ｐゴシック" pitchFamily="34" charset="-128"/>
              </a:rPr>
              <a:t>fringe</a:t>
            </a:r>
            <a:r>
              <a:rPr lang="en-US">
                <a:ea typeface="ＭＳ Ｐゴシック" pitchFamily="34" charset="-128"/>
              </a:rPr>
              <a:t> is a FIFO queue, i.e., new successors go at end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Breadth-first search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bf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048000"/>
            <a:ext cx="4648200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Expand shallowest unexpanded node</a:t>
            </a:r>
          </a:p>
          <a:p>
            <a:pPr eaLnBrk="1" hangingPunct="1"/>
            <a:r>
              <a:rPr lang="en-US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i="1">
                <a:ea typeface="ＭＳ Ｐゴシック" pitchFamily="34" charset="-128"/>
              </a:rPr>
              <a:t>fringe</a:t>
            </a:r>
            <a:r>
              <a:rPr lang="en-US">
                <a:ea typeface="ＭＳ Ｐゴシック" pitchFamily="34" charset="-128"/>
              </a:rPr>
              <a:t> is a FIFO queue, i.e., new successors go at end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Breadth-first 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Complete?</a:t>
            </a:r>
            <a:r>
              <a:rPr lang="en-US" sz="2800" dirty="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Time?</a:t>
            </a:r>
            <a:r>
              <a:rPr lang="en-US" sz="2800" dirty="0">
                <a:ea typeface="ＭＳ Ｐゴシック" pitchFamily="34" charset="-128"/>
              </a:rPr>
              <a:t> </a:t>
            </a:r>
            <a:endParaRPr lang="en-US" sz="2800" u="sng" dirty="0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Space?</a:t>
            </a:r>
            <a:r>
              <a:rPr lang="en-US" sz="2800" dirty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 dirty="0">
                <a:solidFill>
                  <a:srgbClr val="CC0099"/>
                </a:solidFill>
                <a:ea typeface="ＭＳ Ｐゴシック" pitchFamily="34" charset="-128"/>
              </a:rPr>
              <a:t>Optimal?</a:t>
            </a:r>
            <a:r>
              <a:rPr lang="en-US" sz="2800" dirty="0">
                <a:ea typeface="ＭＳ Ｐゴシック" pitchFamily="34" charset="-128"/>
              </a:rPr>
              <a:t> </a:t>
            </a:r>
            <a:endParaRPr lang="en-US" sz="2800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Properties of breadth-first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1684582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Complete?</a:t>
            </a:r>
            <a:r>
              <a:rPr lang="en-US" sz="280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r>
              <a:rPr lang="en-US" sz="2800">
                <a:ea typeface="ＭＳ Ｐゴシック" pitchFamily="34" charset="-128"/>
              </a:rPr>
              <a:t>Yes (if </a:t>
            </a:r>
            <a:r>
              <a:rPr lang="en-US" sz="2800" i="1">
                <a:ea typeface="ＭＳ Ｐゴシック" pitchFamily="34" charset="-128"/>
              </a:rPr>
              <a:t>b</a:t>
            </a:r>
            <a:r>
              <a:rPr lang="en-US" sz="2800">
                <a:ea typeface="ＭＳ Ｐゴシック" pitchFamily="34" charset="-128"/>
              </a:rPr>
              <a:t> is finite)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Time?</a:t>
            </a:r>
            <a:r>
              <a:rPr lang="en-US" sz="2800">
                <a:ea typeface="ＭＳ Ｐゴシック" pitchFamily="34" charset="-128"/>
              </a:rPr>
              <a:t> </a:t>
            </a:r>
            <a:r>
              <a:rPr lang="en-US" i="1">
                <a:ea typeface="ＭＳ Ｐゴシック" pitchFamily="34" charset="-128"/>
              </a:rPr>
              <a:t>1+b+b</a:t>
            </a:r>
            <a:r>
              <a:rPr lang="en-US" i="1" baseline="30000">
                <a:ea typeface="ＭＳ Ｐゴシック" pitchFamily="34" charset="-128"/>
              </a:rPr>
              <a:t>2</a:t>
            </a:r>
            <a:r>
              <a:rPr lang="en-US" i="1">
                <a:ea typeface="ＭＳ Ｐゴシック" pitchFamily="34" charset="-128"/>
              </a:rPr>
              <a:t>+b</a:t>
            </a:r>
            <a:r>
              <a:rPr lang="en-US" i="1" baseline="30000">
                <a:ea typeface="ＭＳ Ｐゴシック" pitchFamily="34" charset="-128"/>
              </a:rPr>
              <a:t>3</a:t>
            </a:r>
            <a:r>
              <a:rPr lang="en-US">
                <a:ea typeface="ＭＳ Ｐゴシック" pitchFamily="34" charset="-128"/>
              </a:rPr>
              <a:t>+… +</a:t>
            </a:r>
            <a:r>
              <a:rPr lang="en-US" i="1">
                <a:ea typeface="ＭＳ Ｐゴシック" pitchFamily="34" charset="-128"/>
              </a:rPr>
              <a:t>b</a:t>
            </a:r>
            <a:r>
              <a:rPr lang="en-US" i="1" baseline="30000">
                <a:ea typeface="ＭＳ Ｐゴシック" pitchFamily="34" charset="-128"/>
              </a:rPr>
              <a:t>d</a:t>
            </a:r>
            <a:r>
              <a:rPr lang="en-US">
                <a:ea typeface="ＭＳ Ｐゴシック" pitchFamily="34" charset="-128"/>
              </a:rPr>
              <a:t> + </a:t>
            </a:r>
            <a:r>
              <a:rPr lang="en-US" i="1">
                <a:ea typeface="ＭＳ Ｐゴシック" pitchFamily="34" charset="-128"/>
              </a:rPr>
              <a:t>b(b</a:t>
            </a:r>
            <a:r>
              <a:rPr lang="en-US" i="1" baseline="30000">
                <a:ea typeface="ＭＳ Ｐゴシック" pitchFamily="34" charset="-128"/>
              </a:rPr>
              <a:t>d</a:t>
            </a:r>
            <a:r>
              <a:rPr lang="en-US" i="1">
                <a:ea typeface="ＭＳ Ｐゴシック" pitchFamily="34" charset="-128"/>
              </a:rPr>
              <a:t>-1</a:t>
            </a:r>
            <a:r>
              <a:rPr lang="en-US">
                <a:ea typeface="ＭＳ Ｐゴシック" pitchFamily="34" charset="-128"/>
              </a:rPr>
              <a:t>) = O(b</a:t>
            </a:r>
            <a:r>
              <a:rPr lang="en-US" baseline="30000">
                <a:ea typeface="ＭＳ Ｐゴシック" pitchFamily="34" charset="-128"/>
              </a:rPr>
              <a:t>d+1</a:t>
            </a:r>
            <a:r>
              <a:rPr lang="en-US">
                <a:ea typeface="ＭＳ Ｐゴシック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Space?</a:t>
            </a:r>
            <a:r>
              <a:rPr lang="en-US" sz="2800">
                <a:ea typeface="ＭＳ Ｐゴシック" pitchFamily="34" charset="-128"/>
              </a:rPr>
              <a:t> </a:t>
            </a:r>
            <a:r>
              <a:rPr lang="en-US" sz="2800" i="1">
                <a:ea typeface="ＭＳ Ｐゴシック" pitchFamily="34" charset="-128"/>
              </a:rPr>
              <a:t>O(b</a:t>
            </a:r>
            <a:r>
              <a:rPr lang="en-US" sz="2800" i="1" baseline="30000">
                <a:ea typeface="ＭＳ Ｐゴシック" pitchFamily="34" charset="-128"/>
              </a:rPr>
              <a:t>d+1</a:t>
            </a:r>
            <a:r>
              <a:rPr lang="en-US" sz="2800" i="1">
                <a:ea typeface="ＭＳ Ｐゴシック" pitchFamily="34" charset="-128"/>
              </a:rPr>
              <a:t>)</a:t>
            </a:r>
            <a:r>
              <a:rPr lang="en-US" sz="2800">
                <a:ea typeface="ＭＳ Ｐゴシック" pitchFamily="34" charset="-128"/>
              </a:rPr>
              <a:t> (keeps every node in memory)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8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Optimal?</a:t>
            </a:r>
            <a:r>
              <a:rPr lang="en-US" sz="2800">
                <a:ea typeface="ＭＳ Ｐゴシック" pitchFamily="34" charset="-128"/>
              </a:rPr>
              <a:t> Yes (if cost = 1 per step)</a:t>
            </a:r>
          </a:p>
          <a:p>
            <a:pPr eaLnBrk="1" hangingPunct="1">
              <a:lnSpc>
                <a:spcPct val="80000"/>
              </a:lnSpc>
            </a:pPr>
            <a:endParaRPr lang="en-US" sz="280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FF0000"/>
                </a:solidFill>
                <a:ea typeface="ＭＳ Ｐゴシック" pitchFamily="34" charset="-128"/>
              </a:rPr>
              <a:t>Space</a:t>
            </a:r>
            <a:r>
              <a:rPr lang="en-US" sz="2800">
                <a:ea typeface="ＭＳ Ｐゴシック" pitchFamily="34" charset="-128"/>
              </a:rPr>
              <a:t> is the bigger problem (more than time)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Properties of breadth-first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1869316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C9F6-F3D5-C7D5-664B-3AFCA7F7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Q&amp;A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8F94B-7BED-B491-56AC-ED09C556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0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56C1-7B44-8C7B-D4D1-B40BBC15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10ED9-ED71-742B-9CFC-C5AADC3E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F25C56CE-1917-F37A-1A1A-182ABEA26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37"/>
          <a:stretch>
            <a:fillRect/>
          </a:stretch>
        </p:blipFill>
        <p:spPr bwMode="auto">
          <a:xfrm>
            <a:off x="4098925" y="0"/>
            <a:ext cx="3994150" cy="549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No photo description available.">
            <a:extLst>
              <a:ext uri="{FF2B5EF4-FFF2-40B4-BE49-F238E27FC236}">
                <a16:creationId xmlns:a16="http://schemas.microsoft.com/office/drawing/2014/main" id="{5BC406EC-3985-627D-9F7A-615D8C840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79"/>
          <a:stretch>
            <a:fillRect/>
          </a:stretch>
        </p:blipFill>
        <p:spPr bwMode="auto">
          <a:xfrm>
            <a:off x="4098925" y="5497551"/>
            <a:ext cx="3994150" cy="134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No photo description available.">
            <a:extLst>
              <a:ext uri="{FF2B5EF4-FFF2-40B4-BE49-F238E27FC236}">
                <a16:creationId xmlns:a16="http://schemas.microsoft.com/office/drawing/2014/main" id="{67D154AE-8B64-AE20-1700-D1E375606E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556"/>
          <a:stretch>
            <a:fillRect/>
          </a:stretch>
        </p:blipFill>
        <p:spPr bwMode="auto">
          <a:xfrm>
            <a:off x="4101779" y="10154"/>
            <a:ext cx="3994150" cy="140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No photo description available.">
            <a:extLst>
              <a:ext uri="{FF2B5EF4-FFF2-40B4-BE49-F238E27FC236}">
                <a16:creationId xmlns:a16="http://schemas.microsoft.com/office/drawing/2014/main" id="{2859CF60-DD2C-80EC-D9E4-61BB0A515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" t="20763" r="146" b="58793"/>
          <a:stretch>
            <a:fillRect/>
          </a:stretch>
        </p:blipFill>
        <p:spPr bwMode="auto">
          <a:xfrm>
            <a:off x="4098925" y="1412234"/>
            <a:ext cx="3994150" cy="140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51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376B-E3A5-1EB8-DEFA-57312A25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A5BCF-EEBB-3BA1-2A62-0A6DF337E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112" y="2839247"/>
            <a:ext cx="8268897" cy="299671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Actions: </a:t>
            </a:r>
          </a:p>
          <a:p>
            <a:pPr lvl="1"/>
            <a:r>
              <a:rPr lang="en-US" sz="2000" dirty="0"/>
              <a:t>Take the boat across the river with max one thing.</a:t>
            </a:r>
          </a:p>
          <a:p>
            <a:r>
              <a:rPr lang="en-US" sz="2200" dirty="0"/>
              <a:t>New state = the thing (and boat and farmer) is on the other side</a:t>
            </a:r>
          </a:p>
          <a:p>
            <a:pPr lvl="1"/>
            <a:r>
              <a:rPr lang="en-US" sz="2000" dirty="0"/>
              <a:t>and: </a:t>
            </a:r>
          </a:p>
          <a:p>
            <a:pPr lvl="2"/>
            <a:r>
              <a:rPr lang="en-US" sz="1600" dirty="0"/>
              <a:t>If the </a:t>
            </a:r>
            <a:r>
              <a:rPr lang="en-US" sz="1600" b="1" dirty="0"/>
              <a:t>fox</a:t>
            </a:r>
            <a:r>
              <a:rPr lang="en-US" sz="1600" dirty="0"/>
              <a:t> and the </a:t>
            </a:r>
            <a:r>
              <a:rPr lang="en-US" sz="1600" b="1" dirty="0"/>
              <a:t>chicken</a:t>
            </a:r>
            <a:r>
              <a:rPr lang="en-US" sz="1600" dirty="0"/>
              <a:t> are left unattended, chicken gets eaten. </a:t>
            </a:r>
          </a:p>
          <a:p>
            <a:pPr lvl="2"/>
            <a:r>
              <a:rPr lang="en-US" sz="1600" dirty="0"/>
              <a:t>If the </a:t>
            </a:r>
            <a:r>
              <a:rPr lang="en-US" sz="1600" b="1" dirty="0"/>
              <a:t>chicken</a:t>
            </a:r>
            <a:r>
              <a:rPr lang="en-US" sz="1600" dirty="0"/>
              <a:t> and the </a:t>
            </a:r>
            <a:r>
              <a:rPr lang="en-US" sz="1600" b="1" dirty="0"/>
              <a:t>corn </a:t>
            </a:r>
            <a:r>
              <a:rPr lang="en-US" sz="1600" dirty="0"/>
              <a:t>are left unattended, corn gets eaten.</a:t>
            </a:r>
          </a:p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1026" name="Picture 2" descr="River Crossing Puzzle [Solved] — Steemit">
            <a:extLst>
              <a:ext uri="{FF2B5EF4-FFF2-40B4-BE49-F238E27FC236}">
                <a16:creationId xmlns:a16="http://schemas.microsoft.com/office/drawing/2014/main" id="{08CD8FDD-9D80-9D36-FAB3-5341210AE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53"/>
          <a:stretch>
            <a:fillRect/>
          </a:stretch>
        </p:blipFill>
        <p:spPr bwMode="auto">
          <a:xfrm>
            <a:off x="1043089" y="290789"/>
            <a:ext cx="5620412" cy="171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iver Crossing Puzzle [Solved] — Steemit">
            <a:extLst>
              <a:ext uri="{FF2B5EF4-FFF2-40B4-BE49-F238E27FC236}">
                <a16:creationId xmlns:a16="http://schemas.microsoft.com/office/drawing/2014/main" id="{9A9B5094-651F-8152-9777-1DEF2F1E4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07890" y="363942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iver Crossing Puzzle [Solved] — Steemit">
            <a:extLst>
              <a:ext uri="{FF2B5EF4-FFF2-40B4-BE49-F238E27FC236}">
                <a16:creationId xmlns:a16="http://schemas.microsoft.com/office/drawing/2014/main" id="{A46DE51E-306B-39DF-065F-B4698BE8C6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87395" y="257436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iver Crossing Puzzle [Solved] — Steemit">
            <a:extLst>
              <a:ext uri="{FF2B5EF4-FFF2-40B4-BE49-F238E27FC236}">
                <a16:creationId xmlns:a16="http://schemas.microsoft.com/office/drawing/2014/main" id="{6CBA9D44-DF05-326E-5098-0FEB379F9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122233" y="325919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iver Crossing Puzzle [Solved] — Steemit">
            <a:extLst>
              <a:ext uri="{FF2B5EF4-FFF2-40B4-BE49-F238E27FC236}">
                <a16:creationId xmlns:a16="http://schemas.microsoft.com/office/drawing/2014/main" id="{C1349B65-AE2D-961C-8A7A-406130A40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071682" y="2868966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30D0827-ADC4-BA71-5834-4E6EFDBFD78A}"/>
              </a:ext>
            </a:extLst>
          </p:cNvPr>
          <p:cNvSpPr/>
          <p:nvPr/>
        </p:nvSpPr>
        <p:spPr>
          <a:xfrm>
            <a:off x="1531839" y="257163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E6AF4-64DA-4CB7-3AFA-6317AD216232}"/>
              </a:ext>
            </a:extLst>
          </p:cNvPr>
          <p:cNvSpPr/>
          <p:nvPr/>
        </p:nvSpPr>
        <p:spPr>
          <a:xfrm>
            <a:off x="928204" y="2531187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2" descr="River Crossing Puzzle [Solved] — Steemit">
            <a:extLst>
              <a:ext uri="{FF2B5EF4-FFF2-40B4-BE49-F238E27FC236}">
                <a16:creationId xmlns:a16="http://schemas.microsoft.com/office/drawing/2014/main" id="{E4A28C2D-0CED-898A-AD2C-055FEECE1B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666940" y="528078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iver Crossing Puzzle [Solved] — Steemit">
            <a:extLst>
              <a:ext uri="{FF2B5EF4-FFF2-40B4-BE49-F238E27FC236}">
                <a16:creationId xmlns:a16="http://schemas.microsoft.com/office/drawing/2014/main" id="{CD9C5A80-5C13-3FA2-6942-ADD10AB70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746445" y="421572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iver Crossing Puzzle [Solved] — Steemit">
            <a:extLst>
              <a:ext uri="{FF2B5EF4-FFF2-40B4-BE49-F238E27FC236}">
                <a16:creationId xmlns:a16="http://schemas.microsoft.com/office/drawing/2014/main" id="{6BD83C08-EC14-37EC-E59B-C1E7043D4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781283" y="4900558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iver Crossing Puzzle [Solved] — Steemit">
            <a:extLst>
              <a:ext uri="{FF2B5EF4-FFF2-40B4-BE49-F238E27FC236}">
                <a16:creationId xmlns:a16="http://schemas.microsoft.com/office/drawing/2014/main" id="{F1A9B398-8F1E-9148-AEA3-65488F9B9E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730732" y="451032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48FCC3-6845-B32C-8EF7-011FA4E4CD7A}"/>
              </a:ext>
            </a:extLst>
          </p:cNvPr>
          <p:cNvSpPr/>
          <p:nvPr/>
        </p:nvSpPr>
        <p:spPr>
          <a:xfrm>
            <a:off x="1531839" y="4203829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1D182F-422F-575B-8BC9-C5EACFC32EC3}"/>
              </a:ext>
            </a:extLst>
          </p:cNvPr>
          <p:cNvSpPr/>
          <p:nvPr/>
        </p:nvSpPr>
        <p:spPr>
          <a:xfrm>
            <a:off x="928204" y="4163386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9B667-2024-E241-EAA1-5D1930CACDA2}"/>
              </a:ext>
            </a:extLst>
          </p:cNvPr>
          <p:cNvSpPr txBox="1"/>
          <p:nvPr/>
        </p:nvSpPr>
        <p:spPr>
          <a:xfrm>
            <a:off x="2348637" y="2626726"/>
            <a:ext cx="1845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 state: Fox, chicken, corn on one side of river.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C03D0E-E058-AE26-3639-60B95158E332}"/>
              </a:ext>
            </a:extLst>
          </p:cNvPr>
          <p:cNvSpPr txBox="1"/>
          <p:nvPr/>
        </p:nvSpPr>
        <p:spPr>
          <a:xfrm>
            <a:off x="2325455" y="4367202"/>
            <a:ext cx="1688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Goal state: everything on the other side.</a:t>
            </a:r>
          </a:p>
        </p:txBody>
      </p:sp>
      <p:pic>
        <p:nvPicPr>
          <p:cNvPr id="20" name="Picture 2" descr="River Crossing Puzzle [Solved] — Steemit">
            <a:extLst>
              <a:ext uri="{FF2B5EF4-FFF2-40B4-BE49-F238E27FC236}">
                <a16:creationId xmlns:a16="http://schemas.microsoft.com/office/drawing/2014/main" id="{993C2DF4-6224-88FE-7CDE-3E327554C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17"/>
          <a:stretch>
            <a:fillRect/>
          </a:stretch>
        </p:blipFill>
        <p:spPr bwMode="auto">
          <a:xfrm>
            <a:off x="6276727" y="1055519"/>
            <a:ext cx="5620412" cy="111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an Aquaculture Help Women Secure a New ...">
            <a:extLst>
              <a:ext uri="{FF2B5EF4-FFF2-40B4-BE49-F238E27FC236}">
                <a16:creationId xmlns:a16="http://schemas.microsoft.com/office/drawing/2014/main" id="{6592FFB8-6037-25A5-5C43-A163649A2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14"/>
          <a:stretch>
            <a:fillRect/>
          </a:stretch>
        </p:blipFill>
        <p:spPr bwMode="auto">
          <a:xfrm>
            <a:off x="8038053" y="24343"/>
            <a:ext cx="1743075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28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4" grpId="0" animBg="1"/>
      <p:bldP spid="15" grpId="0" animBg="1"/>
      <p:bldP spid="19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iver Crossing Puzzle [Solved] — Steemit">
            <a:extLst>
              <a:ext uri="{FF2B5EF4-FFF2-40B4-BE49-F238E27FC236}">
                <a16:creationId xmlns:a16="http://schemas.microsoft.com/office/drawing/2014/main" id="{EB2DA62B-E17D-C36C-72A8-FB4E09146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078783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iver Crossing Puzzle [Solved] — Steemit">
            <a:extLst>
              <a:ext uri="{FF2B5EF4-FFF2-40B4-BE49-F238E27FC236}">
                <a16:creationId xmlns:a16="http://schemas.microsoft.com/office/drawing/2014/main" id="{826EF04B-4EFE-8FE1-C076-B44B7432A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52952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1FF771-4D30-6AB0-FAF5-39B698664012}"/>
              </a:ext>
            </a:extLst>
          </p:cNvPr>
          <p:cNvSpPr/>
          <p:nvPr/>
        </p:nvSpPr>
        <p:spPr>
          <a:xfrm>
            <a:off x="10897396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6853DD-C121-30A6-2590-880BC918AD5B}"/>
              </a:ext>
            </a:extLst>
          </p:cNvPr>
          <p:cNvSpPr/>
          <p:nvPr/>
        </p:nvSpPr>
        <p:spPr>
          <a:xfrm>
            <a:off x="10293761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2" descr="River Crossing Puzzle [Solved] — Steemit">
            <a:extLst>
              <a:ext uri="{FF2B5EF4-FFF2-40B4-BE49-F238E27FC236}">
                <a16:creationId xmlns:a16="http://schemas.microsoft.com/office/drawing/2014/main" id="{91F5F549-C530-CCC9-923E-2F1DD2F65B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477720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River Crossing Puzzle [Solved] — Steemit">
            <a:extLst>
              <a:ext uri="{FF2B5EF4-FFF2-40B4-BE49-F238E27FC236}">
                <a16:creationId xmlns:a16="http://schemas.microsoft.com/office/drawing/2014/main" id="{D9508C66-C830-4090-9849-0925923540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7898175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River Crossing Puzzle [Solved] — Steemit">
            <a:extLst>
              <a:ext uri="{FF2B5EF4-FFF2-40B4-BE49-F238E27FC236}">
                <a16:creationId xmlns:a16="http://schemas.microsoft.com/office/drawing/2014/main" id="{F7D39134-9DFD-D59D-296E-6CDDDE842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603163" y="1731381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River Crossing Puzzle [Solved] — Steemit">
            <a:extLst>
              <a:ext uri="{FF2B5EF4-FFF2-40B4-BE49-F238E27FC236}">
                <a16:creationId xmlns:a16="http://schemas.microsoft.com/office/drawing/2014/main" id="{91B0F5F2-E97A-0891-9DBD-3B3EC2AA8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882462" y="1350238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7F7CD48-64C9-E84C-11FE-AABE1608F3AE}"/>
              </a:ext>
            </a:extLst>
          </p:cNvPr>
          <p:cNvSpPr/>
          <p:nvPr/>
        </p:nvSpPr>
        <p:spPr>
          <a:xfrm>
            <a:off x="8342619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635FF1-E879-F873-E349-EBBD13DABE90}"/>
              </a:ext>
            </a:extLst>
          </p:cNvPr>
          <p:cNvSpPr/>
          <p:nvPr/>
        </p:nvSpPr>
        <p:spPr>
          <a:xfrm>
            <a:off x="7738984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2" descr="River Crossing Puzzle [Solved] — Steemit">
            <a:extLst>
              <a:ext uri="{FF2B5EF4-FFF2-40B4-BE49-F238E27FC236}">
                <a16:creationId xmlns:a16="http://schemas.microsoft.com/office/drawing/2014/main" id="{2527D56E-23E8-92A9-359C-7E730A55D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330430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River Crossing Puzzle [Solved] — Steemit">
            <a:extLst>
              <a:ext uri="{FF2B5EF4-FFF2-40B4-BE49-F238E27FC236}">
                <a16:creationId xmlns:a16="http://schemas.microsoft.com/office/drawing/2014/main" id="{F5EF2412-0F61-317E-A46D-E9F7C60A9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728413" y="115141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River Crossing Puzzle [Solved] — Steemit">
            <a:extLst>
              <a:ext uri="{FF2B5EF4-FFF2-40B4-BE49-F238E27FC236}">
                <a16:creationId xmlns:a16="http://schemas.microsoft.com/office/drawing/2014/main" id="{B448441F-AAFB-8383-E92C-E3C76A351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400185" y="145929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C8FC34F-A1BB-45CE-20AE-2F21CC04E1D0}"/>
              </a:ext>
            </a:extLst>
          </p:cNvPr>
          <p:cNvSpPr/>
          <p:nvPr/>
        </p:nvSpPr>
        <p:spPr>
          <a:xfrm>
            <a:off x="4172857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A011EF-6690-ECA0-9618-E57227A35878}"/>
              </a:ext>
            </a:extLst>
          </p:cNvPr>
          <p:cNvSpPr/>
          <p:nvPr/>
        </p:nvSpPr>
        <p:spPr>
          <a:xfrm>
            <a:off x="3569222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 descr="River Crossing Puzzle [Solved] — Steemit">
            <a:extLst>
              <a:ext uri="{FF2B5EF4-FFF2-40B4-BE49-F238E27FC236}">
                <a16:creationId xmlns:a16="http://schemas.microsoft.com/office/drawing/2014/main" id="{06CEC513-8137-3665-6A4E-BA9C7EE00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566531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River Crossing Puzzle [Solved] — Steemit">
            <a:extLst>
              <a:ext uri="{FF2B5EF4-FFF2-40B4-BE49-F238E27FC236}">
                <a16:creationId xmlns:a16="http://schemas.microsoft.com/office/drawing/2014/main" id="{4078A507-A0D6-F47F-AAA4-B8CAF523A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646720" y="113956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River Crossing Puzzle [Solved] — Steemit">
            <a:extLst>
              <a:ext uri="{FF2B5EF4-FFF2-40B4-BE49-F238E27FC236}">
                <a16:creationId xmlns:a16="http://schemas.microsoft.com/office/drawing/2014/main" id="{E76F200B-9461-DB46-DFFC-688BF2854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75605" y="1836254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29C0A35-5CEE-35E4-4076-84023DA3A831}"/>
              </a:ext>
            </a:extLst>
          </p:cNvPr>
          <p:cNvSpPr/>
          <p:nvPr/>
        </p:nvSpPr>
        <p:spPr>
          <a:xfrm>
            <a:off x="1385211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5E22F29-EC29-7D1E-BE24-89D2CA588738}"/>
              </a:ext>
            </a:extLst>
          </p:cNvPr>
          <p:cNvSpPr/>
          <p:nvPr/>
        </p:nvSpPr>
        <p:spPr>
          <a:xfrm>
            <a:off x="781576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 descr="River Crossing Puzzle [Solved] — Steemit">
            <a:extLst>
              <a:ext uri="{FF2B5EF4-FFF2-40B4-BE49-F238E27FC236}">
                <a16:creationId xmlns:a16="http://schemas.microsoft.com/office/drawing/2014/main" id="{F7F48FEB-77D2-3C6C-981F-3807C9A83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545065" y="110824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River Crossing Puzzle [Solved] — Steemit">
            <a:extLst>
              <a:ext uri="{FF2B5EF4-FFF2-40B4-BE49-F238E27FC236}">
                <a16:creationId xmlns:a16="http://schemas.microsoft.com/office/drawing/2014/main" id="{B2FB17C0-4F4E-2657-8E6B-0D7BC349A7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624570" y="4317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River Crossing Puzzle [Solved] — Steemit">
            <a:extLst>
              <a:ext uri="{FF2B5EF4-FFF2-40B4-BE49-F238E27FC236}">
                <a16:creationId xmlns:a16="http://schemas.microsoft.com/office/drawing/2014/main" id="{ABEF0172-5255-9265-0F9A-8FD3A3407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659408" y="72801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River Crossing Puzzle [Solved] — Steemit">
            <a:extLst>
              <a:ext uri="{FF2B5EF4-FFF2-40B4-BE49-F238E27FC236}">
                <a16:creationId xmlns:a16="http://schemas.microsoft.com/office/drawing/2014/main" id="{270E9581-AEC5-37FD-4269-886DADE32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608857" y="33777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1AD3A3FD-85CC-A778-2A79-D8B782681F8B}"/>
              </a:ext>
            </a:extLst>
          </p:cNvPr>
          <p:cNvSpPr/>
          <p:nvPr/>
        </p:nvSpPr>
        <p:spPr>
          <a:xfrm>
            <a:off x="6069014" y="4044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22F9DC-496C-7CEA-DEFA-F241787AA805}"/>
              </a:ext>
            </a:extLst>
          </p:cNvPr>
          <p:cNvSpPr/>
          <p:nvPr/>
        </p:nvSpPr>
        <p:spPr>
          <a:xfrm>
            <a:off x="5465379" y="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7CA35C2-1BE0-078E-1557-DF9E54FC1323}"/>
              </a:ext>
            </a:extLst>
          </p:cNvPr>
          <p:cNvCxnSpPr>
            <a:cxnSpLocks/>
          </p:cNvCxnSpPr>
          <p:nvPr/>
        </p:nvCxnSpPr>
        <p:spPr>
          <a:xfrm flipV="1">
            <a:off x="1410162" y="534256"/>
            <a:ext cx="4022924" cy="5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C13B2EE-AFD9-ED42-3E6F-AECB3EFAE684}"/>
              </a:ext>
            </a:extLst>
          </p:cNvPr>
          <p:cNvCxnSpPr>
            <a:cxnSpLocks/>
          </p:cNvCxnSpPr>
          <p:nvPr/>
        </p:nvCxnSpPr>
        <p:spPr>
          <a:xfrm flipV="1">
            <a:off x="4813636" y="863029"/>
            <a:ext cx="651743" cy="24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B82308-DAA6-A36E-329F-F691DB4922D7}"/>
              </a:ext>
            </a:extLst>
          </p:cNvPr>
          <p:cNvCxnSpPr>
            <a:cxnSpLocks/>
          </p:cNvCxnSpPr>
          <p:nvPr/>
        </p:nvCxnSpPr>
        <p:spPr>
          <a:xfrm>
            <a:off x="6726621" y="863029"/>
            <a:ext cx="1012363" cy="14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FDA6E95-22B5-F92E-FE06-6F56DB2B520F}"/>
              </a:ext>
            </a:extLst>
          </p:cNvPr>
          <p:cNvCxnSpPr>
            <a:cxnSpLocks/>
          </p:cNvCxnSpPr>
          <p:nvPr/>
        </p:nvCxnSpPr>
        <p:spPr>
          <a:xfrm>
            <a:off x="6726621" y="533443"/>
            <a:ext cx="3567140" cy="479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8F0D7B1D-85DC-9C8A-3083-7043CD0F1D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10617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40185A18-A2F1-7323-28B0-788BE807C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97357" y="264027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5D8883C2-4F11-AF51-7508-90684D40A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26242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214E706E-6EB4-7F03-81B3-0157BE1A13D6}"/>
              </a:ext>
            </a:extLst>
          </p:cNvPr>
          <p:cNvSpPr/>
          <p:nvPr/>
        </p:nvSpPr>
        <p:spPr>
          <a:xfrm>
            <a:off x="735848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BEDE5D4-3F6A-A012-BC97-F6E4A8086D37}"/>
              </a:ext>
            </a:extLst>
          </p:cNvPr>
          <p:cNvSpPr/>
          <p:nvPr/>
        </p:nvSpPr>
        <p:spPr>
          <a:xfrm>
            <a:off x="132213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2" descr="River Crossing Puzzle [Solved] — Steemit">
            <a:extLst>
              <a:ext uri="{FF2B5EF4-FFF2-40B4-BE49-F238E27FC236}">
                <a16:creationId xmlns:a16="http://schemas.microsoft.com/office/drawing/2014/main" id="{6A587239-A7D9-9CCF-E5B7-70F7D9F73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656074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River Crossing Puzzle [Solved] — Steemit">
            <a:extLst>
              <a:ext uri="{FF2B5EF4-FFF2-40B4-BE49-F238E27FC236}">
                <a16:creationId xmlns:a16="http://schemas.microsoft.com/office/drawing/2014/main" id="{72EFC4BC-D38D-A9D3-4720-DC16D3EE5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787117" y="267000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River Crossing Puzzle [Solved] — Steemit">
            <a:extLst>
              <a:ext uri="{FF2B5EF4-FFF2-40B4-BE49-F238E27FC236}">
                <a16:creationId xmlns:a16="http://schemas.microsoft.com/office/drawing/2014/main" id="{FD332FA6-105B-C707-1FA6-CCA6ABF717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771699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644F426-E75A-F17E-CE82-CF7C9ED9F36C}"/>
              </a:ext>
            </a:extLst>
          </p:cNvPr>
          <p:cNvSpPr/>
          <p:nvPr/>
        </p:nvSpPr>
        <p:spPr>
          <a:xfrm>
            <a:off x="2181305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DA67806-78F0-9144-1D35-0F2EE8DF0FB8}"/>
              </a:ext>
            </a:extLst>
          </p:cNvPr>
          <p:cNvSpPr/>
          <p:nvPr/>
        </p:nvSpPr>
        <p:spPr>
          <a:xfrm>
            <a:off x="1577670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Picture 2" descr="River Crossing Puzzle [Solved] — Steemit">
            <a:extLst>
              <a:ext uri="{FF2B5EF4-FFF2-40B4-BE49-F238E27FC236}">
                <a16:creationId xmlns:a16="http://schemas.microsoft.com/office/drawing/2014/main" id="{81239797-DA14-5214-5DEE-6D7EA539A0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568652" y="372821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 descr="River Crossing Puzzle [Solved] — Steemit">
            <a:extLst>
              <a:ext uri="{FF2B5EF4-FFF2-40B4-BE49-F238E27FC236}">
                <a16:creationId xmlns:a16="http://schemas.microsoft.com/office/drawing/2014/main" id="{226F8B58-4249-13C9-4DBA-C10BFB3B5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683558" y="265213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2" descr="River Crossing Puzzle [Solved] — Steemit">
            <a:extLst>
              <a:ext uri="{FF2B5EF4-FFF2-40B4-BE49-F238E27FC236}">
                <a16:creationId xmlns:a16="http://schemas.microsoft.com/office/drawing/2014/main" id="{035CF5FF-E7DD-433D-3697-80206D19E6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667538" y="30235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087AB5CD-0927-4FE2-7FB6-F8A348DF7AFC}"/>
              </a:ext>
            </a:extLst>
          </p:cNvPr>
          <p:cNvSpPr/>
          <p:nvPr/>
        </p:nvSpPr>
        <p:spPr>
          <a:xfrm>
            <a:off x="5128002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4C0E952-80AD-D198-CDA7-8070BFAB9F25}"/>
              </a:ext>
            </a:extLst>
          </p:cNvPr>
          <p:cNvSpPr/>
          <p:nvPr/>
        </p:nvSpPr>
        <p:spPr>
          <a:xfrm>
            <a:off x="4524367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2" descr="River Crossing Puzzle [Solved] — Steemit">
            <a:extLst>
              <a:ext uri="{FF2B5EF4-FFF2-40B4-BE49-F238E27FC236}">
                <a16:creationId xmlns:a16="http://schemas.microsoft.com/office/drawing/2014/main" id="{9F6B023D-EAA9-CA4A-3B8A-7E2CCF838E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741953" y="371560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River Crossing Puzzle [Solved] — Steemit">
            <a:extLst>
              <a:ext uri="{FF2B5EF4-FFF2-40B4-BE49-F238E27FC236}">
                <a16:creationId xmlns:a16="http://schemas.microsoft.com/office/drawing/2014/main" id="{BE98DDD1-C981-7786-A8CB-906637DA5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757666" y="263605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River Crossing Puzzle [Solved] — Steemit">
            <a:extLst>
              <a:ext uri="{FF2B5EF4-FFF2-40B4-BE49-F238E27FC236}">
                <a16:creationId xmlns:a16="http://schemas.microsoft.com/office/drawing/2014/main" id="{5AA4947A-14B1-0AD6-A9A5-F2023F3C9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462654" y="331180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2" descr="River Crossing Puzzle [Solved] — Steemit">
            <a:extLst>
              <a:ext uri="{FF2B5EF4-FFF2-40B4-BE49-F238E27FC236}">
                <a16:creationId xmlns:a16="http://schemas.microsoft.com/office/drawing/2014/main" id="{DA82AD4B-06E3-F340-2517-9F8ABED4F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741953" y="2930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BBC234CF-DC12-6B98-60C9-6951986DA9CC}"/>
              </a:ext>
            </a:extLst>
          </p:cNvPr>
          <p:cNvSpPr/>
          <p:nvPr/>
        </p:nvSpPr>
        <p:spPr>
          <a:xfrm>
            <a:off x="7202110" y="26333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1A8E598-1810-D375-3D13-F68C4CD02D5A}"/>
              </a:ext>
            </a:extLst>
          </p:cNvPr>
          <p:cNvSpPr/>
          <p:nvPr/>
        </p:nvSpPr>
        <p:spPr>
          <a:xfrm>
            <a:off x="6598475" y="25928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" descr="River Crossing Puzzle [Solved] — Steemit">
            <a:extLst>
              <a:ext uri="{FF2B5EF4-FFF2-40B4-BE49-F238E27FC236}">
                <a16:creationId xmlns:a16="http://schemas.microsoft.com/office/drawing/2014/main" id="{F443A534-77BC-1E72-D7FD-A1982D9AD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052605" y="369672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2" descr="River Crossing Puzzle [Solved] — Steemit">
            <a:extLst>
              <a:ext uri="{FF2B5EF4-FFF2-40B4-BE49-F238E27FC236}">
                <a16:creationId xmlns:a16="http://schemas.microsoft.com/office/drawing/2014/main" id="{ACD6BC81-E474-224E-5380-96881CE2E8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117686" y="263605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2" descr="River Crossing Puzzle [Solved] — Steemit">
            <a:extLst>
              <a:ext uri="{FF2B5EF4-FFF2-40B4-BE49-F238E27FC236}">
                <a16:creationId xmlns:a16="http://schemas.microsoft.com/office/drawing/2014/main" id="{6B34F68C-0801-579F-B02E-D0C346046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113029" y="334485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2" descr="River Crossing Puzzle [Solved] — Steemit">
            <a:extLst>
              <a:ext uri="{FF2B5EF4-FFF2-40B4-BE49-F238E27FC236}">
                <a16:creationId xmlns:a16="http://schemas.microsoft.com/office/drawing/2014/main" id="{11FFA609-7169-C19A-A355-4019DD897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8101973" y="2930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6478C948-4214-D60F-602F-6B939A946248}"/>
              </a:ext>
            </a:extLst>
          </p:cNvPr>
          <p:cNvSpPr/>
          <p:nvPr/>
        </p:nvSpPr>
        <p:spPr>
          <a:xfrm>
            <a:off x="8562130" y="26333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95B7C8A-CD87-F507-DBE5-35DBA654C77C}"/>
              </a:ext>
            </a:extLst>
          </p:cNvPr>
          <p:cNvSpPr/>
          <p:nvPr/>
        </p:nvSpPr>
        <p:spPr>
          <a:xfrm>
            <a:off x="7958495" y="25928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2" descr="River Crossing Puzzle [Solved] — Steemit">
            <a:extLst>
              <a:ext uri="{FF2B5EF4-FFF2-40B4-BE49-F238E27FC236}">
                <a16:creationId xmlns:a16="http://schemas.microsoft.com/office/drawing/2014/main" id="{89251C81-CEC6-D67D-E1A4-679AE75938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367160" y="371761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River Crossing Puzzle [Solved] — Steemit">
            <a:extLst>
              <a:ext uri="{FF2B5EF4-FFF2-40B4-BE49-F238E27FC236}">
                <a16:creationId xmlns:a16="http://schemas.microsoft.com/office/drawing/2014/main" id="{04C8C3A7-0CA7-5EB9-7215-6289CB80F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71685" y="268345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CF3E815-DBBB-395C-4F8A-67A1C36E869F}"/>
              </a:ext>
            </a:extLst>
          </p:cNvPr>
          <p:cNvSpPr/>
          <p:nvPr/>
        </p:nvSpPr>
        <p:spPr>
          <a:xfrm>
            <a:off x="10916129" y="268071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8F1114D-48B5-564E-CD8E-227547A2257D}"/>
              </a:ext>
            </a:extLst>
          </p:cNvPr>
          <p:cNvSpPr/>
          <p:nvPr/>
        </p:nvSpPr>
        <p:spPr>
          <a:xfrm>
            <a:off x="10312494" y="264027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201075B-3426-AA2E-6836-C868D4C734EC}"/>
              </a:ext>
            </a:extLst>
          </p:cNvPr>
          <p:cNvCxnSpPr>
            <a:cxnSpLocks/>
          </p:cNvCxnSpPr>
          <p:nvPr/>
        </p:nvCxnSpPr>
        <p:spPr>
          <a:xfrm flipV="1">
            <a:off x="449282" y="2480415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3236BAC-D2D9-6906-6B07-DC6E82F8D9E9}"/>
              </a:ext>
            </a:extLst>
          </p:cNvPr>
          <p:cNvCxnSpPr>
            <a:cxnSpLocks/>
            <a:stCxn id="98" idx="0"/>
          </p:cNvCxnSpPr>
          <p:nvPr/>
        </p:nvCxnSpPr>
        <p:spPr>
          <a:xfrm flipH="1" flipV="1">
            <a:off x="2034020" y="2483793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0651E23-B10B-7663-37E4-8154640597FF}"/>
              </a:ext>
            </a:extLst>
          </p:cNvPr>
          <p:cNvCxnSpPr>
            <a:cxnSpLocks/>
            <a:stCxn id="128" idx="0"/>
            <a:endCxn id="14" idx="2"/>
          </p:cNvCxnSpPr>
          <p:nvPr/>
        </p:nvCxnSpPr>
        <p:spPr>
          <a:xfrm flipH="1" flipV="1">
            <a:off x="10924382" y="2399076"/>
            <a:ext cx="18733" cy="24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2" descr="River Crossing Puzzle [Solved] — Steemit">
            <a:extLst>
              <a:ext uri="{FF2B5EF4-FFF2-40B4-BE49-F238E27FC236}">
                <a16:creationId xmlns:a16="http://schemas.microsoft.com/office/drawing/2014/main" id="{E2CB7718-141C-E2E6-A9DC-7B7002C87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84893" y="537475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2" descr="River Crossing Puzzle [Solved] — Steemit">
            <a:extLst>
              <a:ext uri="{FF2B5EF4-FFF2-40B4-BE49-F238E27FC236}">
                <a16:creationId xmlns:a16="http://schemas.microsoft.com/office/drawing/2014/main" id="{EBA66A68-BBCC-2C89-2AE3-279DDDBEE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7067" y="429130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2" descr="River Crossing Puzzle [Solved] — Steemit">
            <a:extLst>
              <a:ext uri="{FF2B5EF4-FFF2-40B4-BE49-F238E27FC236}">
                <a16:creationId xmlns:a16="http://schemas.microsoft.com/office/drawing/2014/main" id="{1E1FA8DA-FCFB-AD65-CF19-D988CD1F66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75952" y="498799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9261AB89-81C3-D774-81FB-140CA07575F0}"/>
              </a:ext>
            </a:extLst>
          </p:cNvPr>
          <p:cNvSpPr/>
          <p:nvPr/>
        </p:nvSpPr>
        <p:spPr>
          <a:xfrm>
            <a:off x="785558" y="43004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2CD2053-3AE4-AAF8-AF99-372FCA5A1A2A}"/>
              </a:ext>
            </a:extLst>
          </p:cNvPr>
          <p:cNvSpPr/>
          <p:nvPr/>
        </p:nvSpPr>
        <p:spPr>
          <a:xfrm>
            <a:off x="181923" y="42599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2" descr="River Crossing Puzzle [Solved] — Steemit">
            <a:extLst>
              <a:ext uri="{FF2B5EF4-FFF2-40B4-BE49-F238E27FC236}">
                <a16:creationId xmlns:a16="http://schemas.microsoft.com/office/drawing/2014/main" id="{A1A3AF9F-6D38-4DCA-21F0-583208744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445965" y="543158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River Crossing Puzzle [Solved] — Steemit">
            <a:extLst>
              <a:ext uri="{FF2B5EF4-FFF2-40B4-BE49-F238E27FC236}">
                <a16:creationId xmlns:a16="http://schemas.microsoft.com/office/drawing/2014/main" id="{BC031ECD-7AA4-127E-E785-81C978B76F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511864" y="430261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 descr="River Crossing Puzzle [Solved] — Steemit">
            <a:extLst>
              <a:ext uri="{FF2B5EF4-FFF2-40B4-BE49-F238E27FC236}">
                <a16:creationId xmlns:a16="http://schemas.microsoft.com/office/drawing/2014/main" id="{51B81A34-235E-A6FC-FA1B-D1579F020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559940" y="50497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BEB11C00-ACCE-F668-3421-4719F0CDAB40}"/>
              </a:ext>
            </a:extLst>
          </p:cNvPr>
          <p:cNvSpPr/>
          <p:nvPr/>
        </p:nvSpPr>
        <p:spPr>
          <a:xfrm>
            <a:off x="2250355" y="4311736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A9F285B-60EF-3E0E-AC8D-F297C3F761FD}"/>
              </a:ext>
            </a:extLst>
          </p:cNvPr>
          <p:cNvSpPr/>
          <p:nvPr/>
        </p:nvSpPr>
        <p:spPr>
          <a:xfrm>
            <a:off x="1646720" y="4271293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42C17F2-344E-9038-A570-DC3A4F029839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762227" y="3995572"/>
            <a:ext cx="607" cy="26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47041F1-91DB-91E1-6092-9EC092680CFF}"/>
              </a:ext>
            </a:extLst>
          </p:cNvPr>
          <p:cNvCxnSpPr>
            <a:cxnSpLocks/>
          </p:cNvCxnSpPr>
          <p:nvPr/>
        </p:nvCxnSpPr>
        <p:spPr>
          <a:xfrm flipH="1" flipV="1">
            <a:off x="996750" y="3995572"/>
            <a:ext cx="1230274" cy="275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2" descr="River Crossing Puzzle [Solved] — Steemit">
            <a:extLst>
              <a:ext uri="{FF2B5EF4-FFF2-40B4-BE49-F238E27FC236}">
                <a16:creationId xmlns:a16="http://schemas.microsoft.com/office/drawing/2014/main" id="{B3339EA3-8C6C-02BB-6746-814E16FE3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785809" y="533925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2" descr="River Crossing Puzzle [Solved] — Steemit">
            <a:extLst>
              <a:ext uri="{FF2B5EF4-FFF2-40B4-BE49-F238E27FC236}">
                <a16:creationId xmlns:a16="http://schemas.microsoft.com/office/drawing/2014/main" id="{23C3EFF3-4D6B-135C-2901-5F921A10BC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152168" y="426007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Picture 2" descr="River Crossing Puzzle [Solved] — Steemit">
            <a:extLst>
              <a:ext uri="{FF2B5EF4-FFF2-40B4-BE49-F238E27FC236}">
                <a16:creationId xmlns:a16="http://schemas.microsoft.com/office/drawing/2014/main" id="{74048D83-F2E9-0B6A-422A-DE8772E1B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857156" y="493581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2" descr="River Crossing Puzzle [Solved] — Steemit">
            <a:extLst>
              <a:ext uri="{FF2B5EF4-FFF2-40B4-BE49-F238E27FC236}">
                <a16:creationId xmlns:a16="http://schemas.microsoft.com/office/drawing/2014/main" id="{BF72A42E-FB2D-E201-F099-2DB99DD41C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853983" y="4579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E2FD1621-A620-66EC-8A81-A579D4B0066E}"/>
              </a:ext>
            </a:extLst>
          </p:cNvPr>
          <p:cNvSpPr/>
          <p:nvPr/>
        </p:nvSpPr>
        <p:spPr>
          <a:xfrm>
            <a:off x="6596612" y="425733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DC6D5F6-43FD-7140-2EED-9FF546C78E39}"/>
              </a:ext>
            </a:extLst>
          </p:cNvPr>
          <p:cNvSpPr/>
          <p:nvPr/>
        </p:nvSpPr>
        <p:spPr>
          <a:xfrm>
            <a:off x="5992977" y="4216895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" name="Picture 2" descr="River Crossing Puzzle [Solved] — Steemit">
            <a:extLst>
              <a:ext uri="{FF2B5EF4-FFF2-40B4-BE49-F238E27FC236}">
                <a16:creationId xmlns:a16="http://schemas.microsoft.com/office/drawing/2014/main" id="{E2285FA9-B861-F97C-7306-D53AF949A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217418" y="532475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Picture 2" descr="River Crossing Puzzle [Solved] — Steemit">
            <a:extLst>
              <a:ext uri="{FF2B5EF4-FFF2-40B4-BE49-F238E27FC236}">
                <a16:creationId xmlns:a16="http://schemas.microsoft.com/office/drawing/2014/main" id="{AB93A678-B21E-F8F7-A942-99B423F95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247316" y="423659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Picture 2" descr="River Crossing Puzzle [Solved] — Steemit">
            <a:extLst>
              <a:ext uri="{FF2B5EF4-FFF2-40B4-BE49-F238E27FC236}">
                <a16:creationId xmlns:a16="http://schemas.microsoft.com/office/drawing/2014/main" id="{3379A4A1-DD53-4F21-1760-462E977D23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274670" y="493488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Picture 2" descr="River Crossing Puzzle [Solved] — Steemit">
            <a:extLst>
              <a:ext uri="{FF2B5EF4-FFF2-40B4-BE49-F238E27FC236}">
                <a16:creationId xmlns:a16="http://schemas.microsoft.com/office/drawing/2014/main" id="{32765793-8CAF-635D-9ADC-07B29737C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553969" y="455374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D69C6212-8EBE-DDFB-BF70-2FDC689413F1}"/>
              </a:ext>
            </a:extLst>
          </p:cNvPr>
          <p:cNvSpPr/>
          <p:nvPr/>
        </p:nvSpPr>
        <p:spPr>
          <a:xfrm>
            <a:off x="8014126" y="425640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4D386E-F43F-BF67-F25D-8AEFF66ACD84}"/>
              </a:ext>
            </a:extLst>
          </p:cNvPr>
          <p:cNvSpPr/>
          <p:nvPr/>
        </p:nvSpPr>
        <p:spPr>
          <a:xfrm>
            <a:off x="7410491" y="4215965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65C12C1-D757-444F-9398-2F5D892D2193}"/>
              </a:ext>
            </a:extLst>
          </p:cNvPr>
          <p:cNvCxnSpPr>
            <a:cxnSpLocks/>
          </p:cNvCxnSpPr>
          <p:nvPr/>
        </p:nvCxnSpPr>
        <p:spPr>
          <a:xfrm flipH="1" flipV="1">
            <a:off x="4830464" y="2498104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A10C69F6-14A8-D809-79B9-6E9FB21A0315}"/>
              </a:ext>
            </a:extLst>
          </p:cNvPr>
          <p:cNvCxnSpPr>
            <a:cxnSpLocks/>
          </p:cNvCxnSpPr>
          <p:nvPr/>
        </p:nvCxnSpPr>
        <p:spPr>
          <a:xfrm flipV="1">
            <a:off x="7487373" y="2399076"/>
            <a:ext cx="410802" cy="179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4F6DD8A-B152-C008-CB56-E6D726DA0D51}"/>
              </a:ext>
            </a:extLst>
          </p:cNvPr>
          <p:cNvCxnSpPr>
            <a:cxnSpLocks/>
          </p:cNvCxnSpPr>
          <p:nvPr/>
        </p:nvCxnSpPr>
        <p:spPr>
          <a:xfrm flipH="1" flipV="1">
            <a:off x="8779294" y="2405535"/>
            <a:ext cx="173180" cy="211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9201825-0C1F-C98F-43CA-137C8D1BF57A}"/>
              </a:ext>
            </a:extLst>
          </p:cNvPr>
          <p:cNvCxnSpPr>
            <a:cxnSpLocks/>
          </p:cNvCxnSpPr>
          <p:nvPr/>
        </p:nvCxnSpPr>
        <p:spPr>
          <a:xfrm flipV="1">
            <a:off x="6409864" y="4008255"/>
            <a:ext cx="258389" cy="165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5988C50-2194-06E0-6501-B6BAB3364DC2}"/>
              </a:ext>
            </a:extLst>
          </p:cNvPr>
          <p:cNvCxnSpPr>
            <a:cxnSpLocks/>
            <a:stCxn id="168" idx="0"/>
          </p:cNvCxnSpPr>
          <p:nvPr/>
        </p:nvCxnSpPr>
        <p:spPr>
          <a:xfrm flipH="1" flipV="1">
            <a:off x="7859717" y="4026892"/>
            <a:ext cx="181395" cy="18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3" name="Picture 2" descr="River Crossing Puzzle [Solved] — Steemit">
            <a:extLst>
              <a:ext uri="{FF2B5EF4-FFF2-40B4-BE49-F238E27FC236}">
                <a16:creationId xmlns:a16="http://schemas.microsoft.com/office/drawing/2014/main" id="{8C356127-F7D7-7785-ECD1-07BC7CE56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160942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2" descr="River Crossing Puzzle [Solved] — Steemit">
            <a:extLst>
              <a:ext uri="{FF2B5EF4-FFF2-40B4-BE49-F238E27FC236}">
                <a16:creationId xmlns:a16="http://schemas.microsoft.com/office/drawing/2014/main" id="{577E53BF-452D-D2E7-1D14-F9CF4A92C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218610" y="265213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2" descr="River Crossing Puzzle [Solved] — Steemit">
            <a:extLst>
              <a:ext uri="{FF2B5EF4-FFF2-40B4-BE49-F238E27FC236}">
                <a16:creationId xmlns:a16="http://schemas.microsoft.com/office/drawing/2014/main" id="{9860A1BE-647D-81FC-A721-C97A01AD5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890382" y="296000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AC493060-E3D8-8288-1A17-6432A8FCF354}"/>
              </a:ext>
            </a:extLst>
          </p:cNvPr>
          <p:cNvSpPr/>
          <p:nvPr/>
        </p:nvSpPr>
        <p:spPr>
          <a:xfrm>
            <a:off x="3663054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0C97C267-E30E-358C-E8A7-FF1F8C55B2B4}"/>
              </a:ext>
            </a:extLst>
          </p:cNvPr>
          <p:cNvSpPr/>
          <p:nvPr/>
        </p:nvSpPr>
        <p:spPr>
          <a:xfrm>
            <a:off x="3059419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2C298B2-AC8E-7179-98F4-5D5D9D0E43A1}"/>
              </a:ext>
            </a:extLst>
          </p:cNvPr>
          <p:cNvCxnSpPr>
            <a:cxnSpLocks/>
          </p:cNvCxnSpPr>
          <p:nvPr/>
        </p:nvCxnSpPr>
        <p:spPr>
          <a:xfrm flipV="1">
            <a:off x="3245726" y="2494726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9" name="Picture 2" descr="River Crossing Puzzle [Solved] — Steemit">
            <a:extLst>
              <a:ext uri="{FF2B5EF4-FFF2-40B4-BE49-F238E27FC236}">
                <a16:creationId xmlns:a16="http://schemas.microsoft.com/office/drawing/2014/main" id="{9CB0B243-7C84-B0FD-AF02-121A978E82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897307" y="542139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2" descr="River Crossing Puzzle [Solved] — Steemit">
            <a:extLst>
              <a:ext uri="{FF2B5EF4-FFF2-40B4-BE49-F238E27FC236}">
                <a16:creationId xmlns:a16="http://schemas.microsoft.com/office/drawing/2014/main" id="{0267D8D6-5EE0-12F7-ECD2-15F924829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259208" y="431922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River Crossing Puzzle [Solved] — Steemit">
            <a:extLst>
              <a:ext uri="{FF2B5EF4-FFF2-40B4-BE49-F238E27FC236}">
                <a16:creationId xmlns:a16="http://schemas.microsoft.com/office/drawing/2014/main" id="{2B1E4352-2579-734B-E6BF-90AE7C694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930980" y="462709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CB78F473-9406-2BF0-52C5-2BBEC56A2158}"/>
              </a:ext>
            </a:extLst>
          </p:cNvPr>
          <p:cNvSpPr/>
          <p:nvPr/>
        </p:nvSpPr>
        <p:spPr>
          <a:xfrm>
            <a:off x="3703652" y="431648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6BDC3BD3-55C8-690B-5FF2-CFAA6F9102EE}"/>
              </a:ext>
            </a:extLst>
          </p:cNvPr>
          <p:cNvSpPr/>
          <p:nvPr/>
        </p:nvSpPr>
        <p:spPr>
          <a:xfrm>
            <a:off x="3100017" y="427604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B4D9EBA-A3CC-822E-FC4A-8CA0BD673F27}"/>
              </a:ext>
            </a:extLst>
          </p:cNvPr>
          <p:cNvCxnSpPr>
            <a:cxnSpLocks/>
          </p:cNvCxnSpPr>
          <p:nvPr/>
        </p:nvCxnSpPr>
        <p:spPr>
          <a:xfrm flipV="1">
            <a:off x="3286324" y="4026892"/>
            <a:ext cx="282898" cy="26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Picture 2" descr="River Crossing Puzzle [Solved] — Steemit">
            <a:extLst>
              <a:ext uri="{FF2B5EF4-FFF2-40B4-BE49-F238E27FC236}">
                <a16:creationId xmlns:a16="http://schemas.microsoft.com/office/drawing/2014/main" id="{33811363-C4B9-5B6B-8619-CF9B274F9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313698" y="542139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2" descr="River Crossing Puzzle [Solved] — Steemit">
            <a:extLst>
              <a:ext uri="{FF2B5EF4-FFF2-40B4-BE49-F238E27FC236}">
                <a16:creationId xmlns:a16="http://schemas.microsoft.com/office/drawing/2014/main" id="{317F6A7C-5438-BD10-F7D3-2ACDC2E208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383722" y="426739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Picture 2" descr="River Crossing Puzzle [Solved] — Steemit">
            <a:extLst>
              <a:ext uri="{FF2B5EF4-FFF2-40B4-BE49-F238E27FC236}">
                <a16:creationId xmlns:a16="http://schemas.microsoft.com/office/drawing/2014/main" id="{F7B21C44-B5E4-A8E3-BFEF-C5518A018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374063" y="460356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AC20B699-9E4B-7951-6AB8-30AC296EF0A7}"/>
              </a:ext>
            </a:extLst>
          </p:cNvPr>
          <p:cNvSpPr/>
          <p:nvPr/>
        </p:nvSpPr>
        <p:spPr>
          <a:xfrm>
            <a:off x="5146735" y="429295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EF4A73-CEA7-1512-ACB6-B42CEF408C35}"/>
              </a:ext>
            </a:extLst>
          </p:cNvPr>
          <p:cNvSpPr/>
          <p:nvPr/>
        </p:nvSpPr>
        <p:spPr>
          <a:xfrm>
            <a:off x="4543100" y="425251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9BEDCB8B-A1A9-A3F9-91CC-9D43BFB53D04}"/>
              </a:ext>
            </a:extLst>
          </p:cNvPr>
          <p:cNvCxnSpPr>
            <a:cxnSpLocks/>
          </p:cNvCxnSpPr>
          <p:nvPr/>
        </p:nvCxnSpPr>
        <p:spPr>
          <a:xfrm flipH="1" flipV="1">
            <a:off x="3920359" y="3979497"/>
            <a:ext cx="809048" cy="285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C168AC94-6CB7-7A19-431A-C151C5F2710E}"/>
              </a:ext>
            </a:extLst>
          </p:cNvPr>
          <p:cNvCxnSpPr>
            <a:cxnSpLocks/>
            <a:stCxn id="233" idx="0"/>
          </p:cNvCxnSpPr>
          <p:nvPr/>
        </p:nvCxnSpPr>
        <p:spPr>
          <a:xfrm flipV="1">
            <a:off x="3730638" y="3995572"/>
            <a:ext cx="1107308" cy="280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71BB7251-0F7E-6B70-C60B-C76AA295F09C}"/>
              </a:ext>
            </a:extLst>
          </p:cNvPr>
          <p:cNvCxnSpPr>
            <a:cxnSpLocks/>
            <a:endCxn id="108" idx="2"/>
          </p:cNvCxnSpPr>
          <p:nvPr/>
        </p:nvCxnSpPr>
        <p:spPr>
          <a:xfrm flipH="1" flipV="1">
            <a:off x="5154988" y="3995572"/>
            <a:ext cx="134731" cy="245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3A4409D4-8FA1-5836-C613-760E4E2CC866}"/>
              </a:ext>
            </a:extLst>
          </p:cNvPr>
          <p:cNvCxnSpPr>
            <a:cxnSpLocks/>
            <a:stCxn id="145" idx="0"/>
          </p:cNvCxnSpPr>
          <p:nvPr/>
        </p:nvCxnSpPr>
        <p:spPr>
          <a:xfrm flipV="1">
            <a:off x="812544" y="3979497"/>
            <a:ext cx="1187110" cy="280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" descr="River Crossing Puzzle [Solved] — Steemit">
            <a:extLst>
              <a:ext uri="{FF2B5EF4-FFF2-40B4-BE49-F238E27FC236}">
                <a16:creationId xmlns:a16="http://schemas.microsoft.com/office/drawing/2014/main" id="{5D0D98E5-6726-A6F8-9CFC-5FBAC9051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255123" y="530772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Picture 2" descr="River Crossing Puzzle [Solved] — Steemit">
            <a:extLst>
              <a:ext uri="{FF2B5EF4-FFF2-40B4-BE49-F238E27FC236}">
                <a16:creationId xmlns:a16="http://schemas.microsoft.com/office/drawing/2014/main" id="{EDBF2B80-16F6-B0B1-67F6-F417BA042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678410" y="425461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2016FC72-04B0-5CB8-B4DD-276901C24DAB}"/>
              </a:ext>
            </a:extLst>
          </p:cNvPr>
          <p:cNvSpPr/>
          <p:nvPr/>
        </p:nvSpPr>
        <p:spPr>
          <a:xfrm>
            <a:off x="10122854" y="4251886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6FDE8F6-F860-C6EF-EDFD-1A96E0920454}"/>
              </a:ext>
            </a:extLst>
          </p:cNvPr>
          <p:cNvSpPr/>
          <p:nvPr/>
        </p:nvSpPr>
        <p:spPr>
          <a:xfrm>
            <a:off x="9519219" y="4211443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E541E258-F834-877E-0502-34CE29301252}"/>
              </a:ext>
            </a:extLst>
          </p:cNvPr>
          <p:cNvCxnSpPr>
            <a:cxnSpLocks/>
            <a:stCxn id="259" idx="0"/>
          </p:cNvCxnSpPr>
          <p:nvPr/>
        </p:nvCxnSpPr>
        <p:spPr>
          <a:xfrm flipV="1">
            <a:off x="10149840" y="4026892"/>
            <a:ext cx="321845" cy="184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1" name="Picture 2" descr="River Crossing Puzzle [Solved] — Steemit">
            <a:extLst>
              <a:ext uri="{FF2B5EF4-FFF2-40B4-BE49-F238E27FC236}">
                <a16:creationId xmlns:a16="http://schemas.microsoft.com/office/drawing/2014/main" id="{A53C82CE-6B35-CC16-81EF-C06125B34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599486" y="525089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Picture 2" descr="River Crossing Puzzle [Solved] — Steemit">
            <a:extLst>
              <a:ext uri="{FF2B5EF4-FFF2-40B4-BE49-F238E27FC236}">
                <a16:creationId xmlns:a16="http://schemas.microsoft.com/office/drawing/2014/main" id="{580253C5-0F35-CC65-213D-708E65183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1701301" y="425116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78E1F8F8-4C20-8A3B-A80F-D58A67C7C6FF}"/>
              </a:ext>
            </a:extLst>
          </p:cNvPr>
          <p:cNvSpPr/>
          <p:nvPr/>
        </p:nvSpPr>
        <p:spPr>
          <a:xfrm>
            <a:off x="11507496" y="42464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0BBF6AE-4469-CCC5-67F5-8F310135DC42}"/>
              </a:ext>
            </a:extLst>
          </p:cNvPr>
          <p:cNvSpPr/>
          <p:nvPr/>
        </p:nvSpPr>
        <p:spPr>
          <a:xfrm>
            <a:off x="10903861" y="42059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413D0508-8A73-0DA5-C483-A5EAAC831FB2}"/>
              </a:ext>
            </a:extLst>
          </p:cNvPr>
          <p:cNvCxnSpPr>
            <a:cxnSpLocks/>
            <a:stCxn id="264" idx="0"/>
          </p:cNvCxnSpPr>
          <p:nvPr/>
        </p:nvCxnSpPr>
        <p:spPr>
          <a:xfrm flipH="1" flipV="1">
            <a:off x="11295344" y="4026892"/>
            <a:ext cx="239138" cy="1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2" name="Picture 2" descr="River Crossing Puzzle [Solved] — Steemit">
            <a:extLst>
              <a:ext uri="{FF2B5EF4-FFF2-40B4-BE49-F238E27FC236}">
                <a16:creationId xmlns:a16="http://schemas.microsoft.com/office/drawing/2014/main" id="{85C07A02-DEAF-3C64-8D4D-E6095EF1C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907962" y="46999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2" descr="River Crossing Puzzle [Solved] — Steemit">
            <a:extLst>
              <a:ext uri="{FF2B5EF4-FFF2-40B4-BE49-F238E27FC236}">
                <a16:creationId xmlns:a16="http://schemas.microsoft.com/office/drawing/2014/main" id="{C0261AEF-2011-0107-C8D8-121AA6543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866456" y="74936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" descr="River Crossing Puzzle [Solved] — Steemit">
            <a:extLst>
              <a:ext uri="{FF2B5EF4-FFF2-40B4-BE49-F238E27FC236}">
                <a16:creationId xmlns:a16="http://schemas.microsoft.com/office/drawing/2014/main" id="{309F25A0-B26B-5933-5F96-723BCF477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941470" y="62244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Picture 2" descr="River Crossing Puzzle [Solved] — Steemit">
            <a:extLst>
              <a:ext uri="{FF2B5EF4-FFF2-40B4-BE49-F238E27FC236}">
                <a16:creationId xmlns:a16="http://schemas.microsoft.com/office/drawing/2014/main" id="{22594456-E423-4BE7-7398-978AB3524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874227" y="883950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" descr="River Crossing Puzzle [Solved] — Steemit">
            <a:extLst>
              <a:ext uri="{FF2B5EF4-FFF2-40B4-BE49-F238E27FC236}">
                <a16:creationId xmlns:a16="http://schemas.microsoft.com/office/drawing/2014/main" id="{33E86C53-AF13-B935-C830-5FBF6110D9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694281" y="673493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" descr="River Crossing Puzzle [Solved] — Steemit">
            <a:extLst>
              <a:ext uri="{FF2B5EF4-FFF2-40B4-BE49-F238E27FC236}">
                <a16:creationId xmlns:a16="http://schemas.microsoft.com/office/drawing/2014/main" id="{B9816D09-863D-AAC3-BE83-1FB313616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190067" y="628273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2" descr="River Crossing Puzzle [Solved] — Steemit">
            <a:extLst>
              <a:ext uri="{FF2B5EF4-FFF2-40B4-BE49-F238E27FC236}">
                <a16:creationId xmlns:a16="http://schemas.microsoft.com/office/drawing/2014/main" id="{A2E3EEA6-21B7-8326-2B35-7CF91BC514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144974" y="87156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8" name="TextBox 277">
            <a:extLst>
              <a:ext uri="{FF2B5EF4-FFF2-40B4-BE49-F238E27FC236}">
                <a16:creationId xmlns:a16="http://schemas.microsoft.com/office/drawing/2014/main" id="{C3948DCA-9DEC-F758-4191-F36CAF2258C8}"/>
              </a:ext>
            </a:extLst>
          </p:cNvPr>
          <p:cNvSpPr txBox="1"/>
          <p:nvPr/>
        </p:nvSpPr>
        <p:spPr>
          <a:xfrm>
            <a:off x="210617" y="346136"/>
            <a:ext cx="135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Breadth first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86055-7C7E-60F2-7A70-86E2E333AD45}"/>
              </a:ext>
            </a:extLst>
          </p:cNvPr>
          <p:cNvSpPr txBox="1"/>
          <p:nvPr/>
        </p:nvSpPr>
        <p:spPr>
          <a:xfrm>
            <a:off x="6224530" y="6081311"/>
            <a:ext cx="5327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do you know left branch cannot be the right way?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7040F-7B38-C982-BAF7-088980C8FBB6}"/>
              </a:ext>
            </a:extLst>
          </p:cNvPr>
          <p:cNvSpPr txBox="1"/>
          <p:nvPr/>
        </p:nvSpPr>
        <p:spPr>
          <a:xfrm>
            <a:off x="6170819" y="6411234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How do you know its unnecessary to expand some branches?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C595F-7013-A0B2-02C3-820C0F7320AF}"/>
              </a:ext>
            </a:extLst>
          </p:cNvPr>
          <p:cNvSpPr txBox="1"/>
          <p:nvPr/>
        </p:nvSpPr>
        <p:spPr>
          <a:xfrm>
            <a:off x="8145190" y="133304"/>
            <a:ext cx="405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there a reason to disregard this action?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4" grpId="0" animBg="1"/>
      <p:bldP spid="45" grpId="0" animBg="1"/>
      <p:bldP spid="50" grpId="0" animBg="1"/>
      <p:bldP spid="51" grpId="0" animBg="1"/>
      <p:bldP spid="56" grpId="0" animBg="1"/>
      <p:bldP spid="57" grpId="0" animBg="1"/>
      <p:bldP spid="92" grpId="0" animBg="1"/>
      <p:bldP spid="93" grpId="0" animBg="1"/>
      <p:bldP spid="97" grpId="0" animBg="1"/>
      <p:bldP spid="98" grpId="0" animBg="1"/>
      <p:bldP spid="107" grpId="0" animBg="1"/>
      <p:bldP spid="108" grpId="0" animBg="1"/>
      <p:bldP spid="113" grpId="0" animBg="1"/>
      <p:bldP spid="114" grpId="0" animBg="1"/>
      <p:bldP spid="119" grpId="0" animBg="1"/>
      <p:bldP spid="120" grpId="0" animBg="1"/>
      <p:bldP spid="127" grpId="0" animBg="1"/>
      <p:bldP spid="128" grpId="0" animBg="1"/>
      <p:bldP spid="144" grpId="0" animBg="1"/>
      <p:bldP spid="145" grpId="0" animBg="1"/>
      <p:bldP spid="149" grpId="0" animBg="1"/>
      <p:bldP spid="150" grpId="0" animBg="1"/>
      <p:bldP spid="161" grpId="0" animBg="1"/>
      <p:bldP spid="162" grpId="0" animBg="1"/>
      <p:bldP spid="167" grpId="0" animBg="1"/>
      <p:bldP spid="168" grpId="0" animBg="1"/>
      <p:bldP spid="226" grpId="0" animBg="1"/>
      <p:bldP spid="227" grpId="0" animBg="1"/>
      <p:bldP spid="232" grpId="0" animBg="1"/>
      <p:bldP spid="233" grpId="0" animBg="1"/>
      <p:bldP spid="238" grpId="0" animBg="1"/>
      <p:bldP spid="239" grpId="0" animBg="1"/>
      <p:bldP spid="258" grpId="0" animBg="1"/>
      <p:bldP spid="259" grpId="0" animBg="1"/>
      <p:bldP spid="263" grpId="0" animBg="1"/>
      <p:bldP spid="264" grpId="0" animBg="1"/>
      <p:bldP spid="2" grpId="0"/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D086F3-8341-B3A5-9FF4-9BF667C0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iver Crossing Puzzle [Solved] — Steemit">
            <a:extLst>
              <a:ext uri="{FF2B5EF4-FFF2-40B4-BE49-F238E27FC236}">
                <a16:creationId xmlns:a16="http://schemas.microsoft.com/office/drawing/2014/main" id="{73225408-4FE8-2B96-BE5B-8936A0636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078783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iver Crossing Puzzle [Solved] — Steemit">
            <a:extLst>
              <a:ext uri="{FF2B5EF4-FFF2-40B4-BE49-F238E27FC236}">
                <a16:creationId xmlns:a16="http://schemas.microsoft.com/office/drawing/2014/main" id="{B8275A1A-5AF7-EDEF-30BB-91FF53C0E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52952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36E7868-39EB-602C-0577-1291E630DBC9}"/>
              </a:ext>
            </a:extLst>
          </p:cNvPr>
          <p:cNvSpPr/>
          <p:nvPr/>
        </p:nvSpPr>
        <p:spPr>
          <a:xfrm>
            <a:off x="10897396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1B8E82-58F3-5020-AF7C-B108331501EF}"/>
              </a:ext>
            </a:extLst>
          </p:cNvPr>
          <p:cNvSpPr/>
          <p:nvPr/>
        </p:nvSpPr>
        <p:spPr>
          <a:xfrm>
            <a:off x="10293761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2" descr="River Crossing Puzzle [Solved] — Steemit">
            <a:extLst>
              <a:ext uri="{FF2B5EF4-FFF2-40B4-BE49-F238E27FC236}">
                <a16:creationId xmlns:a16="http://schemas.microsoft.com/office/drawing/2014/main" id="{B9148034-D469-F010-27DD-252DF13FC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477720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River Crossing Puzzle [Solved] — Steemit">
            <a:extLst>
              <a:ext uri="{FF2B5EF4-FFF2-40B4-BE49-F238E27FC236}">
                <a16:creationId xmlns:a16="http://schemas.microsoft.com/office/drawing/2014/main" id="{F9965E9F-0DE8-F0FA-DE60-9F30617E52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7898175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River Crossing Puzzle [Solved] — Steemit">
            <a:extLst>
              <a:ext uri="{FF2B5EF4-FFF2-40B4-BE49-F238E27FC236}">
                <a16:creationId xmlns:a16="http://schemas.microsoft.com/office/drawing/2014/main" id="{7FB55D30-5055-60B2-D29A-7A4E2379E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603163" y="1731381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River Crossing Puzzle [Solved] — Steemit">
            <a:extLst>
              <a:ext uri="{FF2B5EF4-FFF2-40B4-BE49-F238E27FC236}">
                <a16:creationId xmlns:a16="http://schemas.microsoft.com/office/drawing/2014/main" id="{3B1B2082-E1A4-6014-57DF-45329FDDC4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882462" y="1350238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3E709C8-B9EC-AF8E-FE9A-5692739B68F7}"/>
              </a:ext>
            </a:extLst>
          </p:cNvPr>
          <p:cNvSpPr/>
          <p:nvPr/>
        </p:nvSpPr>
        <p:spPr>
          <a:xfrm>
            <a:off x="8342619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9721E7-3770-CEEB-291A-E9DEDC0E8B6A}"/>
              </a:ext>
            </a:extLst>
          </p:cNvPr>
          <p:cNvSpPr/>
          <p:nvPr/>
        </p:nvSpPr>
        <p:spPr>
          <a:xfrm>
            <a:off x="7738984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2" descr="River Crossing Puzzle [Solved] — Steemit">
            <a:extLst>
              <a:ext uri="{FF2B5EF4-FFF2-40B4-BE49-F238E27FC236}">
                <a16:creationId xmlns:a16="http://schemas.microsoft.com/office/drawing/2014/main" id="{6880BD2D-3BCD-9C12-11FA-F33A5AA042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330430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River Crossing Puzzle [Solved] — Steemit">
            <a:extLst>
              <a:ext uri="{FF2B5EF4-FFF2-40B4-BE49-F238E27FC236}">
                <a16:creationId xmlns:a16="http://schemas.microsoft.com/office/drawing/2014/main" id="{00D4D1CE-195A-32B5-C2B8-BFB9EC99C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728413" y="115141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River Crossing Puzzle [Solved] — Steemit">
            <a:extLst>
              <a:ext uri="{FF2B5EF4-FFF2-40B4-BE49-F238E27FC236}">
                <a16:creationId xmlns:a16="http://schemas.microsoft.com/office/drawing/2014/main" id="{638D78AB-28A3-8CDE-876D-03F1805CD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400185" y="145929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E8BAD2A-545D-F675-7741-E987423C0862}"/>
              </a:ext>
            </a:extLst>
          </p:cNvPr>
          <p:cNvSpPr/>
          <p:nvPr/>
        </p:nvSpPr>
        <p:spPr>
          <a:xfrm>
            <a:off x="4172857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6F7D19-7A41-BABE-6556-13FC0A05323E}"/>
              </a:ext>
            </a:extLst>
          </p:cNvPr>
          <p:cNvSpPr/>
          <p:nvPr/>
        </p:nvSpPr>
        <p:spPr>
          <a:xfrm>
            <a:off x="3569222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 descr="River Crossing Puzzle [Solved] — Steemit">
            <a:extLst>
              <a:ext uri="{FF2B5EF4-FFF2-40B4-BE49-F238E27FC236}">
                <a16:creationId xmlns:a16="http://schemas.microsoft.com/office/drawing/2014/main" id="{98B124B6-4970-5C65-07D1-9B3F60635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566531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River Crossing Puzzle [Solved] — Steemit">
            <a:extLst>
              <a:ext uri="{FF2B5EF4-FFF2-40B4-BE49-F238E27FC236}">
                <a16:creationId xmlns:a16="http://schemas.microsoft.com/office/drawing/2014/main" id="{41AF316C-4B00-87B9-0B1B-2B49EFC63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646720" y="113956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River Crossing Puzzle [Solved] — Steemit">
            <a:extLst>
              <a:ext uri="{FF2B5EF4-FFF2-40B4-BE49-F238E27FC236}">
                <a16:creationId xmlns:a16="http://schemas.microsoft.com/office/drawing/2014/main" id="{E32B1744-623E-1000-1918-104387D4E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75605" y="1836254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E6699F35-47F1-BF16-803F-D12AFA6EDCF4}"/>
              </a:ext>
            </a:extLst>
          </p:cNvPr>
          <p:cNvSpPr/>
          <p:nvPr/>
        </p:nvSpPr>
        <p:spPr>
          <a:xfrm>
            <a:off x="1385211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24FF23-790C-AB22-677E-540F28AA97E8}"/>
              </a:ext>
            </a:extLst>
          </p:cNvPr>
          <p:cNvSpPr/>
          <p:nvPr/>
        </p:nvSpPr>
        <p:spPr>
          <a:xfrm>
            <a:off x="781576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 descr="River Crossing Puzzle [Solved] — Steemit">
            <a:extLst>
              <a:ext uri="{FF2B5EF4-FFF2-40B4-BE49-F238E27FC236}">
                <a16:creationId xmlns:a16="http://schemas.microsoft.com/office/drawing/2014/main" id="{F395ABEF-7D52-B9C9-7D8E-8976A566F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545065" y="110824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River Crossing Puzzle [Solved] — Steemit">
            <a:extLst>
              <a:ext uri="{FF2B5EF4-FFF2-40B4-BE49-F238E27FC236}">
                <a16:creationId xmlns:a16="http://schemas.microsoft.com/office/drawing/2014/main" id="{322E2469-7755-85FC-D21F-3CE723781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624570" y="4317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River Crossing Puzzle [Solved] — Steemit">
            <a:extLst>
              <a:ext uri="{FF2B5EF4-FFF2-40B4-BE49-F238E27FC236}">
                <a16:creationId xmlns:a16="http://schemas.microsoft.com/office/drawing/2014/main" id="{7F75774E-61D7-3318-A781-40D6C7B4D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659408" y="72801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River Crossing Puzzle [Solved] — Steemit">
            <a:extLst>
              <a:ext uri="{FF2B5EF4-FFF2-40B4-BE49-F238E27FC236}">
                <a16:creationId xmlns:a16="http://schemas.microsoft.com/office/drawing/2014/main" id="{4025AC5A-6CAB-89FF-3371-F505D8BE83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608857" y="33777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00FABD0-8F96-BDB1-84D0-8FDF4AC88601}"/>
              </a:ext>
            </a:extLst>
          </p:cNvPr>
          <p:cNvSpPr/>
          <p:nvPr/>
        </p:nvSpPr>
        <p:spPr>
          <a:xfrm>
            <a:off x="6069014" y="4044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714BBCC-BB8A-3605-2F80-533DE4F44F56}"/>
              </a:ext>
            </a:extLst>
          </p:cNvPr>
          <p:cNvSpPr/>
          <p:nvPr/>
        </p:nvSpPr>
        <p:spPr>
          <a:xfrm>
            <a:off x="5465379" y="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33B4ECC-6912-6612-F9E7-79A0537FE1CF}"/>
              </a:ext>
            </a:extLst>
          </p:cNvPr>
          <p:cNvCxnSpPr>
            <a:cxnSpLocks/>
          </p:cNvCxnSpPr>
          <p:nvPr/>
        </p:nvCxnSpPr>
        <p:spPr>
          <a:xfrm flipV="1">
            <a:off x="1410162" y="534256"/>
            <a:ext cx="4022924" cy="5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61C2DDD-B441-2891-4707-CD7C3FD2C6F2}"/>
              </a:ext>
            </a:extLst>
          </p:cNvPr>
          <p:cNvCxnSpPr>
            <a:cxnSpLocks/>
          </p:cNvCxnSpPr>
          <p:nvPr/>
        </p:nvCxnSpPr>
        <p:spPr>
          <a:xfrm flipV="1">
            <a:off x="4813636" y="863029"/>
            <a:ext cx="651743" cy="24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37C9983-7FF6-798F-DF5B-2C73D1123486}"/>
              </a:ext>
            </a:extLst>
          </p:cNvPr>
          <p:cNvCxnSpPr>
            <a:cxnSpLocks/>
          </p:cNvCxnSpPr>
          <p:nvPr/>
        </p:nvCxnSpPr>
        <p:spPr>
          <a:xfrm>
            <a:off x="6726621" y="863029"/>
            <a:ext cx="1012363" cy="14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AD5A892-4D5E-DF4C-E9C8-ED97B2CACAAC}"/>
              </a:ext>
            </a:extLst>
          </p:cNvPr>
          <p:cNvCxnSpPr>
            <a:cxnSpLocks/>
          </p:cNvCxnSpPr>
          <p:nvPr/>
        </p:nvCxnSpPr>
        <p:spPr>
          <a:xfrm>
            <a:off x="6726621" y="533443"/>
            <a:ext cx="3567140" cy="479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C0C224AA-D16F-A351-F4C7-2F71FF84B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10617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C21A306E-D70B-9C26-609C-1C216F159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97357" y="264027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90548B2C-FC24-6B71-B9FA-696F20C1B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26242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F6D54ED-AC3E-D747-80F4-35FB93E1493B}"/>
              </a:ext>
            </a:extLst>
          </p:cNvPr>
          <p:cNvSpPr/>
          <p:nvPr/>
        </p:nvSpPr>
        <p:spPr>
          <a:xfrm>
            <a:off x="735848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139D8AF-3334-D573-DB4C-84008485BB20}"/>
              </a:ext>
            </a:extLst>
          </p:cNvPr>
          <p:cNvSpPr/>
          <p:nvPr/>
        </p:nvSpPr>
        <p:spPr>
          <a:xfrm>
            <a:off x="132213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2" descr="River Crossing Puzzle [Solved] — Steemit">
            <a:extLst>
              <a:ext uri="{FF2B5EF4-FFF2-40B4-BE49-F238E27FC236}">
                <a16:creationId xmlns:a16="http://schemas.microsoft.com/office/drawing/2014/main" id="{5C1CCA51-DD55-1865-D843-310D3DB049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656074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River Crossing Puzzle [Solved] — Steemit">
            <a:extLst>
              <a:ext uri="{FF2B5EF4-FFF2-40B4-BE49-F238E27FC236}">
                <a16:creationId xmlns:a16="http://schemas.microsoft.com/office/drawing/2014/main" id="{657DDE17-B8A9-4004-7117-3F369FC1C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787117" y="267000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River Crossing Puzzle [Solved] — Steemit">
            <a:extLst>
              <a:ext uri="{FF2B5EF4-FFF2-40B4-BE49-F238E27FC236}">
                <a16:creationId xmlns:a16="http://schemas.microsoft.com/office/drawing/2014/main" id="{4E802438-79E4-8776-2835-11A20F007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771699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B443975-540E-28FC-8237-D7620C261A73}"/>
              </a:ext>
            </a:extLst>
          </p:cNvPr>
          <p:cNvSpPr/>
          <p:nvPr/>
        </p:nvSpPr>
        <p:spPr>
          <a:xfrm>
            <a:off x="2181305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62139C4-4EF7-DF3E-AC73-4E5FC70E6D6F}"/>
              </a:ext>
            </a:extLst>
          </p:cNvPr>
          <p:cNvSpPr/>
          <p:nvPr/>
        </p:nvSpPr>
        <p:spPr>
          <a:xfrm>
            <a:off x="1577670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Picture 2" descr="River Crossing Puzzle [Solved] — Steemit">
            <a:extLst>
              <a:ext uri="{FF2B5EF4-FFF2-40B4-BE49-F238E27FC236}">
                <a16:creationId xmlns:a16="http://schemas.microsoft.com/office/drawing/2014/main" id="{546F957B-A3F7-E5D9-097B-8D768B995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568652" y="372821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 descr="River Crossing Puzzle [Solved] — Steemit">
            <a:extLst>
              <a:ext uri="{FF2B5EF4-FFF2-40B4-BE49-F238E27FC236}">
                <a16:creationId xmlns:a16="http://schemas.microsoft.com/office/drawing/2014/main" id="{B78E0D95-AFCA-4E23-51D5-AD871A802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683558" y="265213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2" descr="River Crossing Puzzle [Solved] — Steemit">
            <a:extLst>
              <a:ext uri="{FF2B5EF4-FFF2-40B4-BE49-F238E27FC236}">
                <a16:creationId xmlns:a16="http://schemas.microsoft.com/office/drawing/2014/main" id="{44AC3431-A672-9711-462E-BB7CDD09F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667538" y="30235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9F1ABBDB-0EE6-F890-EF5D-DBE71F498A5A}"/>
              </a:ext>
            </a:extLst>
          </p:cNvPr>
          <p:cNvSpPr/>
          <p:nvPr/>
        </p:nvSpPr>
        <p:spPr>
          <a:xfrm>
            <a:off x="5128002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9E61FF1-3F1C-8F73-2B7D-C2B6D8986F21}"/>
              </a:ext>
            </a:extLst>
          </p:cNvPr>
          <p:cNvSpPr/>
          <p:nvPr/>
        </p:nvSpPr>
        <p:spPr>
          <a:xfrm>
            <a:off x="4524367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2" descr="River Crossing Puzzle [Solved] — Steemit">
            <a:extLst>
              <a:ext uri="{FF2B5EF4-FFF2-40B4-BE49-F238E27FC236}">
                <a16:creationId xmlns:a16="http://schemas.microsoft.com/office/drawing/2014/main" id="{717AD5ED-5721-18E4-1C35-62B16B3F1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741953" y="371560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River Crossing Puzzle [Solved] — Steemit">
            <a:extLst>
              <a:ext uri="{FF2B5EF4-FFF2-40B4-BE49-F238E27FC236}">
                <a16:creationId xmlns:a16="http://schemas.microsoft.com/office/drawing/2014/main" id="{8CE2F156-C6B3-DCA8-6A51-6357FF289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757666" y="263605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River Crossing Puzzle [Solved] — Steemit">
            <a:extLst>
              <a:ext uri="{FF2B5EF4-FFF2-40B4-BE49-F238E27FC236}">
                <a16:creationId xmlns:a16="http://schemas.microsoft.com/office/drawing/2014/main" id="{A056D90B-5CDA-0FA7-732A-E41ABDFDC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462654" y="331180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2" descr="River Crossing Puzzle [Solved] — Steemit">
            <a:extLst>
              <a:ext uri="{FF2B5EF4-FFF2-40B4-BE49-F238E27FC236}">
                <a16:creationId xmlns:a16="http://schemas.microsoft.com/office/drawing/2014/main" id="{0965393B-699B-8B9F-DE95-7216001F6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741953" y="2930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BF06875B-E780-AF77-B392-ADEC6A279D4F}"/>
              </a:ext>
            </a:extLst>
          </p:cNvPr>
          <p:cNvSpPr/>
          <p:nvPr/>
        </p:nvSpPr>
        <p:spPr>
          <a:xfrm>
            <a:off x="7202110" y="26333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33D0DA9-01B1-5056-2C44-85B6010F3F5D}"/>
              </a:ext>
            </a:extLst>
          </p:cNvPr>
          <p:cNvSpPr/>
          <p:nvPr/>
        </p:nvSpPr>
        <p:spPr>
          <a:xfrm>
            <a:off x="6598475" y="25928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2" descr="River Crossing Puzzle [Solved] — Steemit">
            <a:extLst>
              <a:ext uri="{FF2B5EF4-FFF2-40B4-BE49-F238E27FC236}">
                <a16:creationId xmlns:a16="http://schemas.microsoft.com/office/drawing/2014/main" id="{B1B02A69-B261-5971-1A73-DC418C59A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052605" y="369672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2" descr="River Crossing Puzzle [Solved] — Steemit">
            <a:extLst>
              <a:ext uri="{FF2B5EF4-FFF2-40B4-BE49-F238E27FC236}">
                <a16:creationId xmlns:a16="http://schemas.microsoft.com/office/drawing/2014/main" id="{F467B023-46CD-803A-23E0-4DF6D417EB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117686" y="263605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2" descr="River Crossing Puzzle [Solved] — Steemit">
            <a:extLst>
              <a:ext uri="{FF2B5EF4-FFF2-40B4-BE49-F238E27FC236}">
                <a16:creationId xmlns:a16="http://schemas.microsoft.com/office/drawing/2014/main" id="{364FE906-0FC6-5CD1-9D03-975E28564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113029" y="334485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2" descr="River Crossing Puzzle [Solved] — Steemit">
            <a:extLst>
              <a:ext uri="{FF2B5EF4-FFF2-40B4-BE49-F238E27FC236}">
                <a16:creationId xmlns:a16="http://schemas.microsoft.com/office/drawing/2014/main" id="{8C234D92-49B7-9EA9-0F83-E2850C8E2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8101973" y="2930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9739C5A5-2622-B68F-6A6F-E59F47A60B29}"/>
              </a:ext>
            </a:extLst>
          </p:cNvPr>
          <p:cNvSpPr/>
          <p:nvPr/>
        </p:nvSpPr>
        <p:spPr>
          <a:xfrm>
            <a:off x="8562130" y="26333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FC206A-8AEE-2F4D-FCBF-3EA932A8657F}"/>
              </a:ext>
            </a:extLst>
          </p:cNvPr>
          <p:cNvSpPr/>
          <p:nvPr/>
        </p:nvSpPr>
        <p:spPr>
          <a:xfrm>
            <a:off x="7958495" y="25928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2" descr="River Crossing Puzzle [Solved] — Steemit">
            <a:extLst>
              <a:ext uri="{FF2B5EF4-FFF2-40B4-BE49-F238E27FC236}">
                <a16:creationId xmlns:a16="http://schemas.microsoft.com/office/drawing/2014/main" id="{F737BCCC-EF19-E034-E8B0-3745A97E6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367160" y="371761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River Crossing Puzzle [Solved] — Steemit">
            <a:extLst>
              <a:ext uri="{FF2B5EF4-FFF2-40B4-BE49-F238E27FC236}">
                <a16:creationId xmlns:a16="http://schemas.microsoft.com/office/drawing/2014/main" id="{7A917CEB-8978-7E11-20A6-812CD6847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71685" y="268345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257973F-ED4B-F090-126C-6E655B30ADF6}"/>
              </a:ext>
            </a:extLst>
          </p:cNvPr>
          <p:cNvSpPr/>
          <p:nvPr/>
        </p:nvSpPr>
        <p:spPr>
          <a:xfrm>
            <a:off x="10916129" y="268071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2EFD3DA-1415-F1F7-A8D6-930B0566317D}"/>
              </a:ext>
            </a:extLst>
          </p:cNvPr>
          <p:cNvSpPr/>
          <p:nvPr/>
        </p:nvSpPr>
        <p:spPr>
          <a:xfrm>
            <a:off x="10312494" y="264027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6DBCA74-24AE-AF1C-289C-68D202E6E658}"/>
              </a:ext>
            </a:extLst>
          </p:cNvPr>
          <p:cNvCxnSpPr>
            <a:cxnSpLocks/>
          </p:cNvCxnSpPr>
          <p:nvPr/>
        </p:nvCxnSpPr>
        <p:spPr>
          <a:xfrm flipV="1">
            <a:off x="449282" y="2480415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72DBCE9-4BBD-DE6B-1D41-EB794793C25B}"/>
              </a:ext>
            </a:extLst>
          </p:cNvPr>
          <p:cNvCxnSpPr>
            <a:cxnSpLocks/>
            <a:stCxn id="98" idx="0"/>
          </p:cNvCxnSpPr>
          <p:nvPr/>
        </p:nvCxnSpPr>
        <p:spPr>
          <a:xfrm flipH="1" flipV="1">
            <a:off x="2034020" y="2483793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39D9B08-ADD4-5ECB-D81F-3FB7C5741728}"/>
              </a:ext>
            </a:extLst>
          </p:cNvPr>
          <p:cNvCxnSpPr>
            <a:cxnSpLocks/>
            <a:stCxn id="128" idx="0"/>
            <a:endCxn id="14" idx="2"/>
          </p:cNvCxnSpPr>
          <p:nvPr/>
        </p:nvCxnSpPr>
        <p:spPr>
          <a:xfrm flipH="1" flipV="1">
            <a:off x="10924382" y="2399076"/>
            <a:ext cx="18733" cy="241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2" descr="River Crossing Puzzle [Solved] — Steemit">
            <a:extLst>
              <a:ext uri="{FF2B5EF4-FFF2-40B4-BE49-F238E27FC236}">
                <a16:creationId xmlns:a16="http://schemas.microsoft.com/office/drawing/2014/main" id="{E65E8CB0-FBE2-C33B-DF92-2BD9B20B3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84893" y="537475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2" descr="River Crossing Puzzle [Solved] — Steemit">
            <a:extLst>
              <a:ext uri="{FF2B5EF4-FFF2-40B4-BE49-F238E27FC236}">
                <a16:creationId xmlns:a16="http://schemas.microsoft.com/office/drawing/2014/main" id="{A0F48C8E-BADE-8E3F-8825-E74EAC775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7067" y="429130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2" descr="River Crossing Puzzle [Solved] — Steemit">
            <a:extLst>
              <a:ext uri="{FF2B5EF4-FFF2-40B4-BE49-F238E27FC236}">
                <a16:creationId xmlns:a16="http://schemas.microsoft.com/office/drawing/2014/main" id="{3FC1742C-0398-01CE-3076-8D2FB6238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75952" y="498799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365A9C9C-F5C6-CFF4-18ED-45C0DBFC0A61}"/>
              </a:ext>
            </a:extLst>
          </p:cNvPr>
          <p:cNvSpPr/>
          <p:nvPr/>
        </p:nvSpPr>
        <p:spPr>
          <a:xfrm>
            <a:off x="785558" y="43004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05DFEF7-BCF3-8F8C-770C-FE7CB04515C6}"/>
              </a:ext>
            </a:extLst>
          </p:cNvPr>
          <p:cNvSpPr/>
          <p:nvPr/>
        </p:nvSpPr>
        <p:spPr>
          <a:xfrm>
            <a:off x="181923" y="42599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2" descr="River Crossing Puzzle [Solved] — Steemit">
            <a:extLst>
              <a:ext uri="{FF2B5EF4-FFF2-40B4-BE49-F238E27FC236}">
                <a16:creationId xmlns:a16="http://schemas.microsoft.com/office/drawing/2014/main" id="{5D95F4F2-056A-9DF2-E4C1-57BC9F306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445965" y="543158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River Crossing Puzzle [Solved] — Steemit">
            <a:extLst>
              <a:ext uri="{FF2B5EF4-FFF2-40B4-BE49-F238E27FC236}">
                <a16:creationId xmlns:a16="http://schemas.microsoft.com/office/drawing/2014/main" id="{AFC17D7A-95A1-59C6-EA8F-2F124B99C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511864" y="430261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 descr="River Crossing Puzzle [Solved] — Steemit">
            <a:extLst>
              <a:ext uri="{FF2B5EF4-FFF2-40B4-BE49-F238E27FC236}">
                <a16:creationId xmlns:a16="http://schemas.microsoft.com/office/drawing/2014/main" id="{B609A694-522E-6D89-F9E9-5204F8E6F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559940" y="50497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AA252F81-A7B6-C9BB-ED78-648A52D3F7FE}"/>
              </a:ext>
            </a:extLst>
          </p:cNvPr>
          <p:cNvSpPr/>
          <p:nvPr/>
        </p:nvSpPr>
        <p:spPr>
          <a:xfrm>
            <a:off x="2250355" y="4311736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676FF22-F1FA-B64A-9DC5-892CD248B6CC}"/>
              </a:ext>
            </a:extLst>
          </p:cNvPr>
          <p:cNvSpPr/>
          <p:nvPr/>
        </p:nvSpPr>
        <p:spPr>
          <a:xfrm>
            <a:off x="1646720" y="4271293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9F1500F-4E8E-A6E6-9290-7422462CAD25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762227" y="3995572"/>
            <a:ext cx="607" cy="26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9E3338C6-C3BF-B42C-2476-D778FBB8F356}"/>
              </a:ext>
            </a:extLst>
          </p:cNvPr>
          <p:cNvCxnSpPr>
            <a:cxnSpLocks/>
          </p:cNvCxnSpPr>
          <p:nvPr/>
        </p:nvCxnSpPr>
        <p:spPr>
          <a:xfrm flipH="1" flipV="1">
            <a:off x="996750" y="3995572"/>
            <a:ext cx="1230274" cy="275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Picture 2" descr="River Crossing Puzzle [Solved] — Steemit">
            <a:extLst>
              <a:ext uri="{FF2B5EF4-FFF2-40B4-BE49-F238E27FC236}">
                <a16:creationId xmlns:a16="http://schemas.microsoft.com/office/drawing/2014/main" id="{F57228C7-61EF-FCFB-E95C-4448E9DDA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785809" y="533925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2" descr="River Crossing Puzzle [Solved] — Steemit">
            <a:extLst>
              <a:ext uri="{FF2B5EF4-FFF2-40B4-BE49-F238E27FC236}">
                <a16:creationId xmlns:a16="http://schemas.microsoft.com/office/drawing/2014/main" id="{6F63B877-6ECF-D457-95D2-262B31A1C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152168" y="426007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Picture 2" descr="River Crossing Puzzle [Solved] — Steemit">
            <a:extLst>
              <a:ext uri="{FF2B5EF4-FFF2-40B4-BE49-F238E27FC236}">
                <a16:creationId xmlns:a16="http://schemas.microsoft.com/office/drawing/2014/main" id="{386C8166-3F66-91EC-8FD3-09272F382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857156" y="493581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2" descr="River Crossing Puzzle [Solved] — Steemit">
            <a:extLst>
              <a:ext uri="{FF2B5EF4-FFF2-40B4-BE49-F238E27FC236}">
                <a16:creationId xmlns:a16="http://schemas.microsoft.com/office/drawing/2014/main" id="{78AAFF1D-A041-58BC-F72D-C6EE6B2C8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853983" y="457965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4BDD202E-F528-92F8-DDD2-D83C1C43E231}"/>
              </a:ext>
            </a:extLst>
          </p:cNvPr>
          <p:cNvSpPr/>
          <p:nvPr/>
        </p:nvSpPr>
        <p:spPr>
          <a:xfrm>
            <a:off x="6596612" y="425733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14524A7-A61C-C7EE-7615-488A669C75AF}"/>
              </a:ext>
            </a:extLst>
          </p:cNvPr>
          <p:cNvSpPr/>
          <p:nvPr/>
        </p:nvSpPr>
        <p:spPr>
          <a:xfrm>
            <a:off x="5992977" y="4216895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" name="Picture 2" descr="River Crossing Puzzle [Solved] — Steemit">
            <a:extLst>
              <a:ext uri="{FF2B5EF4-FFF2-40B4-BE49-F238E27FC236}">
                <a16:creationId xmlns:a16="http://schemas.microsoft.com/office/drawing/2014/main" id="{9064D8BA-C8D5-0480-DADF-42664A8C6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217418" y="532475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Picture 2" descr="River Crossing Puzzle [Solved] — Steemit">
            <a:extLst>
              <a:ext uri="{FF2B5EF4-FFF2-40B4-BE49-F238E27FC236}">
                <a16:creationId xmlns:a16="http://schemas.microsoft.com/office/drawing/2014/main" id="{B07A4D3F-1944-0EAA-53D6-65F8618C5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247316" y="423659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Picture 2" descr="River Crossing Puzzle [Solved] — Steemit">
            <a:extLst>
              <a:ext uri="{FF2B5EF4-FFF2-40B4-BE49-F238E27FC236}">
                <a16:creationId xmlns:a16="http://schemas.microsoft.com/office/drawing/2014/main" id="{6E73ACD8-668F-9A0F-5534-8229D75E94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274670" y="493488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Picture 2" descr="River Crossing Puzzle [Solved] — Steemit">
            <a:extLst>
              <a:ext uri="{FF2B5EF4-FFF2-40B4-BE49-F238E27FC236}">
                <a16:creationId xmlns:a16="http://schemas.microsoft.com/office/drawing/2014/main" id="{E3BDCC04-2754-E2E5-84FE-6DF32979A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553969" y="455374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9975A72C-7B32-01D0-C3EF-9FC660C517AA}"/>
              </a:ext>
            </a:extLst>
          </p:cNvPr>
          <p:cNvSpPr/>
          <p:nvPr/>
        </p:nvSpPr>
        <p:spPr>
          <a:xfrm>
            <a:off x="8014126" y="425640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C713A38-AA3A-D336-93AC-9E47D7500DC6}"/>
              </a:ext>
            </a:extLst>
          </p:cNvPr>
          <p:cNvSpPr/>
          <p:nvPr/>
        </p:nvSpPr>
        <p:spPr>
          <a:xfrm>
            <a:off x="7410491" y="4215965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ECEC727-B2A4-1278-A861-38869249FC78}"/>
              </a:ext>
            </a:extLst>
          </p:cNvPr>
          <p:cNvCxnSpPr>
            <a:cxnSpLocks/>
          </p:cNvCxnSpPr>
          <p:nvPr/>
        </p:nvCxnSpPr>
        <p:spPr>
          <a:xfrm flipH="1" flipV="1">
            <a:off x="4830464" y="2498104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576707A-3F7C-039B-565C-167EFECD562E}"/>
              </a:ext>
            </a:extLst>
          </p:cNvPr>
          <p:cNvCxnSpPr>
            <a:cxnSpLocks/>
          </p:cNvCxnSpPr>
          <p:nvPr/>
        </p:nvCxnSpPr>
        <p:spPr>
          <a:xfrm flipV="1">
            <a:off x="7487373" y="2399076"/>
            <a:ext cx="410802" cy="179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82FE32-84C6-3A0D-1B86-E97242A13682}"/>
              </a:ext>
            </a:extLst>
          </p:cNvPr>
          <p:cNvCxnSpPr>
            <a:cxnSpLocks/>
          </p:cNvCxnSpPr>
          <p:nvPr/>
        </p:nvCxnSpPr>
        <p:spPr>
          <a:xfrm flipH="1" flipV="1">
            <a:off x="8779294" y="2405535"/>
            <a:ext cx="173180" cy="211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9D35CA8-C74A-D278-7C31-67D4E9BD84AF}"/>
              </a:ext>
            </a:extLst>
          </p:cNvPr>
          <p:cNvCxnSpPr>
            <a:cxnSpLocks/>
          </p:cNvCxnSpPr>
          <p:nvPr/>
        </p:nvCxnSpPr>
        <p:spPr>
          <a:xfrm flipV="1">
            <a:off x="6409864" y="4008255"/>
            <a:ext cx="258389" cy="165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942AEBB-9255-1F51-2E0F-05827631A315}"/>
              </a:ext>
            </a:extLst>
          </p:cNvPr>
          <p:cNvCxnSpPr>
            <a:cxnSpLocks/>
            <a:stCxn id="168" idx="0"/>
          </p:cNvCxnSpPr>
          <p:nvPr/>
        </p:nvCxnSpPr>
        <p:spPr>
          <a:xfrm flipH="1" flipV="1">
            <a:off x="7859717" y="4026892"/>
            <a:ext cx="181395" cy="18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3" name="Picture 2" descr="River Crossing Puzzle [Solved] — Steemit">
            <a:extLst>
              <a:ext uri="{FF2B5EF4-FFF2-40B4-BE49-F238E27FC236}">
                <a16:creationId xmlns:a16="http://schemas.microsoft.com/office/drawing/2014/main" id="{D22C5731-6F87-3659-4F46-AD8F51C9B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160942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2" descr="River Crossing Puzzle [Solved] — Steemit">
            <a:extLst>
              <a:ext uri="{FF2B5EF4-FFF2-40B4-BE49-F238E27FC236}">
                <a16:creationId xmlns:a16="http://schemas.microsoft.com/office/drawing/2014/main" id="{D875C2D1-D05D-E7DF-A55F-1E752F934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218610" y="265213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2" descr="River Crossing Puzzle [Solved] — Steemit">
            <a:extLst>
              <a:ext uri="{FF2B5EF4-FFF2-40B4-BE49-F238E27FC236}">
                <a16:creationId xmlns:a16="http://schemas.microsoft.com/office/drawing/2014/main" id="{575409AF-B3B8-1C5D-D4CF-A4A2F1158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890382" y="296000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0D652283-A2FA-1F5D-F0AF-36C6490DA5CD}"/>
              </a:ext>
            </a:extLst>
          </p:cNvPr>
          <p:cNvSpPr/>
          <p:nvPr/>
        </p:nvSpPr>
        <p:spPr>
          <a:xfrm>
            <a:off x="3663054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3CA95EB-257A-0911-F530-FBAFCC7362DC}"/>
              </a:ext>
            </a:extLst>
          </p:cNvPr>
          <p:cNvSpPr/>
          <p:nvPr/>
        </p:nvSpPr>
        <p:spPr>
          <a:xfrm>
            <a:off x="3059419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2AAC045-D07C-E056-5D17-326FFFB360B3}"/>
              </a:ext>
            </a:extLst>
          </p:cNvPr>
          <p:cNvCxnSpPr>
            <a:cxnSpLocks/>
          </p:cNvCxnSpPr>
          <p:nvPr/>
        </p:nvCxnSpPr>
        <p:spPr>
          <a:xfrm flipV="1">
            <a:off x="3245726" y="2494726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9" name="Picture 2" descr="River Crossing Puzzle [Solved] — Steemit">
            <a:extLst>
              <a:ext uri="{FF2B5EF4-FFF2-40B4-BE49-F238E27FC236}">
                <a16:creationId xmlns:a16="http://schemas.microsoft.com/office/drawing/2014/main" id="{8E348ADB-CAAF-5AC5-5A2B-A3508FAAA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897307" y="542139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2" descr="River Crossing Puzzle [Solved] — Steemit">
            <a:extLst>
              <a:ext uri="{FF2B5EF4-FFF2-40B4-BE49-F238E27FC236}">
                <a16:creationId xmlns:a16="http://schemas.microsoft.com/office/drawing/2014/main" id="{143D2D03-BE0B-330E-D84D-0A76E313A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259208" y="431922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River Crossing Puzzle [Solved] — Steemit">
            <a:extLst>
              <a:ext uri="{FF2B5EF4-FFF2-40B4-BE49-F238E27FC236}">
                <a16:creationId xmlns:a16="http://schemas.microsoft.com/office/drawing/2014/main" id="{ED4E7B60-EA0C-1E94-3449-F76792AA79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930980" y="462709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122BECF0-4858-91B2-BD6C-69074F9D82B8}"/>
              </a:ext>
            </a:extLst>
          </p:cNvPr>
          <p:cNvSpPr/>
          <p:nvPr/>
        </p:nvSpPr>
        <p:spPr>
          <a:xfrm>
            <a:off x="3703652" y="431648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9DC25CC9-D92E-D41F-D37F-0705A128235C}"/>
              </a:ext>
            </a:extLst>
          </p:cNvPr>
          <p:cNvSpPr/>
          <p:nvPr/>
        </p:nvSpPr>
        <p:spPr>
          <a:xfrm>
            <a:off x="3100017" y="427604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EDF727B6-EDCA-BB5F-D23A-0CD3AA8DA10F}"/>
              </a:ext>
            </a:extLst>
          </p:cNvPr>
          <p:cNvCxnSpPr>
            <a:cxnSpLocks/>
          </p:cNvCxnSpPr>
          <p:nvPr/>
        </p:nvCxnSpPr>
        <p:spPr>
          <a:xfrm flipV="1">
            <a:off x="3286324" y="4026892"/>
            <a:ext cx="282898" cy="26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Picture 2" descr="River Crossing Puzzle [Solved] — Steemit">
            <a:extLst>
              <a:ext uri="{FF2B5EF4-FFF2-40B4-BE49-F238E27FC236}">
                <a16:creationId xmlns:a16="http://schemas.microsoft.com/office/drawing/2014/main" id="{44979C91-1CD4-9A37-2DF3-501525281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313698" y="542139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2" descr="River Crossing Puzzle [Solved] — Steemit">
            <a:extLst>
              <a:ext uri="{FF2B5EF4-FFF2-40B4-BE49-F238E27FC236}">
                <a16:creationId xmlns:a16="http://schemas.microsoft.com/office/drawing/2014/main" id="{D7D6DDE1-773B-7319-AB50-5226FA661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383722" y="426739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Picture 2" descr="River Crossing Puzzle [Solved] — Steemit">
            <a:extLst>
              <a:ext uri="{FF2B5EF4-FFF2-40B4-BE49-F238E27FC236}">
                <a16:creationId xmlns:a16="http://schemas.microsoft.com/office/drawing/2014/main" id="{3141DCB7-D6B9-FEAD-FC13-EFD9EFECC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374063" y="460356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94607DAF-29F1-402A-B588-7410B1C8A053}"/>
              </a:ext>
            </a:extLst>
          </p:cNvPr>
          <p:cNvSpPr/>
          <p:nvPr/>
        </p:nvSpPr>
        <p:spPr>
          <a:xfrm>
            <a:off x="5146735" y="429295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258B736-F7AB-F6F4-CF98-9DEB8F2E85A0}"/>
              </a:ext>
            </a:extLst>
          </p:cNvPr>
          <p:cNvSpPr/>
          <p:nvPr/>
        </p:nvSpPr>
        <p:spPr>
          <a:xfrm>
            <a:off x="4543100" y="425251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B2226374-5164-2CD5-DF9F-5EDADA1F43DC}"/>
              </a:ext>
            </a:extLst>
          </p:cNvPr>
          <p:cNvCxnSpPr>
            <a:cxnSpLocks/>
          </p:cNvCxnSpPr>
          <p:nvPr/>
        </p:nvCxnSpPr>
        <p:spPr>
          <a:xfrm flipH="1" flipV="1">
            <a:off x="3920359" y="3979497"/>
            <a:ext cx="809048" cy="285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67484FE1-EB19-82C5-052E-42EE72300902}"/>
              </a:ext>
            </a:extLst>
          </p:cNvPr>
          <p:cNvCxnSpPr>
            <a:cxnSpLocks/>
            <a:stCxn id="233" idx="0"/>
          </p:cNvCxnSpPr>
          <p:nvPr/>
        </p:nvCxnSpPr>
        <p:spPr>
          <a:xfrm flipV="1">
            <a:off x="3730638" y="3995572"/>
            <a:ext cx="1107308" cy="280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F855AE02-5665-DC79-6D9D-BD45CD8A5539}"/>
              </a:ext>
            </a:extLst>
          </p:cNvPr>
          <p:cNvCxnSpPr>
            <a:cxnSpLocks/>
            <a:endCxn id="108" idx="2"/>
          </p:cNvCxnSpPr>
          <p:nvPr/>
        </p:nvCxnSpPr>
        <p:spPr>
          <a:xfrm flipH="1" flipV="1">
            <a:off x="5154988" y="3995572"/>
            <a:ext cx="134731" cy="245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9A90C1D7-1D26-99C9-E8B9-91C5C7745D6C}"/>
              </a:ext>
            </a:extLst>
          </p:cNvPr>
          <p:cNvCxnSpPr>
            <a:cxnSpLocks/>
            <a:stCxn id="145" idx="0"/>
          </p:cNvCxnSpPr>
          <p:nvPr/>
        </p:nvCxnSpPr>
        <p:spPr>
          <a:xfrm flipV="1">
            <a:off x="812544" y="3979497"/>
            <a:ext cx="1187110" cy="280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" descr="River Crossing Puzzle [Solved] — Steemit">
            <a:extLst>
              <a:ext uri="{FF2B5EF4-FFF2-40B4-BE49-F238E27FC236}">
                <a16:creationId xmlns:a16="http://schemas.microsoft.com/office/drawing/2014/main" id="{B01392DD-74F6-79B5-3B7E-BDCBAB3D8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255123" y="530772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Picture 2" descr="River Crossing Puzzle [Solved] — Steemit">
            <a:extLst>
              <a:ext uri="{FF2B5EF4-FFF2-40B4-BE49-F238E27FC236}">
                <a16:creationId xmlns:a16="http://schemas.microsoft.com/office/drawing/2014/main" id="{F66833B1-8AE1-79AA-A164-97E6006B32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678410" y="425461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3EB32B37-30D5-1B0B-AF6B-71AF8A579872}"/>
              </a:ext>
            </a:extLst>
          </p:cNvPr>
          <p:cNvSpPr/>
          <p:nvPr/>
        </p:nvSpPr>
        <p:spPr>
          <a:xfrm>
            <a:off x="10122854" y="4251886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69DA76E-5325-015D-EDC0-9C3BF065C658}"/>
              </a:ext>
            </a:extLst>
          </p:cNvPr>
          <p:cNvSpPr/>
          <p:nvPr/>
        </p:nvSpPr>
        <p:spPr>
          <a:xfrm>
            <a:off x="9519219" y="4211443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925D2CAE-D96F-720A-FC5D-B934C46F2664}"/>
              </a:ext>
            </a:extLst>
          </p:cNvPr>
          <p:cNvCxnSpPr>
            <a:cxnSpLocks/>
            <a:stCxn id="259" idx="0"/>
          </p:cNvCxnSpPr>
          <p:nvPr/>
        </p:nvCxnSpPr>
        <p:spPr>
          <a:xfrm flipV="1">
            <a:off x="10149840" y="4026892"/>
            <a:ext cx="321845" cy="184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1" name="Picture 2" descr="River Crossing Puzzle [Solved] — Steemit">
            <a:extLst>
              <a:ext uri="{FF2B5EF4-FFF2-40B4-BE49-F238E27FC236}">
                <a16:creationId xmlns:a16="http://schemas.microsoft.com/office/drawing/2014/main" id="{27387270-5E4E-4A3A-D9A6-789AF9798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599486" y="525089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Picture 2" descr="River Crossing Puzzle [Solved] — Steemit">
            <a:extLst>
              <a:ext uri="{FF2B5EF4-FFF2-40B4-BE49-F238E27FC236}">
                <a16:creationId xmlns:a16="http://schemas.microsoft.com/office/drawing/2014/main" id="{DD7122D7-866B-3CA7-7648-A0110F0EF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1701301" y="425116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4FA56426-5354-BB97-5FA1-E31DA28C780F}"/>
              </a:ext>
            </a:extLst>
          </p:cNvPr>
          <p:cNvSpPr/>
          <p:nvPr/>
        </p:nvSpPr>
        <p:spPr>
          <a:xfrm>
            <a:off x="11507496" y="424642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8AF3D702-9C9E-0C33-F1AF-A1C0E0690F72}"/>
              </a:ext>
            </a:extLst>
          </p:cNvPr>
          <p:cNvSpPr/>
          <p:nvPr/>
        </p:nvSpPr>
        <p:spPr>
          <a:xfrm>
            <a:off x="10903861" y="420598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9056A77-02C1-4CAF-C2D9-0A4D8B6C9661}"/>
              </a:ext>
            </a:extLst>
          </p:cNvPr>
          <p:cNvCxnSpPr>
            <a:cxnSpLocks/>
            <a:stCxn id="264" idx="0"/>
          </p:cNvCxnSpPr>
          <p:nvPr/>
        </p:nvCxnSpPr>
        <p:spPr>
          <a:xfrm flipH="1" flipV="1">
            <a:off x="11295344" y="4026892"/>
            <a:ext cx="239138" cy="1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1F14928-CABC-ED23-D58D-E086BB965291}"/>
              </a:ext>
            </a:extLst>
          </p:cNvPr>
          <p:cNvSpPr/>
          <p:nvPr/>
        </p:nvSpPr>
        <p:spPr>
          <a:xfrm>
            <a:off x="6629419" y="2592879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56E45132-8468-9DD2-59F1-F59E51F3C689}"/>
              </a:ext>
            </a:extLst>
          </p:cNvPr>
          <p:cNvSpPr/>
          <p:nvPr/>
        </p:nvSpPr>
        <p:spPr>
          <a:xfrm>
            <a:off x="7761492" y="1016509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129A01A5-5659-85D1-9CA7-1B3D7A6283DF}"/>
              </a:ext>
            </a:extLst>
          </p:cNvPr>
          <p:cNvSpPr/>
          <p:nvPr/>
        </p:nvSpPr>
        <p:spPr>
          <a:xfrm>
            <a:off x="5481525" y="-13427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9" grpId="0" animBg="1"/>
      <p:bldP spid="27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iver Crossing Puzzle [Solved] — Steemit">
            <a:extLst>
              <a:ext uri="{FF2B5EF4-FFF2-40B4-BE49-F238E27FC236}">
                <a16:creationId xmlns:a16="http://schemas.microsoft.com/office/drawing/2014/main" id="{965D689E-A8B4-D2E6-0CE4-0E3CABEC0C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408954" y="1397881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iver Crossing Puzzle [Solved] — Steemit">
            <a:extLst>
              <a:ext uri="{FF2B5EF4-FFF2-40B4-BE49-F238E27FC236}">
                <a16:creationId xmlns:a16="http://schemas.microsoft.com/office/drawing/2014/main" id="{3A26CD21-8265-FB6E-6B99-BDA97BD4A7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775313" y="31869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iver Crossing Puzzle [Solved] — Steemit">
            <a:extLst>
              <a:ext uri="{FF2B5EF4-FFF2-40B4-BE49-F238E27FC236}">
                <a16:creationId xmlns:a16="http://schemas.microsoft.com/office/drawing/2014/main" id="{932919AC-8653-7C0F-FAA3-85F3ADFED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480301" y="99443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iver Crossing Puzzle [Solved] — Steemit">
            <a:extLst>
              <a:ext uri="{FF2B5EF4-FFF2-40B4-BE49-F238E27FC236}">
                <a16:creationId xmlns:a16="http://schemas.microsoft.com/office/drawing/2014/main" id="{5B7296F5-7070-E860-5E0A-510B12374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477128" y="638281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341BAA6-E0E9-E97D-DC3D-57ACAE7D0969}"/>
              </a:ext>
            </a:extLst>
          </p:cNvPr>
          <p:cNvSpPr/>
          <p:nvPr/>
        </p:nvSpPr>
        <p:spPr>
          <a:xfrm>
            <a:off x="5219757" y="31596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7CCCE-40B7-5D42-C6E0-B99FF866DE88}"/>
              </a:ext>
            </a:extLst>
          </p:cNvPr>
          <p:cNvSpPr/>
          <p:nvPr/>
        </p:nvSpPr>
        <p:spPr>
          <a:xfrm>
            <a:off x="4616122" y="275517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iver Crossing Puzzle [Solved] — Steemit">
            <a:extLst>
              <a:ext uri="{FF2B5EF4-FFF2-40B4-BE49-F238E27FC236}">
                <a16:creationId xmlns:a16="http://schemas.microsoft.com/office/drawing/2014/main" id="{F5915316-BE0A-5B4C-9108-44FDAAD97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840563" y="141490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iver Crossing Puzzle [Solved] — Steemit">
            <a:extLst>
              <a:ext uri="{FF2B5EF4-FFF2-40B4-BE49-F238E27FC236}">
                <a16:creationId xmlns:a16="http://schemas.microsoft.com/office/drawing/2014/main" id="{7177CC84-C6C6-B2B8-9C38-4FCBF9AC0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870461" y="32675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iver Crossing Puzzle [Solved] — Steemit">
            <a:extLst>
              <a:ext uri="{FF2B5EF4-FFF2-40B4-BE49-F238E27FC236}">
                <a16:creationId xmlns:a16="http://schemas.microsoft.com/office/drawing/2014/main" id="{FAEA56BA-4A89-70F5-26A4-6A0D8BD389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897815" y="102503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iver Crossing Puzzle [Solved] — Steemit">
            <a:extLst>
              <a:ext uri="{FF2B5EF4-FFF2-40B4-BE49-F238E27FC236}">
                <a16:creationId xmlns:a16="http://schemas.microsoft.com/office/drawing/2014/main" id="{88687983-9D82-FE39-70E9-E54391CBA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177114" y="643896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11889DA-BF49-9FE7-85BC-F8274EAE9C32}"/>
              </a:ext>
            </a:extLst>
          </p:cNvPr>
          <p:cNvSpPr/>
          <p:nvPr/>
        </p:nvSpPr>
        <p:spPr>
          <a:xfrm>
            <a:off x="6637271" y="34656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7FC849-634F-F4B8-8B46-B2E0A9883808}"/>
              </a:ext>
            </a:extLst>
          </p:cNvPr>
          <p:cNvSpPr/>
          <p:nvPr/>
        </p:nvSpPr>
        <p:spPr>
          <a:xfrm>
            <a:off x="6033636" y="306117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F4978D-130D-E507-4EAE-EE2D6AB67207}"/>
              </a:ext>
            </a:extLst>
          </p:cNvPr>
          <p:cNvCxnSpPr>
            <a:cxnSpLocks/>
          </p:cNvCxnSpPr>
          <p:nvPr/>
        </p:nvCxnSpPr>
        <p:spPr>
          <a:xfrm flipV="1">
            <a:off x="4959720" y="98407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AD854C-FBEA-65B8-63B7-8DC09AB11D8E}"/>
              </a:ext>
            </a:extLst>
          </p:cNvPr>
          <p:cNvCxnSpPr>
            <a:cxnSpLocks/>
          </p:cNvCxnSpPr>
          <p:nvPr/>
        </p:nvCxnSpPr>
        <p:spPr>
          <a:xfrm flipH="1" flipV="1">
            <a:off x="6544458" y="101785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River Crossing Puzzle [Solved] — Steemit">
            <a:extLst>
              <a:ext uri="{FF2B5EF4-FFF2-40B4-BE49-F238E27FC236}">
                <a16:creationId xmlns:a16="http://schemas.microsoft.com/office/drawing/2014/main" id="{0B29F4FB-DA69-D2F9-C551-9FDD287C8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228786" y="292955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iver Crossing Puzzle [Solved] — Steemit">
            <a:extLst>
              <a:ext uri="{FF2B5EF4-FFF2-40B4-BE49-F238E27FC236}">
                <a16:creationId xmlns:a16="http://schemas.microsoft.com/office/drawing/2014/main" id="{8E03623A-BE88-6B2C-9C10-0D8151CA0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312047" y="184084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River Crossing Puzzle [Solved] — Steemit">
            <a:extLst>
              <a:ext uri="{FF2B5EF4-FFF2-40B4-BE49-F238E27FC236}">
                <a16:creationId xmlns:a16="http://schemas.microsoft.com/office/drawing/2014/main" id="{EC73DB8B-5B51-0F09-03AC-F56D97AD5C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385661" y="257837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River Crossing Puzzle [Solved] — Steemit">
            <a:extLst>
              <a:ext uri="{FF2B5EF4-FFF2-40B4-BE49-F238E27FC236}">
                <a16:creationId xmlns:a16="http://schemas.microsoft.com/office/drawing/2014/main" id="{4697D1C3-89EB-4666-8E07-E63976D54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013862" y="216043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A847C9C-68D8-20C6-09CF-2048B03DDF18}"/>
              </a:ext>
            </a:extLst>
          </p:cNvPr>
          <p:cNvSpPr/>
          <p:nvPr/>
        </p:nvSpPr>
        <p:spPr>
          <a:xfrm>
            <a:off x="3756491" y="183811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A3FD1E-22C1-C837-6D95-FFEDAB3EE5C1}"/>
              </a:ext>
            </a:extLst>
          </p:cNvPr>
          <p:cNvSpPr/>
          <p:nvPr/>
        </p:nvSpPr>
        <p:spPr>
          <a:xfrm>
            <a:off x="3152856" y="179766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River Crossing Puzzle [Solved] — Steemit">
            <a:extLst>
              <a:ext uri="{FF2B5EF4-FFF2-40B4-BE49-F238E27FC236}">
                <a16:creationId xmlns:a16="http://schemas.microsoft.com/office/drawing/2014/main" id="{97AFB73E-99E0-CEBD-7F7A-3ED796A9D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650966" y="295165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iver Crossing Puzzle [Solved] — Steemit">
            <a:extLst>
              <a:ext uri="{FF2B5EF4-FFF2-40B4-BE49-F238E27FC236}">
                <a16:creationId xmlns:a16="http://schemas.microsoft.com/office/drawing/2014/main" id="{58BEC25A-FFE9-4C0D-0551-A72BF7BAC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713819" y="187246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River Crossing Puzzle [Solved] — Steemit">
            <a:extLst>
              <a:ext uri="{FF2B5EF4-FFF2-40B4-BE49-F238E27FC236}">
                <a16:creationId xmlns:a16="http://schemas.microsoft.com/office/drawing/2014/main" id="{F29E7511-D1E4-DE7A-CFB2-D696748C88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418807" y="254821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River Crossing Puzzle [Solved] — Steemit">
            <a:extLst>
              <a:ext uri="{FF2B5EF4-FFF2-40B4-BE49-F238E27FC236}">
                <a16:creationId xmlns:a16="http://schemas.microsoft.com/office/drawing/2014/main" id="{0C561AEE-CD3E-371E-1859-AD48A841B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791893" y="2182527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918F0E6-210B-65DC-C2AB-5EDBD867AE2E}"/>
              </a:ext>
            </a:extLst>
          </p:cNvPr>
          <p:cNvSpPr/>
          <p:nvPr/>
        </p:nvSpPr>
        <p:spPr>
          <a:xfrm>
            <a:off x="5158263" y="186973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74C871-5ADD-8014-548E-6057448EB383}"/>
              </a:ext>
            </a:extLst>
          </p:cNvPr>
          <p:cNvSpPr/>
          <p:nvPr/>
        </p:nvSpPr>
        <p:spPr>
          <a:xfrm>
            <a:off x="4554628" y="182928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River Crossing Puzzle [Solved] — Steemit">
            <a:extLst>
              <a:ext uri="{FF2B5EF4-FFF2-40B4-BE49-F238E27FC236}">
                <a16:creationId xmlns:a16="http://schemas.microsoft.com/office/drawing/2014/main" id="{A54B9A2A-75AA-1EBE-AAA3-BF1D13F830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223430" y="2938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River Crossing Puzzle [Solved] — Steemit">
            <a:extLst>
              <a:ext uri="{FF2B5EF4-FFF2-40B4-BE49-F238E27FC236}">
                <a16:creationId xmlns:a16="http://schemas.microsoft.com/office/drawing/2014/main" id="{586613AF-7678-EA87-DA4D-FADD783B93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292831" y="186566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River Crossing Puzzle [Solved] — Steemit">
            <a:extLst>
              <a:ext uri="{FF2B5EF4-FFF2-40B4-BE49-F238E27FC236}">
                <a16:creationId xmlns:a16="http://schemas.microsoft.com/office/drawing/2014/main" id="{452DF797-6719-ACC4-4F5E-E05A5AF49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999394" y="254821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River Crossing Puzzle [Solved] — Steemit">
            <a:extLst>
              <a:ext uri="{FF2B5EF4-FFF2-40B4-BE49-F238E27FC236}">
                <a16:creationId xmlns:a16="http://schemas.microsoft.com/office/drawing/2014/main" id="{67EE43EF-ADA2-2E92-7A1D-EE2122AC0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278693" y="2167067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E1230C-6102-559E-2A1A-B73981BE74C2}"/>
              </a:ext>
            </a:extLst>
          </p:cNvPr>
          <p:cNvSpPr/>
          <p:nvPr/>
        </p:nvSpPr>
        <p:spPr>
          <a:xfrm>
            <a:off x="6738850" y="186973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AA14C1-41B1-5FBA-DA4B-62519C3DBBA2}"/>
              </a:ext>
            </a:extLst>
          </p:cNvPr>
          <p:cNvSpPr/>
          <p:nvPr/>
        </p:nvSpPr>
        <p:spPr>
          <a:xfrm>
            <a:off x="6135215" y="182928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River Crossing Puzzle [Solved] — Steemit">
            <a:extLst>
              <a:ext uri="{FF2B5EF4-FFF2-40B4-BE49-F238E27FC236}">
                <a16:creationId xmlns:a16="http://schemas.microsoft.com/office/drawing/2014/main" id="{836DBC3E-7F3D-7130-3DD6-FFE0FAC05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705351" y="294886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River Crossing Puzzle [Solved] — Steemit">
            <a:extLst>
              <a:ext uri="{FF2B5EF4-FFF2-40B4-BE49-F238E27FC236}">
                <a16:creationId xmlns:a16="http://schemas.microsoft.com/office/drawing/2014/main" id="{DF327FEE-CD23-4175-73B6-6106D80C6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437853" y="184165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River Crossing Puzzle [Solved] — Steemit">
            <a:extLst>
              <a:ext uri="{FF2B5EF4-FFF2-40B4-BE49-F238E27FC236}">
                <a16:creationId xmlns:a16="http://schemas.microsoft.com/office/drawing/2014/main" id="{5FBA78FF-E7D8-A041-9348-C05AABFEA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779407" y="257918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River Crossing Puzzle [Solved] — Steemit">
            <a:extLst>
              <a:ext uri="{FF2B5EF4-FFF2-40B4-BE49-F238E27FC236}">
                <a16:creationId xmlns:a16="http://schemas.microsoft.com/office/drawing/2014/main" id="{23B86944-2374-002E-4227-A6D798584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744506" y="2158803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DED8B15-B786-BB50-1759-90CEC60A46C8}"/>
              </a:ext>
            </a:extLst>
          </p:cNvPr>
          <p:cNvSpPr/>
          <p:nvPr/>
        </p:nvSpPr>
        <p:spPr>
          <a:xfrm>
            <a:off x="8204663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3E8839-F50C-DDAB-8AE8-765910E91E21}"/>
              </a:ext>
            </a:extLst>
          </p:cNvPr>
          <p:cNvSpPr/>
          <p:nvPr/>
        </p:nvSpPr>
        <p:spPr>
          <a:xfrm>
            <a:off x="7601028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2" descr="River Crossing Puzzle [Solved] — Steemit">
            <a:extLst>
              <a:ext uri="{FF2B5EF4-FFF2-40B4-BE49-F238E27FC236}">
                <a16:creationId xmlns:a16="http://schemas.microsoft.com/office/drawing/2014/main" id="{48CD162E-2739-CF00-0C7A-192EAF50D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092954" y="293933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River Crossing Puzzle [Solved] — Steemit">
            <a:extLst>
              <a:ext uri="{FF2B5EF4-FFF2-40B4-BE49-F238E27FC236}">
                <a16:creationId xmlns:a16="http://schemas.microsoft.com/office/drawing/2014/main" id="{D6734D26-0027-6C51-237B-71776ED82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852717" y="184165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River Crossing Puzzle [Solved] — Steemit">
            <a:extLst>
              <a:ext uri="{FF2B5EF4-FFF2-40B4-BE49-F238E27FC236}">
                <a16:creationId xmlns:a16="http://schemas.microsoft.com/office/drawing/2014/main" id="{6064D143-CB21-CDDD-2FAE-71508730E3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159370" y="2158803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ABBDB60-4289-63D3-69C8-FC5E3FF4C01F}"/>
              </a:ext>
            </a:extLst>
          </p:cNvPr>
          <p:cNvSpPr/>
          <p:nvPr/>
        </p:nvSpPr>
        <p:spPr>
          <a:xfrm>
            <a:off x="9619527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456F1B-38A6-B916-0D87-7BA69FCD15C3}"/>
              </a:ext>
            </a:extLst>
          </p:cNvPr>
          <p:cNvSpPr/>
          <p:nvPr/>
        </p:nvSpPr>
        <p:spPr>
          <a:xfrm>
            <a:off x="9015892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 descr="River Crossing Puzzle [Solved] — Steemit">
            <a:extLst>
              <a:ext uri="{FF2B5EF4-FFF2-40B4-BE49-F238E27FC236}">
                <a16:creationId xmlns:a16="http://schemas.microsoft.com/office/drawing/2014/main" id="{E9091509-5433-7CD9-18C1-FB7841BE5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838274" y="2971963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River Crossing Puzzle [Solved] — Steemit">
            <a:extLst>
              <a:ext uri="{FF2B5EF4-FFF2-40B4-BE49-F238E27FC236}">
                <a16:creationId xmlns:a16="http://schemas.microsoft.com/office/drawing/2014/main" id="{7236D32C-8DEC-46F5-64A6-019683D85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951486" y="186420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River Crossing Puzzle [Solved] — Steemit">
            <a:extLst>
              <a:ext uri="{FF2B5EF4-FFF2-40B4-BE49-F238E27FC236}">
                <a16:creationId xmlns:a16="http://schemas.microsoft.com/office/drawing/2014/main" id="{EE650040-7099-6003-C1CF-DEC7909A6B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656474" y="253994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B25B5AA-A727-51C3-E1E8-CAB2829A146B}"/>
              </a:ext>
            </a:extLst>
          </p:cNvPr>
          <p:cNvSpPr/>
          <p:nvPr/>
        </p:nvSpPr>
        <p:spPr>
          <a:xfrm>
            <a:off x="2395930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35987AC-2BCC-B264-7204-7156006F311E}"/>
              </a:ext>
            </a:extLst>
          </p:cNvPr>
          <p:cNvSpPr/>
          <p:nvPr/>
        </p:nvSpPr>
        <p:spPr>
          <a:xfrm>
            <a:off x="1792295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7913BC5-EAFF-7EE6-C728-D6DE6CC09BCD}"/>
              </a:ext>
            </a:extLst>
          </p:cNvPr>
          <p:cNvCxnSpPr>
            <a:cxnSpLocks/>
          </p:cNvCxnSpPr>
          <p:nvPr/>
        </p:nvCxnSpPr>
        <p:spPr>
          <a:xfrm flipV="1">
            <a:off x="2656474" y="1177159"/>
            <a:ext cx="1959648" cy="643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48FCE5A-3AD8-8A12-DD66-182C1BBEF075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783477" y="1414907"/>
            <a:ext cx="832645" cy="382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6DC353D-706B-0F54-2063-89AF8C44C6DE}"/>
              </a:ext>
            </a:extLst>
          </p:cNvPr>
          <p:cNvCxnSpPr>
            <a:cxnSpLocks/>
          </p:cNvCxnSpPr>
          <p:nvPr/>
        </p:nvCxnSpPr>
        <p:spPr>
          <a:xfrm flipV="1">
            <a:off x="4791893" y="1662134"/>
            <a:ext cx="167827" cy="13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7FCB204-1510-99D2-A16D-799BBF3D2B4A}"/>
              </a:ext>
            </a:extLst>
          </p:cNvPr>
          <p:cNvGrpSpPr/>
          <p:nvPr/>
        </p:nvGrpSpPr>
        <p:grpSpPr>
          <a:xfrm flipH="1">
            <a:off x="6940395" y="1206641"/>
            <a:ext cx="2303246" cy="643865"/>
            <a:chOff x="2808874" y="1329559"/>
            <a:chExt cx="2303246" cy="64386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E172EDB-4E5F-C987-B5C6-4966CEDD5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8874" y="1329559"/>
              <a:ext cx="1959648" cy="643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69E0141-2D3B-2511-C86A-CA00506CC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877" y="1567307"/>
              <a:ext cx="832645" cy="3827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358FFC0-543F-4741-0188-1CCD3694E9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293" y="1814534"/>
              <a:ext cx="167827" cy="13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2" descr="River Crossing Puzzle [Solved] — Steemit">
            <a:extLst>
              <a:ext uri="{FF2B5EF4-FFF2-40B4-BE49-F238E27FC236}">
                <a16:creationId xmlns:a16="http://schemas.microsoft.com/office/drawing/2014/main" id="{F6FB038C-854E-BF05-DB00-0778EAD86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92203" y="470707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River Crossing Puzzle [Solved] — Steemit">
            <a:extLst>
              <a:ext uri="{FF2B5EF4-FFF2-40B4-BE49-F238E27FC236}">
                <a16:creationId xmlns:a16="http://schemas.microsoft.com/office/drawing/2014/main" id="{E88E37FD-E7CD-AF2C-14B4-FE7F71A9E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60852" y="35848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River Crossing Puzzle [Solved] — Steemit">
            <a:extLst>
              <a:ext uri="{FF2B5EF4-FFF2-40B4-BE49-F238E27FC236}">
                <a16:creationId xmlns:a16="http://schemas.microsoft.com/office/drawing/2014/main" id="{04D0E4F7-8FED-A0A7-11AE-1E5F14B46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062667" y="39044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A06A47B-0370-2843-EA4F-488F4D0E1A6D}"/>
              </a:ext>
            </a:extLst>
          </p:cNvPr>
          <p:cNvSpPr/>
          <p:nvPr/>
        </p:nvSpPr>
        <p:spPr>
          <a:xfrm>
            <a:off x="805296" y="3582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85790DB-6C4F-FF90-A80A-8125545E3B62}"/>
              </a:ext>
            </a:extLst>
          </p:cNvPr>
          <p:cNvSpPr/>
          <p:nvPr/>
        </p:nvSpPr>
        <p:spPr>
          <a:xfrm>
            <a:off x="201661" y="354170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2" descr="River Crossing Puzzle [Solved] — Steemit">
            <a:extLst>
              <a:ext uri="{FF2B5EF4-FFF2-40B4-BE49-F238E27FC236}">
                <a16:creationId xmlns:a16="http://schemas.microsoft.com/office/drawing/2014/main" id="{3A16D2AA-3C34-93E1-80F6-92D2BFBE4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347050" y="4670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River Crossing Puzzle [Solved] — Steemit">
            <a:extLst>
              <a:ext uri="{FF2B5EF4-FFF2-40B4-BE49-F238E27FC236}">
                <a16:creationId xmlns:a16="http://schemas.microsoft.com/office/drawing/2014/main" id="{0FE25B50-1048-9888-E8CA-52AE4FA36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457815" y="35848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River Crossing Puzzle [Solved] — Steemit">
            <a:extLst>
              <a:ext uri="{FF2B5EF4-FFF2-40B4-BE49-F238E27FC236}">
                <a16:creationId xmlns:a16="http://schemas.microsoft.com/office/drawing/2014/main" id="{F691EDC8-5041-8515-ACBB-A99AE811D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826966" y="432241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River Crossing Puzzle [Solved] — Steemit">
            <a:extLst>
              <a:ext uri="{FF2B5EF4-FFF2-40B4-BE49-F238E27FC236}">
                <a16:creationId xmlns:a16="http://schemas.microsoft.com/office/drawing/2014/main" id="{BDFEB852-F52D-8462-62B2-B4611E402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2455167" y="39044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EAD2F54-38E0-06D6-D56B-BB6339A3EBB7}"/>
              </a:ext>
            </a:extLst>
          </p:cNvPr>
          <p:cNvSpPr/>
          <p:nvPr/>
        </p:nvSpPr>
        <p:spPr>
          <a:xfrm>
            <a:off x="2197796" y="3582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989E953-41F6-D560-83D8-8EE5156FD698}"/>
              </a:ext>
            </a:extLst>
          </p:cNvPr>
          <p:cNvSpPr/>
          <p:nvPr/>
        </p:nvSpPr>
        <p:spPr>
          <a:xfrm>
            <a:off x="1594161" y="3541708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2" descr="River Crossing Puzzle [Solved] — Steemit">
            <a:extLst>
              <a:ext uri="{FF2B5EF4-FFF2-40B4-BE49-F238E27FC236}">
                <a16:creationId xmlns:a16="http://schemas.microsoft.com/office/drawing/2014/main" id="{7A1CDCE9-2654-C4AA-A5BF-7B457199C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661909" y="469732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River Crossing Puzzle [Solved] — Steemit">
            <a:extLst>
              <a:ext uri="{FF2B5EF4-FFF2-40B4-BE49-F238E27FC236}">
                <a16:creationId xmlns:a16="http://schemas.microsoft.com/office/drawing/2014/main" id="{C135CA18-727B-DAC5-F106-1BE84E909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093743" y="357864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River Crossing Puzzle [Solved] — Steemit">
            <a:extLst>
              <a:ext uri="{FF2B5EF4-FFF2-40B4-BE49-F238E27FC236}">
                <a16:creationId xmlns:a16="http://schemas.microsoft.com/office/drawing/2014/main" id="{78E033C6-B0C9-7684-C375-59472D79A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799642" y="43080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River Crossing Puzzle [Solved] — Steemit">
            <a:extLst>
              <a:ext uri="{FF2B5EF4-FFF2-40B4-BE49-F238E27FC236}">
                <a16:creationId xmlns:a16="http://schemas.microsoft.com/office/drawing/2014/main" id="{D57814FB-D1C7-089C-BC5B-620040DEC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795558" y="3898230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8977C14A-AA22-C75B-5BFF-BD0F4C6E4AE3}"/>
              </a:ext>
            </a:extLst>
          </p:cNvPr>
          <p:cNvSpPr/>
          <p:nvPr/>
        </p:nvSpPr>
        <p:spPr>
          <a:xfrm>
            <a:off x="3538187" y="3575909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B7CBDB7-4CAD-4173-AEF0-2B8103A2433F}"/>
              </a:ext>
            </a:extLst>
          </p:cNvPr>
          <p:cNvSpPr/>
          <p:nvPr/>
        </p:nvSpPr>
        <p:spPr>
          <a:xfrm>
            <a:off x="2934552" y="3535466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2" descr="River Crossing Puzzle [Solved] — Steemit">
            <a:extLst>
              <a:ext uri="{FF2B5EF4-FFF2-40B4-BE49-F238E27FC236}">
                <a16:creationId xmlns:a16="http://schemas.microsoft.com/office/drawing/2014/main" id="{8C3641A9-F25E-3184-EF1C-3B64A524B8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203982" y="463490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River Crossing Puzzle [Solved] — Steemit">
            <a:extLst>
              <a:ext uri="{FF2B5EF4-FFF2-40B4-BE49-F238E27FC236}">
                <a16:creationId xmlns:a16="http://schemas.microsoft.com/office/drawing/2014/main" id="{3CBEB7AD-2201-1EAF-AB20-13E6F9EA3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611084" y="356617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River Crossing Puzzle [Solved] — Steemit">
            <a:extLst>
              <a:ext uri="{FF2B5EF4-FFF2-40B4-BE49-F238E27FC236}">
                <a16:creationId xmlns:a16="http://schemas.microsoft.com/office/drawing/2014/main" id="{64241674-C1FD-5CD5-EA1A-1699861F5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317647" y="4248718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River Crossing Puzzle [Solved] — Steemit">
            <a:extLst>
              <a:ext uri="{FF2B5EF4-FFF2-40B4-BE49-F238E27FC236}">
                <a16:creationId xmlns:a16="http://schemas.microsoft.com/office/drawing/2014/main" id="{FA42A8D0-AF8D-61A1-EC8B-F7B996D52F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596946" y="386757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2A56F85-92C0-F81A-D4C2-1640570714D7}"/>
              </a:ext>
            </a:extLst>
          </p:cNvPr>
          <p:cNvSpPr/>
          <p:nvPr/>
        </p:nvSpPr>
        <p:spPr>
          <a:xfrm>
            <a:off x="5057103" y="3570239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FA68043-E5A4-5C16-00E6-3CE0C24FB0AA}"/>
              </a:ext>
            </a:extLst>
          </p:cNvPr>
          <p:cNvSpPr/>
          <p:nvPr/>
        </p:nvSpPr>
        <p:spPr>
          <a:xfrm>
            <a:off x="4453468" y="3529796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9A834D89-393E-FAE5-994E-665B2648E9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656553" y="4670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E6446ACC-3C9E-E7B3-6405-72B9894A80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041785" y="357808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A7D582F6-2D39-E276-B3A0-687B0EE81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748348" y="426063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River Crossing Puzzle [Solved] — Steemit">
            <a:extLst>
              <a:ext uri="{FF2B5EF4-FFF2-40B4-BE49-F238E27FC236}">
                <a16:creationId xmlns:a16="http://schemas.microsoft.com/office/drawing/2014/main" id="{BF0ED327-81EE-8C05-9DD3-2B12FD5634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719596" y="386913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7F7EEF86-E4DE-32AF-64C5-DD202EAD9B37}"/>
              </a:ext>
            </a:extLst>
          </p:cNvPr>
          <p:cNvSpPr/>
          <p:nvPr/>
        </p:nvSpPr>
        <p:spPr>
          <a:xfrm>
            <a:off x="6487804" y="3582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DA59BC2-1856-E452-2142-146843FB8590}"/>
              </a:ext>
            </a:extLst>
          </p:cNvPr>
          <p:cNvSpPr/>
          <p:nvPr/>
        </p:nvSpPr>
        <p:spPr>
          <a:xfrm>
            <a:off x="5884169" y="354170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2" descr="River Crossing Puzzle [Solved] — Steemit">
            <a:extLst>
              <a:ext uri="{FF2B5EF4-FFF2-40B4-BE49-F238E27FC236}">
                <a16:creationId xmlns:a16="http://schemas.microsoft.com/office/drawing/2014/main" id="{53D22051-3945-D66F-9C23-5F0BB76ED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054588" y="465648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River Crossing Puzzle [Solved] — Steemit">
            <a:extLst>
              <a:ext uri="{FF2B5EF4-FFF2-40B4-BE49-F238E27FC236}">
                <a16:creationId xmlns:a16="http://schemas.microsoft.com/office/drawing/2014/main" id="{67AB4962-7B8B-962F-5FE1-9847D0C6A1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095994" y="352021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River Crossing Puzzle [Solved] — Steemit">
            <a:extLst>
              <a:ext uri="{FF2B5EF4-FFF2-40B4-BE49-F238E27FC236}">
                <a16:creationId xmlns:a16="http://schemas.microsoft.com/office/drawing/2014/main" id="{689BEC62-932A-B88F-7C69-F058D1497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182390" y="425744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River Crossing Puzzle [Solved] — Steemit">
            <a:extLst>
              <a:ext uri="{FF2B5EF4-FFF2-40B4-BE49-F238E27FC236}">
                <a16:creationId xmlns:a16="http://schemas.microsoft.com/office/drawing/2014/main" id="{FCB360B8-441A-582D-CC56-B605655CF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461689" y="387630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41886B6-A33F-DE38-C1FF-A88F90B65044}"/>
              </a:ext>
            </a:extLst>
          </p:cNvPr>
          <p:cNvSpPr/>
          <p:nvPr/>
        </p:nvSpPr>
        <p:spPr>
          <a:xfrm>
            <a:off x="7921846" y="357896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0CE917F-9224-B2A7-9F0A-AC47C638DD6B}"/>
              </a:ext>
            </a:extLst>
          </p:cNvPr>
          <p:cNvSpPr/>
          <p:nvPr/>
        </p:nvSpPr>
        <p:spPr>
          <a:xfrm>
            <a:off x="7318211" y="353852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C12E55E-A6B1-A137-F10D-47D4C4803A5A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1043424" y="3184285"/>
            <a:ext cx="2740053" cy="339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837F318-16A9-C833-CFFF-6A624B32A429}"/>
              </a:ext>
            </a:extLst>
          </p:cNvPr>
          <p:cNvCxnSpPr>
            <a:cxnSpLocks/>
            <a:stCxn id="76" idx="0"/>
            <a:endCxn id="23" idx="2"/>
          </p:cNvCxnSpPr>
          <p:nvPr/>
        </p:nvCxnSpPr>
        <p:spPr>
          <a:xfrm flipV="1">
            <a:off x="2224782" y="3184285"/>
            <a:ext cx="1558695" cy="357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28C6265-21E9-FF40-622B-0B9EE8423BAB}"/>
              </a:ext>
            </a:extLst>
          </p:cNvPr>
          <p:cNvCxnSpPr>
            <a:cxnSpLocks/>
            <a:stCxn id="82" idx="0"/>
            <a:endCxn id="23" idx="2"/>
          </p:cNvCxnSpPr>
          <p:nvPr/>
        </p:nvCxnSpPr>
        <p:spPr>
          <a:xfrm flipV="1">
            <a:off x="3565173" y="3184285"/>
            <a:ext cx="218304" cy="35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D7D1CC1-A19A-6D57-6A93-7D87BEC9A022}"/>
              </a:ext>
            </a:extLst>
          </p:cNvPr>
          <p:cNvGrpSpPr/>
          <p:nvPr/>
        </p:nvGrpSpPr>
        <p:grpSpPr>
          <a:xfrm flipH="1">
            <a:off x="5125559" y="3187997"/>
            <a:ext cx="2740053" cy="357423"/>
            <a:chOff x="1195824" y="3336685"/>
            <a:chExt cx="2740053" cy="357423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426D930-6162-B448-FBBE-197B4CEC2D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5824" y="3336685"/>
              <a:ext cx="2740053" cy="339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2446F66-7AEC-A6AB-75FE-06F167050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182" y="3336685"/>
              <a:ext cx="1558695" cy="357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7C2F524-51B7-CC27-D1A2-2329F4A710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7573" y="3336685"/>
              <a:ext cx="218304" cy="3511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85176D7-AE62-26BC-A85E-D5E7A5753A64}"/>
              </a:ext>
            </a:extLst>
          </p:cNvPr>
          <p:cNvSpPr/>
          <p:nvPr/>
        </p:nvSpPr>
        <p:spPr>
          <a:xfrm>
            <a:off x="1608299" y="3555619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CD710D8-7443-2224-35D0-A0CAE8A2FBAE}"/>
              </a:ext>
            </a:extLst>
          </p:cNvPr>
          <p:cNvSpPr/>
          <p:nvPr/>
        </p:nvSpPr>
        <p:spPr>
          <a:xfrm>
            <a:off x="3148729" y="179766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55E08CC-9D1D-99B7-6456-662B4F2F1314}"/>
              </a:ext>
            </a:extLst>
          </p:cNvPr>
          <p:cNvSpPr/>
          <p:nvPr/>
        </p:nvSpPr>
        <p:spPr>
          <a:xfrm>
            <a:off x="4603286" y="285725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E88116-3033-6AEA-47E5-B983D1CA7B49}"/>
              </a:ext>
            </a:extLst>
          </p:cNvPr>
          <p:cNvSpPr txBox="1"/>
          <p:nvPr/>
        </p:nvSpPr>
        <p:spPr>
          <a:xfrm>
            <a:off x="2061797" y="506368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8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 animBg="1"/>
      <p:bldP spid="29" grpId="0" animBg="1"/>
      <p:bldP spid="34" grpId="0" animBg="1"/>
      <p:bldP spid="35" grpId="0" animBg="1"/>
      <p:bldP spid="40" grpId="0" animBg="1"/>
      <p:bldP spid="41" grpId="0" animBg="1"/>
      <p:bldP spid="45" grpId="0" animBg="1"/>
      <p:bldP spid="46" grpId="0" animBg="1"/>
      <p:bldP spid="50" grpId="0" animBg="1"/>
      <p:bldP spid="51" grpId="0" animBg="1"/>
      <p:bldP spid="69" grpId="0" animBg="1"/>
      <p:bldP spid="70" grpId="0" animBg="1"/>
      <p:bldP spid="75" grpId="0" animBg="1"/>
      <p:bldP spid="76" grpId="0" animBg="1"/>
      <p:bldP spid="81" grpId="0" animBg="1"/>
      <p:bldP spid="82" grpId="0" animBg="1"/>
      <p:bldP spid="87" grpId="0" animBg="1"/>
      <p:bldP spid="88" grpId="0" animBg="1"/>
      <p:bldP spid="93" grpId="0" animBg="1"/>
      <p:bldP spid="94" grpId="0" animBg="1"/>
      <p:bldP spid="99" grpId="0" animBg="1"/>
      <p:bldP spid="100" grpId="0" animBg="1"/>
      <p:bldP spid="116" grpId="0" animBg="1"/>
      <p:bldP spid="117" grpId="0" animBg="1"/>
      <p:bldP spid="118" grpId="0" animBg="1"/>
      <p:bldP spid="1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11A510-4E75-70E0-38BA-62B87F57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iver Crossing Puzzle [Solved] — Steemit">
            <a:extLst>
              <a:ext uri="{FF2B5EF4-FFF2-40B4-BE49-F238E27FC236}">
                <a16:creationId xmlns:a16="http://schemas.microsoft.com/office/drawing/2014/main" id="{375C3016-CF81-270C-5BFF-FC0A9890A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408954" y="1397881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iver Crossing Puzzle [Solved] — Steemit">
            <a:extLst>
              <a:ext uri="{FF2B5EF4-FFF2-40B4-BE49-F238E27FC236}">
                <a16:creationId xmlns:a16="http://schemas.microsoft.com/office/drawing/2014/main" id="{07DF0B43-F412-303B-1D1B-7545309D2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775313" y="31869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iver Crossing Puzzle [Solved] — Steemit">
            <a:extLst>
              <a:ext uri="{FF2B5EF4-FFF2-40B4-BE49-F238E27FC236}">
                <a16:creationId xmlns:a16="http://schemas.microsoft.com/office/drawing/2014/main" id="{B431B800-B784-29F2-2866-12DE12AB6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480301" y="99443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iver Crossing Puzzle [Solved] — Steemit">
            <a:extLst>
              <a:ext uri="{FF2B5EF4-FFF2-40B4-BE49-F238E27FC236}">
                <a16:creationId xmlns:a16="http://schemas.microsoft.com/office/drawing/2014/main" id="{E747ECF8-A5C9-465A-2A30-1923FFD76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477128" y="638281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C060DA-5B52-003C-6CC6-EEC742E1DFF6}"/>
              </a:ext>
            </a:extLst>
          </p:cNvPr>
          <p:cNvSpPr/>
          <p:nvPr/>
        </p:nvSpPr>
        <p:spPr>
          <a:xfrm>
            <a:off x="5219757" y="31596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677CA-E73F-7908-12D7-59B09BAE6034}"/>
              </a:ext>
            </a:extLst>
          </p:cNvPr>
          <p:cNvSpPr/>
          <p:nvPr/>
        </p:nvSpPr>
        <p:spPr>
          <a:xfrm>
            <a:off x="4616122" y="275517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iver Crossing Puzzle [Solved] — Steemit">
            <a:extLst>
              <a:ext uri="{FF2B5EF4-FFF2-40B4-BE49-F238E27FC236}">
                <a16:creationId xmlns:a16="http://schemas.microsoft.com/office/drawing/2014/main" id="{3528452A-5F9C-C38D-670C-CC2F48A6C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840563" y="141490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iver Crossing Puzzle [Solved] — Steemit">
            <a:extLst>
              <a:ext uri="{FF2B5EF4-FFF2-40B4-BE49-F238E27FC236}">
                <a16:creationId xmlns:a16="http://schemas.microsoft.com/office/drawing/2014/main" id="{353FD566-FBDD-8473-ABDA-538F9EE1E6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870461" y="32675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iver Crossing Puzzle [Solved] — Steemit">
            <a:extLst>
              <a:ext uri="{FF2B5EF4-FFF2-40B4-BE49-F238E27FC236}">
                <a16:creationId xmlns:a16="http://schemas.microsoft.com/office/drawing/2014/main" id="{CA92130E-82B1-9BE9-A543-BB6526B19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897815" y="102503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iver Crossing Puzzle [Solved] — Steemit">
            <a:extLst>
              <a:ext uri="{FF2B5EF4-FFF2-40B4-BE49-F238E27FC236}">
                <a16:creationId xmlns:a16="http://schemas.microsoft.com/office/drawing/2014/main" id="{7355499E-A4E1-1F04-4E7A-5DBD8C92A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177114" y="643896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1177F8B-D243-D8B7-528F-6D154A7B4C4E}"/>
              </a:ext>
            </a:extLst>
          </p:cNvPr>
          <p:cNvSpPr/>
          <p:nvPr/>
        </p:nvSpPr>
        <p:spPr>
          <a:xfrm>
            <a:off x="6637271" y="34656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C94109-88E7-5580-8118-C6121E1ED08C}"/>
              </a:ext>
            </a:extLst>
          </p:cNvPr>
          <p:cNvSpPr/>
          <p:nvPr/>
        </p:nvSpPr>
        <p:spPr>
          <a:xfrm>
            <a:off x="6033636" y="306117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A8C94E-5B75-BE5E-ECD2-127E013E9827}"/>
              </a:ext>
            </a:extLst>
          </p:cNvPr>
          <p:cNvCxnSpPr>
            <a:cxnSpLocks/>
          </p:cNvCxnSpPr>
          <p:nvPr/>
        </p:nvCxnSpPr>
        <p:spPr>
          <a:xfrm flipV="1">
            <a:off x="4959720" y="98407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118144-D410-1690-C12E-B66A8B298517}"/>
              </a:ext>
            </a:extLst>
          </p:cNvPr>
          <p:cNvCxnSpPr>
            <a:cxnSpLocks/>
          </p:cNvCxnSpPr>
          <p:nvPr/>
        </p:nvCxnSpPr>
        <p:spPr>
          <a:xfrm flipH="1" flipV="1">
            <a:off x="6544458" y="101785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River Crossing Puzzle [Solved] — Steemit">
            <a:extLst>
              <a:ext uri="{FF2B5EF4-FFF2-40B4-BE49-F238E27FC236}">
                <a16:creationId xmlns:a16="http://schemas.microsoft.com/office/drawing/2014/main" id="{8FEFE702-3B9E-5DB3-4A53-C4BDE4A282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228786" y="292955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River Crossing Puzzle [Solved] — Steemit">
            <a:extLst>
              <a:ext uri="{FF2B5EF4-FFF2-40B4-BE49-F238E27FC236}">
                <a16:creationId xmlns:a16="http://schemas.microsoft.com/office/drawing/2014/main" id="{28F9CA27-0E29-5448-1EC8-21D1A8CB3B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312047" y="184084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River Crossing Puzzle [Solved] — Steemit">
            <a:extLst>
              <a:ext uri="{FF2B5EF4-FFF2-40B4-BE49-F238E27FC236}">
                <a16:creationId xmlns:a16="http://schemas.microsoft.com/office/drawing/2014/main" id="{5B9E09D9-5DC1-98BF-9E0C-273AF32DF3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385661" y="257837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River Crossing Puzzle [Solved] — Steemit">
            <a:extLst>
              <a:ext uri="{FF2B5EF4-FFF2-40B4-BE49-F238E27FC236}">
                <a16:creationId xmlns:a16="http://schemas.microsoft.com/office/drawing/2014/main" id="{2F2F12D6-669D-2A60-5270-EDF5595BA5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013862" y="216043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9D4CC2-CFB7-4D9D-68ED-439D6AF85E26}"/>
              </a:ext>
            </a:extLst>
          </p:cNvPr>
          <p:cNvSpPr/>
          <p:nvPr/>
        </p:nvSpPr>
        <p:spPr>
          <a:xfrm>
            <a:off x="3756491" y="183811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E8440A-38B8-AA6E-5293-ACE202A1D002}"/>
              </a:ext>
            </a:extLst>
          </p:cNvPr>
          <p:cNvSpPr/>
          <p:nvPr/>
        </p:nvSpPr>
        <p:spPr>
          <a:xfrm>
            <a:off x="3152856" y="179766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River Crossing Puzzle [Solved] — Steemit">
            <a:extLst>
              <a:ext uri="{FF2B5EF4-FFF2-40B4-BE49-F238E27FC236}">
                <a16:creationId xmlns:a16="http://schemas.microsoft.com/office/drawing/2014/main" id="{0D8F367C-5905-EEA5-1186-8C09C2154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650966" y="295165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iver Crossing Puzzle [Solved] — Steemit">
            <a:extLst>
              <a:ext uri="{FF2B5EF4-FFF2-40B4-BE49-F238E27FC236}">
                <a16:creationId xmlns:a16="http://schemas.microsoft.com/office/drawing/2014/main" id="{887D109F-4700-E9C3-3A80-FCEA5C7EFB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713819" y="187246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River Crossing Puzzle [Solved] — Steemit">
            <a:extLst>
              <a:ext uri="{FF2B5EF4-FFF2-40B4-BE49-F238E27FC236}">
                <a16:creationId xmlns:a16="http://schemas.microsoft.com/office/drawing/2014/main" id="{A5641224-BC9F-9417-0A99-5EB98E645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418807" y="254821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River Crossing Puzzle [Solved] — Steemit">
            <a:extLst>
              <a:ext uri="{FF2B5EF4-FFF2-40B4-BE49-F238E27FC236}">
                <a16:creationId xmlns:a16="http://schemas.microsoft.com/office/drawing/2014/main" id="{8EF90DD9-3377-CBD0-3DE9-03D2BBEAB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791893" y="2182527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0629D3-9F16-A305-7081-367626AE7EEB}"/>
              </a:ext>
            </a:extLst>
          </p:cNvPr>
          <p:cNvSpPr/>
          <p:nvPr/>
        </p:nvSpPr>
        <p:spPr>
          <a:xfrm>
            <a:off x="5158263" y="186973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86C69A-CDDD-1D65-C08D-8B674E3CCCA4}"/>
              </a:ext>
            </a:extLst>
          </p:cNvPr>
          <p:cNvSpPr/>
          <p:nvPr/>
        </p:nvSpPr>
        <p:spPr>
          <a:xfrm>
            <a:off x="4554628" y="182928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River Crossing Puzzle [Solved] — Steemit">
            <a:extLst>
              <a:ext uri="{FF2B5EF4-FFF2-40B4-BE49-F238E27FC236}">
                <a16:creationId xmlns:a16="http://schemas.microsoft.com/office/drawing/2014/main" id="{34B3CC01-8246-0F00-F7B2-53BBA59C2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223430" y="2938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River Crossing Puzzle [Solved] — Steemit">
            <a:extLst>
              <a:ext uri="{FF2B5EF4-FFF2-40B4-BE49-F238E27FC236}">
                <a16:creationId xmlns:a16="http://schemas.microsoft.com/office/drawing/2014/main" id="{8C78617D-8E8F-4E8B-162F-27FD536E01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292831" y="186566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River Crossing Puzzle [Solved] — Steemit">
            <a:extLst>
              <a:ext uri="{FF2B5EF4-FFF2-40B4-BE49-F238E27FC236}">
                <a16:creationId xmlns:a16="http://schemas.microsoft.com/office/drawing/2014/main" id="{6696AF07-1D86-CF92-43AF-0F73229CA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999394" y="254821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River Crossing Puzzle [Solved] — Steemit">
            <a:extLst>
              <a:ext uri="{FF2B5EF4-FFF2-40B4-BE49-F238E27FC236}">
                <a16:creationId xmlns:a16="http://schemas.microsoft.com/office/drawing/2014/main" id="{2775E382-FFDA-63F5-8CD9-D2A3DA84D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278693" y="2167067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1EE9EDB-E3B0-2B70-08B9-DB68B7F2F1A0}"/>
              </a:ext>
            </a:extLst>
          </p:cNvPr>
          <p:cNvSpPr/>
          <p:nvPr/>
        </p:nvSpPr>
        <p:spPr>
          <a:xfrm>
            <a:off x="6738850" y="186973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2B0FF1-4875-8777-E191-67835136B3D5}"/>
              </a:ext>
            </a:extLst>
          </p:cNvPr>
          <p:cNvSpPr/>
          <p:nvPr/>
        </p:nvSpPr>
        <p:spPr>
          <a:xfrm>
            <a:off x="6135215" y="182928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River Crossing Puzzle [Solved] — Steemit">
            <a:extLst>
              <a:ext uri="{FF2B5EF4-FFF2-40B4-BE49-F238E27FC236}">
                <a16:creationId xmlns:a16="http://schemas.microsoft.com/office/drawing/2014/main" id="{1D57035D-A59D-3539-7541-CD98397BB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705351" y="294886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River Crossing Puzzle [Solved] — Steemit">
            <a:extLst>
              <a:ext uri="{FF2B5EF4-FFF2-40B4-BE49-F238E27FC236}">
                <a16:creationId xmlns:a16="http://schemas.microsoft.com/office/drawing/2014/main" id="{CA812819-9E9D-0B7F-9CF0-8A55CE476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437853" y="184165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River Crossing Puzzle [Solved] — Steemit">
            <a:extLst>
              <a:ext uri="{FF2B5EF4-FFF2-40B4-BE49-F238E27FC236}">
                <a16:creationId xmlns:a16="http://schemas.microsoft.com/office/drawing/2014/main" id="{CEB23769-A17F-931B-A003-E0BD715FA8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779407" y="257918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River Crossing Puzzle [Solved] — Steemit">
            <a:extLst>
              <a:ext uri="{FF2B5EF4-FFF2-40B4-BE49-F238E27FC236}">
                <a16:creationId xmlns:a16="http://schemas.microsoft.com/office/drawing/2014/main" id="{EB43C4AF-AC29-A18E-D748-C36D83D76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744506" y="2158803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12B385B-8B57-6016-6FD5-41F6E73A4E2C}"/>
              </a:ext>
            </a:extLst>
          </p:cNvPr>
          <p:cNvSpPr/>
          <p:nvPr/>
        </p:nvSpPr>
        <p:spPr>
          <a:xfrm>
            <a:off x="8204663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9F804F-94BF-FE68-05EE-A1D88CF35AC5}"/>
              </a:ext>
            </a:extLst>
          </p:cNvPr>
          <p:cNvSpPr/>
          <p:nvPr/>
        </p:nvSpPr>
        <p:spPr>
          <a:xfrm>
            <a:off x="7601028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2" descr="River Crossing Puzzle [Solved] — Steemit">
            <a:extLst>
              <a:ext uri="{FF2B5EF4-FFF2-40B4-BE49-F238E27FC236}">
                <a16:creationId xmlns:a16="http://schemas.microsoft.com/office/drawing/2014/main" id="{30B7EB39-C628-FAA1-18F0-EB2B475B2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092954" y="293933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River Crossing Puzzle [Solved] — Steemit">
            <a:extLst>
              <a:ext uri="{FF2B5EF4-FFF2-40B4-BE49-F238E27FC236}">
                <a16:creationId xmlns:a16="http://schemas.microsoft.com/office/drawing/2014/main" id="{97EF705E-D324-9881-EE4E-C00E83218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852717" y="184165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River Crossing Puzzle [Solved] — Steemit">
            <a:extLst>
              <a:ext uri="{FF2B5EF4-FFF2-40B4-BE49-F238E27FC236}">
                <a16:creationId xmlns:a16="http://schemas.microsoft.com/office/drawing/2014/main" id="{6088F701-8352-96FF-DA12-D0A128D36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159370" y="2158803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B2C8335-3396-6E27-556E-D1CFD5616D1E}"/>
              </a:ext>
            </a:extLst>
          </p:cNvPr>
          <p:cNvSpPr/>
          <p:nvPr/>
        </p:nvSpPr>
        <p:spPr>
          <a:xfrm>
            <a:off x="9619527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AE6D7F-8870-8D86-376D-6C4572E571C1}"/>
              </a:ext>
            </a:extLst>
          </p:cNvPr>
          <p:cNvSpPr/>
          <p:nvPr/>
        </p:nvSpPr>
        <p:spPr>
          <a:xfrm>
            <a:off x="9015892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 descr="River Crossing Puzzle [Solved] — Steemit">
            <a:extLst>
              <a:ext uri="{FF2B5EF4-FFF2-40B4-BE49-F238E27FC236}">
                <a16:creationId xmlns:a16="http://schemas.microsoft.com/office/drawing/2014/main" id="{2F35518C-5529-4F4A-4182-EE9C5490E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838274" y="2971963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River Crossing Puzzle [Solved] — Steemit">
            <a:extLst>
              <a:ext uri="{FF2B5EF4-FFF2-40B4-BE49-F238E27FC236}">
                <a16:creationId xmlns:a16="http://schemas.microsoft.com/office/drawing/2014/main" id="{05735FBC-8F05-3D8C-877C-9D77387CC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951486" y="186420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River Crossing Puzzle [Solved] — Steemit">
            <a:extLst>
              <a:ext uri="{FF2B5EF4-FFF2-40B4-BE49-F238E27FC236}">
                <a16:creationId xmlns:a16="http://schemas.microsoft.com/office/drawing/2014/main" id="{5B92913C-70F0-9B2B-185A-EA97AE15D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656474" y="253994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9E21D97-827C-0D5A-4735-8303CEDD97D3}"/>
              </a:ext>
            </a:extLst>
          </p:cNvPr>
          <p:cNvSpPr/>
          <p:nvPr/>
        </p:nvSpPr>
        <p:spPr>
          <a:xfrm>
            <a:off x="2395930" y="186146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047CDF-7419-2F14-09FA-6E6878CDD6E4}"/>
              </a:ext>
            </a:extLst>
          </p:cNvPr>
          <p:cNvSpPr/>
          <p:nvPr/>
        </p:nvSpPr>
        <p:spPr>
          <a:xfrm>
            <a:off x="1792295" y="182102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4D22A3F-23D5-9BBF-3F9C-8EDD7CBFE490}"/>
              </a:ext>
            </a:extLst>
          </p:cNvPr>
          <p:cNvCxnSpPr>
            <a:cxnSpLocks/>
          </p:cNvCxnSpPr>
          <p:nvPr/>
        </p:nvCxnSpPr>
        <p:spPr>
          <a:xfrm flipV="1">
            <a:off x="2656474" y="1177159"/>
            <a:ext cx="1959648" cy="643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09AFBD-544C-A98C-28E6-9D2F45454F14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783477" y="1414907"/>
            <a:ext cx="832645" cy="382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7D95DA-2887-0CAC-0507-C30B758D0718}"/>
              </a:ext>
            </a:extLst>
          </p:cNvPr>
          <p:cNvCxnSpPr>
            <a:cxnSpLocks/>
          </p:cNvCxnSpPr>
          <p:nvPr/>
        </p:nvCxnSpPr>
        <p:spPr>
          <a:xfrm flipV="1">
            <a:off x="4791893" y="1662134"/>
            <a:ext cx="167827" cy="13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D4EC623-F712-1340-EF37-DD1E68E43C26}"/>
              </a:ext>
            </a:extLst>
          </p:cNvPr>
          <p:cNvGrpSpPr/>
          <p:nvPr/>
        </p:nvGrpSpPr>
        <p:grpSpPr>
          <a:xfrm flipH="1">
            <a:off x="6940395" y="1206641"/>
            <a:ext cx="2303246" cy="643865"/>
            <a:chOff x="2808874" y="1329559"/>
            <a:chExt cx="2303246" cy="643865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6B6CE9-48B6-4D67-6CFE-0232535573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8874" y="1329559"/>
              <a:ext cx="1959648" cy="643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730E65-A03F-23C4-21D1-DF34DF47E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877" y="1567307"/>
              <a:ext cx="832645" cy="3827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2BC9CBA-E9D5-6B49-39B0-D5EF3F5D4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4293" y="1814534"/>
              <a:ext cx="167827" cy="13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Picture 2" descr="River Crossing Puzzle [Solved] — Steemit">
            <a:extLst>
              <a:ext uri="{FF2B5EF4-FFF2-40B4-BE49-F238E27FC236}">
                <a16:creationId xmlns:a16="http://schemas.microsoft.com/office/drawing/2014/main" id="{FE4C82BA-5B3C-B44C-6574-8BF84D381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950035" y="473147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River Crossing Puzzle [Solved] — Steemit">
            <a:extLst>
              <a:ext uri="{FF2B5EF4-FFF2-40B4-BE49-F238E27FC236}">
                <a16:creationId xmlns:a16="http://schemas.microsoft.com/office/drawing/2014/main" id="{DC937E0F-DF7C-FCE7-CE5A-94ECD1925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318684" y="36092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River Crossing Puzzle [Solved] — Steemit">
            <a:extLst>
              <a:ext uri="{FF2B5EF4-FFF2-40B4-BE49-F238E27FC236}">
                <a16:creationId xmlns:a16="http://schemas.microsoft.com/office/drawing/2014/main" id="{17A5C171-4D1E-E3F6-5C2E-75D15F2EE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228786" y="400125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F6C7613A-30DE-C1FA-F5D0-1E4EA1F03C07}"/>
              </a:ext>
            </a:extLst>
          </p:cNvPr>
          <p:cNvSpPr/>
          <p:nvPr/>
        </p:nvSpPr>
        <p:spPr>
          <a:xfrm>
            <a:off x="3763128" y="36065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B2D401B-AAD0-6670-EDA5-4E8A31B245F7}"/>
              </a:ext>
            </a:extLst>
          </p:cNvPr>
          <p:cNvSpPr/>
          <p:nvPr/>
        </p:nvSpPr>
        <p:spPr>
          <a:xfrm>
            <a:off x="3159493" y="356610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2" descr="River Crossing Puzzle [Solved] — Steemit">
            <a:extLst>
              <a:ext uri="{FF2B5EF4-FFF2-40B4-BE49-F238E27FC236}">
                <a16:creationId xmlns:a16="http://schemas.microsoft.com/office/drawing/2014/main" id="{83851788-2EA4-4160-150B-65CCA3F75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304882" y="46944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River Crossing Puzzle [Solved] — Steemit">
            <a:extLst>
              <a:ext uri="{FF2B5EF4-FFF2-40B4-BE49-F238E27FC236}">
                <a16:creationId xmlns:a16="http://schemas.microsoft.com/office/drawing/2014/main" id="{217D7302-CF00-157E-60E6-BD638A1ED5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415647" y="36092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River Crossing Puzzle [Solved] — Steemit">
            <a:extLst>
              <a:ext uri="{FF2B5EF4-FFF2-40B4-BE49-F238E27FC236}">
                <a16:creationId xmlns:a16="http://schemas.microsoft.com/office/drawing/2014/main" id="{C859591B-723F-4BE9-83EF-220B9A4CF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395271" y="433246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River Crossing Puzzle [Solved] — Steemit">
            <a:extLst>
              <a:ext uri="{FF2B5EF4-FFF2-40B4-BE49-F238E27FC236}">
                <a16:creationId xmlns:a16="http://schemas.microsoft.com/office/drawing/2014/main" id="{D41C4449-EA50-C6E4-1465-54EFD830E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741400" y="39288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81C3B13-41EF-AD80-AD98-44015D608048}"/>
              </a:ext>
            </a:extLst>
          </p:cNvPr>
          <p:cNvSpPr/>
          <p:nvPr/>
        </p:nvSpPr>
        <p:spPr>
          <a:xfrm>
            <a:off x="5155628" y="36065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4E9CEC-33FC-E31D-470A-628F1C6D7181}"/>
              </a:ext>
            </a:extLst>
          </p:cNvPr>
          <p:cNvSpPr/>
          <p:nvPr/>
        </p:nvSpPr>
        <p:spPr>
          <a:xfrm>
            <a:off x="4551993" y="3566108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2" descr="River Crossing Puzzle [Solved] — Steemit">
            <a:extLst>
              <a:ext uri="{FF2B5EF4-FFF2-40B4-BE49-F238E27FC236}">
                <a16:creationId xmlns:a16="http://schemas.microsoft.com/office/drawing/2014/main" id="{FEE5CFA1-56E4-53C5-010F-73E81D652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619741" y="472172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River Crossing Puzzle [Solved] — Steemit">
            <a:extLst>
              <a:ext uri="{FF2B5EF4-FFF2-40B4-BE49-F238E27FC236}">
                <a16:creationId xmlns:a16="http://schemas.microsoft.com/office/drawing/2014/main" id="{8737ECF8-3A2C-FA2E-1384-3C5E38610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051575" y="360304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River Crossing Puzzle [Solved] — Steemit">
            <a:extLst>
              <a:ext uri="{FF2B5EF4-FFF2-40B4-BE49-F238E27FC236}">
                <a16:creationId xmlns:a16="http://schemas.microsoft.com/office/drawing/2014/main" id="{4C94409F-6DA4-B078-AEE1-EF469598FA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757474" y="43324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River Crossing Puzzle [Solved] — Steemit">
            <a:extLst>
              <a:ext uri="{FF2B5EF4-FFF2-40B4-BE49-F238E27FC236}">
                <a16:creationId xmlns:a16="http://schemas.microsoft.com/office/drawing/2014/main" id="{7263547F-3DBD-0849-EBAE-F6E2140AA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6730691" y="389197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0F88F1C-70B3-B986-95AF-704F4461C471}"/>
              </a:ext>
            </a:extLst>
          </p:cNvPr>
          <p:cNvSpPr/>
          <p:nvPr/>
        </p:nvSpPr>
        <p:spPr>
          <a:xfrm>
            <a:off x="6496019" y="3600309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8CF0236-48E5-BA5B-1204-C482C0C3AED3}"/>
              </a:ext>
            </a:extLst>
          </p:cNvPr>
          <p:cNvSpPr/>
          <p:nvPr/>
        </p:nvSpPr>
        <p:spPr>
          <a:xfrm>
            <a:off x="5892384" y="3559866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2" descr="River Crossing Puzzle [Solved] — Steemit">
            <a:extLst>
              <a:ext uri="{FF2B5EF4-FFF2-40B4-BE49-F238E27FC236}">
                <a16:creationId xmlns:a16="http://schemas.microsoft.com/office/drawing/2014/main" id="{2747CEB6-E370-9D38-605E-73EE5846E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161814" y="465930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River Crossing Puzzle [Solved] — Steemit">
            <a:extLst>
              <a:ext uri="{FF2B5EF4-FFF2-40B4-BE49-F238E27FC236}">
                <a16:creationId xmlns:a16="http://schemas.microsoft.com/office/drawing/2014/main" id="{9D203462-6497-81CC-C31B-A07052DAEB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242358" y="359019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River Crossing Puzzle [Solved] — Steemit">
            <a:extLst>
              <a:ext uri="{FF2B5EF4-FFF2-40B4-BE49-F238E27FC236}">
                <a16:creationId xmlns:a16="http://schemas.microsoft.com/office/drawing/2014/main" id="{C15C0B77-6770-9C14-61C7-590BF094F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630528" y="4275415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82903019-9E02-6076-2E46-81A8966551D0}"/>
              </a:ext>
            </a:extLst>
          </p:cNvPr>
          <p:cNvSpPr/>
          <p:nvPr/>
        </p:nvSpPr>
        <p:spPr>
          <a:xfrm>
            <a:off x="8014935" y="3594639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D18FADE-05D0-8F5A-9613-29D5719DB467}"/>
              </a:ext>
            </a:extLst>
          </p:cNvPr>
          <p:cNvSpPr/>
          <p:nvPr/>
        </p:nvSpPr>
        <p:spPr>
          <a:xfrm>
            <a:off x="7411300" y="3554196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A5864F47-8A97-EA4B-6939-D7B73610D8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614385" y="46944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0FF3E813-7CB1-987B-379F-6AA22BCDD0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660848" y="358062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4AAA5DCB-2EC0-B4D9-B999-3BA9F4E223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077513" y="430249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River Crossing Puzzle [Solved] — Steemit">
            <a:extLst>
              <a:ext uri="{FF2B5EF4-FFF2-40B4-BE49-F238E27FC236}">
                <a16:creationId xmlns:a16="http://schemas.microsoft.com/office/drawing/2014/main" id="{C8E73D36-2C42-DCFA-8B70-4D35E435E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677428" y="389353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7FCB673B-6087-10DF-C813-1A9383824C75}"/>
              </a:ext>
            </a:extLst>
          </p:cNvPr>
          <p:cNvSpPr/>
          <p:nvPr/>
        </p:nvSpPr>
        <p:spPr>
          <a:xfrm>
            <a:off x="9445636" y="36065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B3D17AB-6128-B4AB-C762-88234F1A0BB2}"/>
              </a:ext>
            </a:extLst>
          </p:cNvPr>
          <p:cNvSpPr/>
          <p:nvPr/>
        </p:nvSpPr>
        <p:spPr>
          <a:xfrm>
            <a:off x="8842001" y="3566108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2" descr="River Crossing Puzzle [Solved] — Steemit">
            <a:extLst>
              <a:ext uri="{FF2B5EF4-FFF2-40B4-BE49-F238E27FC236}">
                <a16:creationId xmlns:a16="http://schemas.microsoft.com/office/drawing/2014/main" id="{628CEBF1-C625-C25F-4A60-16B970CCF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012420" y="468088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River Crossing Puzzle [Solved] — Steemit">
            <a:extLst>
              <a:ext uri="{FF2B5EF4-FFF2-40B4-BE49-F238E27FC236}">
                <a16:creationId xmlns:a16="http://schemas.microsoft.com/office/drawing/2014/main" id="{D404C207-37EE-4929-7D92-A6D2AB627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1053826" y="354461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River Crossing Puzzle [Solved] — Steemit">
            <a:extLst>
              <a:ext uri="{FF2B5EF4-FFF2-40B4-BE49-F238E27FC236}">
                <a16:creationId xmlns:a16="http://schemas.microsoft.com/office/drawing/2014/main" id="{DF4304A1-43BC-DCEC-5FFD-48A56630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1140222" y="428184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River Crossing Puzzle [Solved] — Steemit">
            <a:extLst>
              <a:ext uri="{FF2B5EF4-FFF2-40B4-BE49-F238E27FC236}">
                <a16:creationId xmlns:a16="http://schemas.microsoft.com/office/drawing/2014/main" id="{85448DAB-E659-185D-9B70-3EA1CB91B2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0419521" y="390070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F123F779-FAA6-D3D5-E674-66A57DEDBE8F}"/>
              </a:ext>
            </a:extLst>
          </p:cNvPr>
          <p:cNvSpPr/>
          <p:nvPr/>
        </p:nvSpPr>
        <p:spPr>
          <a:xfrm>
            <a:off x="10879678" y="360336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34E9DEA-C6C0-04E3-73FA-A0CEFA90D8F8}"/>
              </a:ext>
            </a:extLst>
          </p:cNvPr>
          <p:cNvSpPr/>
          <p:nvPr/>
        </p:nvSpPr>
        <p:spPr>
          <a:xfrm>
            <a:off x="10276043" y="356292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0682395-1B00-74E7-BB3F-510ABF807D33}"/>
              </a:ext>
            </a:extLst>
          </p:cNvPr>
          <p:cNvCxnSpPr>
            <a:cxnSpLocks/>
          </p:cNvCxnSpPr>
          <p:nvPr/>
        </p:nvCxnSpPr>
        <p:spPr>
          <a:xfrm flipV="1">
            <a:off x="4001256" y="3208685"/>
            <a:ext cx="2740053" cy="339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6EA792E-6736-F439-4EB1-A4BFC5C17369}"/>
              </a:ext>
            </a:extLst>
          </p:cNvPr>
          <p:cNvCxnSpPr>
            <a:cxnSpLocks/>
            <a:stCxn id="76" idx="0"/>
          </p:cNvCxnSpPr>
          <p:nvPr/>
        </p:nvCxnSpPr>
        <p:spPr>
          <a:xfrm flipV="1">
            <a:off x="5182614" y="3208685"/>
            <a:ext cx="1558695" cy="357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ADC3335-4AAF-9F93-CD2E-551F0638231C}"/>
              </a:ext>
            </a:extLst>
          </p:cNvPr>
          <p:cNvCxnSpPr>
            <a:cxnSpLocks/>
            <a:stCxn id="82" idx="0"/>
          </p:cNvCxnSpPr>
          <p:nvPr/>
        </p:nvCxnSpPr>
        <p:spPr>
          <a:xfrm flipV="1">
            <a:off x="6523005" y="3208685"/>
            <a:ext cx="218304" cy="35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02CA4FB-707F-DCC6-BA8F-9604B7FDA455}"/>
              </a:ext>
            </a:extLst>
          </p:cNvPr>
          <p:cNvGrpSpPr/>
          <p:nvPr/>
        </p:nvGrpSpPr>
        <p:grpSpPr>
          <a:xfrm flipH="1">
            <a:off x="8083391" y="3212397"/>
            <a:ext cx="2740053" cy="357423"/>
            <a:chOff x="1195824" y="3336685"/>
            <a:chExt cx="2740053" cy="357423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C31AB01-20F1-6126-296D-ED8E019CB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5824" y="3336685"/>
              <a:ext cx="2740053" cy="3399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A5BBB7D-E848-C691-FF14-C8C8A3EB2B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182" y="3336685"/>
              <a:ext cx="1558695" cy="357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BF270B5-312B-2DD8-D3C4-15808D5D8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7573" y="3336685"/>
              <a:ext cx="218304" cy="3511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Picture 2" descr="River Crossing Puzzle [Solved] — Steemit">
            <a:extLst>
              <a:ext uri="{FF2B5EF4-FFF2-40B4-BE49-F238E27FC236}">
                <a16:creationId xmlns:a16="http://schemas.microsoft.com/office/drawing/2014/main" id="{0EBE2BB7-D9FE-A5F8-ED73-6DCF7FBE3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4041652" y="435428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A5E285D4-D333-C359-F569-29DDED333BC3}"/>
              </a:ext>
            </a:extLst>
          </p:cNvPr>
          <p:cNvSpPr/>
          <p:nvPr/>
        </p:nvSpPr>
        <p:spPr>
          <a:xfrm>
            <a:off x="8842001" y="356610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39A5763-4B4A-9703-49D8-95D7B289657E}"/>
              </a:ext>
            </a:extLst>
          </p:cNvPr>
          <p:cNvSpPr/>
          <p:nvPr/>
        </p:nvSpPr>
        <p:spPr>
          <a:xfrm>
            <a:off x="7602661" y="1826697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0D8F4CA-C215-C6AB-9972-8CFEDFD74F77}"/>
              </a:ext>
            </a:extLst>
          </p:cNvPr>
          <p:cNvSpPr/>
          <p:nvPr/>
        </p:nvSpPr>
        <p:spPr>
          <a:xfrm>
            <a:off x="6033636" y="315960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BCD41F-8FDE-FB33-C76C-BA9E68EC26FC}"/>
              </a:ext>
            </a:extLst>
          </p:cNvPr>
          <p:cNvSpPr txBox="1"/>
          <p:nvPr/>
        </p:nvSpPr>
        <p:spPr>
          <a:xfrm>
            <a:off x="9451566" y="512341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4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5" grpId="0" animBg="1"/>
      <p:bldP spid="76" grpId="0" animBg="1"/>
      <p:bldP spid="81" grpId="0" animBg="1"/>
      <p:bldP spid="82" grpId="0" animBg="1"/>
      <p:bldP spid="87" grpId="0" animBg="1"/>
      <p:bldP spid="88" grpId="0" animBg="1"/>
      <p:bldP spid="93" grpId="0" animBg="1"/>
      <p:bldP spid="94" grpId="0" animBg="1"/>
      <p:bldP spid="99" grpId="0" animBg="1"/>
      <p:bldP spid="100" grpId="0" animBg="1"/>
      <p:bldP spid="105" grpId="0" animBg="1"/>
      <p:bldP spid="106" grpId="0" animBg="1"/>
      <p:bldP spid="108" grpId="0" animBg="1"/>
      <p:bldP spid="10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5D93FD-73CA-5CC5-29DF-6BC8C990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8DB7CB54-8EED-9992-A862-A0E150B975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665185" y="1367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826ACCDA-084F-CF00-3AFD-BF1314446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711648" y="253220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3BC740D9-2166-EF39-92B9-30C296F3A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128313" y="97509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River Crossing Puzzle [Solved] — Steemit">
            <a:extLst>
              <a:ext uri="{FF2B5EF4-FFF2-40B4-BE49-F238E27FC236}">
                <a16:creationId xmlns:a16="http://schemas.microsoft.com/office/drawing/2014/main" id="{98796FD9-ABD7-D188-57B5-38D4F928E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728228" y="56613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CD6CB59-DC01-F77E-338D-35D9625A0711}"/>
              </a:ext>
            </a:extLst>
          </p:cNvPr>
          <p:cNvSpPr/>
          <p:nvPr/>
        </p:nvSpPr>
        <p:spPr>
          <a:xfrm>
            <a:off x="9496436" y="279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8FB1BF1-ED02-FB13-9C52-EC56C3296C37}"/>
              </a:ext>
            </a:extLst>
          </p:cNvPr>
          <p:cNvSpPr/>
          <p:nvPr/>
        </p:nvSpPr>
        <p:spPr>
          <a:xfrm>
            <a:off x="8892801" y="23870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River Crossing Puzzle [Solved] — Steemit">
            <a:extLst>
              <a:ext uri="{FF2B5EF4-FFF2-40B4-BE49-F238E27FC236}">
                <a16:creationId xmlns:a16="http://schemas.microsoft.com/office/drawing/2014/main" id="{3CA9C001-E7FA-F5C7-3DEC-050E19F316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397850" y="13426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iver Crossing Puzzle [Solved] — Steemit">
            <a:extLst>
              <a:ext uri="{FF2B5EF4-FFF2-40B4-BE49-F238E27FC236}">
                <a16:creationId xmlns:a16="http://schemas.microsoft.com/office/drawing/2014/main" id="{BCA86BA9-FC37-4586-30F1-A09430668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508615" y="2574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River Crossing Puzzle [Solved] — Steemit">
            <a:extLst>
              <a:ext uri="{FF2B5EF4-FFF2-40B4-BE49-F238E27FC236}">
                <a16:creationId xmlns:a16="http://schemas.microsoft.com/office/drawing/2014/main" id="{FD3A859E-1C54-27DB-35AA-CFDAFCEA3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877766" y="99501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River Crossing Puzzle [Solved] — Steemit">
            <a:extLst>
              <a:ext uri="{FF2B5EF4-FFF2-40B4-BE49-F238E27FC236}">
                <a16:creationId xmlns:a16="http://schemas.microsoft.com/office/drawing/2014/main" id="{2F23F2FE-287D-BD13-6C0A-0FAC09649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2505967" y="5770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02CE612-3195-7F0A-ECBB-C46B2AE67079}"/>
              </a:ext>
            </a:extLst>
          </p:cNvPr>
          <p:cNvSpPr/>
          <p:nvPr/>
        </p:nvSpPr>
        <p:spPr>
          <a:xfrm>
            <a:off x="2248596" y="2547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246014-D3B4-EFD6-8298-253854FB0E4B}"/>
              </a:ext>
            </a:extLst>
          </p:cNvPr>
          <p:cNvSpPr/>
          <p:nvPr/>
        </p:nvSpPr>
        <p:spPr>
          <a:xfrm>
            <a:off x="1644961" y="21430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2" descr="River Crossing Puzzle [Solved] — Steemit">
            <a:extLst>
              <a:ext uri="{FF2B5EF4-FFF2-40B4-BE49-F238E27FC236}">
                <a16:creationId xmlns:a16="http://schemas.microsoft.com/office/drawing/2014/main" id="{6134A785-B43D-A435-6661-7F318A3A0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670787" y="30190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River Crossing Puzzle [Solved] — Steemit">
            <a:extLst>
              <a:ext uri="{FF2B5EF4-FFF2-40B4-BE49-F238E27FC236}">
                <a16:creationId xmlns:a16="http://schemas.microsoft.com/office/drawing/2014/main" id="{FE5EE2EA-42E8-103B-8F09-4579EB47BE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479051" y="19338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River Crossing Puzzle [Solved] — Steemit">
            <a:extLst>
              <a:ext uri="{FF2B5EF4-FFF2-40B4-BE49-F238E27FC236}">
                <a16:creationId xmlns:a16="http://schemas.microsoft.com/office/drawing/2014/main" id="{DCF6B477-9A8E-9991-8243-F2D89C7E4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48202" y="267141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River Crossing Puzzle [Solved] — Steemit">
            <a:extLst>
              <a:ext uri="{FF2B5EF4-FFF2-40B4-BE49-F238E27FC236}">
                <a16:creationId xmlns:a16="http://schemas.microsoft.com/office/drawing/2014/main" id="{15902B1A-82A5-6875-3655-AAECFEE77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476403" y="22534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7A7D3B3-787C-0241-CAC0-FF9F76CE874C}"/>
              </a:ext>
            </a:extLst>
          </p:cNvPr>
          <p:cNvSpPr/>
          <p:nvPr/>
        </p:nvSpPr>
        <p:spPr>
          <a:xfrm>
            <a:off x="1219032" y="1931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572B6B-4556-601C-437B-E74DC0178413}"/>
              </a:ext>
            </a:extLst>
          </p:cNvPr>
          <p:cNvSpPr/>
          <p:nvPr/>
        </p:nvSpPr>
        <p:spPr>
          <a:xfrm>
            <a:off x="615397" y="189070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2" descr="River Crossing Puzzle [Solved] — Steemit">
            <a:extLst>
              <a:ext uri="{FF2B5EF4-FFF2-40B4-BE49-F238E27FC236}">
                <a16:creationId xmlns:a16="http://schemas.microsoft.com/office/drawing/2014/main" id="{5F4C0533-F757-15C8-F80F-BEC5F173C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208304" y="301907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07" descr="River Crossing Puzzle [Solved] — Steemit">
            <a:extLst>
              <a:ext uri="{FF2B5EF4-FFF2-40B4-BE49-F238E27FC236}">
                <a16:creationId xmlns:a16="http://schemas.microsoft.com/office/drawing/2014/main" id="{085F2E69-B1EC-5D85-FC67-F3EAF79390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294315" y="193206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River Crossing Puzzle [Solved] — Steemit">
            <a:extLst>
              <a:ext uri="{FF2B5EF4-FFF2-40B4-BE49-F238E27FC236}">
                <a16:creationId xmlns:a16="http://schemas.microsoft.com/office/drawing/2014/main" id="{1AEDEB19-1617-3E53-662A-C8A9F46EAF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310889" y="265782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2" descr="River Crossing Puzzle [Solved] — Steemit">
            <a:extLst>
              <a:ext uri="{FF2B5EF4-FFF2-40B4-BE49-F238E27FC236}">
                <a16:creationId xmlns:a16="http://schemas.microsoft.com/office/drawing/2014/main" id="{EAD588B8-C7C8-212B-A3D4-EE8BBE0FA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2939090" y="2253471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F2726604-81A6-4528-C1F8-49DC02ED3598}"/>
              </a:ext>
            </a:extLst>
          </p:cNvPr>
          <p:cNvSpPr/>
          <p:nvPr/>
        </p:nvSpPr>
        <p:spPr>
          <a:xfrm>
            <a:off x="2681719" y="191755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5B69EAF-8C08-33A0-A4DB-A50F528DF6D7}"/>
              </a:ext>
            </a:extLst>
          </p:cNvPr>
          <p:cNvSpPr/>
          <p:nvPr/>
        </p:nvSpPr>
        <p:spPr>
          <a:xfrm>
            <a:off x="2078084" y="1877114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2" descr="River Crossing Puzzle [Solved] — Steemit">
            <a:extLst>
              <a:ext uri="{FF2B5EF4-FFF2-40B4-BE49-F238E27FC236}">
                <a16:creationId xmlns:a16="http://schemas.microsoft.com/office/drawing/2014/main" id="{933BCA77-4BF5-63E2-6ADC-542F51686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3758290" y="302970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117" descr="River Crossing Puzzle [Solved] — Steemit">
            <a:extLst>
              <a:ext uri="{FF2B5EF4-FFF2-40B4-BE49-F238E27FC236}">
                <a16:creationId xmlns:a16="http://schemas.microsoft.com/office/drawing/2014/main" id="{07145074-ADFE-FE7B-F9B9-1BC96ECC94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4529238" y="190669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River Crossing Puzzle [Solved] — Steemit">
            <a:extLst>
              <a:ext uri="{FF2B5EF4-FFF2-40B4-BE49-F238E27FC236}">
                <a16:creationId xmlns:a16="http://schemas.microsoft.com/office/drawing/2014/main" id="{D8CE32F3-EA97-03B7-9D0F-31D27853E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898389" y="2644228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River Crossing Puzzle [Solved] — Steemit">
            <a:extLst>
              <a:ext uri="{FF2B5EF4-FFF2-40B4-BE49-F238E27FC236}">
                <a16:creationId xmlns:a16="http://schemas.microsoft.com/office/drawing/2014/main" id="{5620D0C6-067F-CEFC-5124-4C6D75B16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3879207" y="2288134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67D4CA5D-5EC2-AB7A-B520-72FCB148DF09}"/>
              </a:ext>
            </a:extLst>
          </p:cNvPr>
          <p:cNvSpPr/>
          <p:nvPr/>
        </p:nvSpPr>
        <p:spPr>
          <a:xfrm>
            <a:off x="4269219" y="190396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D48A281-A6D7-7E37-6D26-CB71E80E89EB}"/>
              </a:ext>
            </a:extLst>
          </p:cNvPr>
          <p:cNvSpPr/>
          <p:nvPr/>
        </p:nvSpPr>
        <p:spPr>
          <a:xfrm>
            <a:off x="3665584" y="1863520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" name="Picture 2" descr="River Crossing Puzzle [Solved] — Steemit">
            <a:extLst>
              <a:ext uri="{FF2B5EF4-FFF2-40B4-BE49-F238E27FC236}">
                <a16:creationId xmlns:a16="http://schemas.microsoft.com/office/drawing/2014/main" id="{FF9FF568-3494-43B8-A9E3-C9132377B0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353028" y="300548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2" descr="River Crossing Puzzle [Solved] — Steemit">
            <a:extLst>
              <a:ext uri="{FF2B5EF4-FFF2-40B4-BE49-F238E27FC236}">
                <a16:creationId xmlns:a16="http://schemas.microsoft.com/office/drawing/2014/main" id="{F951DAE1-91E3-933A-5E1A-61B483949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071447" y="189162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River Crossing Puzzle [Solved] — Steemit">
            <a:extLst>
              <a:ext uri="{FF2B5EF4-FFF2-40B4-BE49-F238E27FC236}">
                <a16:creationId xmlns:a16="http://schemas.microsoft.com/office/drawing/2014/main" id="{B184C953-C141-2FE9-5114-D1500814E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488112" y="261349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River Crossing Puzzle [Solved] — Steemit">
            <a:extLst>
              <a:ext uri="{FF2B5EF4-FFF2-40B4-BE49-F238E27FC236}">
                <a16:creationId xmlns:a16="http://schemas.microsoft.com/office/drawing/2014/main" id="{CAFE2003-323B-E9FE-B2E8-6DC69E52E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8088027" y="2204541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018A5E46-D396-F8A0-A347-2A59A1B152D1}"/>
              </a:ext>
            </a:extLst>
          </p:cNvPr>
          <p:cNvSpPr/>
          <p:nvPr/>
        </p:nvSpPr>
        <p:spPr>
          <a:xfrm>
            <a:off x="7856235" y="191755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9AC9009-6076-E8ED-747D-8749919EC2FE}"/>
              </a:ext>
            </a:extLst>
          </p:cNvPr>
          <p:cNvSpPr/>
          <p:nvPr/>
        </p:nvSpPr>
        <p:spPr>
          <a:xfrm>
            <a:off x="7252600" y="1877114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9" name="Picture 2" descr="River Crossing Puzzle [Solved] — Steemit">
            <a:extLst>
              <a:ext uri="{FF2B5EF4-FFF2-40B4-BE49-F238E27FC236}">
                <a16:creationId xmlns:a16="http://schemas.microsoft.com/office/drawing/2014/main" id="{9319F13A-6704-1800-C4FF-9B1529841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882952" y="302970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2" descr="River Crossing Puzzle [Solved] — Steemit">
            <a:extLst>
              <a:ext uri="{FF2B5EF4-FFF2-40B4-BE49-F238E27FC236}">
                <a16:creationId xmlns:a16="http://schemas.microsoft.com/office/drawing/2014/main" id="{96B8FF29-DF04-A06F-BC18-C220DD856F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8977625" y="198107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2" descr="River Crossing Puzzle [Solved] — Steemit">
            <a:extLst>
              <a:ext uri="{FF2B5EF4-FFF2-40B4-BE49-F238E27FC236}">
                <a16:creationId xmlns:a16="http://schemas.microsoft.com/office/drawing/2014/main" id="{3BA97F87-F952-65AE-B987-D31CECC8E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018036" y="262709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Picture 2" descr="River Crossing Puzzle [Solved] — Steemit">
            <a:extLst>
              <a:ext uri="{FF2B5EF4-FFF2-40B4-BE49-F238E27FC236}">
                <a16:creationId xmlns:a16="http://schemas.microsoft.com/office/drawing/2014/main" id="{94CB041B-ED3B-0902-ABB3-26287BBFE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617951" y="2218135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A5FBFD7C-4214-0E8A-6F1C-C9BD53E9E520}"/>
              </a:ext>
            </a:extLst>
          </p:cNvPr>
          <p:cNvSpPr/>
          <p:nvPr/>
        </p:nvSpPr>
        <p:spPr>
          <a:xfrm>
            <a:off x="9386159" y="19311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AD22014-C9DB-C114-708F-E69C8B19112F}"/>
              </a:ext>
            </a:extLst>
          </p:cNvPr>
          <p:cNvSpPr/>
          <p:nvPr/>
        </p:nvSpPr>
        <p:spPr>
          <a:xfrm>
            <a:off x="8782524" y="1890708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5" name="Picture 2" descr="River Crossing Puzzle [Solved] — Steemit">
            <a:extLst>
              <a:ext uri="{FF2B5EF4-FFF2-40B4-BE49-F238E27FC236}">
                <a16:creationId xmlns:a16="http://schemas.microsoft.com/office/drawing/2014/main" id="{7EA9AF41-1EC6-6E65-F425-A5FC726D0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0390952" y="302970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Picture 2" descr="River Crossing Puzzle [Solved] — Steemit">
            <a:extLst>
              <a:ext uri="{FF2B5EF4-FFF2-40B4-BE49-F238E27FC236}">
                <a16:creationId xmlns:a16="http://schemas.microsoft.com/office/drawing/2014/main" id="{1DFBC4CB-7F37-B3BE-DC44-CFA2D2131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1076872" y="193206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2" descr="River Crossing Puzzle [Solved] — Steemit">
            <a:extLst>
              <a:ext uri="{FF2B5EF4-FFF2-40B4-BE49-F238E27FC236}">
                <a16:creationId xmlns:a16="http://schemas.microsoft.com/office/drawing/2014/main" id="{D50D58DA-A21F-54D1-0F54-1A42E2184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0493537" y="2653939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2" descr="River Crossing Puzzle [Solved] — Steemit">
            <a:extLst>
              <a:ext uri="{FF2B5EF4-FFF2-40B4-BE49-F238E27FC236}">
                <a16:creationId xmlns:a16="http://schemas.microsoft.com/office/drawing/2014/main" id="{941D7FF6-DB25-FEEB-64D2-FC3E66039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0423401" y="226941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C9A72DDD-2EB2-0AEB-D488-026FE0544CEA}"/>
              </a:ext>
            </a:extLst>
          </p:cNvPr>
          <p:cNvSpPr/>
          <p:nvPr/>
        </p:nvSpPr>
        <p:spPr>
          <a:xfrm>
            <a:off x="10861660" y="1958000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36F1E14-EF5E-A42F-B470-2F8FA82D7D72}"/>
              </a:ext>
            </a:extLst>
          </p:cNvPr>
          <p:cNvSpPr/>
          <p:nvPr/>
        </p:nvSpPr>
        <p:spPr>
          <a:xfrm>
            <a:off x="10258025" y="1917557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1" name="Picture 2" descr="River Crossing Puzzle [Solved] — Steemit">
            <a:extLst>
              <a:ext uri="{FF2B5EF4-FFF2-40B4-BE49-F238E27FC236}">
                <a16:creationId xmlns:a16="http://schemas.microsoft.com/office/drawing/2014/main" id="{5491BD72-FCC3-E6C7-9C38-EE6DFDA267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85766" y="474963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141" descr="River Crossing Puzzle [Solved] — Steemit">
            <a:extLst>
              <a:ext uri="{FF2B5EF4-FFF2-40B4-BE49-F238E27FC236}">
                <a16:creationId xmlns:a16="http://schemas.microsoft.com/office/drawing/2014/main" id="{0B516E63-8834-2F9D-471C-37EC22BFF7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73681" y="36102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2" descr="River Crossing Puzzle [Solved] — Steemit">
            <a:extLst>
              <a:ext uri="{FF2B5EF4-FFF2-40B4-BE49-F238E27FC236}">
                <a16:creationId xmlns:a16="http://schemas.microsoft.com/office/drawing/2014/main" id="{F293461B-158E-948B-180E-3B3C219E6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442832" y="434781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2" descr="River Crossing Puzzle [Solved] — Steemit">
            <a:extLst>
              <a:ext uri="{FF2B5EF4-FFF2-40B4-BE49-F238E27FC236}">
                <a16:creationId xmlns:a16="http://schemas.microsoft.com/office/drawing/2014/main" id="{CECC9416-EF59-4D9F-3897-CFA1DB5FF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1071033" y="39298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F396F8F2-15A4-AC73-7118-CD2301CDB0D5}"/>
              </a:ext>
            </a:extLst>
          </p:cNvPr>
          <p:cNvSpPr/>
          <p:nvPr/>
        </p:nvSpPr>
        <p:spPr>
          <a:xfrm>
            <a:off x="813662" y="36075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2760060-F5F6-B1A9-A3F0-C54CE3A4A1F1}"/>
              </a:ext>
            </a:extLst>
          </p:cNvPr>
          <p:cNvSpPr/>
          <p:nvPr/>
        </p:nvSpPr>
        <p:spPr>
          <a:xfrm>
            <a:off x="210027" y="3567108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7" name="Picture 2" descr="River Crossing Puzzle [Solved] — Steemit">
            <a:extLst>
              <a:ext uri="{FF2B5EF4-FFF2-40B4-BE49-F238E27FC236}">
                <a16:creationId xmlns:a16="http://schemas.microsoft.com/office/drawing/2014/main" id="{157AFAD8-5FC6-F043-5DDF-DD7FCEA13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322282" y="469280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147" descr="River Crossing Puzzle [Solved] — Steemit">
            <a:extLst>
              <a:ext uri="{FF2B5EF4-FFF2-40B4-BE49-F238E27FC236}">
                <a16:creationId xmlns:a16="http://schemas.microsoft.com/office/drawing/2014/main" id="{810DAE86-3B35-A71D-F315-D6357FC2E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469732" y="3610284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2" descr="River Crossing Puzzle [Solved] — Steemit">
            <a:extLst>
              <a:ext uri="{FF2B5EF4-FFF2-40B4-BE49-F238E27FC236}">
                <a16:creationId xmlns:a16="http://schemas.microsoft.com/office/drawing/2014/main" id="{C6024155-0127-7ABC-314E-B79CBCF3D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475123" y="434781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2" descr="River Crossing Puzzle [Solved] — Steemit">
            <a:extLst>
              <a:ext uri="{FF2B5EF4-FFF2-40B4-BE49-F238E27FC236}">
                <a16:creationId xmlns:a16="http://schemas.microsoft.com/office/drawing/2014/main" id="{A50D34EF-1D94-C1EE-9D9B-82CAD7687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2467084" y="392987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A22F6310-B3AF-4E64-7FA6-C569B60FB1CD}"/>
              </a:ext>
            </a:extLst>
          </p:cNvPr>
          <p:cNvSpPr/>
          <p:nvPr/>
        </p:nvSpPr>
        <p:spPr>
          <a:xfrm>
            <a:off x="2209713" y="360755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B10F83F-44CB-D084-C5CD-FBFA78F2DE59}"/>
              </a:ext>
            </a:extLst>
          </p:cNvPr>
          <p:cNvSpPr/>
          <p:nvPr/>
        </p:nvSpPr>
        <p:spPr>
          <a:xfrm>
            <a:off x="1606078" y="356710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" name="Picture 2" descr="River Crossing Puzzle [Solved] — Steemit">
            <a:extLst>
              <a:ext uri="{FF2B5EF4-FFF2-40B4-BE49-F238E27FC236}">
                <a16:creationId xmlns:a16="http://schemas.microsoft.com/office/drawing/2014/main" id="{71259110-0488-94F1-0185-AD8915CE5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666659" y="466238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Picture 2" descr="River Crossing Puzzle [Solved] — Steemit">
            <a:extLst>
              <a:ext uri="{FF2B5EF4-FFF2-40B4-BE49-F238E27FC236}">
                <a16:creationId xmlns:a16="http://schemas.microsoft.com/office/drawing/2014/main" id="{0357832A-C7C6-5CA4-D6F5-24D1129D28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7721957" y="350900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Picture 2" descr="River Crossing Puzzle [Solved] — Steemit">
            <a:extLst>
              <a:ext uri="{FF2B5EF4-FFF2-40B4-BE49-F238E27FC236}">
                <a16:creationId xmlns:a16="http://schemas.microsoft.com/office/drawing/2014/main" id="{A977E737-308A-726E-48F0-FA0137F70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138622" y="4230875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2" descr="River Crossing Puzzle [Solved] — Steemit">
            <a:extLst>
              <a:ext uri="{FF2B5EF4-FFF2-40B4-BE49-F238E27FC236}">
                <a16:creationId xmlns:a16="http://schemas.microsoft.com/office/drawing/2014/main" id="{1945DB91-4998-F714-ADC5-5ACC96AAF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738537" y="3821920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27794EBE-6D52-E190-4DBA-7F19A62007AE}"/>
              </a:ext>
            </a:extLst>
          </p:cNvPr>
          <p:cNvSpPr/>
          <p:nvPr/>
        </p:nvSpPr>
        <p:spPr>
          <a:xfrm>
            <a:off x="7506745" y="3534936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E2B043B-E8B8-5972-241D-DD808496C1A5}"/>
              </a:ext>
            </a:extLst>
          </p:cNvPr>
          <p:cNvSpPr/>
          <p:nvPr/>
        </p:nvSpPr>
        <p:spPr>
          <a:xfrm>
            <a:off x="6903110" y="3494493"/>
            <a:ext cx="1261242" cy="138661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9" name="Picture 2" descr="River Crossing Puzzle [Solved] — Steemit">
            <a:extLst>
              <a:ext uri="{FF2B5EF4-FFF2-40B4-BE49-F238E27FC236}">
                <a16:creationId xmlns:a16="http://schemas.microsoft.com/office/drawing/2014/main" id="{EAF86AE9-3BE0-1404-0931-0EC362F395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9139706" y="467969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2" descr="River Crossing Puzzle [Solved] — Steemit">
            <a:extLst>
              <a:ext uri="{FF2B5EF4-FFF2-40B4-BE49-F238E27FC236}">
                <a16:creationId xmlns:a16="http://schemas.microsoft.com/office/drawing/2014/main" id="{7E74950A-E9EA-FB81-516B-B6EA1AA848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160504" y="353627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2" descr="River Crossing Puzzle [Solved] — Steemit">
            <a:extLst>
              <a:ext uri="{FF2B5EF4-FFF2-40B4-BE49-F238E27FC236}">
                <a16:creationId xmlns:a16="http://schemas.microsoft.com/office/drawing/2014/main" id="{3438F30E-AE2D-3A9C-1F6B-7B1DBC2FA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209204" y="4320958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2" descr="River Crossing Puzzle [Solved] — Steemit">
            <a:extLst>
              <a:ext uri="{FF2B5EF4-FFF2-40B4-BE49-F238E27FC236}">
                <a16:creationId xmlns:a16="http://schemas.microsoft.com/office/drawing/2014/main" id="{6F36C3A5-ECBA-F0A4-BE88-C9BD641B8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9177084" y="384919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123F095E-B3D6-BF61-70E7-4C8082907BF5}"/>
              </a:ext>
            </a:extLst>
          </p:cNvPr>
          <p:cNvSpPr/>
          <p:nvPr/>
        </p:nvSpPr>
        <p:spPr>
          <a:xfrm>
            <a:off x="8945292" y="356220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AB927B2-EE6C-A840-5948-5BD3D3585150}"/>
              </a:ext>
            </a:extLst>
          </p:cNvPr>
          <p:cNvSpPr/>
          <p:nvPr/>
        </p:nvSpPr>
        <p:spPr>
          <a:xfrm>
            <a:off x="8341657" y="3521765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DA08324-0B3F-328D-45D4-58615A16F664}"/>
              </a:ext>
            </a:extLst>
          </p:cNvPr>
          <p:cNvCxnSpPr>
            <a:cxnSpLocks/>
            <a:stCxn id="116" idx="0"/>
          </p:cNvCxnSpPr>
          <p:nvPr/>
        </p:nvCxnSpPr>
        <p:spPr>
          <a:xfrm flipH="1" flipV="1">
            <a:off x="2446043" y="1633610"/>
            <a:ext cx="262662" cy="243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CD7BD65-7A64-A0ED-D1FF-432DF96B25E5}"/>
              </a:ext>
            </a:extLst>
          </p:cNvPr>
          <p:cNvCxnSpPr>
            <a:cxnSpLocks/>
          </p:cNvCxnSpPr>
          <p:nvPr/>
        </p:nvCxnSpPr>
        <p:spPr>
          <a:xfrm flipV="1">
            <a:off x="1644961" y="1594394"/>
            <a:ext cx="218304" cy="35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68CCFFB-49EB-FA74-0AE4-5F77E272F0C9}"/>
              </a:ext>
            </a:extLst>
          </p:cNvPr>
          <p:cNvCxnSpPr>
            <a:cxnSpLocks/>
          </p:cNvCxnSpPr>
          <p:nvPr/>
        </p:nvCxnSpPr>
        <p:spPr>
          <a:xfrm flipH="1" flipV="1">
            <a:off x="2892829" y="1586541"/>
            <a:ext cx="1190317" cy="276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861CF18-B294-A965-86C0-59B223B7F617}"/>
              </a:ext>
            </a:extLst>
          </p:cNvPr>
          <p:cNvCxnSpPr>
            <a:cxnSpLocks/>
          </p:cNvCxnSpPr>
          <p:nvPr/>
        </p:nvCxnSpPr>
        <p:spPr>
          <a:xfrm flipH="1" flipV="1">
            <a:off x="1619827" y="3337172"/>
            <a:ext cx="262662" cy="243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9CC59051-9928-354F-F13B-AF52DCB6209F}"/>
              </a:ext>
            </a:extLst>
          </p:cNvPr>
          <p:cNvCxnSpPr>
            <a:cxnSpLocks/>
          </p:cNvCxnSpPr>
          <p:nvPr/>
        </p:nvCxnSpPr>
        <p:spPr>
          <a:xfrm flipV="1">
            <a:off x="868365" y="3246980"/>
            <a:ext cx="218304" cy="351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22284B8-D7FC-1621-E3FB-49D8158335EF}"/>
              </a:ext>
            </a:extLst>
          </p:cNvPr>
          <p:cNvGrpSpPr/>
          <p:nvPr/>
        </p:nvGrpSpPr>
        <p:grpSpPr>
          <a:xfrm flipH="1">
            <a:off x="7941411" y="1600925"/>
            <a:ext cx="2438185" cy="359034"/>
            <a:chOff x="1797361" y="1738941"/>
            <a:chExt cx="2438185" cy="35903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BA214CA-75C6-E6BA-3117-B59681E6C2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98443" y="1786010"/>
              <a:ext cx="262662" cy="243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139B360-382C-4D6B-3B71-A06F9D7095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7361" y="1746794"/>
              <a:ext cx="218304" cy="3511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02A055A-12D8-A986-69F8-F62E247410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5229" y="1738941"/>
              <a:ext cx="1190317" cy="2769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A11E3D7-8125-B7CB-B881-AB18094AD0FD}"/>
              </a:ext>
            </a:extLst>
          </p:cNvPr>
          <p:cNvCxnSpPr>
            <a:cxnSpLocks/>
          </p:cNvCxnSpPr>
          <p:nvPr/>
        </p:nvCxnSpPr>
        <p:spPr>
          <a:xfrm flipV="1">
            <a:off x="7506745" y="3259560"/>
            <a:ext cx="262662" cy="243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53292C3-F5E9-E2F5-4936-0B066E16C0CB}"/>
              </a:ext>
            </a:extLst>
          </p:cNvPr>
          <p:cNvCxnSpPr>
            <a:cxnSpLocks/>
          </p:cNvCxnSpPr>
          <p:nvPr/>
        </p:nvCxnSpPr>
        <p:spPr>
          <a:xfrm flipH="1" flipV="1">
            <a:off x="8071447" y="3295921"/>
            <a:ext cx="505722" cy="178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C991E899-D2B5-926A-ECD1-2E701C07A029}"/>
              </a:ext>
            </a:extLst>
          </p:cNvPr>
          <p:cNvSpPr txBox="1"/>
          <p:nvPr/>
        </p:nvSpPr>
        <p:spPr>
          <a:xfrm>
            <a:off x="10268551" y="18684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  <a:endParaRPr lang="en-US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C63E657-392C-73B2-8C24-DD591918F0F0}"/>
              </a:ext>
            </a:extLst>
          </p:cNvPr>
          <p:cNvSpPr txBox="1"/>
          <p:nvPr/>
        </p:nvSpPr>
        <p:spPr>
          <a:xfrm>
            <a:off x="2965653" y="16473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E234C-D357-AE27-DCE8-FD605AB0C5C4}"/>
              </a:ext>
            </a:extLst>
          </p:cNvPr>
          <p:cNvSpPr txBox="1"/>
          <p:nvPr/>
        </p:nvSpPr>
        <p:spPr>
          <a:xfrm>
            <a:off x="5094580" y="446497"/>
            <a:ext cx="2691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and B are the same state</a:t>
            </a:r>
            <a:br>
              <a:rPr lang="en-GB" dirty="0"/>
            </a:br>
            <a:r>
              <a:rPr lang="en-GB" dirty="0"/>
              <a:t>but not the same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70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5" grpId="0" animBg="1"/>
      <p:bldP spid="115" grpId="0" animBg="1"/>
      <p:bldP spid="116" grpId="0" animBg="1"/>
      <p:bldP spid="121" grpId="0" animBg="1"/>
      <p:bldP spid="122" grpId="0" animBg="1"/>
      <p:bldP spid="127" grpId="0" animBg="1"/>
      <p:bldP spid="128" grpId="0" animBg="1"/>
      <p:bldP spid="133" grpId="0" animBg="1"/>
      <p:bldP spid="134" grpId="0" animBg="1"/>
      <p:bldP spid="139" grpId="0" animBg="1"/>
      <p:bldP spid="140" grpId="0" animBg="1"/>
      <p:bldP spid="145" grpId="0" animBg="1"/>
      <p:bldP spid="146" grpId="0" animBg="1"/>
      <p:bldP spid="151" grpId="0" animBg="1"/>
      <p:bldP spid="152" grpId="0" animBg="1"/>
      <p:bldP spid="157" grpId="0" animBg="1"/>
      <p:bldP spid="158" grpId="0" animBg="1"/>
      <p:bldP spid="163" grpId="0" animBg="1"/>
      <p:bldP spid="16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7BD5-B71C-15A8-0CEE-327FB4F8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061" y="1029546"/>
            <a:ext cx="10058400" cy="636762"/>
          </a:xfrm>
        </p:spPr>
        <p:txBody>
          <a:bodyPr>
            <a:normAutofit fontScale="90000"/>
          </a:bodyPr>
          <a:lstStyle/>
          <a:p>
            <a:r>
              <a:rPr lang="en-GB" dirty="0"/>
              <a:t>Notice the way your problem solving </a:t>
            </a:r>
            <a:br>
              <a:rPr lang="en-GB" dirty="0"/>
            </a:br>
            <a:r>
              <a:rPr lang="en-GB" sz="6000" dirty="0"/>
              <a:t>≠</a:t>
            </a:r>
            <a:r>
              <a:rPr lang="en-GB" dirty="0"/>
              <a:t> uninformed breadth-first tree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3A1D-66E8-3F06-E324-BD65BE22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712" y="1838960"/>
            <a:ext cx="10586968" cy="481831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- did you consider ALL available actions? (paths away from Bucharest, empty boat) </a:t>
            </a:r>
          </a:p>
          <a:p>
            <a:r>
              <a:rPr lang="en-GB" dirty="0"/>
              <a:t>- domain knowledge (?): don’t expand states that have lost a character</a:t>
            </a:r>
          </a:p>
          <a:p>
            <a:pPr lvl="1"/>
            <a:r>
              <a:rPr lang="en-GB" dirty="0"/>
              <a:t>how do you know you cant get to the goal from there?</a:t>
            </a:r>
          </a:p>
          <a:p>
            <a:pPr lvl="1"/>
            <a:r>
              <a:rPr lang="en-GB" dirty="0"/>
              <a:t>how do you know there aren’t any actions that bring characters back?</a:t>
            </a:r>
          </a:p>
          <a:p>
            <a:r>
              <a:rPr lang="en-GB" dirty="0"/>
              <a:t>- ‘look-ahead’: </a:t>
            </a:r>
          </a:p>
          <a:p>
            <a:pPr lvl="1"/>
            <a:r>
              <a:rPr lang="en-GB" dirty="0"/>
              <a:t>favour actions that go towards goal (direction of Bucharest, more characters on the other side of the river)</a:t>
            </a:r>
          </a:p>
          <a:p>
            <a:pPr lvl="1"/>
            <a:r>
              <a:rPr lang="en-GB" dirty="0"/>
              <a:t>don’t apply actions that </a:t>
            </a:r>
            <a:r>
              <a:rPr lang="en-GB" i="1" dirty="0"/>
              <a:t>will </a:t>
            </a:r>
            <a:r>
              <a:rPr lang="en-GB" dirty="0"/>
              <a:t>lead to loss of a character</a:t>
            </a:r>
          </a:p>
          <a:p>
            <a:r>
              <a:rPr lang="en-GB" dirty="0"/>
              <a:t>- redundancy checking: why not expand states that have been visited before? (not doing this = “graph search”)</a:t>
            </a:r>
          </a:p>
          <a:p>
            <a:r>
              <a:rPr lang="en-GB" dirty="0"/>
              <a:t>- change the goal/interpret goal differently: forget the wolf!</a:t>
            </a:r>
          </a:p>
          <a:p>
            <a:r>
              <a:rPr lang="en-GB" dirty="0"/>
              <a:t>- notice also the need to keep track of multiple incomplete options</a:t>
            </a:r>
          </a:p>
          <a:p>
            <a:endParaRPr lang="en-GB" dirty="0"/>
          </a:p>
          <a:p>
            <a:r>
              <a:rPr lang="en-GB" dirty="0"/>
              <a:t>Some of these refinements can be captured by other search methods (heuristics, graph search, planning graphs, constraint checking – not all)</a:t>
            </a:r>
          </a:p>
          <a:p>
            <a:endParaRPr lang="en-GB" dirty="0"/>
          </a:p>
          <a:p>
            <a:r>
              <a:rPr lang="en-GB" dirty="0"/>
              <a:t>Consider: How often do you do problem-solving that involves SEARCH of this kind?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167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7370-6DE1-D6AC-83D6-D957CBA3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pause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4598-421B-A9E9-2BC4-B4EE7461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75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dfs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0480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46084" name="Picture 4" descr="dfs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9718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dfs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971800"/>
            <a:ext cx="5181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4710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dfs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971801"/>
            <a:ext cx="51816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4813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dfs-progress0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9718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4915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0180" name="Picture 4" descr="dfs-progress0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971801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1204" name="Picture 5" descr="dfs-progress07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0480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2228" name="Picture 5" descr="dfs-progress08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718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3252" name="Picture 5" descr="dfs-progress09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71801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4276" name="Picture 5" descr="dfs-progress1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718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5300" name="Picture 5" descr="dfs-progress1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9718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Depth-first search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>
                <a:ea typeface="ＭＳ Ｐゴシック" pitchFamily="34" charset="-128"/>
              </a:rPr>
              <a:t>Expand deepest unexpanded node</a:t>
            </a:r>
          </a:p>
          <a:p>
            <a:pPr eaLnBrk="1" hangingPunct="1"/>
            <a:r>
              <a:rPr lang="en-US" sz="2800">
                <a:solidFill>
                  <a:schemeClr val="accent2"/>
                </a:solidFill>
                <a:ea typeface="ＭＳ Ｐゴシック" pitchFamily="34" charset="-128"/>
              </a:rPr>
              <a:t>Implementation</a:t>
            </a:r>
            <a:r>
              <a:rPr lang="en-US" sz="2800"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400" i="1">
                <a:ea typeface="ＭＳ Ｐゴシック" pitchFamily="34" charset="-128"/>
              </a:rPr>
              <a:t>fringe </a:t>
            </a:r>
            <a:r>
              <a:rPr lang="en-US" sz="2400">
                <a:ea typeface="ＭＳ Ｐゴシック" pitchFamily="34" charset="-128"/>
              </a:rPr>
              <a:t>= LIFO queue, i.e., put successors at front</a:t>
            </a:r>
          </a:p>
        </p:txBody>
      </p:sp>
      <p:pic>
        <p:nvPicPr>
          <p:cNvPr id="56324" name="Picture 5" descr="dfs-progress1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819401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A38669-6A67-75AE-AA26-BD39575C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iver Crossing Puzzle [Solved] — Steemit">
            <a:extLst>
              <a:ext uri="{FF2B5EF4-FFF2-40B4-BE49-F238E27FC236}">
                <a16:creationId xmlns:a16="http://schemas.microsoft.com/office/drawing/2014/main" id="{54579267-A2EE-24C8-B4F1-0D1A06232F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078783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iver Crossing Puzzle [Solved] — Steemit">
            <a:extLst>
              <a:ext uri="{FF2B5EF4-FFF2-40B4-BE49-F238E27FC236}">
                <a16:creationId xmlns:a16="http://schemas.microsoft.com/office/drawing/2014/main" id="{90B7CE81-8661-6E70-A481-2DEA8EFAF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0452952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FAEAE26-4D85-703A-B286-4253F871DB90}"/>
              </a:ext>
            </a:extLst>
          </p:cNvPr>
          <p:cNvSpPr/>
          <p:nvPr/>
        </p:nvSpPr>
        <p:spPr>
          <a:xfrm>
            <a:off x="10897396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787464-596B-D1C3-420E-B5FA6C22A26A}"/>
              </a:ext>
            </a:extLst>
          </p:cNvPr>
          <p:cNvSpPr/>
          <p:nvPr/>
        </p:nvSpPr>
        <p:spPr>
          <a:xfrm>
            <a:off x="10293761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2" descr="River Crossing Puzzle [Solved] — Steemit">
            <a:extLst>
              <a:ext uri="{FF2B5EF4-FFF2-40B4-BE49-F238E27FC236}">
                <a16:creationId xmlns:a16="http://schemas.microsoft.com/office/drawing/2014/main" id="{DF111709-6ECA-5192-9951-5A3BD2020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477720" y="2127235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River Crossing Puzzle [Solved] — Steemit">
            <a:extLst>
              <a:ext uri="{FF2B5EF4-FFF2-40B4-BE49-F238E27FC236}">
                <a16:creationId xmlns:a16="http://schemas.microsoft.com/office/drawing/2014/main" id="{9AD0AD26-940A-600F-19B7-7892CB48F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7898175" y="105563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River Crossing Puzzle [Solved] — Steemit">
            <a:extLst>
              <a:ext uri="{FF2B5EF4-FFF2-40B4-BE49-F238E27FC236}">
                <a16:creationId xmlns:a16="http://schemas.microsoft.com/office/drawing/2014/main" id="{E2BF9477-4964-8BA8-B410-DD72573ABA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8603163" y="1731381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River Crossing Puzzle [Solved] — Steemit">
            <a:extLst>
              <a:ext uri="{FF2B5EF4-FFF2-40B4-BE49-F238E27FC236}">
                <a16:creationId xmlns:a16="http://schemas.microsoft.com/office/drawing/2014/main" id="{EFFAB940-D663-BC96-1917-70B876BDD1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7882462" y="1350238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EE2DADA-051C-A9F9-846F-17B8C5D98A19}"/>
              </a:ext>
            </a:extLst>
          </p:cNvPr>
          <p:cNvSpPr/>
          <p:nvPr/>
        </p:nvSpPr>
        <p:spPr>
          <a:xfrm>
            <a:off x="8342619" y="105290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7EE519-3C06-5622-8118-682D52BC63CD}"/>
              </a:ext>
            </a:extLst>
          </p:cNvPr>
          <p:cNvSpPr/>
          <p:nvPr/>
        </p:nvSpPr>
        <p:spPr>
          <a:xfrm>
            <a:off x="7738984" y="101245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2" descr="River Crossing Puzzle [Solved] — Steemit">
            <a:extLst>
              <a:ext uri="{FF2B5EF4-FFF2-40B4-BE49-F238E27FC236}">
                <a16:creationId xmlns:a16="http://schemas.microsoft.com/office/drawing/2014/main" id="{86E4D67D-07DD-3494-D335-135CAACA3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330430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River Crossing Puzzle [Solved] — Steemit">
            <a:extLst>
              <a:ext uri="{FF2B5EF4-FFF2-40B4-BE49-F238E27FC236}">
                <a16:creationId xmlns:a16="http://schemas.microsoft.com/office/drawing/2014/main" id="{3CA7A726-BDA2-AD2D-2E64-A8B781ADE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3728413" y="115141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River Crossing Puzzle [Solved] — Steemit">
            <a:extLst>
              <a:ext uri="{FF2B5EF4-FFF2-40B4-BE49-F238E27FC236}">
                <a16:creationId xmlns:a16="http://schemas.microsoft.com/office/drawing/2014/main" id="{621DBEA0-103D-DAB1-3D8E-3F6FB2A84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400185" y="1459292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1263590-D348-EBF4-9C9B-5EE1C38022E8}"/>
              </a:ext>
            </a:extLst>
          </p:cNvPr>
          <p:cNvSpPr/>
          <p:nvPr/>
        </p:nvSpPr>
        <p:spPr>
          <a:xfrm>
            <a:off x="4172857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7D1478-B9B2-30D3-D391-FF054FB37A61}"/>
              </a:ext>
            </a:extLst>
          </p:cNvPr>
          <p:cNvSpPr/>
          <p:nvPr/>
        </p:nvSpPr>
        <p:spPr>
          <a:xfrm>
            <a:off x="3569222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2" descr="River Crossing Puzzle [Solved] — Steemit">
            <a:extLst>
              <a:ext uri="{FF2B5EF4-FFF2-40B4-BE49-F238E27FC236}">
                <a16:creationId xmlns:a16="http://schemas.microsoft.com/office/drawing/2014/main" id="{EAE354A4-806E-E320-AC8B-AAB54AF135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566531" y="222301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River Crossing Puzzle [Solved] — Steemit">
            <a:extLst>
              <a:ext uri="{FF2B5EF4-FFF2-40B4-BE49-F238E27FC236}">
                <a16:creationId xmlns:a16="http://schemas.microsoft.com/office/drawing/2014/main" id="{D71CE534-F3E7-2423-97E1-CE54E24D0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646720" y="113956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River Crossing Puzzle [Solved] — Steemit">
            <a:extLst>
              <a:ext uri="{FF2B5EF4-FFF2-40B4-BE49-F238E27FC236}">
                <a16:creationId xmlns:a16="http://schemas.microsoft.com/office/drawing/2014/main" id="{2734CF04-92C2-ADCE-5F60-D748B9337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75605" y="1836254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8549FEE-5935-AFDB-01C0-D7767439FD20}"/>
              </a:ext>
            </a:extLst>
          </p:cNvPr>
          <p:cNvSpPr/>
          <p:nvPr/>
        </p:nvSpPr>
        <p:spPr>
          <a:xfrm>
            <a:off x="1385211" y="114868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56FEDD4-FCA4-73A0-B064-49E5F32427CF}"/>
              </a:ext>
            </a:extLst>
          </p:cNvPr>
          <p:cNvSpPr/>
          <p:nvPr/>
        </p:nvSpPr>
        <p:spPr>
          <a:xfrm>
            <a:off x="781576" y="110824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2" descr="River Crossing Puzzle [Solved] — Steemit">
            <a:extLst>
              <a:ext uri="{FF2B5EF4-FFF2-40B4-BE49-F238E27FC236}">
                <a16:creationId xmlns:a16="http://schemas.microsoft.com/office/drawing/2014/main" id="{B242D239-BF7B-1753-6BD1-07B6F162F0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545065" y="110824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River Crossing Puzzle [Solved] — Steemit">
            <a:extLst>
              <a:ext uri="{FF2B5EF4-FFF2-40B4-BE49-F238E27FC236}">
                <a16:creationId xmlns:a16="http://schemas.microsoft.com/office/drawing/2014/main" id="{4BFA9AF3-FDBF-B00D-C1B3-EE14F9043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5624570" y="4317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River Crossing Puzzle [Solved] — Steemit">
            <a:extLst>
              <a:ext uri="{FF2B5EF4-FFF2-40B4-BE49-F238E27FC236}">
                <a16:creationId xmlns:a16="http://schemas.microsoft.com/office/drawing/2014/main" id="{6359E783-B182-018A-4322-95F8DE3351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659408" y="72801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River Crossing Puzzle [Solved] — Steemit">
            <a:extLst>
              <a:ext uri="{FF2B5EF4-FFF2-40B4-BE49-F238E27FC236}">
                <a16:creationId xmlns:a16="http://schemas.microsoft.com/office/drawing/2014/main" id="{B2C648B4-EE8E-3D94-ECFC-99E82D760F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5608857" y="33777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1941C39-A123-AF39-DADC-4AD985DD5921}"/>
              </a:ext>
            </a:extLst>
          </p:cNvPr>
          <p:cNvSpPr/>
          <p:nvPr/>
        </p:nvSpPr>
        <p:spPr>
          <a:xfrm>
            <a:off x="6069014" y="4044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1DE2EF3-5933-C17E-64AD-C5537A920719}"/>
              </a:ext>
            </a:extLst>
          </p:cNvPr>
          <p:cNvSpPr/>
          <p:nvPr/>
        </p:nvSpPr>
        <p:spPr>
          <a:xfrm>
            <a:off x="5465379" y="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1670379-7734-35B8-2C59-B8300528375E}"/>
              </a:ext>
            </a:extLst>
          </p:cNvPr>
          <p:cNvCxnSpPr>
            <a:cxnSpLocks/>
          </p:cNvCxnSpPr>
          <p:nvPr/>
        </p:nvCxnSpPr>
        <p:spPr>
          <a:xfrm flipV="1">
            <a:off x="1410162" y="534256"/>
            <a:ext cx="4022924" cy="5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2FAAEB-3D8F-3E30-7DBC-ED2A129CF5C8}"/>
              </a:ext>
            </a:extLst>
          </p:cNvPr>
          <p:cNvCxnSpPr>
            <a:cxnSpLocks/>
          </p:cNvCxnSpPr>
          <p:nvPr/>
        </p:nvCxnSpPr>
        <p:spPr>
          <a:xfrm flipV="1">
            <a:off x="4813636" y="863029"/>
            <a:ext cx="651743" cy="24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6DCD0BA-9370-F897-2644-04DE9D3D3096}"/>
              </a:ext>
            </a:extLst>
          </p:cNvPr>
          <p:cNvCxnSpPr>
            <a:cxnSpLocks/>
          </p:cNvCxnSpPr>
          <p:nvPr/>
        </p:nvCxnSpPr>
        <p:spPr>
          <a:xfrm>
            <a:off x="6726621" y="863029"/>
            <a:ext cx="1012363" cy="14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3CF4E60-0009-AB7B-6799-4E1EE19647ED}"/>
              </a:ext>
            </a:extLst>
          </p:cNvPr>
          <p:cNvCxnSpPr>
            <a:cxnSpLocks/>
          </p:cNvCxnSpPr>
          <p:nvPr/>
        </p:nvCxnSpPr>
        <p:spPr>
          <a:xfrm>
            <a:off x="6726621" y="533443"/>
            <a:ext cx="3567140" cy="479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2" descr="River Crossing Puzzle [Solved] — Steemit">
            <a:extLst>
              <a:ext uri="{FF2B5EF4-FFF2-40B4-BE49-F238E27FC236}">
                <a16:creationId xmlns:a16="http://schemas.microsoft.com/office/drawing/2014/main" id="{03942AC7-CED6-5A15-F7FC-715CC2D9B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10617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River Crossing Puzzle [Solved] — Steemit">
            <a:extLst>
              <a:ext uri="{FF2B5EF4-FFF2-40B4-BE49-F238E27FC236}">
                <a16:creationId xmlns:a16="http://schemas.microsoft.com/office/drawing/2014/main" id="{495A2A5F-8046-61C1-5366-C5B984D97A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97357" y="2640275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River Crossing Puzzle [Solved] — Steemit">
            <a:extLst>
              <a:ext uri="{FF2B5EF4-FFF2-40B4-BE49-F238E27FC236}">
                <a16:creationId xmlns:a16="http://schemas.microsoft.com/office/drawing/2014/main" id="{0F16DF85-4CF8-C90D-E57D-3BDDF6CE95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326242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58A0B28-03C4-C855-D3E3-E3EAB557B460}"/>
              </a:ext>
            </a:extLst>
          </p:cNvPr>
          <p:cNvSpPr/>
          <p:nvPr/>
        </p:nvSpPr>
        <p:spPr>
          <a:xfrm>
            <a:off x="735848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58C6E4-B096-A32F-3155-69B9C99615F6}"/>
              </a:ext>
            </a:extLst>
          </p:cNvPr>
          <p:cNvSpPr/>
          <p:nvPr/>
        </p:nvSpPr>
        <p:spPr>
          <a:xfrm>
            <a:off x="132213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2" descr="River Crossing Puzzle [Solved] — Steemit">
            <a:extLst>
              <a:ext uri="{FF2B5EF4-FFF2-40B4-BE49-F238E27FC236}">
                <a16:creationId xmlns:a16="http://schemas.microsoft.com/office/drawing/2014/main" id="{4A2EDAE2-6704-7F37-167A-EB6AC8304D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656074" y="37644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River Crossing Puzzle [Solved] — Steemit">
            <a:extLst>
              <a:ext uri="{FF2B5EF4-FFF2-40B4-BE49-F238E27FC236}">
                <a16:creationId xmlns:a16="http://schemas.microsoft.com/office/drawing/2014/main" id="{D2B79DB7-9FDF-681F-6B41-521D29F48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787117" y="267000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River Crossing Puzzle [Solved] — Steemit">
            <a:extLst>
              <a:ext uri="{FF2B5EF4-FFF2-40B4-BE49-F238E27FC236}">
                <a16:creationId xmlns:a16="http://schemas.microsoft.com/office/drawing/2014/main" id="{4DAA8EB3-F959-52CB-800F-AE414DBA2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771699" y="333696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F8F3C2FD-E811-755F-0357-8CB52E488A9E}"/>
              </a:ext>
            </a:extLst>
          </p:cNvPr>
          <p:cNvSpPr/>
          <p:nvPr/>
        </p:nvSpPr>
        <p:spPr>
          <a:xfrm>
            <a:off x="2181305" y="264939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08F7D43-6F52-7571-4EB8-1F739F8067A2}"/>
              </a:ext>
            </a:extLst>
          </p:cNvPr>
          <p:cNvSpPr/>
          <p:nvPr/>
        </p:nvSpPr>
        <p:spPr>
          <a:xfrm>
            <a:off x="1577670" y="260895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ED66ABB-4A7A-FA43-2AE2-8D9637CEE880}"/>
              </a:ext>
            </a:extLst>
          </p:cNvPr>
          <p:cNvCxnSpPr>
            <a:cxnSpLocks/>
          </p:cNvCxnSpPr>
          <p:nvPr/>
        </p:nvCxnSpPr>
        <p:spPr>
          <a:xfrm flipV="1">
            <a:off x="449282" y="2480415"/>
            <a:ext cx="331678" cy="126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E12A514-0CCA-32E8-CF53-B66ECFB75530}"/>
              </a:ext>
            </a:extLst>
          </p:cNvPr>
          <p:cNvCxnSpPr>
            <a:cxnSpLocks/>
            <a:stCxn id="98" idx="0"/>
          </p:cNvCxnSpPr>
          <p:nvPr/>
        </p:nvCxnSpPr>
        <p:spPr>
          <a:xfrm flipH="1" flipV="1">
            <a:off x="2034020" y="2483793"/>
            <a:ext cx="174271" cy="125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Picture 2" descr="River Crossing Puzzle [Solved] — Steemit">
            <a:extLst>
              <a:ext uri="{FF2B5EF4-FFF2-40B4-BE49-F238E27FC236}">
                <a16:creationId xmlns:a16="http://schemas.microsoft.com/office/drawing/2014/main" id="{570F6B1F-925C-1FEE-2E6E-403288E38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109872" y="519726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2" descr="River Crossing Puzzle [Solved] — Steemit">
            <a:extLst>
              <a:ext uri="{FF2B5EF4-FFF2-40B4-BE49-F238E27FC236}">
                <a16:creationId xmlns:a16="http://schemas.microsoft.com/office/drawing/2014/main" id="{004F0391-0A6D-BEC7-4DFE-6621D34F42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172046" y="4113808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2" descr="River Crossing Puzzle [Solved] — Steemit">
            <a:extLst>
              <a:ext uri="{FF2B5EF4-FFF2-40B4-BE49-F238E27FC236}">
                <a16:creationId xmlns:a16="http://schemas.microsoft.com/office/drawing/2014/main" id="{09AD2400-470F-A0B7-2B00-1EA6D6726C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500931" y="4810500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C522D196-13EB-ED2F-FD97-B816F25C65A0}"/>
              </a:ext>
            </a:extLst>
          </p:cNvPr>
          <p:cNvSpPr/>
          <p:nvPr/>
        </p:nvSpPr>
        <p:spPr>
          <a:xfrm>
            <a:off x="910537" y="4122931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C2AE650-53C7-C0BE-3426-7056CAFEE710}"/>
              </a:ext>
            </a:extLst>
          </p:cNvPr>
          <p:cNvSpPr/>
          <p:nvPr/>
        </p:nvSpPr>
        <p:spPr>
          <a:xfrm>
            <a:off x="306902" y="4082488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2" descr="River Crossing Puzzle [Solved] — Steemit">
            <a:extLst>
              <a:ext uri="{FF2B5EF4-FFF2-40B4-BE49-F238E27FC236}">
                <a16:creationId xmlns:a16="http://schemas.microsoft.com/office/drawing/2014/main" id="{4B241A42-E17B-9787-4120-6131B5AB7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570944" y="5254097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River Crossing Puzzle [Solved] — Steemit">
            <a:extLst>
              <a:ext uri="{FF2B5EF4-FFF2-40B4-BE49-F238E27FC236}">
                <a16:creationId xmlns:a16="http://schemas.microsoft.com/office/drawing/2014/main" id="{1CC1D1F7-56EC-9F81-CCA6-194150B8C8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636843" y="412512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 descr="River Crossing Puzzle [Solved] — Steemit">
            <a:extLst>
              <a:ext uri="{FF2B5EF4-FFF2-40B4-BE49-F238E27FC236}">
                <a16:creationId xmlns:a16="http://schemas.microsoft.com/office/drawing/2014/main" id="{5776974C-9C4B-229E-EF6A-CB957E4CE9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684919" y="4872275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C779981F-69A6-DEE6-60E5-03ACD54281C4}"/>
              </a:ext>
            </a:extLst>
          </p:cNvPr>
          <p:cNvSpPr/>
          <p:nvPr/>
        </p:nvSpPr>
        <p:spPr>
          <a:xfrm>
            <a:off x="2375334" y="4134244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0E68E41-6724-25F3-3107-7D800C6E49F4}"/>
              </a:ext>
            </a:extLst>
          </p:cNvPr>
          <p:cNvSpPr/>
          <p:nvPr/>
        </p:nvSpPr>
        <p:spPr>
          <a:xfrm>
            <a:off x="1771699" y="4093801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6236EEE-4F5B-22F1-1399-0A8BDC9457F8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762834" y="3995572"/>
            <a:ext cx="0" cy="86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77FF5A1C-C50D-7D45-F63B-817DDC67A836}"/>
              </a:ext>
            </a:extLst>
          </p:cNvPr>
          <p:cNvCxnSpPr>
            <a:cxnSpLocks/>
          </p:cNvCxnSpPr>
          <p:nvPr/>
        </p:nvCxnSpPr>
        <p:spPr>
          <a:xfrm flipH="1" flipV="1">
            <a:off x="996750" y="3995572"/>
            <a:ext cx="1211541" cy="86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2" name="Picture 2" descr="River Crossing Puzzle [Solved] — Steemit">
            <a:extLst>
              <a:ext uri="{FF2B5EF4-FFF2-40B4-BE49-F238E27FC236}">
                <a16:creationId xmlns:a16="http://schemas.microsoft.com/office/drawing/2014/main" id="{7DCED8D1-B335-7E3E-8BB0-2F2E384154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907962" y="469991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2" descr="River Crossing Puzzle [Solved] — Steemit">
            <a:extLst>
              <a:ext uri="{FF2B5EF4-FFF2-40B4-BE49-F238E27FC236}">
                <a16:creationId xmlns:a16="http://schemas.microsoft.com/office/drawing/2014/main" id="{D04A2274-2EC8-BD4C-D3C9-5B09118BC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866456" y="74936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" descr="River Crossing Puzzle [Solved] — Steemit">
            <a:extLst>
              <a:ext uri="{FF2B5EF4-FFF2-40B4-BE49-F238E27FC236}">
                <a16:creationId xmlns:a16="http://schemas.microsoft.com/office/drawing/2014/main" id="{03CB3552-A1F4-2BBE-5AEA-189E79FEA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r="66929" b="48538"/>
          <a:stretch>
            <a:fillRect/>
          </a:stretch>
        </p:blipFill>
        <p:spPr bwMode="auto">
          <a:xfrm>
            <a:off x="4941470" y="622449"/>
            <a:ext cx="292196" cy="30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Picture 2" descr="River Crossing Puzzle [Solved] — Steemit">
            <a:extLst>
              <a:ext uri="{FF2B5EF4-FFF2-40B4-BE49-F238E27FC236}">
                <a16:creationId xmlns:a16="http://schemas.microsoft.com/office/drawing/2014/main" id="{FFEA322A-A213-DDD4-F218-933C1CB49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4874227" y="883950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" descr="River Crossing Puzzle [Solved] — Steemit">
            <a:extLst>
              <a:ext uri="{FF2B5EF4-FFF2-40B4-BE49-F238E27FC236}">
                <a16:creationId xmlns:a16="http://schemas.microsoft.com/office/drawing/2014/main" id="{3CC9C3C0-F63B-5133-EE08-F504A479C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694281" y="673493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" descr="River Crossing Puzzle [Solved] — Steemit">
            <a:extLst>
              <a:ext uri="{FF2B5EF4-FFF2-40B4-BE49-F238E27FC236}">
                <a16:creationId xmlns:a16="http://schemas.microsoft.com/office/drawing/2014/main" id="{6037A377-C885-A429-8C79-9C529F8EEB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7190067" y="628273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2" descr="River Crossing Puzzle [Solved] — Steemit">
            <a:extLst>
              <a:ext uri="{FF2B5EF4-FFF2-40B4-BE49-F238E27FC236}">
                <a16:creationId xmlns:a16="http://schemas.microsoft.com/office/drawing/2014/main" id="{6565F0DB-0B83-79C7-4928-B73DF87A6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7144974" y="871562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E448C-E1E0-C635-C09D-C50A9A89166F}"/>
              </a:ext>
            </a:extLst>
          </p:cNvPr>
          <p:cNvSpPr/>
          <p:nvPr/>
        </p:nvSpPr>
        <p:spPr>
          <a:xfrm>
            <a:off x="763290" y="1128887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10A957-6CAA-7501-C009-E3A8BD81EF26}"/>
              </a:ext>
            </a:extLst>
          </p:cNvPr>
          <p:cNvSpPr/>
          <p:nvPr/>
        </p:nvSpPr>
        <p:spPr>
          <a:xfrm>
            <a:off x="106516" y="2624615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9D56A-52A6-167E-4E3F-85222094EA46}"/>
              </a:ext>
            </a:extLst>
          </p:cNvPr>
          <p:cNvSpPr/>
          <p:nvPr/>
        </p:nvSpPr>
        <p:spPr>
          <a:xfrm>
            <a:off x="296316" y="4117684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River Crossing Puzzle [Solved] — Steemit">
            <a:extLst>
              <a:ext uri="{FF2B5EF4-FFF2-40B4-BE49-F238E27FC236}">
                <a16:creationId xmlns:a16="http://schemas.microsoft.com/office/drawing/2014/main" id="{E01A8703-B3C5-E17E-B418-0128A5FB2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584982" y="6652699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iver Crossing Puzzle [Solved] — Steemit">
            <a:extLst>
              <a:ext uri="{FF2B5EF4-FFF2-40B4-BE49-F238E27FC236}">
                <a16:creationId xmlns:a16="http://schemas.microsoft.com/office/drawing/2014/main" id="{D6D908E6-8B21-5DFA-60B4-7E83D6D2AC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687974" y="5601982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iver Crossing Puzzle [Solved] — Steemit">
            <a:extLst>
              <a:ext uri="{FF2B5EF4-FFF2-40B4-BE49-F238E27FC236}">
                <a16:creationId xmlns:a16="http://schemas.microsoft.com/office/drawing/2014/main" id="{B69B21E6-EE04-0BD8-7A1C-32F55B70D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675594" y="6248837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A782553-FA4F-1CC1-5D63-B09A533BE189}"/>
              </a:ext>
            </a:extLst>
          </p:cNvPr>
          <p:cNvSpPr/>
          <p:nvPr/>
        </p:nvSpPr>
        <p:spPr>
          <a:xfrm>
            <a:off x="1085200" y="5561268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14656-446D-F5C1-5E90-D15A7331D3B1}"/>
              </a:ext>
            </a:extLst>
          </p:cNvPr>
          <p:cNvSpPr/>
          <p:nvPr/>
        </p:nvSpPr>
        <p:spPr>
          <a:xfrm>
            <a:off x="481565" y="5520825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53E1E1-E7F0-5435-9C3D-6C07AEAA15C7}"/>
              </a:ext>
            </a:extLst>
          </p:cNvPr>
          <p:cNvCxnSpPr>
            <a:cxnSpLocks/>
          </p:cNvCxnSpPr>
          <p:nvPr/>
        </p:nvCxnSpPr>
        <p:spPr>
          <a:xfrm flipV="1">
            <a:off x="937497" y="5433909"/>
            <a:ext cx="0" cy="86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52BCE13-1A9D-4FF1-5DA3-DC9064708EDB}"/>
              </a:ext>
            </a:extLst>
          </p:cNvPr>
          <p:cNvSpPr/>
          <p:nvPr/>
        </p:nvSpPr>
        <p:spPr>
          <a:xfrm>
            <a:off x="470979" y="5556021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River Crossing Puzzle [Solved] — Steemit">
            <a:extLst>
              <a:ext uri="{FF2B5EF4-FFF2-40B4-BE49-F238E27FC236}">
                <a16:creationId xmlns:a16="http://schemas.microsoft.com/office/drawing/2014/main" id="{573DB9DA-0AEB-312B-4E0D-B5F58F6273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981627" y="6687481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River Crossing Puzzle [Solved] — Steemit">
            <a:extLst>
              <a:ext uri="{FF2B5EF4-FFF2-40B4-BE49-F238E27FC236}">
                <a16:creationId xmlns:a16="http://schemas.microsoft.com/office/drawing/2014/main" id="{B820C770-DA7E-9B6A-615E-1234FC5E4F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772153" y="559285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iver Crossing Puzzle [Solved] — Steemit">
            <a:extLst>
              <a:ext uri="{FF2B5EF4-FFF2-40B4-BE49-F238E27FC236}">
                <a16:creationId xmlns:a16="http://schemas.microsoft.com/office/drawing/2014/main" id="{39B14D8E-9A3C-D5DE-D5AC-849684F58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101038" y="6289551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9F56BE-278D-ECDB-9A06-26496BCE422E}"/>
              </a:ext>
            </a:extLst>
          </p:cNvPr>
          <p:cNvSpPr/>
          <p:nvPr/>
        </p:nvSpPr>
        <p:spPr>
          <a:xfrm>
            <a:off x="2510644" y="560198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A49DD0-466F-0E13-7307-53861F123B79}"/>
              </a:ext>
            </a:extLst>
          </p:cNvPr>
          <p:cNvSpPr/>
          <p:nvPr/>
        </p:nvSpPr>
        <p:spPr>
          <a:xfrm>
            <a:off x="1907009" y="556153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89D6AB-8DF1-148A-D001-83E720B8522D}"/>
              </a:ext>
            </a:extLst>
          </p:cNvPr>
          <p:cNvCxnSpPr>
            <a:cxnSpLocks/>
          </p:cNvCxnSpPr>
          <p:nvPr/>
        </p:nvCxnSpPr>
        <p:spPr>
          <a:xfrm flipH="1" flipV="1">
            <a:off x="1577670" y="5469105"/>
            <a:ext cx="785271" cy="92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01BB40E-C542-71B0-BEA6-111C66D2FAD3}"/>
              </a:ext>
            </a:extLst>
          </p:cNvPr>
          <p:cNvSpPr/>
          <p:nvPr/>
        </p:nvSpPr>
        <p:spPr>
          <a:xfrm>
            <a:off x="5457871" y="237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205E47-A317-FF8E-4590-7D95AE907336}"/>
              </a:ext>
            </a:extLst>
          </p:cNvPr>
          <p:cNvSpPr txBox="1"/>
          <p:nvPr/>
        </p:nvSpPr>
        <p:spPr>
          <a:xfrm>
            <a:off x="210617" y="346136"/>
            <a:ext cx="1178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Depth first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80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4" grpId="0" animBg="1"/>
      <p:bldP spid="45" grpId="0" animBg="1"/>
      <p:bldP spid="50" grpId="0" animBg="1"/>
      <p:bldP spid="51" grpId="0" animBg="1"/>
      <p:bldP spid="56" grpId="0" animBg="1"/>
      <p:bldP spid="57" grpId="0" animBg="1"/>
      <p:bldP spid="92" grpId="0" animBg="1"/>
      <p:bldP spid="93" grpId="0" animBg="1"/>
      <p:bldP spid="97" grpId="0" animBg="1"/>
      <p:bldP spid="98" grpId="0" animBg="1"/>
      <p:bldP spid="144" grpId="0" animBg="1"/>
      <p:bldP spid="145" grpId="0" animBg="1"/>
      <p:bldP spid="149" grpId="0" animBg="1"/>
      <p:bldP spid="150" grpId="0" animBg="1"/>
      <p:bldP spid="11" grpId="0" animBg="1"/>
      <p:bldP spid="12" grpId="0" animBg="1"/>
      <p:bldP spid="15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F155EA-7C3B-F1DA-74A3-9A49D003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River Crossing Puzzle [Solved] — Steemit">
            <a:extLst>
              <a:ext uri="{FF2B5EF4-FFF2-40B4-BE49-F238E27FC236}">
                <a16:creationId xmlns:a16="http://schemas.microsoft.com/office/drawing/2014/main" id="{4781D95E-0D1E-531D-E5E9-AAD1EA3BF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223157" y="1232974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iver Crossing Puzzle [Solved] — Steemit">
            <a:extLst>
              <a:ext uri="{FF2B5EF4-FFF2-40B4-BE49-F238E27FC236}">
                <a16:creationId xmlns:a16="http://schemas.microsoft.com/office/drawing/2014/main" id="{6DBE3A42-758B-F064-24B0-9584E08A8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326149" y="18225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iver Crossing Puzzle [Solved] — Steemit">
            <a:extLst>
              <a:ext uri="{FF2B5EF4-FFF2-40B4-BE49-F238E27FC236}">
                <a16:creationId xmlns:a16="http://schemas.microsoft.com/office/drawing/2014/main" id="{CD025BF5-995C-FE79-AC22-221131915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1313769" y="82911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A53E400-A9F0-9EEB-A032-0F661AD088F4}"/>
              </a:ext>
            </a:extLst>
          </p:cNvPr>
          <p:cNvSpPr/>
          <p:nvPr/>
        </p:nvSpPr>
        <p:spPr>
          <a:xfrm>
            <a:off x="1723375" y="14154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5AEDD-3242-889D-F05D-55588B92F326}"/>
              </a:ext>
            </a:extLst>
          </p:cNvPr>
          <p:cNvSpPr/>
          <p:nvPr/>
        </p:nvSpPr>
        <p:spPr>
          <a:xfrm>
            <a:off x="1119740" y="10110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34DD2-60B5-E0D0-AD75-551EFAB3EA5D}"/>
              </a:ext>
            </a:extLst>
          </p:cNvPr>
          <p:cNvSpPr/>
          <p:nvPr/>
        </p:nvSpPr>
        <p:spPr>
          <a:xfrm>
            <a:off x="1109154" y="136296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River Crossing Puzzle [Solved] — Steemit">
            <a:extLst>
              <a:ext uri="{FF2B5EF4-FFF2-40B4-BE49-F238E27FC236}">
                <a16:creationId xmlns:a16="http://schemas.microsoft.com/office/drawing/2014/main" id="{3CC95D90-834E-10DD-E600-9D41A3153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467462" y="2825050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iver Crossing Puzzle [Solved] — Steemit">
            <a:extLst>
              <a:ext uri="{FF2B5EF4-FFF2-40B4-BE49-F238E27FC236}">
                <a16:creationId xmlns:a16="http://schemas.microsoft.com/office/drawing/2014/main" id="{4CC204FB-B176-AD62-1EA8-09B08AA02F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485380" y="1804039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iver Crossing Puzzle [Solved] — Steemit">
            <a:extLst>
              <a:ext uri="{FF2B5EF4-FFF2-40B4-BE49-F238E27FC236}">
                <a16:creationId xmlns:a16="http://schemas.microsoft.com/office/drawing/2014/main" id="{FA8BF2E9-F7C8-B85C-B2B8-44A73CDBC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00143" y="2442826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D45D003-06D8-C879-71AC-32EE2754822C}"/>
              </a:ext>
            </a:extLst>
          </p:cNvPr>
          <p:cNvSpPr/>
          <p:nvPr/>
        </p:nvSpPr>
        <p:spPr>
          <a:xfrm>
            <a:off x="1309749" y="1755257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2FE94-8547-E89A-3D58-B910735C59C9}"/>
              </a:ext>
            </a:extLst>
          </p:cNvPr>
          <p:cNvSpPr/>
          <p:nvPr/>
        </p:nvSpPr>
        <p:spPr>
          <a:xfrm>
            <a:off x="706114" y="1714814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FA981-658B-E7A9-74BB-6B856100DDF7}"/>
              </a:ext>
            </a:extLst>
          </p:cNvPr>
          <p:cNvSpPr/>
          <p:nvPr/>
        </p:nvSpPr>
        <p:spPr>
          <a:xfrm>
            <a:off x="695528" y="1750010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iver Crossing Puzzle [Solved] — Steemit">
            <a:extLst>
              <a:ext uri="{FF2B5EF4-FFF2-40B4-BE49-F238E27FC236}">
                <a16:creationId xmlns:a16="http://schemas.microsoft.com/office/drawing/2014/main" id="{5CF496E0-EBDC-CCBB-CBDC-A44A0C7D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917645" y="286478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River Crossing Puzzle [Solved] — Steemit">
            <a:extLst>
              <a:ext uri="{FF2B5EF4-FFF2-40B4-BE49-F238E27FC236}">
                <a16:creationId xmlns:a16="http://schemas.microsoft.com/office/drawing/2014/main" id="{E8C130EA-75BF-C057-E8E3-2F7CB76D2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380174" y="183116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0F4BCB5-4F26-3468-8BAC-1F812E884A66}"/>
              </a:ext>
            </a:extLst>
          </p:cNvPr>
          <p:cNvSpPr/>
          <p:nvPr/>
        </p:nvSpPr>
        <p:spPr>
          <a:xfrm>
            <a:off x="2777400" y="179045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603B0F-2CB2-3612-20AC-801F2856F1CA}"/>
              </a:ext>
            </a:extLst>
          </p:cNvPr>
          <p:cNvSpPr/>
          <p:nvPr/>
        </p:nvSpPr>
        <p:spPr>
          <a:xfrm>
            <a:off x="2173765" y="175001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2" descr="River Crossing Puzzle [Solved] — Steemit">
            <a:extLst>
              <a:ext uri="{FF2B5EF4-FFF2-40B4-BE49-F238E27FC236}">
                <a16:creationId xmlns:a16="http://schemas.microsoft.com/office/drawing/2014/main" id="{989FEF26-2C53-BC4C-0B6D-94188CEE1F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815119" y="445357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 descr="River Crossing Puzzle [Solved] — Steemit">
            <a:extLst>
              <a:ext uri="{FF2B5EF4-FFF2-40B4-BE49-F238E27FC236}">
                <a16:creationId xmlns:a16="http://schemas.microsoft.com/office/drawing/2014/main" id="{3EB1629D-F0FF-D176-368C-8B386D073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908063" y="345216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River Crossing Puzzle [Solved] — Steemit">
            <a:extLst>
              <a:ext uri="{FF2B5EF4-FFF2-40B4-BE49-F238E27FC236}">
                <a16:creationId xmlns:a16="http://schemas.microsoft.com/office/drawing/2014/main" id="{F6F61504-229C-6A30-EB12-4A1BBC89B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29462" y="4021344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BA47BC3-13E8-5539-7BCD-45977A1F0B3F}"/>
              </a:ext>
            </a:extLst>
          </p:cNvPr>
          <p:cNvSpPr/>
          <p:nvPr/>
        </p:nvSpPr>
        <p:spPr>
          <a:xfrm>
            <a:off x="1339068" y="333377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3AB405-02CA-CC1F-92FF-C5243A943EAE}"/>
              </a:ext>
            </a:extLst>
          </p:cNvPr>
          <p:cNvSpPr/>
          <p:nvPr/>
        </p:nvSpPr>
        <p:spPr>
          <a:xfrm>
            <a:off x="735433" y="329333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18A3F7-439B-9265-F956-409A095178B9}"/>
              </a:ext>
            </a:extLst>
          </p:cNvPr>
          <p:cNvSpPr/>
          <p:nvPr/>
        </p:nvSpPr>
        <p:spPr>
          <a:xfrm>
            <a:off x="724847" y="3328528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2" descr="River Crossing Puzzle [Solved] — Steemit">
            <a:extLst>
              <a:ext uri="{FF2B5EF4-FFF2-40B4-BE49-F238E27FC236}">
                <a16:creationId xmlns:a16="http://schemas.microsoft.com/office/drawing/2014/main" id="{194F355A-C82A-0E7B-5543-0C9FC4D6F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277716" y="4464941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4" descr="River Crossing Puzzle [Solved] — Steemit">
            <a:extLst>
              <a:ext uri="{FF2B5EF4-FFF2-40B4-BE49-F238E27FC236}">
                <a16:creationId xmlns:a16="http://schemas.microsoft.com/office/drawing/2014/main" id="{234A4EDC-AF41-0E3A-85AF-CA0A0B28F2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982350" y="3382557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River Crossing Puzzle [Solved] — Steemit">
            <a:extLst>
              <a:ext uri="{FF2B5EF4-FFF2-40B4-BE49-F238E27FC236}">
                <a16:creationId xmlns:a16="http://schemas.microsoft.com/office/drawing/2014/main" id="{E4EC7A57-513D-E13B-A2FE-5834B302F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2397113" y="4021344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FC17D2B-4437-7F7B-B4D5-353D070C208D}"/>
              </a:ext>
            </a:extLst>
          </p:cNvPr>
          <p:cNvSpPr/>
          <p:nvPr/>
        </p:nvSpPr>
        <p:spPr>
          <a:xfrm>
            <a:off x="2806719" y="3333775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AE2BBD-C6BA-651C-CBE8-B36F0C18C7F6}"/>
              </a:ext>
            </a:extLst>
          </p:cNvPr>
          <p:cNvSpPr/>
          <p:nvPr/>
        </p:nvSpPr>
        <p:spPr>
          <a:xfrm>
            <a:off x="2203084" y="3293332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2" descr="River Crossing Puzzle [Solved] — Steemit">
            <a:extLst>
              <a:ext uri="{FF2B5EF4-FFF2-40B4-BE49-F238E27FC236}">
                <a16:creationId xmlns:a16="http://schemas.microsoft.com/office/drawing/2014/main" id="{D356E529-E8D3-73DF-9756-B8B4545207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1467358" y="6030776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River Crossing Puzzle [Solved] — Steemit">
            <a:extLst>
              <a:ext uri="{FF2B5EF4-FFF2-40B4-BE49-F238E27FC236}">
                <a16:creationId xmlns:a16="http://schemas.microsoft.com/office/drawing/2014/main" id="{2277DB72-AFD5-75E7-1CD1-72EEFBEE5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1551435" y="5023066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River Crossing Puzzle [Solved] — Steemit">
            <a:extLst>
              <a:ext uri="{FF2B5EF4-FFF2-40B4-BE49-F238E27FC236}">
                <a16:creationId xmlns:a16="http://schemas.microsoft.com/office/drawing/2014/main" id="{2FCA290C-B696-AEAD-EA50-1F2A2E1CC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72" t="5958" r="41004" b="47948"/>
          <a:stretch>
            <a:fillRect/>
          </a:stretch>
        </p:blipFill>
        <p:spPr bwMode="auto">
          <a:xfrm>
            <a:off x="933716" y="5599862"/>
            <a:ext cx="227955" cy="26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91B7B85-C733-ECA2-B4A4-28586C531AFE}"/>
              </a:ext>
            </a:extLst>
          </p:cNvPr>
          <p:cNvSpPr/>
          <p:nvPr/>
        </p:nvSpPr>
        <p:spPr>
          <a:xfrm>
            <a:off x="1343322" y="4912293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D2FA58-9C31-0E60-5772-B5FEC1639FE4}"/>
              </a:ext>
            </a:extLst>
          </p:cNvPr>
          <p:cNvSpPr/>
          <p:nvPr/>
        </p:nvSpPr>
        <p:spPr>
          <a:xfrm>
            <a:off x="739687" y="4871850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C3A4AD6-EB90-9708-BCE2-350CF90B264C}"/>
              </a:ext>
            </a:extLst>
          </p:cNvPr>
          <p:cNvSpPr/>
          <p:nvPr/>
        </p:nvSpPr>
        <p:spPr>
          <a:xfrm>
            <a:off x="729101" y="4907046"/>
            <a:ext cx="1261242" cy="13866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2" descr="River Crossing Puzzle [Solved] — Steemit">
            <a:extLst>
              <a:ext uri="{FF2B5EF4-FFF2-40B4-BE49-F238E27FC236}">
                <a16:creationId xmlns:a16="http://schemas.microsoft.com/office/drawing/2014/main" id="{8BA03DFF-076A-10A4-090A-D66697BE8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t="63862" r="11573"/>
          <a:stretch>
            <a:fillRect/>
          </a:stretch>
        </p:blipFill>
        <p:spPr bwMode="auto">
          <a:xfrm>
            <a:off x="2917645" y="6098268"/>
            <a:ext cx="433123" cy="1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78" descr="River Crossing Puzzle [Solved] — Steemit">
            <a:extLst>
              <a:ext uri="{FF2B5EF4-FFF2-40B4-BE49-F238E27FC236}">
                <a16:creationId xmlns:a16="http://schemas.microsoft.com/office/drawing/2014/main" id="{7CEF2938-A137-479D-88E0-59E1A66C4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4" t="1512" r="5754" b="46692"/>
          <a:stretch>
            <a:fillRect/>
          </a:stretch>
        </p:blipFill>
        <p:spPr bwMode="auto">
          <a:xfrm>
            <a:off x="2335953" y="5045643"/>
            <a:ext cx="308776" cy="3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752DE19-6F36-E36B-1BE6-C43F63470B7F}"/>
              </a:ext>
            </a:extLst>
          </p:cNvPr>
          <p:cNvSpPr/>
          <p:nvPr/>
        </p:nvSpPr>
        <p:spPr>
          <a:xfrm>
            <a:off x="2766958" y="4927252"/>
            <a:ext cx="45719" cy="1188000"/>
          </a:xfrm>
          <a:custGeom>
            <a:avLst/>
            <a:gdLst>
              <a:gd name="connsiteX0" fmla="*/ 132202 w 242371"/>
              <a:gd name="connsiteY0" fmla="*/ 0 h 2622014"/>
              <a:gd name="connsiteX1" fmla="*/ 77118 w 242371"/>
              <a:gd name="connsiteY1" fmla="*/ 198303 h 2622014"/>
              <a:gd name="connsiteX2" fmla="*/ 110168 w 242371"/>
              <a:gd name="connsiteY2" fmla="*/ 242371 h 2622014"/>
              <a:gd name="connsiteX3" fmla="*/ 154236 w 242371"/>
              <a:gd name="connsiteY3" fmla="*/ 319489 h 2622014"/>
              <a:gd name="connsiteX4" fmla="*/ 165253 w 242371"/>
              <a:gd name="connsiteY4" fmla="*/ 374573 h 2622014"/>
              <a:gd name="connsiteX5" fmla="*/ 187286 w 242371"/>
              <a:gd name="connsiteY5" fmla="*/ 473725 h 2622014"/>
              <a:gd name="connsiteX6" fmla="*/ 176270 w 242371"/>
              <a:gd name="connsiteY6" fmla="*/ 506776 h 2622014"/>
              <a:gd name="connsiteX7" fmla="*/ 99152 w 242371"/>
              <a:gd name="connsiteY7" fmla="*/ 550843 h 2622014"/>
              <a:gd name="connsiteX8" fmla="*/ 66101 w 242371"/>
              <a:gd name="connsiteY8" fmla="*/ 572877 h 2622014"/>
              <a:gd name="connsiteX9" fmla="*/ 44067 w 242371"/>
              <a:gd name="connsiteY9" fmla="*/ 605927 h 2622014"/>
              <a:gd name="connsiteX10" fmla="*/ 77118 w 242371"/>
              <a:gd name="connsiteY10" fmla="*/ 793214 h 2622014"/>
              <a:gd name="connsiteX11" fmla="*/ 99152 w 242371"/>
              <a:gd name="connsiteY11" fmla="*/ 859315 h 2622014"/>
              <a:gd name="connsiteX12" fmla="*/ 121185 w 242371"/>
              <a:gd name="connsiteY12" fmla="*/ 903383 h 2622014"/>
              <a:gd name="connsiteX13" fmla="*/ 132202 w 242371"/>
              <a:gd name="connsiteY13" fmla="*/ 947450 h 2622014"/>
              <a:gd name="connsiteX14" fmla="*/ 165253 w 242371"/>
              <a:gd name="connsiteY14" fmla="*/ 980501 h 2622014"/>
              <a:gd name="connsiteX15" fmla="*/ 209320 w 242371"/>
              <a:gd name="connsiteY15" fmla="*/ 1068636 h 2622014"/>
              <a:gd name="connsiteX16" fmla="*/ 220337 w 242371"/>
              <a:gd name="connsiteY16" fmla="*/ 1145754 h 2622014"/>
              <a:gd name="connsiteX17" fmla="*/ 187286 w 242371"/>
              <a:gd name="connsiteY17" fmla="*/ 1233889 h 2622014"/>
              <a:gd name="connsiteX18" fmla="*/ 66101 w 242371"/>
              <a:gd name="connsiteY18" fmla="*/ 1399142 h 2622014"/>
              <a:gd name="connsiteX19" fmla="*/ 11017 w 242371"/>
              <a:gd name="connsiteY19" fmla="*/ 1542361 h 2622014"/>
              <a:gd name="connsiteX20" fmla="*/ 44067 w 242371"/>
              <a:gd name="connsiteY20" fmla="*/ 1685580 h 2622014"/>
              <a:gd name="connsiteX21" fmla="*/ 110168 w 242371"/>
              <a:gd name="connsiteY21" fmla="*/ 1751682 h 2622014"/>
              <a:gd name="connsiteX22" fmla="*/ 143219 w 242371"/>
              <a:gd name="connsiteY22" fmla="*/ 1872867 h 2622014"/>
              <a:gd name="connsiteX23" fmla="*/ 154236 w 242371"/>
              <a:gd name="connsiteY23" fmla="*/ 1905918 h 2622014"/>
              <a:gd name="connsiteX24" fmla="*/ 165253 w 242371"/>
              <a:gd name="connsiteY24" fmla="*/ 1938968 h 2622014"/>
              <a:gd name="connsiteX25" fmla="*/ 132202 w 242371"/>
              <a:gd name="connsiteY25" fmla="*/ 2093205 h 2622014"/>
              <a:gd name="connsiteX26" fmla="*/ 22033 w 242371"/>
              <a:gd name="connsiteY26" fmla="*/ 2192356 h 2622014"/>
              <a:gd name="connsiteX27" fmla="*/ 0 w 242371"/>
              <a:gd name="connsiteY27" fmla="*/ 2236424 h 2622014"/>
              <a:gd name="connsiteX28" fmla="*/ 22033 w 242371"/>
              <a:gd name="connsiteY28" fmla="*/ 2357609 h 2622014"/>
              <a:gd name="connsiteX29" fmla="*/ 77118 w 242371"/>
              <a:gd name="connsiteY29" fmla="*/ 2511846 h 2622014"/>
              <a:gd name="connsiteX30" fmla="*/ 99152 w 242371"/>
              <a:gd name="connsiteY30" fmla="*/ 2544896 h 2622014"/>
              <a:gd name="connsiteX31" fmla="*/ 165253 w 242371"/>
              <a:gd name="connsiteY31" fmla="*/ 2588964 h 2622014"/>
              <a:gd name="connsiteX32" fmla="*/ 242371 w 242371"/>
              <a:gd name="connsiteY32" fmla="*/ 2622014 h 26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42371" h="2622014">
                <a:moveTo>
                  <a:pt x="132202" y="0"/>
                </a:moveTo>
                <a:cubicBezTo>
                  <a:pt x="106530" y="64181"/>
                  <a:pt x="38582" y="130864"/>
                  <a:pt x="77118" y="198303"/>
                </a:cubicBezTo>
                <a:cubicBezTo>
                  <a:pt x="86228" y="214245"/>
                  <a:pt x="99151" y="227682"/>
                  <a:pt x="110168" y="242371"/>
                </a:cubicBezTo>
                <a:cubicBezTo>
                  <a:pt x="146226" y="386599"/>
                  <a:pt x="88600" y="188218"/>
                  <a:pt x="154236" y="319489"/>
                </a:cubicBezTo>
                <a:cubicBezTo>
                  <a:pt x="162610" y="336237"/>
                  <a:pt x="161191" y="356294"/>
                  <a:pt x="165253" y="374573"/>
                </a:cubicBezTo>
                <a:cubicBezTo>
                  <a:pt x="196356" y="514534"/>
                  <a:pt x="154078" y="307671"/>
                  <a:pt x="187286" y="473725"/>
                </a:cubicBezTo>
                <a:cubicBezTo>
                  <a:pt x="183614" y="484742"/>
                  <a:pt x="183704" y="497855"/>
                  <a:pt x="176270" y="506776"/>
                </a:cubicBezTo>
                <a:cubicBezTo>
                  <a:pt x="138216" y="552441"/>
                  <a:pt x="139942" y="530448"/>
                  <a:pt x="99152" y="550843"/>
                </a:cubicBezTo>
                <a:cubicBezTo>
                  <a:pt x="87309" y="556765"/>
                  <a:pt x="77118" y="565532"/>
                  <a:pt x="66101" y="572877"/>
                </a:cubicBezTo>
                <a:cubicBezTo>
                  <a:pt x="58756" y="583894"/>
                  <a:pt x="44845" y="592709"/>
                  <a:pt x="44067" y="605927"/>
                </a:cubicBezTo>
                <a:cubicBezTo>
                  <a:pt x="35986" y="743309"/>
                  <a:pt x="31641" y="725000"/>
                  <a:pt x="77118" y="793214"/>
                </a:cubicBezTo>
                <a:cubicBezTo>
                  <a:pt x="84463" y="815248"/>
                  <a:pt x="90526" y="837751"/>
                  <a:pt x="99152" y="859315"/>
                </a:cubicBezTo>
                <a:cubicBezTo>
                  <a:pt x="105251" y="874563"/>
                  <a:pt x="115419" y="888006"/>
                  <a:pt x="121185" y="903383"/>
                </a:cubicBezTo>
                <a:cubicBezTo>
                  <a:pt x="126501" y="917560"/>
                  <a:pt x="124690" y="934304"/>
                  <a:pt x="132202" y="947450"/>
                </a:cubicBezTo>
                <a:cubicBezTo>
                  <a:pt x="139932" y="960978"/>
                  <a:pt x="155279" y="968532"/>
                  <a:pt x="165253" y="980501"/>
                </a:cubicBezTo>
                <a:cubicBezTo>
                  <a:pt x="190638" y="1010963"/>
                  <a:pt x="193746" y="1029701"/>
                  <a:pt x="209320" y="1068636"/>
                </a:cubicBezTo>
                <a:cubicBezTo>
                  <a:pt x="212992" y="1094342"/>
                  <a:pt x="220337" y="1119787"/>
                  <a:pt x="220337" y="1145754"/>
                </a:cubicBezTo>
                <a:cubicBezTo>
                  <a:pt x="220337" y="1169333"/>
                  <a:pt x="199821" y="1215783"/>
                  <a:pt x="187286" y="1233889"/>
                </a:cubicBezTo>
                <a:cubicBezTo>
                  <a:pt x="182367" y="1240994"/>
                  <a:pt x="77449" y="1369638"/>
                  <a:pt x="66101" y="1399142"/>
                </a:cubicBezTo>
                <a:lnTo>
                  <a:pt x="11017" y="1542361"/>
                </a:lnTo>
                <a:cubicBezTo>
                  <a:pt x="16090" y="1582946"/>
                  <a:pt x="16645" y="1647875"/>
                  <a:pt x="44067" y="1685580"/>
                </a:cubicBezTo>
                <a:cubicBezTo>
                  <a:pt x="62395" y="1710781"/>
                  <a:pt x="110168" y="1751682"/>
                  <a:pt x="110168" y="1751682"/>
                </a:cubicBezTo>
                <a:cubicBezTo>
                  <a:pt x="125740" y="1829541"/>
                  <a:pt x="115263" y="1789001"/>
                  <a:pt x="143219" y="1872867"/>
                </a:cubicBezTo>
                <a:lnTo>
                  <a:pt x="154236" y="1905918"/>
                </a:lnTo>
                <a:lnTo>
                  <a:pt x="165253" y="1938968"/>
                </a:lnTo>
                <a:cubicBezTo>
                  <a:pt x="154236" y="1990380"/>
                  <a:pt x="154808" y="2045733"/>
                  <a:pt x="132202" y="2093205"/>
                </a:cubicBezTo>
                <a:cubicBezTo>
                  <a:pt x="112089" y="2135443"/>
                  <a:pt x="61161" y="2166272"/>
                  <a:pt x="22033" y="2192356"/>
                </a:cubicBezTo>
                <a:cubicBezTo>
                  <a:pt x="14689" y="2207045"/>
                  <a:pt x="0" y="2220001"/>
                  <a:pt x="0" y="2236424"/>
                </a:cubicBezTo>
                <a:cubicBezTo>
                  <a:pt x="0" y="2277481"/>
                  <a:pt x="13575" y="2317432"/>
                  <a:pt x="22033" y="2357609"/>
                </a:cubicBezTo>
                <a:cubicBezTo>
                  <a:pt x="39037" y="2438378"/>
                  <a:pt x="39477" y="2444092"/>
                  <a:pt x="77118" y="2511846"/>
                </a:cubicBezTo>
                <a:cubicBezTo>
                  <a:pt x="83548" y="2523420"/>
                  <a:pt x="89187" y="2536177"/>
                  <a:pt x="99152" y="2544896"/>
                </a:cubicBezTo>
                <a:cubicBezTo>
                  <a:pt x="119081" y="2562334"/>
                  <a:pt x="141567" y="2577121"/>
                  <a:pt x="165253" y="2588964"/>
                </a:cubicBezTo>
                <a:cubicBezTo>
                  <a:pt x="259958" y="2636317"/>
                  <a:pt x="209637" y="2589280"/>
                  <a:pt x="242371" y="2622014"/>
                </a:cubicBezTo>
              </a:path>
            </a:pathLst>
          </a:cu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0D2481F-3B08-6B70-D15E-6FB4DB2318D8}"/>
              </a:ext>
            </a:extLst>
          </p:cNvPr>
          <p:cNvSpPr/>
          <p:nvPr/>
        </p:nvSpPr>
        <p:spPr>
          <a:xfrm>
            <a:off x="2163323" y="4886809"/>
            <a:ext cx="1261242" cy="1386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ACDF46A-6EDC-9725-B3AE-984AA2FD6D05}"/>
              </a:ext>
            </a:extLst>
          </p:cNvPr>
          <p:cNvCxnSpPr>
            <a:cxnSpLocks/>
          </p:cNvCxnSpPr>
          <p:nvPr/>
        </p:nvCxnSpPr>
        <p:spPr>
          <a:xfrm flipV="1">
            <a:off x="1182790" y="1551237"/>
            <a:ext cx="125018" cy="1635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183DB73-8DDB-1E41-9C8C-2DA20BBE1443}"/>
              </a:ext>
            </a:extLst>
          </p:cNvPr>
          <p:cNvCxnSpPr>
            <a:cxnSpLocks/>
          </p:cNvCxnSpPr>
          <p:nvPr/>
        </p:nvCxnSpPr>
        <p:spPr>
          <a:xfrm flipH="1" flipV="1">
            <a:off x="2234546" y="1541756"/>
            <a:ext cx="355734" cy="2051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E9BB738-91E2-5391-9C4A-2F0028B3495F}"/>
              </a:ext>
            </a:extLst>
          </p:cNvPr>
          <p:cNvCxnSpPr>
            <a:cxnSpLocks/>
          </p:cNvCxnSpPr>
          <p:nvPr/>
        </p:nvCxnSpPr>
        <p:spPr>
          <a:xfrm flipV="1">
            <a:off x="1225128" y="3139525"/>
            <a:ext cx="125018" cy="1635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6CEA35-32F8-4270-348C-30EFB317A4A8}"/>
              </a:ext>
            </a:extLst>
          </p:cNvPr>
          <p:cNvCxnSpPr>
            <a:cxnSpLocks/>
          </p:cNvCxnSpPr>
          <p:nvPr/>
        </p:nvCxnSpPr>
        <p:spPr>
          <a:xfrm flipH="1" flipV="1">
            <a:off x="1688363" y="3135158"/>
            <a:ext cx="956366" cy="1581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2CFF0EF-BE00-6C15-C7C7-4E7F9D00B4D1}"/>
              </a:ext>
            </a:extLst>
          </p:cNvPr>
          <p:cNvCxnSpPr>
            <a:cxnSpLocks/>
          </p:cNvCxnSpPr>
          <p:nvPr/>
        </p:nvCxnSpPr>
        <p:spPr>
          <a:xfrm flipV="1">
            <a:off x="1118521" y="4731252"/>
            <a:ext cx="125018" cy="1635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08E1681-AC27-1914-321C-1F3A824A550D}"/>
              </a:ext>
            </a:extLst>
          </p:cNvPr>
          <p:cNvCxnSpPr>
            <a:cxnSpLocks/>
          </p:cNvCxnSpPr>
          <p:nvPr/>
        </p:nvCxnSpPr>
        <p:spPr>
          <a:xfrm flipH="1" flipV="1">
            <a:off x="1581756" y="4726885"/>
            <a:ext cx="956366" cy="1581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4C1F670-E5E5-73F0-8288-53301938C340}"/>
              </a:ext>
            </a:extLst>
          </p:cNvPr>
          <p:cNvCxnSpPr>
            <a:cxnSpLocks/>
          </p:cNvCxnSpPr>
          <p:nvPr/>
        </p:nvCxnSpPr>
        <p:spPr>
          <a:xfrm flipV="1">
            <a:off x="1269349" y="6324926"/>
            <a:ext cx="125018" cy="1635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F398823-CEA4-AA9F-2A09-BDC79A5BD639}"/>
              </a:ext>
            </a:extLst>
          </p:cNvPr>
          <p:cNvCxnSpPr>
            <a:cxnSpLocks/>
          </p:cNvCxnSpPr>
          <p:nvPr/>
        </p:nvCxnSpPr>
        <p:spPr>
          <a:xfrm flipH="1" flipV="1">
            <a:off x="1732584" y="6320559"/>
            <a:ext cx="956366" cy="1581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4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1" grpId="0" animBg="1"/>
      <p:bldP spid="32" grpId="0" animBg="1"/>
      <p:bldP spid="37" grpId="0" animBg="1"/>
      <p:bldP spid="38" grpId="0" animBg="1"/>
      <p:bldP spid="39" grpId="0" animBg="1"/>
      <p:bldP spid="67" grpId="0" animBg="1"/>
      <p:bldP spid="68" grpId="0" animBg="1"/>
      <p:bldP spid="75" grpId="0" animBg="1"/>
      <p:bldP spid="76" grpId="0" animBg="1"/>
      <p:bldP spid="77" grpId="0" animBg="1"/>
      <p:bldP spid="81" grpId="0" animBg="1"/>
      <p:bldP spid="8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Complete?</a:t>
            </a:r>
            <a:r>
              <a:rPr lang="en-US" sz="2800">
                <a:ea typeface="ＭＳ Ｐゴシック" pitchFamily="34" charset="-128"/>
              </a:rPr>
              <a:t> No: fails in infinite-depth spaces, spaces with loops</a:t>
            </a:r>
          </a:p>
          <a:p>
            <a:pPr lvl="1" eaLnBrk="1" hangingPunct="1"/>
            <a:r>
              <a:rPr lang="en-US" sz="2400">
                <a:ea typeface="ＭＳ Ｐゴシック" pitchFamily="34" charset="-128"/>
              </a:rPr>
              <a:t>Modify to avoid repeated states along path</a:t>
            </a:r>
          </a:p>
          <a:p>
            <a:pPr lvl="2" eaLnBrk="1" hangingPunct="1">
              <a:buFont typeface="Wingdings" pitchFamily="2" charset="2"/>
              <a:buChar char="à"/>
            </a:pPr>
            <a:r>
              <a:rPr lang="en-US" sz="2000">
                <a:ea typeface="ＭＳ Ｐゴシック" pitchFamily="34" charset="-128"/>
              </a:rPr>
              <a:t>complete in finite space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Time?</a:t>
            </a:r>
            <a:r>
              <a:rPr lang="en-US" sz="2800">
                <a:ea typeface="ＭＳ Ｐゴシック" pitchFamily="34" charset="-128"/>
              </a:rPr>
              <a:t> </a:t>
            </a:r>
            <a:r>
              <a:rPr lang="en-US" i="1">
                <a:ea typeface="ＭＳ Ｐゴシック" pitchFamily="34" charset="-128"/>
              </a:rPr>
              <a:t>O(b</a:t>
            </a:r>
            <a:r>
              <a:rPr lang="en-US" i="1" baseline="30000">
                <a:ea typeface="ＭＳ Ｐゴシック" pitchFamily="34" charset="-128"/>
              </a:rPr>
              <a:t>m</a:t>
            </a:r>
            <a:r>
              <a:rPr lang="en-US" i="1">
                <a:ea typeface="ＭＳ Ｐゴシック" pitchFamily="34" charset="-128"/>
              </a:rPr>
              <a:t>)</a:t>
            </a:r>
            <a:r>
              <a:rPr lang="en-US">
                <a:ea typeface="ＭＳ Ｐゴシック" pitchFamily="34" charset="-128"/>
              </a:rPr>
              <a:t>: terrible if </a:t>
            </a:r>
            <a:r>
              <a:rPr lang="en-US" i="1">
                <a:ea typeface="ＭＳ Ｐゴシック" pitchFamily="34" charset="-128"/>
              </a:rPr>
              <a:t>m</a:t>
            </a:r>
            <a:r>
              <a:rPr lang="en-US">
                <a:ea typeface="ＭＳ Ｐゴシック" pitchFamily="34" charset="-128"/>
              </a:rPr>
              <a:t> is much larger than </a:t>
            </a:r>
            <a:r>
              <a:rPr lang="en-US" i="1">
                <a:ea typeface="ＭＳ Ｐゴシック" pitchFamily="34" charset="-128"/>
              </a:rPr>
              <a:t>d</a:t>
            </a:r>
          </a:p>
          <a:p>
            <a:pPr lvl="1" eaLnBrk="1" hangingPunct="1"/>
            <a:r>
              <a:rPr lang="en-US" sz="2400">
                <a:ea typeface="ＭＳ Ｐゴシック" pitchFamily="34" charset="-128"/>
              </a:rPr>
              <a:t> but if solutions are dense, may be much faster than breadth-first</a:t>
            </a:r>
          </a:p>
          <a:p>
            <a:pPr eaLnBrk="1" hangingPunct="1"/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Space?</a:t>
            </a:r>
            <a:r>
              <a:rPr lang="en-US" sz="2800">
                <a:ea typeface="ＭＳ Ｐゴシック" pitchFamily="34" charset="-128"/>
              </a:rPr>
              <a:t> </a:t>
            </a:r>
            <a:r>
              <a:rPr lang="en-US" sz="2800" i="1">
                <a:ea typeface="ＭＳ Ｐゴシック" pitchFamily="34" charset="-128"/>
              </a:rPr>
              <a:t>O(bm), </a:t>
            </a:r>
            <a:r>
              <a:rPr lang="en-US" sz="2800">
                <a:ea typeface="ＭＳ Ｐゴシック" pitchFamily="34" charset="-128"/>
              </a:rPr>
              <a:t>i.e., linear space!</a:t>
            </a:r>
          </a:p>
          <a:p>
            <a:pPr eaLnBrk="1" hangingPunct="1"/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Optimal?</a:t>
            </a:r>
            <a:r>
              <a:rPr lang="en-US" sz="2800">
                <a:ea typeface="ＭＳ Ｐゴシック" pitchFamily="34" charset="-128"/>
              </a:rPr>
              <a:t> No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Properties of depth-first search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>
                <a:ea typeface="ＭＳ Ｐゴシック" pitchFamily="34" charset="-128"/>
              </a:rPr>
              <a:t>= depth-first search with depth limit </a:t>
            </a:r>
            <a:r>
              <a:rPr lang="en-US" sz="2400" i="1">
                <a:solidFill>
                  <a:schemeClr val="folHlink"/>
                </a:solidFill>
                <a:ea typeface="ＭＳ Ｐゴシック" pitchFamily="34" charset="-128"/>
              </a:rPr>
              <a:t>n</a:t>
            </a:r>
            <a:r>
              <a:rPr lang="en-US" sz="2400">
                <a:ea typeface="ＭＳ Ｐゴシック" pitchFamily="34" charset="-128"/>
              </a:rPr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>
                <a:ea typeface="ＭＳ Ｐゴシック" pitchFamily="34" charset="-128"/>
              </a:rPr>
              <a:t>i.e., nodes at depth </a:t>
            </a:r>
            <a:r>
              <a:rPr lang="en-US" sz="2400" i="1">
                <a:solidFill>
                  <a:schemeClr val="folHlink"/>
                </a:solidFill>
                <a:ea typeface="ＭＳ Ｐゴシック" pitchFamily="34" charset="-128"/>
              </a:rPr>
              <a:t>n </a:t>
            </a:r>
            <a:r>
              <a:rPr lang="en-US" sz="2400">
                <a:ea typeface="ＭＳ Ｐゴシック" pitchFamily="34" charset="-128"/>
              </a:rPr>
              <a:t> have no successors</a:t>
            </a:r>
          </a:p>
          <a:p>
            <a:pPr lvl="4" eaLnBrk="1" hangingPunct="1">
              <a:buFont typeface="Wingdings" pitchFamily="2" charset="2"/>
              <a:buNone/>
            </a:pPr>
            <a:endParaRPr lang="en-US" sz="1600">
              <a:solidFill>
                <a:schemeClr val="accent2"/>
              </a:solidFill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Depth-limited search</a:t>
            </a:r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3" t="36458" r="7422" b="20833"/>
          <a:stretch>
            <a:fillRect/>
          </a:stretch>
        </p:blipFill>
        <p:spPr bwMode="auto">
          <a:xfrm>
            <a:off x="2514601" y="2438401"/>
            <a:ext cx="7343775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Iterative deepening search</a:t>
            </a: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18750" r="3125" b="51042"/>
          <a:stretch>
            <a:fillRect/>
          </a:stretch>
        </p:blipFill>
        <p:spPr bwMode="auto">
          <a:xfrm>
            <a:off x="2208213" y="2924175"/>
            <a:ext cx="8001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Iterative deepening search </a:t>
            </a:r>
            <a:r>
              <a:rPr lang="en-US" sz="4000" i="1"/>
              <a:t>n </a:t>
            </a:r>
            <a:r>
              <a:rPr lang="en-US" sz="4000"/>
              <a:t>=0</a:t>
            </a:r>
          </a:p>
        </p:txBody>
      </p:sp>
      <p:pic>
        <p:nvPicPr>
          <p:cNvPr id="60419" name="Picture 3" descr="id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2060575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Iterative deepening search </a:t>
            </a:r>
            <a:r>
              <a:rPr lang="en-US" sz="4000" i="1"/>
              <a:t>n </a:t>
            </a:r>
            <a:r>
              <a:rPr lang="en-US" sz="4000"/>
              <a:t>=1</a:t>
            </a:r>
          </a:p>
        </p:txBody>
      </p:sp>
      <p:pic>
        <p:nvPicPr>
          <p:cNvPr id="61443" name="Picture 3" descr="ids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060575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Iterative deepening search </a:t>
            </a:r>
            <a:r>
              <a:rPr lang="en-US" sz="4000" i="1"/>
              <a:t>n </a:t>
            </a:r>
            <a:r>
              <a:rPr lang="en-US" sz="4000"/>
              <a:t>=2</a:t>
            </a:r>
          </a:p>
        </p:txBody>
      </p:sp>
      <p:pic>
        <p:nvPicPr>
          <p:cNvPr id="62467" name="Picture 3" descr="id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060576"/>
            <a:ext cx="76200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sz="4000"/>
              <a:t>Iterative deepening search </a:t>
            </a:r>
            <a:r>
              <a:rPr lang="en-US" sz="4000" i="1"/>
              <a:t>n </a:t>
            </a:r>
            <a:r>
              <a:rPr lang="en-US" sz="4000"/>
              <a:t>=3</a:t>
            </a:r>
          </a:p>
        </p:txBody>
      </p:sp>
      <p:pic>
        <p:nvPicPr>
          <p:cNvPr id="63491" name="Picture 3" descr="id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060575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ea typeface="ＭＳ Ｐゴシック" pitchFamily="34" charset="-128"/>
              </a:rPr>
              <a:t>Number of nodes generated in a depth-limited search to depth </a:t>
            </a:r>
            <a:r>
              <a:rPr lang="en-US" sz="2800" i="1" dirty="0">
                <a:ea typeface="ＭＳ Ｐゴシック" pitchFamily="34" charset="-128"/>
              </a:rPr>
              <a:t>d</a:t>
            </a:r>
            <a:r>
              <a:rPr lang="en-US" sz="2800" dirty="0">
                <a:ea typeface="ＭＳ Ｐゴシック" pitchFamily="34" charset="-128"/>
              </a:rPr>
              <a:t> with branching factor </a:t>
            </a:r>
            <a:r>
              <a:rPr lang="en-US" sz="2800" i="1" dirty="0">
                <a:ea typeface="ＭＳ Ｐゴシック" pitchFamily="34" charset="-128"/>
              </a:rPr>
              <a:t>b</a:t>
            </a:r>
            <a:r>
              <a:rPr lang="en-US" sz="2800" dirty="0">
                <a:ea typeface="ＭＳ Ｐゴシック" pitchFamily="34" charset="-128"/>
              </a:rPr>
              <a:t>: 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i="1" dirty="0">
                <a:ea typeface="ＭＳ Ｐゴシック" pitchFamily="34" charset="-128"/>
              </a:rPr>
              <a:t>	N</a:t>
            </a:r>
            <a:r>
              <a:rPr lang="en-US" sz="2800" i="1" baseline="-25000" dirty="0">
                <a:ea typeface="ＭＳ Ｐゴシック" pitchFamily="34" charset="-128"/>
              </a:rPr>
              <a:t>DLS</a:t>
            </a:r>
            <a:r>
              <a:rPr lang="en-US" sz="2800" i="1" dirty="0">
                <a:ea typeface="ＭＳ Ｐゴシック" pitchFamily="34" charset="-128"/>
              </a:rPr>
              <a:t> = b</a:t>
            </a:r>
            <a:r>
              <a:rPr lang="en-US" sz="2800" i="1" baseline="30000" dirty="0">
                <a:latin typeface="r" charset="0"/>
                <a:ea typeface="ＭＳ Ｐゴシック" pitchFamily="34" charset="-128"/>
              </a:rPr>
              <a:t>0</a:t>
            </a:r>
            <a:r>
              <a:rPr lang="en-US" sz="2800" i="1" dirty="0">
                <a:ea typeface="ＭＳ Ｐゴシック" pitchFamily="34" charset="-128"/>
              </a:rPr>
              <a:t> + b</a:t>
            </a:r>
            <a:r>
              <a:rPr lang="en-US" sz="2800" i="1" baseline="30000" dirty="0">
                <a:latin typeface="r" charset="0"/>
                <a:ea typeface="ＭＳ Ｐゴシック" pitchFamily="34" charset="-128"/>
              </a:rPr>
              <a:t>1</a:t>
            </a:r>
            <a:r>
              <a:rPr lang="en-US" sz="2800" i="1" dirty="0">
                <a:ea typeface="ＭＳ Ｐゴシック" pitchFamily="34" charset="-128"/>
              </a:rPr>
              <a:t> + b</a:t>
            </a:r>
            <a:r>
              <a:rPr lang="en-US" sz="2800" i="1" baseline="30000" dirty="0">
                <a:latin typeface="r" charset="0"/>
                <a:ea typeface="ＭＳ Ｐゴシック" pitchFamily="34" charset="-128"/>
              </a:rPr>
              <a:t>2</a:t>
            </a:r>
            <a:r>
              <a:rPr lang="en-US" sz="2800" i="1" dirty="0">
                <a:ea typeface="ＭＳ Ｐゴシック" pitchFamily="34" charset="-128"/>
              </a:rPr>
              <a:t> + … + b</a:t>
            </a:r>
            <a:r>
              <a:rPr lang="en-US" sz="2800" i="1" baseline="30000" dirty="0">
                <a:latin typeface="r" charset="0"/>
                <a:ea typeface="ＭＳ Ｐゴシック" pitchFamily="34" charset="-128"/>
              </a:rPr>
              <a:t>d-2</a:t>
            </a:r>
            <a:r>
              <a:rPr lang="en-US" sz="2800" i="1" dirty="0">
                <a:ea typeface="ＭＳ Ｐゴシック" pitchFamily="34" charset="-128"/>
              </a:rPr>
              <a:t> + b</a:t>
            </a:r>
            <a:r>
              <a:rPr lang="en-US" sz="2800" i="1" baseline="30000" dirty="0">
                <a:latin typeface="r" charset="0"/>
                <a:ea typeface="ＭＳ Ｐゴシック" pitchFamily="34" charset="-128"/>
              </a:rPr>
              <a:t>d-1</a:t>
            </a:r>
            <a:r>
              <a:rPr lang="en-US" sz="2800" i="1" dirty="0">
                <a:ea typeface="ＭＳ Ｐゴシック" pitchFamily="34" charset="-128"/>
              </a:rPr>
              <a:t> + </a:t>
            </a:r>
            <a:r>
              <a:rPr lang="en-US" sz="2800" i="1" dirty="0" err="1">
                <a:ea typeface="ＭＳ Ｐゴシック" pitchFamily="34" charset="-128"/>
              </a:rPr>
              <a:t>b</a:t>
            </a:r>
            <a:r>
              <a:rPr lang="en-US" sz="2800" i="1" baseline="30000" dirty="0" err="1">
                <a:latin typeface="r" charset="0"/>
                <a:ea typeface="ＭＳ Ｐゴシック" pitchFamily="34" charset="-128"/>
              </a:rPr>
              <a:t>d</a:t>
            </a:r>
            <a:r>
              <a:rPr lang="en-US" sz="2800" dirty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8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ea typeface="ＭＳ Ｐゴシック" pitchFamily="34" charset="-128"/>
              </a:rPr>
              <a:t>Number of nodes generated in an iterative deepening search to depth </a:t>
            </a:r>
            <a:r>
              <a:rPr lang="en-US" sz="2800" i="1" dirty="0">
                <a:ea typeface="ＭＳ Ｐゴシック" pitchFamily="34" charset="-128"/>
              </a:rPr>
              <a:t>d</a:t>
            </a:r>
            <a:r>
              <a:rPr lang="en-US" sz="2800" dirty="0">
                <a:ea typeface="ＭＳ Ｐゴシック" pitchFamily="34" charset="-128"/>
              </a:rPr>
              <a:t> with branching factor </a:t>
            </a:r>
            <a:r>
              <a:rPr lang="en-US" sz="2800" i="1" dirty="0">
                <a:ea typeface="ＭＳ Ｐゴシック" pitchFamily="34" charset="-128"/>
              </a:rPr>
              <a:t>b</a:t>
            </a:r>
            <a:r>
              <a:rPr lang="en-US" sz="2800" dirty="0">
                <a:ea typeface="ＭＳ Ｐゴシック" pitchFamily="34" charset="-128"/>
              </a:rPr>
              <a:t>: 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ea typeface="ＭＳ Ｐゴシック" pitchFamily="34" charset="-128"/>
              </a:rPr>
              <a:t>N</a:t>
            </a:r>
            <a:r>
              <a:rPr lang="en-US" sz="2800" baseline="-25000" dirty="0">
                <a:ea typeface="ＭＳ Ｐゴシック" pitchFamily="34" charset="-128"/>
              </a:rPr>
              <a:t>IDS</a:t>
            </a:r>
            <a:r>
              <a:rPr lang="en-US" sz="2800" dirty="0">
                <a:ea typeface="ＭＳ Ｐゴシック" pitchFamily="34" charset="-128"/>
              </a:rPr>
              <a:t> = (d+1)b</a:t>
            </a:r>
            <a:r>
              <a:rPr lang="en-US" sz="2800" baseline="30000" dirty="0">
                <a:ea typeface="ＭＳ Ｐゴシック" pitchFamily="34" charset="-128"/>
              </a:rPr>
              <a:t>0</a:t>
            </a:r>
            <a:r>
              <a:rPr lang="en-US" sz="2800" dirty="0">
                <a:ea typeface="ＭＳ Ｐゴシック" pitchFamily="34" charset="-128"/>
              </a:rPr>
              <a:t> + d b</a:t>
            </a:r>
            <a:r>
              <a:rPr lang="en-US" sz="2800" baseline="30000" dirty="0">
                <a:ea typeface="ＭＳ Ｐゴシック" pitchFamily="34" charset="-128"/>
              </a:rPr>
              <a:t>1</a:t>
            </a:r>
            <a:r>
              <a:rPr lang="en-US" sz="2800" dirty="0">
                <a:ea typeface="ＭＳ Ｐゴシック" pitchFamily="34" charset="-128"/>
              </a:rPr>
              <a:t> + (d-1)b</a:t>
            </a:r>
            <a:r>
              <a:rPr lang="en-US" sz="2800" baseline="30000" dirty="0">
                <a:ea typeface="ＭＳ Ｐゴシック" pitchFamily="34" charset="-128"/>
              </a:rPr>
              <a:t>2</a:t>
            </a:r>
            <a:r>
              <a:rPr lang="en-US" sz="2800" dirty="0">
                <a:ea typeface="ＭＳ Ｐゴシック" pitchFamily="34" charset="-128"/>
              </a:rPr>
              <a:t> + … 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>
                <a:ea typeface="ＭＳ Ｐゴシック" pitchFamily="34" charset="-128"/>
              </a:rPr>
              <a:t>+ 3b</a:t>
            </a:r>
            <a:r>
              <a:rPr lang="en-US" sz="2800" baseline="30000" dirty="0">
                <a:ea typeface="ＭＳ Ｐゴシック" pitchFamily="34" charset="-128"/>
              </a:rPr>
              <a:t>d-2</a:t>
            </a:r>
            <a:r>
              <a:rPr lang="en-US" sz="2800" dirty="0">
                <a:ea typeface="ＭＳ Ｐゴシック" pitchFamily="34" charset="-128"/>
              </a:rPr>
              <a:t> +2b</a:t>
            </a:r>
            <a:r>
              <a:rPr lang="en-US" sz="2800" baseline="30000" dirty="0">
                <a:ea typeface="ＭＳ Ｐゴシック" pitchFamily="34" charset="-128"/>
              </a:rPr>
              <a:t>d-1</a:t>
            </a:r>
            <a:r>
              <a:rPr lang="en-US" sz="2800" dirty="0">
                <a:ea typeface="ＭＳ Ｐゴシック" pitchFamily="34" charset="-128"/>
              </a:rPr>
              <a:t> + 1b</a:t>
            </a:r>
            <a:r>
              <a:rPr lang="en-US" sz="2800" baseline="30000" dirty="0">
                <a:ea typeface="ＭＳ Ｐゴシック" pitchFamily="34" charset="-128"/>
              </a:rPr>
              <a:t>d</a:t>
            </a:r>
            <a:r>
              <a:rPr lang="en-US" sz="2800" dirty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Iterative deepening search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For </a:t>
            </a:r>
            <a:r>
              <a:rPr lang="en-US" i="1" dirty="0">
                <a:ea typeface="ＭＳ Ｐゴシック" pitchFamily="34" charset="-128"/>
              </a:rPr>
              <a:t>b = 10</a:t>
            </a:r>
            <a:r>
              <a:rPr lang="en-US" dirty="0">
                <a:ea typeface="ＭＳ Ｐゴシック" pitchFamily="34" charset="-128"/>
              </a:rPr>
              <a:t>, </a:t>
            </a:r>
            <a:r>
              <a:rPr lang="en-US" i="1" dirty="0">
                <a:ea typeface="ＭＳ Ｐゴシック" pitchFamily="34" charset="-128"/>
              </a:rPr>
              <a:t>d = 5</a:t>
            </a:r>
            <a:r>
              <a:rPr lang="en-US" dirty="0">
                <a:ea typeface="ＭＳ Ｐゴシック" pitchFamily="34" charset="-128"/>
              </a:rPr>
              <a:t>,</a:t>
            </a:r>
          </a:p>
          <a:p>
            <a:pPr eaLnBrk="1" hangingPunct="1"/>
            <a:endParaRPr lang="en-US" dirty="0">
              <a:ea typeface="ＭＳ Ｐゴシック" pitchFamily="34" charset="-128"/>
            </a:endParaRP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N</a:t>
            </a:r>
            <a:r>
              <a:rPr lang="en-US" baseline="-25000" dirty="0">
                <a:ea typeface="ＭＳ Ｐゴシック" pitchFamily="34" charset="-128"/>
              </a:rPr>
              <a:t>BFS </a:t>
            </a:r>
            <a:r>
              <a:rPr lang="en-US" dirty="0">
                <a:ea typeface="ＭＳ Ｐゴシック" pitchFamily="34" charset="-128"/>
              </a:rPr>
              <a:t>= 1+ 10 + 100 + 1,000 + 10,000 + 100,000 = 111,111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N</a:t>
            </a:r>
            <a:r>
              <a:rPr lang="en-US" baseline="-25000" dirty="0">
                <a:ea typeface="ＭＳ Ｐゴシック" pitchFamily="34" charset="-128"/>
              </a:rPr>
              <a:t>IDS</a:t>
            </a:r>
            <a:r>
              <a:rPr lang="en-US" dirty="0">
                <a:ea typeface="ＭＳ Ｐゴシック" pitchFamily="34" charset="-128"/>
              </a:rPr>
              <a:t> = 6 + 50 + 400 + 3,000 + 20,000 + 100,000 = 123,456</a:t>
            </a:r>
          </a:p>
          <a:p>
            <a:pPr eaLnBrk="1" hangingPunct="1"/>
            <a:endParaRPr lang="en-US" dirty="0">
              <a:ea typeface="ＭＳ Ｐゴシック" pitchFamily="34" charset="-128"/>
            </a:endParaRP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IDS is not much slower</a:t>
            </a:r>
          </a:p>
          <a:p>
            <a:pPr eaLnBrk="1" hangingPunct="1"/>
            <a:r>
              <a:rPr lang="en-US" dirty="0">
                <a:ea typeface="ＭＳ Ｐゴシック" pitchFamily="34" charset="-128"/>
              </a:rPr>
              <a:t>And only needs to store O(</a:t>
            </a:r>
            <a:r>
              <a:rPr lang="en-US" dirty="0" err="1">
                <a:ea typeface="ＭＳ Ｐゴシック" pitchFamily="34" charset="-128"/>
              </a:rPr>
              <a:t>bd</a:t>
            </a:r>
            <a:r>
              <a:rPr lang="en-US" dirty="0">
                <a:ea typeface="ＭＳ Ｐゴシック" pitchFamily="34" charset="-128"/>
              </a:rPr>
              <a:t>) nodes at any one time </a:t>
            </a:r>
          </a:p>
          <a:p>
            <a:pPr eaLnBrk="1" hangingPunct="1"/>
            <a:endParaRPr lang="en-US" dirty="0"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Iterative deepening search</a:t>
            </a:r>
          </a:p>
        </p:txBody>
      </p:sp>
    </p:spTree>
    <p:extLst>
      <p:ext uri="{BB962C8B-B14F-4D97-AF65-F5344CB8AC3E}">
        <p14:creationId xmlns:p14="http://schemas.microsoft.com/office/powerpoint/2010/main" val="33364067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Complete?</a:t>
            </a:r>
            <a:r>
              <a:rPr lang="en-US" sz="2800">
                <a:ea typeface="ＭＳ Ｐゴシック" pitchFamily="34" charset="-128"/>
              </a:rPr>
              <a:t> Yes</a:t>
            </a:r>
          </a:p>
          <a:p>
            <a:pPr eaLnBrk="1" hangingPunct="1">
              <a:buFont typeface="Wingdings" pitchFamily="2" charset="2"/>
              <a:buNone/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Time?</a:t>
            </a:r>
            <a:r>
              <a:rPr lang="en-US" sz="2800">
                <a:solidFill>
                  <a:srgbClr val="CC0099"/>
                </a:solidFill>
                <a:ea typeface="ＭＳ Ｐゴシック" pitchFamily="34" charset="-128"/>
              </a:rPr>
              <a:t> </a:t>
            </a:r>
            <a:r>
              <a:rPr lang="en-US" i="1">
                <a:ea typeface="ＭＳ Ｐゴシック" pitchFamily="34" charset="-128"/>
              </a:rPr>
              <a:t>(d+1)b</a:t>
            </a:r>
            <a:r>
              <a:rPr lang="en-US" i="1" baseline="30000">
                <a:ea typeface="ＭＳ Ｐゴシック" pitchFamily="34" charset="-128"/>
              </a:rPr>
              <a:t>0</a:t>
            </a:r>
            <a:r>
              <a:rPr lang="en-US" i="1">
                <a:ea typeface="ＭＳ Ｐゴシック" pitchFamily="34" charset="-128"/>
              </a:rPr>
              <a:t> +db</a:t>
            </a:r>
            <a:r>
              <a:rPr lang="en-US" i="1" baseline="30000">
                <a:ea typeface="ＭＳ Ｐゴシック" pitchFamily="34" charset="-128"/>
              </a:rPr>
              <a:t>1</a:t>
            </a:r>
            <a:r>
              <a:rPr lang="en-US" i="1">
                <a:ea typeface="ＭＳ Ｐゴシック" pitchFamily="34" charset="-128"/>
              </a:rPr>
              <a:t> + (d-1)b</a:t>
            </a:r>
            <a:r>
              <a:rPr lang="en-US" i="1" baseline="30000">
                <a:ea typeface="ＭＳ Ｐゴシック" pitchFamily="34" charset="-128"/>
              </a:rPr>
              <a:t>2</a:t>
            </a:r>
            <a:r>
              <a:rPr lang="en-US" i="1">
                <a:ea typeface="ＭＳ Ｐゴシック" pitchFamily="34" charset="-128"/>
              </a:rPr>
              <a:t> +…+ b</a:t>
            </a:r>
            <a:r>
              <a:rPr lang="en-US" i="1" baseline="30000">
                <a:ea typeface="ＭＳ Ｐゴシック" pitchFamily="34" charset="-128"/>
              </a:rPr>
              <a:t>d</a:t>
            </a:r>
            <a:r>
              <a:rPr lang="en-US" i="1">
                <a:ea typeface="ＭＳ Ｐゴシック" pitchFamily="34" charset="-128"/>
              </a:rPr>
              <a:t> = O(b</a:t>
            </a:r>
            <a:r>
              <a:rPr lang="en-US" i="1" baseline="30000">
                <a:ea typeface="ＭＳ Ｐゴシック" pitchFamily="34" charset="-128"/>
              </a:rPr>
              <a:t>d</a:t>
            </a:r>
            <a:r>
              <a:rPr lang="en-US" i="1">
                <a:ea typeface="ＭＳ Ｐゴシック" pitchFamily="34" charset="-128"/>
              </a:rPr>
              <a:t>)</a:t>
            </a:r>
            <a:endParaRPr lang="en-US"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Space?</a:t>
            </a:r>
            <a:r>
              <a:rPr lang="en-US" sz="2800">
                <a:ea typeface="ＭＳ Ｐゴシック" pitchFamily="34" charset="-128"/>
              </a:rPr>
              <a:t> </a:t>
            </a:r>
            <a:r>
              <a:rPr lang="en-US" sz="2800" i="1">
                <a:ea typeface="ＭＳ Ｐゴシック" pitchFamily="34" charset="-128"/>
              </a:rPr>
              <a:t>O(bd)</a:t>
            </a:r>
            <a:endParaRPr lang="en-US" sz="2800"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u="sng">
              <a:solidFill>
                <a:srgbClr val="CC0099"/>
              </a:solidFill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800" u="sng">
                <a:solidFill>
                  <a:srgbClr val="CC0099"/>
                </a:solidFill>
                <a:ea typeface="ＭＳ Ｐゴシック" pitchFamily="34" charset="-128"/>
              </a:rPr>
              <a:t>Optimal?</a:t>
            </a:r>
            <a:r>
              <a:rPr lang="en-US" sz="2800">
                <a:ea typeface="ＭＳ Ｐゴシック" pitchFamily="34" charset="-128"/>
              </a:rPr>
              <a:t> Yes, if step cost = 1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Properties of IDS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Failure to detect repeated states can turn a linear problem into an exponential one!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Repeated states</a:t>
            </a:r>
          </a:p>
        </p:txBody>
      </p:sp>
      <p:pic>
        <p:nvPicPr>
          <p:cNvPr id="67588" name="Picture 4" descr="ribbon-sp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48001"/>
            <a:ext cx="7200900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Graph search</a:t>
            </a:r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3" t="16667" r="3125" b="35417"/>
          <a:stretch>
            <a:fillRect/>
          </a:stretch>
        </p:blipFill>
        <p:spPr bwMode="auto">
          <a:xfrm>
            <a:off x="1752600" y="1524000"/>
            <a:ext cx="86042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>
                <a:ea typeface="ＭＳ Ｐゴシック" pitchFamily="34" charset="-128"/>
              </a:rPr>
              <a:t>Do two searches</a:t>
            </a:r>
          </a:p>
          <a:p>
            <a:pPr lvl="1" eaLnBrk="1" hangingPunct="1"/>
            <a:r>
              <a:rPr lang="en-GB" sz="2400">
                <a:ea typeface="ＭＳ Ｐゴシック" pitchFamily="34" charset="-128"/>
              </a:rPr>
              <a:t>One starts from the initial state</a:t>
            </a:r>
          </a:p>
          <a:p>
            <a:pPr lvl="1" eaLnBrk="1" hangingPunct="1"/>
            <a:r>
              <a:rPr lang="en-GB" sz="2400">
                <a:ea typeface="ＭＳ Ｐゴシック" pitchFamily="34" charset="-128"/>
              </a:rPr>
              <a:t>One starts from the goal state</a:t>
            </a:r>
          </a:p>
          <a:p>
            <a:pPr eaLnBrk="1" hangingPunct="1"/>
            <a:r>
              <a:rPr lang="en-GB" sz="2800">
                <a:ea typeface="ＭＳ Ｐゴシック" pitchFamily="34" charset="-128"/>
              </a:rPr>
              <a:t>Motivation:</a:t>
            </a:r>
          </a:p>
          <a:p>
            <a:pPr lvl="1" eaLnBrk="1" hangingPunct="1"/>
            <a:r>
              <a:rPr lang="en-GB" sz="2400">
                <a:ea typeface="ＭＳ Ｐゴシック" pitchFamily="34" charset="-128"/>
              </a:rPr>
              <a:t>b</a:t>
            </a:r>
            <a:r>
              <a:rPr lang="en-GB" sz="2400" baseline="30000">
                <a:ea typeface="ＭＳ Ｐゴシック" pitchFamily="34" charset="-128"/>
              </a:rPr>
              <a:t>d/2</a:t>
            </a:r>
            <a:r>
              <a:rPr lang="en-GB" sz="2400">
                <a:ea typeface="ＭＳ Ｐゴシック" pitchFamily="34" charset="-128"/>
              </a:rPr>
              <a:t> + b</a:t>
            </a:r>
            <a:r>
              <a:rPr lang="en-GB" sz="2400" baseline="30000">
                <a:ea typeface="ＭＳ Ｐゴシック" pitchFamily="34" charset="-128"/>
              </a:rPr>
              <a:t>d/2</a:t>
            </a:r>
            <a:r>
              <a:rPr lang="en-GB" sz="2400">
                <a:ea typeface="ＭＳ Ｐゴシック" pitchFamily="34" charset="-128"/>
              </a:rPr>
              <a:t> is much less than b</a:t>
            </a:r>
            <a:r>
              <a:rPr lang="en-GB" sz="2400" baseline="30000">
                <a:ea typeface="ＭＳ Ｐゴシック" pitchFamily="34" charset="-128"/>
              </a:rPr>
              <a:t>d</a:t>
            </a:r>
          </a:p>
          <a:p>
            <a:pPr eaLnBrk="1" hangingPunct="1"/>
            <a:r>
              <a:rPr lang="en-GB" sz="2800">
                <a:ea typeface="ＭＳ Ｐゴシック" pitchFamily="34" charset="-128"/>
              </a:rPr>
              <a:t>At each iteration of each search:</a:t>
            </a:r>
          </a:p>
          <a:p>
            <a:pPr lvl="1" eaLnBrk="1" hangingPunct="1"/>
            <a:r>
              <a:rPr lang="en-GB" sz="2400">
                <a:ea typeface="ＭＳ Ｐゴシック" pitchFamily="34" charset="-128"/>
              </a:rPr>
              <a:t>Check if a node is in the fringe/open of the other before expansion</a:t>
            </a:r>
          </a:p>
          <a:p>
            <a:pPr lvl="1" eaLnBrk="1" hangingPunct="1"/>
            <a:r>
              <a:rPr lang="en-GB" sz="2400">
                <a:ea typeface="ＭＳ Ｐゴシック" pitchFamily="34" charset="-128"/>
              </a:rPr>
              <a:t>If yes, a solution has been found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GB">
                <a:ea typeface="+mj-ea"/>
                <a:cs typeface="+mj-cs"/>
              </a:rPr>
              <a:t>Bidirectional Search	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>
                <a:ea typeface="ＭＳ Ｐゴシック" pitchFamily="34" charset="-128"/>
              </a:rPr>
              <a:t>Assumes Pred(x) is easy to compute</a:t>
            </a:r>
          </a:p>
          <a:p>
            <a:pPr lvl="1" eaLnBrk="1" hangingPunct="1"/>
            <a:r>
              <a:rPr lang="en-GB">
                <a:ea typeface="ＭＳ Ｐゴシック" pitchFamily="34" charset="-128"/>
              </a:rPr>
              <a:t>Easy if Pred(x) = Succ(x)</a:t>
            </a:r>
          </a:p>
          <a:p>
            <a:pPr eaLnBrk="1" hangingPunct="1"/>
            <a:endParaRPr lang="en-GB">
              <a:ea typeface="ＭＳ Ｐゴシック" pitchFamily="34" charset="-128"/>
            </a:endParaRPr>
          </a:p>
          <a:p>
            <a:pPr eaLnBrk="1" hangingPunct="1"/>
            <a:r>
              <a:rPr lang="en-GB">
                <a:ea typeface="ＭＳ Ｐゴシック" pitchFamily="34" charset="-128"/>
              </a:rPr>
              <a:t>If many goal states:</a:t>
            </a:r>
          </a:p>
          <a:p>
            <a:pPr lvl="1" eaLnBrk="1" hangingPunct="1"/>
            <a:r>
              <a:rPr lang="en-GB">
                <a:ea typeface="ＭＳ Ｐゴシック" pitchFamily="34" charset="-128"/>
              </a:rPr>
              <a:t>Add a dummy node which has the true goal states as predecessors</a:t>
            </a:r>
          </a:p>
          <a:p>
            <a:pPr eaLnBrk="1" hangingPunct="1"/>
            <a:endParaRPr lang="en-GB">
              <a:ea typeface="ＭＳ Ｐゴシック" pitchFamily="34" charset="-128"/>
            </a:endParaRPr>
          </a:p>
          <a:p>
            <a:pPr eaLnBrk="1" hangingPunct="1"/>
            <a:r>
              <a:rPr lang="en-GB">
                <a:ea typeface="ＭＳ Ｐゴシック" pitchFamily="34" charset="-128"/>
              </a:rPr>
              <a:t>Easy: 8-puzzle, Romania</a:t>
            </a:r>
          </a:p>
          <a:p>
            <a:pPr eaLnBrk="1" hangingPunct="1"/>
            <a:r>
              <a:rPr lang="en-GB">
                <a:ea typeface="ＭＳ Ｐゴシック" pitchFamily="34" charset="-128"/>
              </a:rPr>
              <a:t>Hard: Checkmate in chess</a:t>
            </a:r>
          </a:p>
          <a:p>
            <a:pPr eaLnBrk="1" hangingPunct="1">
              <a:buFont typeface="Wingdings" pitchFamily="2" charset="2"/>
              <a:buNone/>
            </a:pPr>
            <a:endParaRPr lang="en-GB">
              <a:ea typeface="ＭＳ Ｐゴシック" pitchFamily="34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GB">
                <a:ea typeface="+mj-ea"/>
                <a:cs typeface="+mj-cs"/>
              </a:rPr>
              <a:t>Bidirectional Search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ea typeface="ＭＳ Ｐゴシック" pitchFamily="34" charset="-128"/>
              </a:rPr>
              <a:t>Problem formulation usually requires abstracting away real-world details to define a state space that can feasibly be explored</a:t>
            </a:r>
          </a:p>
          <a:p>
            <a:pPr lvl="4" eaLnBrk="1" hangingPunct="1"/>
            <a:endParaRPr lang="en-US" sz="1600" dirty="0">
              <a:ea typeface="ＭＳ Ｐゴシック" pitchFamily="34" charset="-128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Variety of uninformed search strategies</a:t>
            </a:r>
          </a:p>
          <a:p>
            <a:pPr lvl="4" eaLnBrk="1" hangingPunct="1"/>
            <a:endParaRPr lang="en-US" sz="1600" dirty="0">
              <a:ea typeface="ＭＳ Ｐゴシック" pitchFamily="34" charset="-128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Iterative deepening search uses only linear space and not much more time than other uninformed algorithms</a:t>
            </a:r>
          </a:p>
          <a:p>
            <a:pPr eaLnBrk="1" hangingPunct="1"/>
            <a:endParaRPr lang="en-US" sz="2400" dirty="0">
              <a:ea typeface="ＭＳ Ｐゴシック" pitchFamily="34" charset="-128"/>
            </a:endParaRPr>
          </a:p>
          <a:p>
            <a:pPr eaLnBrk="1" hangingPunct="1"/>
            <a:r>
              <a:rPr lang="en-US" sz="2400" dirty="0">
                <a:ea typeface="ＭＳ Ｐゴシック" pitchFamily="34" charset="-128"/>
              </a:rPr>
              <a:t>Your problem solving is rarely ‘uninformed’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6D4CA1-D568-4C83-9918-44195027FB82}">
  <we:reference id="3e0fcce7-415c-4081-926c-b4e449c650e4" version="1.1.0.2" store="EXCatalog" storeType="EXCatalog"/>
  <we:alternateReferences>
    <we:reference id="WA200004709" version="1.1.0.2" store="en-GB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3168</TotalTime>
  <Words>2035</Words>
  <Application>Microsoft Office PowerPoint</Application>
  <PresentationFormat>Widescreen</PresentationFormat>
  <Paragraphs>316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ＭＳ Ｐゴシック</vt:lpstr>
      <vt:lpstr>r</vt:lpstr>
      <vt:lpstr>Calibri Light</vt:lpstr>
      <vt:lpstr>Courier New</vt:lpstr>
      <vt:lpstr>Calibri</vt:lpstr>
      <vt:lpstr>Wingdings</vt:lpstr>
      <vt:lpstr>Aptos</vt:lpstr>
      <vt:lpstr>Wingdings 3</vt:lpstr>
      <vt:lpstr>Retrospect</vt:lpstr>
      <vt:lpstr>Problem solving</vt:lpstr>
      <vt:lpstr>What is a problem</vt:lpstr>
      <vt:lpstr>How do you solve a problem?</vt:lpstr>
      <vt:lpstr>The classical AI approach</vt:lpstr>
      <vt:lpstr>How do we find that sequence?</vt:lpstr>
      <vt:lpstr>Example: Romania</vt:lpstr>
      <vt:lpstr>Example: Romania</vt:lpstr>
      <vt:lpstr>Single-state problem formulation</vt:lpstr>
      <vt:lpstr>Example: The 8-puzzle</vt:lpstr>
      <vt:lpstr>Example: The 8-puzzle</vt:lpstr>
      <vt:lpstr>Tree search algorithms</vt:lpstr>
      <vt:lpstr>Tree search example</vt:lpstr>
      <vt:lpstr>Tree search example</vt:lpstr>
      <vt:lpstr>Tree search example</vt:lpstr>
      <vt:lpstr>Implementation: general tree search</vt:lpstr>
      <vt:lpstr>Implementation: states vs. nodes</vt:lpstr>
      <vt:lpstr>Implementation: states vs. nodes</vt:lpstr>
      <vt:lpstr>Search strategies</vt:lpstr>
      <vt:lpstr>Uninformed search strategies</vt:lpstr>
      <vt:lpstr>Breadth-first search</vt:lpstr>
      <vt:lpstr>Breadth-first search</vt:lpstr>
      <vt:lpstr>Breadth-first search</vt:lpstr>
      <vt:lpstr>Breadth-first search</vt:lpstr>
      <vt:lpstr>Properties of breadth-first search</vt:lpstr>
      <vt:lpstr>Properties of breadth-first search</vt:lpstr>
      <vt:lpstr>Q&amp;A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Notice the way your problem solving  ≠ uninformed breadth-first tree search</vt:lpstr>
      <vt:lpstr>pause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PowerPoint Presentation</vt:lpstr>
      <vt:lpstr>PowerPoint Presentation</vt:lpstr>
      <vt:lpstr>Properties of depth-first search</vt:lpstr>
      <vt:lpstr>Depth-limited search</vt:lpstr>
      <vt:lpstr>Iterative deepening search</vt:lpstr>
      <vt:lpstr>Iterative deepening search n =0</vt:lpstr>
      <vt:lpstr>Iterative deepening search n =1</vt:lpstr>
      <vt:lpstr>Iterative deepening search n =2</vt:lpstr>
      <vt:lpstr>Iterative deepening search n =3</vt:lpstr>
      <vt:lpstr>Iterative deepening search</vt:lpstr>
      <vt:lpstr>Iterative deepening search</vt:lpstr>
      <vt:lpstr>Properties of IDS</vt:lpstr>
      <vt:lpstr>Repeated states</vt:lpstr>
      <vt:lpstr>Graph search</vt:lpstr>
      <vt:lpstr>Bidirectional Search </vt:lpstr>
      <vt:lpstr>Bidirectional Search</vt:lpstr>
      <vt:lpstr>Summary</vt:lpstr>
    </vt:vector>
  </TitlesOfParts>
  <Company>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Watson</dc:creator>
  <cp:lastModifiedBy>Richard Watson</cp:lastModifiedBy>
  <cp:revision>25</cp:revision>
  <dcterms:created xsi:type="dcterms:W3CDTF">2025-09-19T15:14:25Z</dcterms:created>
  <dcterms:modified xsi:type="dcterms:W3CDTF">2025-10-06T10:10:43Z</dcterms:modified>
</cp:coreProperties>
</file>