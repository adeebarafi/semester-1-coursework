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3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87" r:id="rId21"/>
    <p:sldId id="276" r:id="rId22"/>
    <p:sldId id="288" r:id="rId23"/>
    <p:sldId id="277" r:id="rId24"/>
    <p:sldId id="284" r:id="rId25"/>
    <p:sldId id="283" r:id="rId26"/>
    <p:sldId id="278" r:id="rId27"/>
    <p:sldId id="279" r:id="rId28"/>
    <p:sldId id="280" r:id="rId29"/>
    <p:sldId id="281" r:id="rId30"/>
    <p:sldId id="286" r:id="rId31"/>
    <p:sldId id="282" r:id="rId32"/>
    <p:sldId id="285" r:id="rId33"/>
  </p:sldIdLst>
  <p:sldSz cx="9144000" cy="6858000" type="screen4x3"/>
  <p:notesSz cx="6858000" cy="9144000"/>
  <p:embeddedFontLst>
    <p:embeddedFont>
      <p:font typeface="ＭＳ Ｐゴシック" panose="020B0600070205080204" pitchFamily="34" charset="-128"/>
      <p:regular r:id="rId35"/>
    </p:embeddedFont>
    <p:embeddedFont>
      <p:font typeface="Tahoma" panose="020B0604030504040204" pitchFamily="34" charset="0"/>
      <p:regular r:id="rId36"/>
      <p:bold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  <p:embeddedFont>
      <p:font typeface="Wingdings 3" panose="05040102010807070707" pitchFamily="18" charset="2"/>
      <p:regular r:id="rId42"/>
    </p:embeddedFont>
    <p:embeddedFont>
      <p:font typeface="Wingdings 2" panose="05020102010507070707" pitchFamily="18" charset="2"/>
      <p:regular r:id="rId43"/>
    </p:embeddedFont>
    <p:embeddedFont>
      <p:font typeface="Lucida Sans Unicode" panose="020B0602030504020204" pitchFamily="34" charset="0"/>
      <p:regular r:id="rId44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-65" charset="0"/>
        <a:ea typeface="ＭＳ Ｐゴシック" pitchFamily="-65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452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12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12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fld id="{610AF412-DA04-425F-8ABE-841EAFFA4185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44160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>
              <a:solidFill>
                <a:srgbClr val="FFFFFF"/>
              </a:solidFill>
              <a:ea typeface="ＭＳ Ｐゴシック" pitchFamily="-65" charset="-128"/>
            </a:endParaRPr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>
              <a:lvl1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1pPr>
              <a:lvl2pPr marL="37931725" indent="-37474525"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2pPr>
              <a:lvl3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3pPr>
              <a:lvl4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4pPr>
              <a:lvl5pPr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itchFamily="-65" charset="0"/>
                  <a:ea typeface="ＭＳ Ｐゴシック" pitchFamily="-65" charset="-128"/>
                </a:defRPr>
              </a:lvl9pPr>
            </a:lstStyle>
            <a:p>
              <a:pPr algn="ctr" eaLnBrk="1" hangingPunct="1"/>
              <a:endParaRPr lang="en-US" sz="1800">
                <a:solidFill>
                  <a:srgbClr val="FFFFFF"/>
                </a:solidFill>
                <a:latin typeface="Lucida Sans Unicode" pitchFamily="-65" charset="-52"/>
              </a:endParaRPr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GB" smtClean="0"/>
              <a:t>Click to edit Master subtitle style</a:t>
            </a:r>
            <a:endParaRPr lang="en-US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E8F0F4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743D62F-8522-4FC4-9FEE-D51F3903E22F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2746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ED77891-E1AA-4954-BCE7-D3DA3643BEC0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COMP6013</a:t>
            </a:r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AE0AB3-DC22-40F0-8F61-DB77F693C0E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641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>
            <a:spLocks noChangeArrowheads="1"/>
          </p:cNvSpPr>
          <p:nvPr/>
        </p:nvSpPr>
        <p:spPr bwMode="auto"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US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5" name="Chevron 4"/>
          <p:cNvSpPr>
            <a:spLocks noChangeArrowheads="1"/>
          </p:cNvSpPr>
          <p:nvPr/>
        </p:nvSpPr>
        <p:spPr bwMode="auto"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US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AF47AE5-F038-4DF2-9920-F8A2408357B3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COMP6013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45A365-0962-4EAB-84BF-584EA2665EB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7663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3AB4564-D86A-43C8-BD46-9E2B13BB3F95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8DA39A-A8FD-4C9C-A50E-8C4C3F43CFE4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52378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E589F1-0DA4-407B-831B-024C2B56BEF3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080A8E-037B-4944-AC70-ABA65A35076D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07244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0854EDF-A977-41C1-B19A-85F405074A50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COMP6013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5FB7AE-4E36-4D91-9E31-B195209EE87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61682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EA58F30-9CD3-4E2D-8DD0-679C7053A9CC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3666C9-D1FE-4244-A110-5CF70DAA0FC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53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A907E83-CCE4-466E-93EC-4ECB51CCAC1F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67F801-95BC-4040-BD21-8BD91FC9D19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5253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" name="Freeform 5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pPr algn="ctr" eaLnBrk="1" hangingPunct="1"/>
            <a:endParaRPr lang="en-US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>
            <a:spLocks noChangeArrowheads="1"/>
          </p:cNvSpPr>
          <p:nvPr/>
        </p:nvSpPr>
        <p:spPr bwMode="auto"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US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10" name="Chevron 9"/>
          <p:cNvSpPr>
            <a:spLocks noChangeArrowheads="1"/>
          </p:cNvSpPr>
          <p:nvPr/>
        </p:nvSpPr>
        <p:spPr bwMode="auto"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rotWithShape="1">
            <a:gsLst>
              <a:gs pos="0">
                <a:srgbClr val="7FC4DD"/>
              </a:gs>
              <a:gs pos="28000">
                <a:srgbClr val="50B8DA"/>
              </a:gs>
              <a:gs pos="100000">
                <a:srgbClr val="1389A6"/>
              </a:gs>
            </a:gsLst>
            <a:lin ang="5400000"/>
          </a:gradFill>
          <a:ln w="3175" cap="rnd">
            <a:solidFill>
              <a:srgbClr val="1E768C"/>
            </a:solidFill>
            <a:miter lim="800000"/>
            <a:headEnd/>
            <a:tailEnd/>
          </a:ln>
          <a:effectLst>
            <a:outerShdw blurRad="50800" dist="25400" dir="5400000" rotWithShape="0">
              <a:srgbClr val="808080">
                <a:alpha val="45999"/>
              </a:srgbClr>
            </a:outerShdw>
          </a:effectLst>
        </p:spPr>
        <p:txBody>
          <a:bodyPr anchor="ctr"/>
          <a:lstStyle/>
          <a:p>
            <a:pPr eaLnBrk="1" hangingPunct="1"/>
            <a:endParaRPr lang="en-US">
              <a:solidFill>
                <a:srgbClr val="FFFFFF"/>
              </a:solidFill>
              <a:latin typeface="Lucida Sans Unicode" pitchFamily="-65" charset="-52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GB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GB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774046-41AA-4490-A428-45833A5D9E55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6480B4-708D-4486-93E3-D08A28A596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8646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F9CEC33-4672-47D7-B3C6-11938F4A8232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311050-2837-4693-A285-82EB3FC178EC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0984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GB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5F075E5-5AB5-47DD-A426-A75A56B39DE4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22438B-A3CC-4454-87DC-C7E2528D8D5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75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2pPr>
            <a:lvl3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3pPr>
            <a:lvl4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4pPr>
            <a:lvl5pPr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-65" charset="0"/>
                <a:ea typeface="ＭＳ Ｐゴシック" pitchFamily="-65" charset="-128"/>
              </a:defRPr>
            </a:lvl9pPr>
          </a:lstStyle>
          <a:p>
            <a:pPr algn="ctr" eaLnBrk="1" hangingPunct="1"/>
            <a:endParaRPr lang="en-US" sz="1800">
              <a:solidFill>
                <a:srgbClr val="FFFFFF"/>
              </a:solidFill>
              <a:latin typeface="Lucida Sans Unicode" pitchFamily="-65" charset="-52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  <a:sp3d prstMaterial="softEdge">
              <a:bevelT w="25400" h="25400"/>
            </a:sp3d>
          </a:bodyPr>
          <a:lstStyle/>
          <a:p>
            <a:pPr lvl="0"/>
            <a:r>
              <a:rPr lang="en-GB" smtClean="0"/>
              <a:t>Click to edit Master title style</a:t>
            </a:r>
            <a:endParaRPr lang="en-US" smtClean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  <a:endParaRPr lang="en-US" smtClean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fld id="{EDF77073-0C03-42CC-8601-0DCCBD39591E}" type="datetime1">
              <a:rPr lang="en-US"/>
              <a:pPr/>
              <a:t>10/26/2021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r>
              <a:rPr lang="en-US"/>
              <a:t>COMP6013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50EE54B-C316-4982-9A72-C614A1FF7C43}" type="slidenum">
              <a:rPr lang="en-GB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739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6" r:id="rId10"/>
    <p:sldLayoutId id="214748374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ＭＳ Ｐゴシック" charset="-128"/>
          <a:cs typeface="ＭＳ Ｐゴシック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charset="-52"/>
          <a:ea typeface="ＭＳ Ｐゴシック" charset="-128"/>
          <a:cs typeface="ＭＳ Ｐゴシック" charset="-128"/>
        </a:defRPr>
      </a:lvl9pPr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-65" charset="2"/>
        <a:buChar char=""/>
        <a:defRPr sz="27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-65" charset="0"/>
        <a:buChar char="◦"/>
        <a:defRPr sz="23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-65" charset="2"/>
        <a:buChar char=""/>
        <a:defRPr sz="21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sz="19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-65" charset="2"/>
        <a:buChar char=""/>
        <a:defRPr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mtClean="0">
                <a:ea typeface="+mj-ea"/>
                <a:cs typeface="+mj-cs"/>
              </a:rPr>
              <a:t>Heuristic </a:t>
            </a:r>
            <a:r>
              <a:rPr lang="en-GB" dirty="0">
                <a:ea typeface="+mj-ea"/>
                <a:cs typeface="+mj-cs"/>
              </a:rPr>
              <a:t>Search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2782888"/>
          </a:xfrm>
        </p:spPr>
        <p:txBody>
          <a:bodyPr/>
          <a:lstStyle/>
          <a:p>
            <a:pPr marR="0" eaLnBrk="1" hangingPunct="1">
              <a:buFont typeface="Wingdings" pitchFamily="-65" charset="2"/>
              <a:buNone/>
            </a:pPr>
            <a:r>
              <a:rPr lang="en-GB" sz="2800" smtClean="0">
                <a:ea typeface="ＭＳ Ｐゴシック" pitchFamily="-65" charset="-128"/>
              </a:rPr>
              <a:t>It pays to guess…</a:t>
            </a:r>
          </a:p>
          <a:p>
            <a:pPr marR="0" eaLnBrk="1" hangingPunct="1">
              <a:buFont typeface="Wingdings" pitchFamily="-65" charset="2"/>
              <a:buNone/>
            </a:pPr>
            <a:r>
              <a:rPr lang="en-GB" sz="2800" dirty="0" smtClean="0">
                <a:ea typeface="ＭＳ Ｐゴシック" pitchFamily="-65" charset="-128"/>
              </a:rPr>
              <a:t>Reading: Chapter 4</a:t>
            </a:r>
          </a:p>
          <a:p>
            <a:pPr marR="0" eaLnBrk="1" hangingPunct="1">
              <a:buFont typeface="Wingdings" pitchFamily="-65" charset="2"/>
              <a:buNone/>
            </a:pPr>
            <a:endParaRPr lang="en-GB" sz="2800" dirty="0" smtClean="0">
              <a:ea typeface="ＭＳ Ｐゴシック" pitchFamily="-65" charset="-128"/>
            </a:endParaRPr>
          </a:p>
          <a:p>
            <a:pPr marR="0" eaLnBrk="1" hangingPunct="1">
              <a:buFont typeface="Wingdings" pitchFamily="-65" charset="2"/>
              <a:buNone/>
            </a:pPr>
            <a:endParaRPr lang="en-GB" sz="2800" dirty="0" smtClean="0">
              <a:ea typeface="ＭＳ Ｐゴシック" pitchFamily="-65" charset="-128"/>
            </a:endParaRPr>
          </a:p>
          <a:p>
            <a:pPr marR="0" eaLnBrk="1" hangingPunct="1">
              <a:buFont typeface="Wingdings" pitchFamily="-65" charset="2"/>
              <a:buNone/>
            </a:pPr>
            <a:endParaRPr lang="en-GB" sz="2800" dirty="0" smtClean="0">
              <a:ea typeface="ＭＳ Ｐゴシック" pitchFamily="-65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We have seen many examples of tree-search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BFS, DFS, IDS</a:t>
            </a:r>
          </a:p>
          <a:p>
            <a:pPr eaLnBrk="1" hangingPunct="1">
              <a:lnSpc>
                <a:spcPct val="90000"/>
              </a:lnSpc>
            </a:pPr>
            <a:endParaRPr lang="en-GB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Key idea is order of node expansion</a:t>
            </a:r>
          </a:p>
          <a:p>
            <a:pPr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In this lecture:</a:t>
            </a:r>
          </a:p>
          <a:p>
            <a:pPr lvl="1"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Greedy best-first search, A*</a:t>
            </a:r>
          </a:p>
          <a:p>
            <a:pPr lvl="1" eaLnBrk="1" hangingPunct="1">
              <a:lnSpc>
                <a:spcPct val="90000"/>
              </a:lnSpc>
            </a:pPr>
            <a:r>
              <a:rPr lang="en-GB" smtClean="0">
                <a:ea typeface="ＭＳ Ｐゴシック" pitchFamily="-65" charset="-128"/>
              </a:rPr>
              <a:t>Best first is not really the best!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smtClean="0">
                <a:ea typeface="ＭＳ Ｐゴシック" pitchFamily="-65" charset="-128"/>
              </a:rPr>
              <a:t>Idea: use an </a:t>
            </a:r>
            <a:r>
              <a:rPr lang="en-US" sz="2400" smtClean="0">
                <a:solidFill>
                  <a:srgbClr val="FF0000"/>
                </a:solidFill>
                <a:ea typeface="ＭＳ Ｐゴシック" pitchFamily="-65" charset="-128"/>
              </a:rPr>
              <a:t>evaluation function</a:t>
            </a:r>
            <a:r>
              <a:rPr lang="en-US" sz="2400" smtClean="0">
                <a:ea typeface="ＭＳ Ｐゴシック" pitchFamily="-65" charset="-128"/>
              </a:rPr>
              <a:t> </a:t>
            </a:r>
            <a:r>
              <a:rPr lang="en-US" sz="2400" i="1" smtClean="0">
                <a:ea typeface="ＭＳ Ｐゴシック" pitchFamily="-65" charset="-128"/>
              </a:rPr>
              <a:t>f(n) </a:t>
            </a:r>
            <a:r>
              <a:rPr lang="en-US" sz="2400" smtClean="0">
                <a:ea typeface="ＭＳ Ｐゴシック" pitchFamily="-65" charset="-128"/>
              </a:rPr>
              <a:t>for each node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ea typeface="ＭＳ Ｐゴシック" pitchFamily="-65" charset="-128"/>
              </a:rPr>
              <a:t>estimate of "desirability"</a:t>
            </a:r>
          </a:p>
          <a:p>
            <a:pPr lvl="1" eaLnBrk="1" hangingPunct="1">
              <a:lnSpc>
                <a:spcPct val="90000"/>
              </a:lnSpc>
              <a:buFont typeface="Wingdings" pitchFamily="-65" charset="2"/>
              <a:buChar char="à"/>
            </a:pPr>
            <a:r>
              <a:rPr lang="en-US" sz="2000" smtClean="0">
                <a:ea typeface="ＭＳ Ｐゴシック" pitchFamily="-65" charset="-128"/>
              </a:rPr>
              <a:t>Expand most desirable unexpanded node</a:t>
            </a:r>
          </a:p>
          <a:p>
            <a:pPr lvl="1" eaLnBrk="1" hangingPunct="1">
              <a:lnSpc>
                <a:spcPct val="90000"/>
              </a:lnSpc>
              <a:buFont typeface="Wingdings" pitchFamily="-65" charset="2"/>
              <a:buChar char="à"/>
            </a:pPr>
            <a:endParaRPr lang="en-US" sz="2000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u="sng" smtClean="0">
                <a:ea typeface="ＭＳ Ｐゴシック" pitchFamily="-65" charset="-128"/>
              </a:rPr>
              <a:t>Implementation</a:t>
            </a:r>
            <a:r>
              <a:rPr lang="en-US" sz="2400" smtClean="0">
                <a:ea typeface="ＭＳ Ｐゴシック" pitchFamily="-65" charset="-128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r>
              <a:rPr lang="en-US" sz="2400" smtClean="0">
                <a:ea typeface="ＭＳ Ｐゴシック" pitchFamily="-65" charset="-128"/>
              </a:rPr>
              <a:t>	Order the nodes in fringe in decreasing order of desirability</a:t>
            </a:r>
          </a:p>
          <a:p>
            <a:pPr eaLnBrk="1" hangingPunct="1">
              <a:lnSpc>
                <a:spcPct val="90000"/>
              </a:lnSpc>
            </a:pPr>
            <a:endParaRPr lang="en-US" sz="2400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400" smtClean="0">
                <a:ea typeface="ＭＳ Ｐゴシック" pitchFamily="-65" charset="-128"/>
              </a:rPr>
              <a:t>Special cases: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ea typeface="ＭＳ Ｐゴシック" pitchFamily="-65" charset="-128"/>
              </a:rPr>
              <a:t>greedy best-first search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000" smtClean="0">
                <a:ea typeface="ＭＳ Ｐゴシック" pitchFamily="-65" charset="-128"/>
              </a:rPr>
              <a:t>A</a:t>
            </a:r>
            <a:r>
              <a:rPr lang="en-US" sz="2000" baseline="30000" smtClean="0">
                <a:ea typeface="ＭＳ Ｐゴシック" pitchFamily="-65" charset="-128"/>
              </a:rPr>
              <a:t>*</a:t>
            </a:r>
            <a:r>
              <a:rPr lang="en-US" sz="2000" smtClean="0">
                <a:ea typeface="ＭＳ Ｐゴシック" pitchFamily="-65" charset="-128"/>
              </a:rPr>
              <a:t> search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Best-first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3" descr="romania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9200"/>
            <a:ext cx="9015413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Romania with step costs in km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-65" charset="-128"/>
              </a:rPr>
              <a:t>Evaluation function </a:t>
            </a:r>
            <a:r>
              <a:rPr lang="en-US" i="1" smtClean="0">
                <a:ea typeface="ＭＳ Ｐゴシック" pitchFamily="-65" charset="-128"/>
              </a:rPr>
              <a:t>f(n) = h(n) </a:t>
            </a:r>
            <a:r>
              <a:rPr lang="en-US" smtClean="0">
                <a:ea typeface="ＭＳ Ｐゴシック" pitchFamily="-65" charset="-128"/>
              </a:rPr>
              <a:t>(</a:t>
            </a:r>
            <a:r>
              <a:rPr lang="en-US" smtClean="0">
                <a:solidFill>
                  <a:srgbClr val="FF0000"/>
                </a:solidFill>
                <a:ea typeface="ＭＳ Ｐゴシック" pitchFamily="-65" charset="-128"/>
              </a:rPr>
              <a:t>h</a:t>
            </a:r>
            <a:r>
              <a:rPr lang="en-US" smtClean="0">
                <a:ea typeface="ＭＳ Ｐゴシック" pitchFamily="-65" charset="-128"/>
              </a:rPr>
              <a:t>euristic)</a:t>
            </a:r>
          </a:p>
          <a:p>
            <a:pPr eaLnBrk="1" hangingPunct="1"/>
            <a:r>
              <a:rPr lang="en-US" smtClean="0">
                <a:ea typeface="ＭＳ Ｐゴシック" pitchFamily="-65" charset="-128"/>
              </a:rPr>
              <a:t>= estimate of cost from </a:t>
            </a:r>
            <a:r>
              <a:rPr lang="en-US" i="1" smtClean="0">
                <a:ea typeface="ＭＳ Ｐゴシック" pitchFamily="-65" charset="-128"/>
              </a:rPr>
              <a:t>n</a:t>
            </a:r>
            <a:r>
              <a:rPr lang="en-US" smtClean="0">
                <a:ea typeface="ＭＳ Ｐゴシック" pitchFamily="-65" charset="-128"/>
              </a:rPr>
              <a:t> to </a:t>
            </a:r>
            <a:r>
              <a:rPr lang="en-US" i="1" smtClean="0">
                <a:ea typeface="ＭＳ Ｐゴシック" pitchFamily="-65" charset="-128"/>
              </a:rPr>
              <a:t>goal</a:t>
            </a:r>
            <a:endParaRPr lang="en-US" smtClean="0">
              <a:ea typeface="ＭＳ Ｐゴシック" pitchFamily="-65" charset="-128"/>
            </a:endParaRPr>
          </a:p>
          <a:p>
            <a:pPr eaLnBrk="1" hangingPunct="1"/>
            <a:r>
              <a:rPr lang="en-US" smtClean="0">
                <a:ea typeface="ＭＳ Ｐゴシック" pitchFamily="-65" charset="-128"/>
              </a:rPr>
              <a:t>e.g., </a:t>
            </a:r>
            <a:r>
              <a:rPr lang="en-US" i="1" smtClean="0">
                <a:ea typeface="ＭＳ Ｐゴシック" pitchFamily="-65" charset="-128"/>
              </a:rPr>
              <a:t>h</a:t>
            </a:r>
            <a:r>
              <a:rPr lang="en-US" i="1" baseline="-25000" smtClean="0">
                <a:ea typeface="ＭＳ Ｐゴシック" pitchFamily="-65" charset="-128"/>
              </a:rPr>
              <a:t>SLD</a:t>
            </a:r>
            <a:r>
              <a:rPr lang="en-US" i="1" smtClean="0">
                <a:ea typeface="ＭＳ Ｐゴシック" pitchFamily="-65" charset="-128"/>
              </a:rPr>
              <a:t>(n)</a:t>
            </a:r>
            <a:r>
              <a:rPr lang="en-US" smtClean="0">
                <a:ea typeface="ＭＳ Ｐゴシック" pitchFamily="-65" charset="-128"/>
              </a:rPr>
              <a:t> = straight-line distance from </a:t>
            </a:r>
            <a:r>
              <a:rPr lang="en-US" i="1" smtClean="0">
                <a:ea typeface="ＭＳ Ｐゴシック" pitchFamily="-65" charset="-128"/>
              </a:rPr>
              <a:t>n</a:t>
            </a:r>
            <a:r>
              <a:rPr lang="en-US" smtClean="0">
                <a:ea typeface="ＭＳ Ｐゴシック" pitchFamily="-65" charset="-128"/>
              </a:rPr>
              <a:t> to Bucharest</a:t>
            </a:r>
          </a:p>
          <a:p>
            <a:pPr eaLnBrk="1" hangingPunct="1"/>
            <a:r>
              <a:rPr lang="en-US" smtClean="0">
                <a:ea typeface="ＭＳ Ｐゴシック" pitchFamily="-65" charset="-128"/>
              </a:rPr>
              <a:t>Greedy best-first search expands the node that </a:t>
            </a:r>
            <a:r>
              <a:rPr lang="en-US" smtClean="0">
                <a:solidFill>
                  <a:srgbClr val="FF0000"/>
                </a:solidFill>
                <a:ea typeface="ＭＳ Ｐゴシック" pitchFamily="-65" charset="-128"/>
              </a:rPr>
              <a:t>appears</a:t>
            </a:r>
            <a:r>
              <a:rPr lang="en-US" smtClean="0">
                <a:ea typeface="ＭＳ Ｐゴシック" pitchFamily="-65" charset="-128"/>
              </a:rPr>
              <a:t> to be closest to goal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Greedy best-first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Greedy best-first search example</a:t>
            </a:r>
          </a:p>
        </p:txBody>
      </p:sp>
      <p:pic>
        <p:nvPicPr>
          <p:cNvPr id="19459" name="Picture 3" descr="greedy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828800"/>
            <a:ext cx="5467350" cy="199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greedy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391400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Greedy best-first search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greedy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391400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Greedy best-first search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greedy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391400" cy="2690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1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Greedy best-first search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u="sng" dirty="0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/>
            <a:r>
              <a:rPr lang="en-US" u="sng" dirty="0" smtClean="0">
                <a:solidFill>
                  <a:srgbClr val="CC0099"/>
                </a:solidFill>
                <a:ea typeface="ＭＳ Ｐゴシック" pitchFamily="-65" charset="-128"/>
              </a:rPr>
              <a:t>Complete?</a:t>
            </a:r>
            <a:r>
              <a:rPr lang="en-US" dirty="0" smtClean="0">
                <a:ea typeface="ＭＳ Ｐゴシック" pitchFamily="-65" charset="-128"/>
              </a:rPr>
              <a:t> No – can get stuck in loops like depth first if heuristic is bad </a:t>
            </a:r>
          </a:p>
          <a:p>
            <a:pPr eaLnBrk="1" hangingPunct="1"/>
            <a:endParaRPr lang="en-US" u="sng" dirty="0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/>
            <a:r>
              <a:rPr lang="en-US" u="sng" dirty="0" smtClean="0">
                <a:solidFill>
                  <a:srgbClr val="CC0099"/>
                </a:solidFill>
                <a:ea typeface="ＭＳ Ｐゴシック" pitchFamily="-65" charset="-128"/>
              </a:rPr>
              <a:t>Time?</a:t>
            </a:r>
            <a:r>
              <a:rPr lang="en-US" dirty="0" smtClean="0">
                <a:ea typeface="ＭＳ Ｐゴシック" pitchFamily="-65" charset="-128"/>
              </a:rPr>
              <a:t> </a:t>
            </a:r>
            <a:r>
              <a:rPr lang="en-US" i="1" dirty="0" smtClean="0">
                <a:ea typeface="ＭＳ Ｐゴシック" pitchFamily="-65" charset="-128"/>
              </a:rPr>
              <a:t>O(</a:t>
            </a:r>
            <a:r>
              <a:rPr lang="en-US" i="1" dirty="0" err="1" smtClean="0">
                <a:ea typeface="ＭＳ Ｐゴシック" pitchFamily="-65" charset="-128"/>
              </a:rPr>
              <a:t>b</a:t>
            </a:r>
            <a:r>
              <a:rPr lang="en-US" i="1" baseline="30000" dirty="0" err="1" smtClean="0">
                <a:ea typeface="ＭＳ Ｐゴシック" pitchFamily="-65" charset="-128"/>
              </a:rPr>
              <a:t>m</a:t>
            </a:r>
            <a:r>
              <a:rPr lang="en-US" i="1" dirty="0" smtClean="0">
                <a:ea typeface="ＭＳ Ｐゴシック" pitchFamily="-65" charset="-128"/>
              </a:rPr>
              <a:t>)</a:t>
            </a:r>
            <a:r>
              <a:rPr lang="en-US" dirty="0" smtClean="0">
                <a:ea typeface="ＭＳ Ｐゴシック" pitchFamily="-65" charset="-128"/>
              </a:rPr>
              <a:t>, but a good heuristic can give dramatic improvement</a:t>
            </a:r>
          </a:p>
          <a:p>
            <a:pPr eaLnBrk="1" hangingPunct="1"/>
            <a:endParaRPr lang="en-US" u="sng" dirty="0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/>
            <a:r>
              <a:rPr lang="en-US" u="sng" dirty="0" smtClean="0">
                <a:solidFill>
                  <a:srgbClr val="CC0099"/>
                </a:solidFill>
                <a:ea typeface="ＭＳ Ｐゴシック" pitchFamily="-65" charset="-128"/>
              </a:rPr>
              <a:t>Space?</a:t>
            </a:r>
            <a:r>
              <a:rPr lang="en-US" dirty="0" smtClean="0">
                <a:ea typeface="ＭＳ Ｐゴシック" pitchFamily="-65" charset="-128"/>
              </a:rPr>
              <a:t> </a:t>
            </a:r>
            <a:r>
              <a:rPr lang="en-US" i="1" dirty="0" smtClean="0">
                <a:ea typeface="ＭＳ Ｐゴシック" pitchFamily="-65" charset="-128"/>
              </a:rPr>
              <a:t>O(</a:t>
            </a:r>
            <a:r>
              <a:rPr lang="en-US" i="1" dirty="0" err="1" smtClean="0">
                <a:ea typeface="ＭＳ Ｐゴシック" pitchFamily="-65" charset="-128"/>
              </a:rPr>
              <a:t>b</a:t>
            </a:r>
            <a:r>
              <a:rPr lang="en-US" i="1" baseline="30000" dirty="0" err="1" smtClean="0">
                <a:ea typeface="ＭＳ Ｐゴシック" pitchFamily="-65" charset="-128"/>
              </a:rPr>
              <a:t>m</a:t>
            </a:r>
            <a:r>
              <a:rPr lang="en-US" i="1" dirty="0" smtClean="0">
                <a:ea typeface="ＭＳ Ｐゴシック" pitchFamily="-65" charset="-128"/>
              </a:rPr>
              <a:t>) </a:t>
            </a:r>
            <a:r>
              <a:rPr lang="en-US" dirty="0" smtClean="0">
                <a:ea typeface="ＭＳ Ｐゴシック" pitchFamily="-65" charset="-128"/>
              </a:rPr>
              <a:t>-- keeps all nodes in memory</a:t>
            </a:r>
          </a:p>
          <a:p>
            <a:pPr eaLnBrk="1" hangingPunct="1"/>
            <a:endParaRPr lang="en-US" u="sng" dirty="0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/>
            <a:r>
              <a:rPr lang="en-US" u="sng" dirty="0" smtClean="0">
                <a:solidFill>
                  <a:srgbClr val="CC0099"/>
                </a:solidFill>
                <a:ea typeface="ＭＳ Ｐゴシック" pitchFamily="-65" charset="-128"/>
              </a:rPr>
              <a:t>Optimal?</a:t>
            </a:r>
            <a:r>
              <a:rPr lang="en-US" dirty="0" smtClean="0">
                <a:ea typeface="ＭＳ Ｐゴシック" pitchFamily="-65" charset="-128"/>
              </a:rPr>
              <a:t> No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Properties of greedy best-first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 pitchFamily="-65" charset="-128"/>
              </a:rPr>
              <a:t>Idea: avoid expanding paths that are already expensive</a:t>
            </a:r>
          </a:p>
          <a:p>
            <a:pPr eaLnBrk="1" hangingPunct="1"/>
            <a:r>
              <a:rPr lang="en-US" smtClean="0">
                <a:ea typeface="ＭＳ Ｐゴシック" pitchFamily="-65" charset="-128"/>
              </a:rPr>
              <a:t>Evaluation function </a:t>
            </a:r>
            <a:r>
              <a:rPr lang="en-US" i="1" smtClean="0">
                <a:ea typeface="ＭＳ Ｐゴシック" pitchFamily="-65" charset="-128"/>
              </a:rPr>
              <a:t>f(n) = g(n) + h(n)</a:t>
            </a:r>
            <a:endParaRPr lang="en-US" smtClean="0">
              <a:ea typeface="ＭＳ Ｐゴシック" pitchFamily="-65" charset="-128"/>
            </a:endParaRPr>
          </a:p>
          <a:p>
            <a:pPr eaLnBrk="1" hangingPunct="1"/>
            <a:r>
              <a:rPr lang="en-US" i="1" smtClean="0">
                <a:ea typeface="ＭＳ Ｐゴシック" pitchFamily="-65" charset="-128"/>
              </a:rPr>
              <a:t>g(n) </a:t>
            </a:r>
            <a:r>
              <a:rPr lang="en-US" smtClean="0">
                <a:ea typeface="ＭＳ Ｐゴシック" pitchFamily="-65" charset="-128"/>
              </a:rPr>
              <a:t>= cost so far to reach </a:t>
            </a:r>
            <a:r>
              <a:rPr lang="en-US" i="1" smtClean="0">
                <a:ea typeface="ＭＳ Ｐゴシック" pitchFamily="-65" charset="-128"/>
              </a:rPr>
              <a:t>n</a:t>
            </a:r>
          </a:p>
          <a:p>
            <a:pPr eaLnBrk="1" hangingPunct="1"/>
            <a:r>
              <a:rPr lang="en-US" i="1" smtClean="0">
                <a:ea typeface="ＭＳ Ｐゴシック" pitchFamily="-65" charset="-128"/>
              </a:rPr>
              <a:t>h(n)</a:t>
            </a:r>
            <a:r>
              <a:rPr lang="en-US" smtClean="0">
                <a:ea typeface="ＭＳ Ｐゴシック" pitchFamily="-65" charset="-128"/>
              </a:rPr>
              <a:t> = estimated cost from </a:t>
            </a:r>
            <a:r>
              <a:rPr lang="en-US" i="1" smtClean="0">
                <a:ea typeface="ＭＳ Ｐゴシック" pitchFamily="-65" charset="-128"/>
              </a:rPr>
              <a:t>n</a:t>
            </a:r>
            <a:r>
              <a:rPr lang="en-US" smtClean="0">
                <a:ea typeface="ＭＳ Ｐゴシック" pitchFamily="-65" charset="-128"/>
              </a:rPr>
              <a:t> to goal</a:t>
            </a:r>
          </a:p>
          <a:p>
            <a:pPr eaLnBrk="1" hangingPunct="1"/>
            <a:r>
              <a:rPr lang="en-US" i="1" smtClean="0">
                <a:ea typeface="ＭＳ Ｐゴシック" pitchFamily="-65" charset="-128"/>
              </a:rPr>
              <a:t>f(n) </a:t>
            </a:r>
            <a:r>
              <a:rPr lang="en-US" smtClean="0">
                <a:ea typeface="ＭＳ Ｐゴシック" pitchFamily="-65" charset="-128"/>
              </a:rPr>
              <a:t>= estimated total cost of path through </a:t>
            </a:r>
            <a:r>
              <a:rPr lang="en-US" i="1" smtClean="0">
                <a:ea typeface="ＭＳ Ｐゴシック" pitchFamily="-65" charset="-128"/>
              </a:rPr>
              <a:t>n</a:t>
            </a:r>
            <a:r>
              <a:rPr lang="en-US" smtClean="0">
                <a:ea typeface="ＭＳ Ｐゴシック" pitchFamily="-65" charset="-128"/>
              </a:rPr>
              <a:t> to goal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  <p:pic>
        <p:nvPicPr>
          <p:cNvPr id="25603" name="Picture 3" descr="astar-progress01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Picture 2" descr="astar-progress02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7" name="Rectangle 3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  <p:pic>
        <p:nvPicPr>
          <p:cNvPr id="27651" name="Picture 3" descr="astar-progress03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  <p:pic>
        <p:nvPicPr>
          <p:cNvPr id="28675" name="Picture 3" descr="astar-progress04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  <p:pic>
        <p:nvPicPr>
          <p:cNvPr id="29699" name="Picture 3" descr="astar-progress05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search example</a:t>
            </a:r>
          </a:p>
        </p:txBody>
      </p:sp>
      <p:pic>
        <p:nvPicPr>
          <p:cNvPr id="30723" name="Picture 3" descr="astar-progress06c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39000" cy="297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smtClean="0">
                <a:ea typeface="ＭＳ Ｐゴシック" pitchFamily="-65" charset="-128"/>
              </a:rPr>
              <a:t>A heuristic </a:t>
            </a:r>
            <a:r>
              <a:rPr lang="en-US" sz="2800" i="1" smtClean="0">
                <a:ea typeface="ＭＳ Ｐゴシック" pitchFamily="-65" charset="-128"/>
              </a:rPr>
              <a:t>h(n)</a:t>
            </a:r>
            <a:r>
              <a:rPr lang="en-US" sz="2800" smtClean="0">
                <a:ea typeface="ＭＳ Ｐゴシック" pitchFamily="-65" charset="-128"/>
              </a:rPr>
              <a:t> is </a:t>
            </a:r>
            <a:r>
              <a:rPr lang="en-US" sz="2800" smtClean="0">
                <a:solidFill>
                  <a:srgbClr val="FF0000"/>
                </a:solidFill>
                <a:ea typeface="ＭＳ Ｐゴシック" pitchFamily="-65" charset="-128"/>
              </a:rPr>
              <a:t>admissible</a:t>
            </a:r>
            <a:r>
              <a:rPr lang="en-US" sz="2800" smtClean="0">
                <a:ea typeface="ＭＳ Ｐゴシック" pitchFamily="-65" charset="-128"/>
              </a:rPr>
              <a:t> if for every node </a:t>
            </a:r>
            <a:r>
              <a:rPr lang="en-US" sz="2800" i="1" smtClean="0">
                <a:ea typeface="ＭＳ Ｐゴシック" pitchFamily="-65" charset="-128"/>
              </a:rPr>
              <a:t>n</a:t>
            </a:r>
            <a:r>
              <a:rPr lang="en-US" sz="2800" smtClean="0">
                <a:ea typeface="ＭＳ Ｐゴシック" pitchFamily="-65" charset="-128"/>
              </a:rPr>
              <a:t>, </a:t>
            </a:r>
            <a:r>
              <a:rPr lang="en-US" sz="2800" i="1" smtClean="0">
                <a:ea typeface="ＭＳ Ｐゴシック" pitchFamily="-65" charset="-128"/>
              </a:rPr>
              <a:t>h(n) </a:t>
            </a:r>
            <a:r>
              <a:rPr lang="en-US" sz="2800" i="1" smtClean="0">
                <a:ea typeface="ＭＳ Ｐゴシック" pitchFamily="-65" charset="-128"/>
                <a:cs typeface="Arial" charset="0"/>
              </a:rPr>
              <a:t>≤</a:t>
            </a:r>
            <a:r>
              <a:rPr lang="en-US" sz="2800" i="1" smtClean="0">
                <a:ea typeface="ＭＳ Ｐゴシック" pitchFamily="-65" charset="-128"/>
              </a:rPr>
              <a:t> h</a:t>
            </a:r>
            <a:r>
              <a:rPr lang="en-US" sz="2800" i="1" baseline="30000" smtClean="0">
                <a:ea typeface="ＭＳ Ｐゴシック" pitchFamily="-65" charset="-128"/>
              </a:rPr>
              <a:t>*</a:t>
            </a:r>
            <a:r>
              <a:rPr lang="en-US" sz="2800" i="1" smtClean="0">
                <a:ea typeface="ＭＳ Ｐゴシック" pitchFamily="-65" charset="-128"/>
              </a:rPr>
              <a:t>(n), </a:t>
            </a:r>
            <a:r>
              <a:rPr lang="en-US" sz="2800" smtClean="0">
                <a:ea typeface="ＭＳ Ｐゴシック" pitchFamily="-65" charset="-128"/>
              </a:rPr>
              <a:t>where </a:t>
            </a:r>
            <a:r>
              <a:rPr lang="en-US" sz="2800" i="1" smtClean="0">
                <a:ea typeface="ＭＳ Ｐゴシック" pitchFamily="-65" charset="-128"/>
              </a:rPr>
              <a:t>h</a:t>
            </a:r>
            <a:r>
              <a:rPr lang="en-US" sz="2800" i="1" baseline="30000" smtClean="0">
                <a:ea typeface="ＭＳ Ｐゴシック" pitchFamily="-65" charset="-128"/>
              </a:rPr>
              <a:t>*</a:t>
            </a:r>
            <a:r>
              <a:rPr lang="en-US" sz="2800" i="1" smtClean="0">
                <a:ea typeface="ＭＳ Ｐゴシック" pitchFamily="-65" charset="-128"/>
              </a:rPr>
              <a:t>(n)</a:t>
            </a:r>
            <a:r>
              <a:rPr lang="en-US" sz="2800" smtClean="0">
                <a:ea typeface="ＭＳ Ｐゴシック" pitchFamily="-65" charset="-128"/>
              </a:rPr>
              <a:t> is the </a:t>
            </a:r>
            <a:r>
              <a:rPr lang="en-US" sz="2800" smtClean="0">
                <a:solidFill>
                  <a:srgbClr val="FF0000"/>
                </a:solidFill>
                <a:ea typeface="ＭＳ Ｐゴシック" pitchFamily="-65" charset="-128"/>
              </a:rPr>
              <a:t>true </a:t>
            </a:r>
            <a:r>
              <a:rPr lang="en-US" sz="2800" smtClean="0">
                <a:ea typeface="ＭＳ Ｐゴシック" pitchFamily="-65" charset="-128"/>
              </a:rPr>
              <a:t>cost to reach the goal state from </a:t>
            </a:r>
            <a:r>
              <a:rPr lang="en-US" sz="2800" i="1" smtClean="0">
                <a:ea typeface="ＭＳ Ｐゴシック" pitchFamily="-65" charset="-128"/>
              </a:rPr>
              <a:t>n</a:t>
            </a:r>
            <a:r>
              <a:rPr lang="en-US" sz="2800" smtClean="0">
                <a:ea typeface="ＭＳ Ｐゴシック" pitchFamily="-65" charset="-128"/>
              </a:rPr>
              <a:t>.</a:t>
            </a:r>
          </a:p>
          <a:p>
            <a:pPr eaLnBrk="1" hangingPunct="1"/>
            <a:r>
              <a:rPr lang="en-US" sz="2800" smtClean="0">
                <a:ea typeface="ＭＳ Ｐゴシック" pitchFamily="-65" charset="-128"/>
              </a:rPr>
              <a:t>An admissible heuristic </a:t>
            </a:r>
            <a:r>
              <a:rPr lang="en-US" sz="2800" smtClean="0">
                <a:solidFill>
                  <a:srgbClr val="FF0000"/>
                </a:solidFill>
                <a:ea typeface="ＭＳ Ｐゴシック" pitchFamily="-65" charset="-128"/>
              </a:rPr>
              <a:t>never overestimates</a:t>
            </a:r>
            <a:r>
              <a:rPr lang="en-US" sz="2800" smtClean="0">
                <a:ea typeface="ＭＳ Ｐゴシック" pitchFamily="-65" charset="-128"/>
              </a:rPr>
              <a:t> the cost to reach the goal, i.e., it is </a:t>
            </a:r>
            <a:r>
              <a:rPr lang="en-US" sz="2800" smtClean="0">
                <a:solidFill>
                  <a:srgbClr val="FF0000"/>
                </a:solidFill>
                <a:ea typeface="ＭＳ Ｐゴシック" pitchFamily="-65" charset="-128"/>
              </a:rPr>
              <a:t>optimistic</a:t>
            </a:r>
            <a:endParaRPr lang="en-US" sz="2800" smtClean="0">
              <a:ea typeface="ＭＳ Ｐゴシック" pitchFamily="-65" charset="-128"/>
            </a:endParaRPr>
          </a:p>
          <a:p>
            <a:pPr eaLnBrk="1" hangingPunct="1"/>
            <a:r>
              <a:rPr lang="en-US" sz="2800" smtClean="0">
                <a:ea typeface="ＭＳ Ｐゴシック" pitchFamily="-65" charset="-128"/>
              </a:rPr>
              <a:t>Example: </a:t>
            </a:r>
            <a:r>
              <a:rPr lang="en-US" sz="2800" i="1" smtClean="0">
                <a:ea typeface="ＭＳ Ｐゴシック" pitchFamily="-65" charset="-128"/>
              </a:rPr>
              <a:t>h</a:t>
            </a:r>
            <a:r>
              <a:rPr lang="en-US" sz="2800" i="1" baseline="-25000" smtClean="0">
                <a:ea typeface="ＭＳ Ｐゴシック" pitchFamily="-65" charset="-128"/>
              </a:rPr>
              <a:t>SLD</a:t>
            </a:r>
            <a:r>
              <a:rPr lang="en-US" sz="2800" i="1" smtClean="0">
                <a:ea typeface="ＭＳ Ｐゴシック" pitchFamily="-65" charset="-128"/>
              </a:rPr>
              <a:t>(n) </a:t>
            </a:r>
            <a:r>
              <a:rPr lang="en-US" sz="2800" smtClean="0">
                <a:ea typeface="ＭＳ Ｐゴシック" pitchFamily="-65" charset="-128"/>
              </a:rPr>
              <a:t>(never overestimates the actual road distance)</a:t>
            </a:r>
          </a:p>
          <a:p>
            <a:pPr eaLnBrk="1" hangingPunct="1"/>
            <a:r>
              <a:rPr lang="en-US" sz="2800" smtClean="0">
                <a:solidFill>
                  <a:schemeClr val="accent2"/>
                </a:solidFill>
                <a:ea typeface="ＭＳ Ｐゴシック" pitchFamily="-65" charset="-128"/>
              </a:rPr>
              <a:t>Theorem</a:t>
            </a:r>
            <a:r>
              <a:rPr lang="en-US" sz="2800" smtClean="0">
                <a:ea typeface="ＭＳ Ｐゴシック" pitchFamily="-65" charset="-128"/>
              </a:rPr>
              <a:t>: If </a:t>
            </a:r>
            <a:r>
              <a:rPr lang="en-US" sz="2800" i="1" smtClean="0">
                <a:ea typeface="ＭＳ Ｐゴシック" pitchFamily="-65" charset="-128"/>
              </a:rPr>
              <a:t>h(n) </a:t>
            </a:r>
            <a:r>
              <a:rPr lang="en-US" sz="2800" smtClean="0">
                <a:ea typeface="ＭＳ Ｐゴシック" pitchFamily="-65" charset="-128"/>
              </a:rPr>
              <a:t>is admissible, A</a:t>
            </a:r>
            <a:r>
              <a:rPr lang="en-US" sz="2800" baseline="30000" smtClean="0">
                <a:ea typeface="ＭＳ Ｐゴシック" pitchFamily="-65" charset="-128"/>
              </a:rPr>
              <a:t>*</a:t>
            </a:r>
            <a:r>
              <a:rPr lang="en-US" sz="2800" smtClean="0">
                <a:ea typeface="ＭＳ Ｐゴシック" pitchFamily="-65" charset="-128"/>
              </a:rPr>
              <a:t> using </a:t>
            </a:r>
            <a:r>
              <a:rPr lang="en-US" sz="2800" smtClean="0">
                <a:latin typeface="Courier New" pitchFamily="-65" charset="0"/>
                <a:ea typeface="ＭＳ Ｐゴシック" pitchFamily="-65" charset="-128"/>
              </a:rPr>
              <a:t>TREE-SEARCH</a:t>
            </a:r>
            <a:r>
              <a:rPr lang="en-US" sz="2800" smtClean="0">
                <a:ea typeface="ＭＳ Ｐゴシック" pitchFamily="-65" charset="-128"/>
              </a:rPr>
              <a:t> is optimal</a:t>
            </a:r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Admissible heuristics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196752"/>
            <a:ext cx="8229600" cy="4810348"/>
          </a:xfrm>
        </p:spPr>
        <p:txBody>
          <a:bodyPr/>
          <a:lstStyle/>
          <a:p>
            <a:pPr eaLnBrk="1" hangingPunct="1"/>
            <a:r>
              <a:rPr lang="en-US" sz="2000" dirty="0" smtClean="0">
                <a:ea typeface="ＭＳ Ｐゴシック" pitchFamily="-65" charset="-128"/>
              </a:rPr>
              <a:t>Suppose some suboptimal goal state </a:t>
            </a:r>
            <a:r>
              <a:rPr lang="en-US" sz="2000" i="1" dirty="0" smtClean="0">
                <a:ea typeface="ＭＳ Ｐゴシック" pitchFamily="-65" charset="-128"/>
              </a:rPr>
              <a:t>G</a:t>
            </a:r>
            <a:r>
              <a:rPr lang="en-US" sz="2000" i="1" baseline="-25000" dirty="0" smtClean="0">
                <a:ea typeface="ＭＳ Ｐゴシック" pitchFamily="-65" charset="-128"/>
              </a:rPr>
              <a:t>2</a:t>
            </a:r>
            <a:r>
              <a:rPr lang="en-US" sz="2000" i="1" dirty="0" smtClean="0">
                <a:ea typeface="ＭＳ Ｐゴシック" pitchFamily="-65" charset="-128"/>
              </a:rPr>
              <a:t> </a:t>
            </a:r>
            <a:r>
              <a:rPr lang="en-US" sz="2000" dirty="0" smtClean="0">
                <a:ea typeface="ＭＳ Ｐゴシック" pitchFamily="-65" charset="-128"/>
              </a:rPr>
              <a:t>has been generated and is in the fringe. Let </a:t>
            </a:r>
            <a:r>
              <a:rPr lang="en-US" sz="2000" i="1" dirty="0" smtClean="0">
                <a:ea typeface="ＭＳ Ｐゴシック" pitchFamily="-65" charset="-128"/>
              </a:rPr>
              <a:t>n</a:t>
            </a:r>
            <a:r>
              <a:rPr lang="en-US" sz="2000" dirty="0" smtClean="0">
                <a:ea typeface="ＭＳ Ｐゴシック" pitchFamily="-65" charset="-128"/>
              </a:rPr>
              <a:t> be an unexpanded node in the fringe such that </a:t>
            </a:r>
            <a:r>
              <a:rPr lang="en-US" sz="2000" i="1" dirty="0" smtClean="0">
                <a:ea typeface="ＭＳ Ｐゴシック" pitchFamily="-65" charset="-128"/>
              </a:rPr>
              <a:t>n </a:t>
            </a:r>
            <a:r>
              <a:rPr lang="en-US" sz="2000" dirty="0" smtClean="0">
                <a:ea typeface="ＭＳ Ｐゴシック" pitchFamily="-65" charset="-128"/>
              </a:rPr>
              <a:t>is on a shortest path to an optimal goal </a:t>
            </a:r>
            <a:r>
              <a:rPr lang="en-US" sz="2000" i="1" dirty="0" smtClean="0">
                <a:ea typeface="ＭＳ Ｐゴシック" pitchFamily="-65" charset="-128"/>
              </a:rPr>
              <a:t>G </a:t>
            </a:r>
            <a:r>
              <a:rPr lang="en-US" sz="2000" dirty="0" smtClean="0">
                <a:ea typeface="ＭＳ Ｐゴシック" pitchFamily="-65" charset="-128"/>
              </a:rPr>
              <a:t>with true cost</a:t>
            </a:r>
            <a:r>
              <a:rPr lang="en-US" sz="2000" i="1" dirty="0" smtClean="0">
                <a:ea typeface="ＭＳ Ｐゴシック" pitchFamily="-65" charset="-128"/>
              </a:rPr>
              <a:t> C*</a:t>
            </a:r>
            <a:r>
              <a:rPr lang="en-US" sz="2000" dirty="0" smtClean="0">
                <a:ea typeface="ＭＳ Ｐゴシック" pitchFamily="-65" charset="-128"/>
              </a:rPr>
              <a:t>.</a:t>
            </a: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eaLnBrk="1" hangingPunct="1"/>
            <a:endParaRPr lang="en-US" sz="2000" dirty="0" smtClean="0">
              <a:ea typeface="ＭＳ Ｐゴシック" pitchFamily="-65" charset="-128"/>
            </a:endParaRPr>
          </a:p>
          <a:p>
            <a:pPr marL="109537" indent="0" eaLnBrk="1" hangingPunct="1">
              <a:buNone/>
            </a:pPr>
            <a:r>
              <a:rPr lang="en-US" sz="2000" dirty="0" smtClean="0">
                <a:ea typeface="ＭＳ Ｐゴシック" pitchFamily="-65" charset="-128"/>
              </a:rPr>
              <a:t>	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Optimality of A</a:t>
            </a:r>
            <a:r>
              <a:rPr lang="en-US" baseline="30000">
                <a:ea typeface="+mj-ea"/>
                <a:cs typeface="+mj-cs"/>
              </a:rPr>
              <a:t>*</a:t>
            </a:r>
            <a:r>
              <a:rPr lang="en-US">
                <a:ea typeface="+mj-ea"/>
                <a:cs typeface="+mj-cs"/>
              </a:rPr>
              <a:t> (proof)</a:t>
            </a:r>
          </a:p>
        </p:txBody>
      </p:sp>
      <p:pic>
        <p:nvPicPr>
          <p:cNvPr id="32772" name="Picture 4" descr="astar-proo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7336" y="2473364"/>
            <a:ext cx="3505200" cy="167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131302" y="4215728"/>
            <a:ext cx="475252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dirty="0" smtClean="0"/>
              <a:t>f(G</a:t>
            </a:r>
            <a:r>
              <a:rPr lang="en-US" baseline="-25000" dirty="0" smtClean="0"/>
              <a:t>2</a:t>
            </a:r>
            <a:r>
              <a:rPr lang="en-US" dirty="0"/>
              <a:t>)  = g(G</a:t>
            </a:r>
            <a:r>
              <a:rPr lang="en-US" baseline="-25000" dirty="0"/>
              <a:t>2</a:t>
            </a:r>
            <a:r>
              <a:rPr lang="en-US" dirty="0"/>
              <a:t>)+h(G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algn="ctr" eaLnBrk="1" hangingPunct="1"/>
            <a:r>
              <a:rPr lang="en-US" dirty="0"/>
              <a:t>(from h(x)</a:t>
            </a:r>
            <a:r>
              <a:rPr lang="en-US" dirty="0">
                <a:latin typeface="Lucida Sans Unicode"/>
                <a:cs typeface="Lucida Sans Unicode"/>
              </a:rPr>
              <a:t>≤g(x) and </a:t>
            </a:r>
            <a:r>
              <a:rPr lang="en-US" dirty="0"/>
              <a:t>G</a:t>
            </a:r>
            <a:r>
              <a:rPr lang="en-US" baseline="-25000" dirty="0"/>
              <a:t>2</a:t>
            </a:r>
            <a:r>
              <a:rPr lang="en-US" dirty="0">
                <a:latin typeface="Lucida Sans Unicode"/>
                <a:cs typeface="Lucida Sans Unicode"/>
              </a:rPr>
              <a:t> is a goal </a:t>
            </a:r>
            <a:r>
              <a:rPr lang="en-US" dirty="0" smtClean="0">
                <a:latin typeface="Lucida Sans Unicode"/>
                <a:cs typeface="Lucida Sans Unicode"/>
              </a:rPr>
              <a:t>state) </a:t>
            </a:r>
          </a:p>
          <a:p>
            <a:pPr algn="ctr" eaLnBrk="1" hangingPunct="1"/>
            <a:r>
              <a:rPr lang="en-US" dirty="0" smtClean="0">
                <a:latin typeface="Lucida Sans Unicode"/>
                <a:cs typeface="Lucida Sans Unicode"/>
              </a:rPr>
              <a:t>f(</a:t>
            </a:r>
            <a:r>
              <a:rPr lang="en-US" dirty="0" smtClean="0"/>
              <a:t>G</a:t>
            </a:r>
            <a:r>
              <a:rPr lang="en-US" baseline="-25000" dirty="0" smtClean="0"/>
              <a:t>2</a:t>
            </a:r>
            <a:r>
              <a:rPr lang="en-US" dirty="0"/>
              <a:t>)=g(G</a:t>
            </a:r>
            <a:r>
              <a:rPr lang="en-US" baseline="-25000" dirty="0"/>
              <a:t>2</a:t>
            </a:r>
            <a:r>
              <a:rPr lang="en-US" dirty="0"/>
              <a:t>)</a:t>
            </a:r>
          </a:p>
          <a:p>
            <a:pPr algn="ctr" eaLnBrk="1" hangingPunct="1"/>
            <a:r>
              <a:rPr lang="en-US" dirty="0" smtClean="0"/>
              <a:t>(from </a:t>
            </a:r>
            <a:r>
              <a:rPr lang="en-US" dirty="0" err="1" smtClean="0"/>
              <a:t>suboptimality</a:t>
            </a:r>
            <a:r>
              <a:rPr lang="en-US" dirty="0" smtClean="0"/>
              <a:t> of G</a:t>
            </a:r>
            <a:r>
              <a:rPr lang="en-US" baseline="-25000" dirty="0" smtClean="0"/>
              <a:t>2</a:t>
            </a:r>
            <a:r>
              <a:rPr lang="en-US" dirty="0" smtClean="0"/>
              <a:t>) </a:t>
            </a:r>
          </a:p>
          <a:p>
            <a:pPr algn="ctr" eaLnBrk="1" hangingPunct="1"/>
            <a:r>
              <a:rPr lang="en-US" dirty="0" smtClean="0">
                <a:latin typeface="Lucida Sans Unicode"/>
                <a:cs typeface="Lucida Sans Unicode"/>
              </a:rPr>
              <a:t>f(</a:t>
            </a:r>
            <a:r>
              <a:rPr lang="en-US" dirty="0" smtClean="0"/>
              <a:t>G</a:t>
            </a:r>
            <a:r>
              <a:rPr lang="en-US" baseline="-25000" dirty="0" smtClean="0"/>
              <a:t>2</a:t>
            </a:r>
            <a:r>
              <a:rPr lang="en-US" dirty="0" smtClean="0"/>
              <a:t>)&gt;C*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27743" y="4169561"/>
            <a:ext cx="4018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dirty="0" smtClean="0"/>
              <a:t>f(n)  </a:t>
            </a:r>
            <a:r>
              <a:rPr lang="en-US" dirty="0"/>
              <a:t>= </a:t>
            </a:r>
            <a:r>
              <a:rPr lang="en-US" dirty="0" smtClean="0"/>
              <a:t>g(n)+h(n)</a:t>
            </a:r>
            <a:endParaRPr lang="en-US" dirty="0"/>
          </a:p>
          <a:p>
            <a:pPr algn="ctr" eaLnBrk="1" hangingPunct="1"/>
            <a:r>
              <a:rPr lang="en-US" dirty="0"/>
              <a:t>(from h(x)</a:t>
            </a:r>
            <a:r>
              <a:rPr lang="en-US" dirty="0">
                <a:latin typeface="Lucida Sans Unicode"/>
                <a:cs typeface="Lucida Sans Unicode"/>
              </a:rPr>
              <a:t>≤g(x) and </a:t>
            </a:r>
            <a:r>
              <a:rPr lang="en-US" dirty="0" smtClean="0">
                <a:latin typeface="Lucida Sans Unicode"/>
                <a:cs typeface="Lucida Sans Unicode"/>
              </a:rPr>
              <a:t>g(</a:t>
            </a:r>
            <a:r>
              <a:rPr lang="en-US" dirty="0" smtClean="0"/>
              <a:t>G)</a:t>
            </a:r>
            <a:r>
              <a:rPr lang="en-US" dirty="0" smtClean="0">
                <a:latin typeface="Lucida Sans Unicode"/>
                <a:cs typeface="Lucida Sans Unicode"/>
              </a:rPr>
              <a:t> =C*)</a:t>
            </a:r>
          </a:p>
          <a:p>
            <a:pPr algn="ctr" eaLnBrk="1" hangingPunct="1"/>
            <a:r>
              <a:rPr lang="en-US" dirty="0" smtClean="0">
                <a:latin typeface="Lucida Sans Unicode"/>
                <a:cs typeface="Lucida Sans Unicode"/>
              </a:rPr>
              <a:t>f(</a:t>
            </a:r>
            <a:r>
              <a:rPr lang="en-US" dirty="0"/>
              <a:t>n</a:t>
            </a:r>
            <a:r>
              <a:rPr lang="en-US" dirty="0" smtClean="0"/>
              <a:t>)</a:t>
            </a:r>
            <a:r>
              <a:rPr lang="en-US" dirty="0" smtClean="0">
                <a:latin typeface="Lucida Sans Unicode"/>
                <a:cs typeface="Lucida Sans Unicode"/>
              </a:rPr>
              <a:t> ≤ C*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020489" y="5733256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/>
            <a:r>
              <a:rPr lang="en-US" dirty="0" smtClean="0">
                <a:sym typeface="Symbol"/>
              </a:rPr>
              <a:t> f(n) </a:t>
            </a:r>
            <a:r>
              <a:rPr lang="en-US" dirty="0" smtClean="0">
                <a:latin typeface="Lucida Sans Unicode"/>
                <a:cs typeface="Lucida Sans Unicode"/>
                <a:sym typeface="Symbol"/>
              </a:rPr>
              <a:t>≤ f(</a:t>
            </a:r>
            <a:r>
              <a:rPr lang="en-US" dirty="0" smtClean="0"/>
              <a:t>G</a:t>
            </a:r>
            <a:r>
              <a:rPr lang="en-US" baseline="-25000" dirty="0" smtClean="0"/>
              <a:t>2</a:t>
            </a:r>
            <a:r>
              <a:rPr lang="en-US" dirty="0" smtClean="0"/>
              <a:t>)</a:t>
            </a:r>
            <a:r>
              <a:rPr lang="en-US" dirty="0" smtClean="0">
                <a:sym typeface="Symbol"/>
              </a:rPr>
              <a:t>, </a:t>
            </a:r>
            <a:r>
              <a:rPr lang="en-US" dirty="0"/>
              <a:t>and A</a:t>
            </a:r>
            <a:r>
              <a:rPr lang="en-US" baseline="30000" dirty="0"/>
              <a:t>*</a:t>
            </a:r>
            <a:r>
              <a:rPr lang="en-US" dirty="0"/>
              <a:t> will never select G</a:t>
            </a:r>
            <a:r>
              <a:rPr lang="en-US" baseline="-25000" dirty="0"/>
              <a:t>2</a:t>
            </a:r>
            <a:r>
              <a:rPr lang="en-US" dirty="0"/>
              <a:t> for expansion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738340"/>
          </a:xfrm>
        </p:spPr>
        <p:txBody>
          <a:bodyPr/>
          <a:lstStyle/>
          <a:p>
            <a:r>
              <a:rPr lang="en-GB" dirty="0" smtClean="0"/>
              <a:t>That proof doesn’t hold for GRAPH-SEARCH</a:t>
            </a:r>
          </a:p>
          <a:p>
            <a:r>
              <a:rPr lang="en-GB" dirty="0" smtClean="0"/>
              <a:t>A* might discard the optimal path to a repeated state if it is not the first one generated</a:t>
            </a:r>
          </a:p>
          <a:p>
            <a:r>
              <a:rPr lang="en-GB" dirty="0" smtClean="0"/>
              <a:t>If the cost for any action was a constant, this wouldn’t be a problem</a:t>
            </a:r>
          </a:p>
          <a:p>
            <a:r>
              <a:rPr lang="en-GB" dirty="0" smtClean="0"/>
              <a:t>OR, if we can guarantee that the first path found to a repeated node was the best path to that node</a:t>
            </a:r>
          </a:p>
          <a:p>
            <a:r>
              <a:rPr lang="en-GB" dirty="0" smtClean="0"/>
              <a:t>We can guarantee this if we impose an extra requirement on the heuristic 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But,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347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412777"/>
            <a:ext cx="8415536" cy="50404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-65" charset="-128"/>
              </a:rPr>
              <a:t>A heuristic is </a:t>
            </a:r>
            <a:r>
              <a:rPr lang="en-US" sz="2000" dirty="0" smtClean="0">
                <a:solidFill>
                  <a:srgbClr val="FF0000"/>
                </a:solidFill>
                <a:ea typeface="ＭＳ Ｐゴシック" pitchFamily="-65" charset="-128"/>
              </a:rPr>
              <a:t>consistent</a:t>
            </a:r>
            <a:r>
              <a:rPr lang="en-US" sz="2000" dirty="0" smtClean="0">
                <a:ea typeface="ＭＳ Ｐゴシック" pitchFamily="-65" charset="-128"/>
              </a:rPr>
              <a:t> (or monotonic) if for every node </a:t>
            </a:r>
            <a:r>
              <a:rPr lang="en-US" sz="2000" i="1" dirty="0" smtClean="0">
                <a:ea typeface="ＭＳ Ｐゴシック" pitchFamily="-65" charset="-128"/>
              </a:rPr>
              <a:t>n</a:t>
            </a:r>
            <a:r>
              <a:rPr lang="en-US" sz="2000" dirty="0" smtClean="0">
                <a:ea typeface="ＭＳ Ｐゴシック" pitchFamily="-65" charset="-128"/>
              </a:rPr>
              <a:t>, every successor </a:t>
            </a:r>
            <a:r>
              <a:rPr lang="en-US" sz="2000" i="1" dirty="0" smtClean="0">
                <a:ea typeface="ＭＳ Ｐゴシック" pitchFamily="-65" charset="-128"/>
              </a:rPr>
              <a:t>n'</a:t>
            </a:r>
            <a:r>
              <a:rPr lang="en-US" sz="2000" dirty="0" smtClean="0">
                <a:ea typeface="ＭＳ Ｐゴシック" pitchFamily="-65" charset="-128"/>
              </a:rPr>
              <a:t> of </a:t>
            </a:r>
            <a:r>
              <a:rPr lang="en-US" sz="2000" i="1" dirty="0" smtClean="0">
                <a:ea typeface="ＭＳ Ｐゴシック" pitchFamily="-65" charset="-128"/>
              </a:rPr>
              <a:t>n</a:t>
            </a:r>
            <a:r>
              <a:rPr lang="en-US" sz="2000" dirty="0" smtClean="0">
                <a:ea typeface="ＭＳ Ｐゴシック" pitchFamily="-65" charset="-128"/>
              </a:rPr>
              <a:t> generated by any action </a:t>
            </a:r>
            <a:r>
              <a:rPr lang="en-US" sz="2000" i="1" dirty="0" smtClean="0">
                <a:ea typeface="ＭＳ Ｐゴシック" pitchFamily="-65" charset="-128"/>
              </a:rPr>
              <a:t>a</a:t>
            </a:r>
            <a:r>
              <a:rPr lang="en-US" sz="2000" dirty="0" smtClean="0">
                <a:ea typeface="ＭＳ Ｐゴシック" pitchFamily="-65" charset="-128"/>
              </a:rPr>
              <a:t>  </a:t>
            </a:r>
          </a:p>
          <a:p>
            <a:pPr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>
                <a:ea typeface="ＭＳ Ｐゴシック" pitchFamily="-65" charset="-128"/>
              </a:rPr>
              <a:t>	</a:t>
            </a:r>
            <a:r>
              <a:rPr lang="en-US" sz="2000" i="1" dirty="0" smtClean="0">
                <a:ea typeface="ＭＳ Ｐゴシック" pitchFamily="-65" charset="-128"/>
              </a:rPr>
              <a:t>h(n) </a:t>
            </a:r>
            <a:r>
              <a:rPr lang="en-US" sz="2000" i="1" dirty="0" smtClean="0">
                <a:ea typeface="ＭＳ Ｐゴシック" pitchFamily="-65" charset="-128"/>
                <a:cs typeface="Arial" charset="0"/>
              </a:rPr>
              <a:t>≤</a:t>
            </a:r>
            <a:r>
              <a:rPr lang="en-US" sz="2000" i="1" dirty="0" smtClean="0">
                <a:ea typeface="ＭＳ Ｐゴシック" pitchFamily="-65" charset="-128"/>
              </a:rPr>
              <a:t> c(</a:t>
            </a:r>
            <a:r>
              <a:rPr lang="en-US" sz="2000" i="1" dirty="0" err="1" smtClean="0">
                <a:ea typeface="ＭＳ Ｐゴシック" pitchFamily="-65" charset="-128"/>
              </a:rPr>
              <a:t>n,a,n</a:t>
            </a:r>
            <a:r>
              <a:rPr lang="en-US" sz="2000" i="1" dirty="0" smtClean="0">
                <a:ea typeface="ＭＳ Ｐゴシック" pitchFamily="-65" charset="-128"/>
              </a:rPr>
              <a:t>') + h(n')</a:t>
            </a:r>
            <a:endParaRPr lang="en-US" sz="2000" dirty="0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-65" charset="-128"/>
              </a:rPr>
              <a:t>If </a:t>
            </a:r>
            <a:r>
              <a:rPr lang="en-US" sz="2000" i="1" dirty="0" smtClean="0">
                <a:ea typeface="ＭＳ Ｐゴシック" pitchFamily="-65" charset="-128"/>
              </a:rPr>
              <a:t>h</a:t>
            </a:r>
            <a:r>
              <a:rPr lang="en-US" sz="2000" dirty="0" smtClean="0">
                <a:ea typeface="ＭＳ Ｐゴシック" pitchFamily="-65" charset="-128"/>
              </a:rPr>
              <a:t> is consistent, we have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>
                <a:ea typeface="ＭＳ Ｐゴシック" pitchFamily="-65" charset="-128"/>
              </a:rPr>
              <a:t>    f(n') = g(n') + h(n') 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>
                <a:ea typeface="ＭＳ Ｐゴシック" pitchFamily="-65" charset="-128"/>
              </a:rPr>
              <a:t>      	 = g(n) + c(</a:t>
            </a:r>
            <a:r>
              <a:rPr lang="en-US" sz="2000" dirty="0" err="1" smtClean="0">
                <a:ea typeface="ＭＳ Ｐゴシック" pitchFamily="-65" charset="-128"/>
              </a:rPr>
              <a:t>n,a,n</a:t>
            </a:r>
            <a:r>
              <a:rPr lang="en-US" sz="2000" dirty="0" smtClean="0">
                <a:ea typeface="ＭＳ Ｐゴシック" pitchFamily="-65" charset="-128"/>
              </a:rPr>
              <a:t>') + h(n') 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>
                <a:ea typeface="ＭＳ Ｐゴシック" pitchFamily="-65" charset="-128"/>
              </a:rPr>
              <a:t>      	 </a:t>
            </a:r>
            <a:r>
              <a:rPr lang="en-US" sz="2000" dirty="0" smtClean="0">
                <a:ea typeface="ＭＳ Ｐゴシック" pitchFamily="-65" charset="-128"/>
                <a:cs typeface="Arial" charset="0"/>
              </a:rPr>
              <a:t>≥ </a:t>
            </a:r>
            <a:r>
              <a:rPr lang="en-US" sz="2000" dirty="0" smtClean="0">
                <a:ea typeface="ＭＳ Ｐゴシック" pitchFamily="-65" charset="-128"/>
              </a:rPr>
              <a:t>g(n) + h(n) </a:t>
            </a:r>
          </a:p>
          <a:p>
            <a:pPr eaLnBrk="1" hangingPunct="1">
              <a:lnSpc>
                <a:spcPct val="80000"/>
              </a:lnSpc>
              <a:buFont typeface="Wingdings" pitchFamily="-65" charset="2"/>
              <a:buNone/>
            </a:pPr>
            <a:r>
              <a:rPr lang="en-US" sz="2000" dirty="0" smtClean="0">
                <a:ea typeface="ＭＳ Ｐゴシック" pitchFamily="-65" charset="-128"/>
              </a:rPr>
              <a:t>      	 = f(n)</a:t>
            </a:r>
          </a:p>
          <a:p>
            <a:pPr eaLnBrk="1" hangingPunct="1">
              <a:lnSpc>
                <a:spcPct val="80000"/>
              </a:lnSpc>
            </a:pPr>
            <a:endParaRPr lang="en-US" sz="2000" dirty="0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ea typeface="ＭＳ Ｐゴシック" pitchFamily="-65" charset="-128"/>
              </a:rPr>
              <a:t>i.e., </a:t>
            </a:r>
            <a:r>
              <a:rPr lang="en-US" sz="2000" i="1" dirty="0" smtClean="0">
                <a:ea typeface="ＭＳ Ｐゴシック" pitchFamily="-65" charset="-128"/>
              </a:rPr>
              <a:t>f(n)</a:t>
            </a:r>
            <a:r>
              <a:rPr lang="en-US" sz="2000" dirty="0" smtClean="0">
                <a:ea typeface="ＭＳ Ｐゴシック" pitchFamily="-65" charset="-128"/>
              </a:rPr>
              <a:t> is non-decreasing along any path.</a:t>
            </a:r>
          </a:p>
          <a:p>
            <a:pPr eaLnBrk="1" hangingPunct="1">
              <a:lnSpc>
                <a:spcPct val="80000"/>
              </a:lnSpc>
            </a:pPr>
            <a:r>
              <a:rPr lang="en-US" sz="2000" dirty="0" smtClean="0">
                <a:solidFill>
                  <a:schemeClr val="accent2"/>
                </a:solidFill>
                <a:ea typeface="ＭＳ Ｐゴシック" pitchFamily="-65" charset="-128"/>
              </a:rPr>
              <a:t>Theorem</a:t>
            </a:r>
            <a:r>
              <a:rPr lang="en-US" sz="2000" dirty="0" smtClean="0">
                <a:ea typeface="ＭＳ Ｐゴシック" pitchFamily="-65" charset="-128"/>
              </a:rPr>
              <a:t>: If </a:t>
            </a:r>
            <a:r>
              <a:rPr lang="en-US" sz="2000" i="1" dirty="0" smtClean="0">
                <a:ea typeface="ＭＳ Ｐゴシック" pitchFamily="-65" charset="-128"/>
              </a:rPr>
              <a:t>h(n)</a:t>
            </a:r>
            <a:r>
              <a:rPr lang="en-US" sz="2000" dirty="0" smtClean="0">
                <a:ea typeface="ＭＳ Ｐゴシック" pitchFamily="-65" charset="-128"/>
              </a:rPr>
              <a:t> is consistent, A</a:t>
            </a:r>
            <a:r>
              <a:rPr lang="en-US" sz="2000" i="1" dirty="0" smtClean="0">
                <a:ea typeface="ＭＳ Ｐゴシック" pitchFamily="-65" charset="-128"/>
              </a:rPr>
              <a:t>*</a:t>
            </a:r>
            <a:r>
              <a:rPr lang="en-US" sz="2000" dirty="0" smtClean="0">
                <a:ea typeface="ＭＳ Ｐゴシック" pitchFamily="-65" charset="-128"/>
              </a:rPr>
              <a:t> using </a:t>
            </a:r>
            <a:r>
              <a:rPr lang="en-US" sz="2000" dirty="0" smtClean="0">
                <a:latin typeface="Courier New" pitchFamily="-65" charset="0"/>
                <a:ea typeface="ＭＳ Ｐゴシック" pitchFamily="-65" charset="-128"/>
              </a:rPr>
              <a:t>GRAPH-SEARCH</a:t>
            </a:r>
            <a:r>
              <a:rPr lang="en-US" sz="2000" dirty="0" smtClean="0">
                <a:ea typeface="ＭＳ Ｐゴシック" pitchFamily="-65" charset="-128"/>
              </a:rPr>
              <a:t> is optimal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Consistent heuristics</a:t>
            </a:r>
          </a:p>
        </p:txBody>
      </p:sp>
      <p:pic>
        <p:nvPicPr>
          <p:cNvPr id="34820" name="Picture 4" descr="consistenc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2132856"/>
            <a:ext cx="2371725" cy="2520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Given </a:t>
            </a:r>
            <a:r>
              <a:rPr lang="en-US" sz="2800" i="1" dirty="0" smtClean="0">
                <a:ea typeface="ＭＳ Ｐゴシック" pitchFamily="-65" charset="-128"/>
              </a:rPr>
              <a:t>f(n)</a:t>
            </a:r>
            <a:r>
              <a:rPr lang="en-US" sz="2800" dirty="0" smtClean="0">
                <a:ea typeface="ＭＳ Ｐゴシック" pitchFamily="-65" charset="-128"/>
              </a:rPr>
              <a:t> is non-decreasing along any path</a:t>
            </a:r>
          </a:p>
          <a:p>
            <a:r>
              <a:rPr lang="en-US" sz="2800" dirty="0" smtClean="0">
                <a:ea typeface="ＭＳ Ｐゴシック" pitchFamily="-65" charset="-128"/>
              </a:rPr>
              <a:t>The sequence of nodes expanded by A* is in </a:t>
            </a:r>
            <a:r>
              <a:rPr lang="en-US" sz="2800" dirty="0" err="1" smtClean="0">
                <a:ea typeface="ＭＳ Ｐゴシック" pitchFamily="-65" charset="-128"/>
              </a:rPr>
              <a:t>nondecreasing</a:t>
            </a:r>
            <a:r>
              <a:rPr lang="en-US" sz="2800" dirty="0" smtClean="0">
                <a:ea typeface="ＭＳ Ｐゴシック" pitchFamily="-65" charset="-128"/>
              </a:rPr>
              <a:t> order of f(n)</a:t>
            </a:r>
          </a:p>
          <a:p>
            <a:r>
              <a:rPr lang="en-US" sz="2800" dirty="0" smtClean="0">
                <a:ea typeface="ＭＳ Ｐゴシック" pitchFamily="-65" charset="-128"/>
              </a:rPr>
              <a:t>Hence the first goal to be selected for expansion must be an optimal solution (since all the latter nodes are at least as expensive).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Optimality follows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8458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smtClean="0">
                <a:ea typeface="ＭＳ Ｐゴシック" pitchFamily="-65" charset="-128"/>
              </a:rPr>
              <a:t>A</a:t>
            </a:r>
            <a:r>
              <a:rPr lang="en-US" sz="2000" baseline="30000" smtClean="0">
                <a:ea typeface="ＭＳ Ｐゴシック" pitchFamily="-65" charset="-128"/>
              </a:rPr>
              <a:t>*</a:t>
            </a:r>
            <a:r>
              <a:rPr lang="en-US" sz="2000" smtClean="0">
                <a:ea typeface="ＭＳ Ｐゴシック" pitchFamily="-65" charset="-128"/>
              </a:rPr>
              <a:t> expands nodes in order of increasing </a:t>
            </a:r>
            <a:r>
              <a:rPr lang="en-US" sz="2000" i="1" smtClean="0">
                <a:ea typeface="ＭＳ Ｐゴシック" pitchFamily="-65" charset="-128"/>
              </a:rPr>
              <a:t>f</a:t>
            </a:r>
            <a:r>
              <a:rPr lang="en-US" sz="2000" smtClean="0">
                <a:ea typeface="ＭＳ Ｐゴシック" pitchFamily="-65" charset="-128"/>
              </a:rPr>
              <a:t> value</a:t>
            </a:r>
          </a:p>
          <a:p>
            <a:pPr eaLnBrk="1" hangingPunct="1"/>
            <a:r>
              <a:rPr lang="en-US" sz="2000" smtClean="0">
                <a:ea typeface="ＭＳ Ｐゴシック" pitchFamily="-65" charset="-128"/>
              </a:rPr>
              <a:t>Gradually adds "</a:t>
            </a:r>
            <a:r>
              <a:rPr lang="en-US" sz="2000" i="1" smtClean="0">
                <a:ea typeface="ＭＳ Ｐゴシック" pitchFamily="-65" charset="-128"/>
              </a:rPr>
              <a:t>f</a:t>
            </a:r>
            <a:r>
              <a:rPr lang="en-US" sz="2000" smtClean="0">
                <a:ea typeface="ＭＳ Ｐゴシック" pitchFamily="-65" charset="-128"/>
              </a:rPr>
              <a:t>-contours" of nodes </a:t>
            </a:r>
          </a:p>
          <a:p>
            <a:pPr eaLnBrk="1" hangingPunct="1"/>
            <a:r>
              <a:rPr lang="en-US" sz="2000" smtClean="0">
                <a:ea typeface="ＭＳ Ｐゴシック" pitchFamily="-65" charset="-128"/>
              </a:rPr>
              <a:t>Contour </a:t>
            </a:r>
            <a:r>
              <a:rPr lang="en-US" sz="2000" i="1" smtClean="0">
                <a:ea typeface="ＭＳ Ｐゴシック" pitchFamily="-65" charset="-128"/>
              </a:rPr>
              <a:t>i</a:t>
            </a:r>
            <a:r>
              <a:rPr lang="en-US" sz="2000" smtClean="0">
                <a:ea typeface="ＭＳ Ｐゴシック" pitchFamily="-65" charset="-128"/>
              </a:rPr>
              <a:t> has all nodes with </a:t>
            </a:r>
            <a:r>
              <a:rPr lang="en-US" sz="2000" i="1" smtClean="0">
                <a:ea typeface="ＭＳ Ｐゴシック" pitchFamily="-65" charset="-128"/>
              </a:rPr>
              <a:t>f=f</a:t>
            </a:r>
            <a:r>
              <a:rPr lang="en-US" sz="2000" i="1" baseline="-25000" smtClean="0">
                <a:ea typeface="ＭＳ Ｐゴシック" pitchFamily="-65" charset="-128"/>
              </a:rPr>
              <a:t>i</a:t>
            </a:r>
            <a:r>
              <a:rPr lang="en-US" sz="2000" smtClean="0">
                <a:ea typeface="ＭＳ Ｐゴシック" pitchFamily="-65" charset="-128"/>
              </a:rPr>
              <a:t>, where </a:t>
            </a:r>
            <a:r>
              <a:rPr lang="en-US" sz="2000" i="1" smtClean="0">
                <a:ea typeface="ＭＳ Ｐゴシック" pitchFamily="-65" charset="-128"/>
              </a:rPr>
              <a:t>f</a:t>
            </a:r>
            <a:r>
              <a:rPr lang="en-US" sz="2000" i="1" baseline="-25000" smtClean="0">
                <a:ea typeface="ＭＳ Ｐゴシック" pitchFamily="-65" charset="-128"/>
              </a:rPr>
              <a:t>i</a:t>
            </a:r>
            <a:r>
              <a:rPr lang="en-US" sz="2000" i="1" smtClean="0">
                <a:ea typeface="ＭＳ Ｐゴシック" pitchFamily="-65" charset="-128"/>
              </a:rPr>
              <a:t> &lt; f</a:t>
            </a:r>
            <a:r>
              <a:rPr lang="en-US" sz="2000" i="1" baseline="-25000" smtClean="0">
                <a:ea typeface="ＭＳ Ｐゴシック" pitchFamily="-65" charset="-128"/>
              </a:rPr>
              <a:t>i+1</a:t>
            </a:r>
            <a:endParaRPr lang="en-US" sz="2000" smtClean="0">
              <a:ea typeface="ＭＳ Ｐゴシック" pitchFamily="-65" charset="-128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Optimality of A</a:t>
            </a:r>
            <a:r>
              <a:rPr lang="en-US" baseline="30000">
                <a:ea typeface="+mj-ea"/>
                <a:cs typeface="+mj-cs"/>
              </a:rPr>
              <a:t>*</a:t>
            </a:r>
          </a:p>
        </p:txBody>
      </p:sp>
      <p:pic>
        <p:nvPicPr>
          <p:cNvPr id="35844" name="Picture 4" descr="f-circl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819400"/>
            <a:ext cx="6324600" cy="356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>
                <a:ea typeface="ＭＳ Ｐゴシック" pitchFamily="-65" charset="-128"/>
              </a:rPr>
              <a:t>If C* is the cost of the optimal path</a:t>
            </a:r>
          </a:p>
          <a:p>
            <a:pPr eaLnBrk="1" hangingPunct="1"/>
            <a:endParaRPr lang="en-GB" smtClean="0">
              <a:ea typeface="ＭＳ Ｐゴシック" pitchFamily="-65" charset="-128"/>
            </a:endParaRPr>
          </a:p>
          <a:p>
            <a:pPr eaLnBrk="1" hangingPunct="1"/>
            <a:r>
              <a:rPr lang="en-GB" smtClean="0">
                <a:ea typeface="ＭＳ Ｐゴシック" pitchFamily="-65" charset="-128"/>
              </a:rPr>
              <a:t>A* expands all nodes s.t. f(n)&lt;C*</a:t>
            </a:r>
          </a:p>
          <a:p>
            <a:pPr eaLnBrk="1" hangingPunct="1"/>
            <a:r>
              <a:rPr lang="en-GB" smtClean="0">
                <a:ea typeface="ＭＳ Ｐゴシック" pitchFamily="-65" charset="-128"/>
              </a:rPr>
              <a:t>A* will possibly expand nodes on the right of the ‘goal contour’ (f(n)=C*), before finding the goal node</a:t>
            </a:r>
          </a:p>
          <a:p>
            <a:pPr eaLnBrk="1" hangingPunct="1"/>
            <a:r>
              <a:rPr lang="en-GB" smtClean="0">
                <a:ea typeface="ＭＳ Ｐゴシック" pitchFamily="-65" charset="-128"/>
              </a:rPr>
              <a:t>A* never expands nodes with f(n)&gt;C*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Characteristics of A*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>
                <a:ea typeface="ＭＳ Ｐゴシック" pitchFamily="-65" charset="-128"/>
              </a:rPr>
              <a:t>Does efficient pruning</a:t>
            </a:r>
          </a:p>
          <a:p>
            <a:pPr lvl="1" eaLnBrk="1" hangingPunct="1"/>
            <a:r>
              <a:rPr lang="en-GB" smtClean="0">
                <a:ea typeface="ＭＳ Ｐゴシック" pitchFamily="-65" charset="-128"/>
              </a:rPr>
              <a:t>Bits of the tree for which f(n) &gt; f(G) are not expanded</a:t>
            </a:r>
          </a:p>
          <a:p>
            <a:pPr lvl="1" eaLnBrk="1" hangingPunct="1"/>
            <a:endParaRPr lang="en-GB" smtClean="0">
              <a:ea typeface="ＭＳ Ｐゴシック" pitchFamily="-65" charset="-128"/>
            </a:endParaRPr>
          </a:p>
          <a:p>
            <a:pPr eaLnBrk="1" hangingPunct="1"/>
            <a:r>
              <a:rPr lang="en-GB" smtClean="0">
                <a:ea typeface="ＭＳ Ｐゴシック" pitchFamily="-65" charset="-128"/>
              </a:rPr>
              <a:t>Is optimally efficient</a:t>
            </a:r>
          </a:p>
          <a:p>
            <a:pPr lvl="1" eaLnBrk="1" hangingPunct="1"/>
            <a:r>
              <a:rPr lang="en-GB" smtClean="0">
                <a:ea typeface="ＭＳ Ｐゴシック" pitchFamily="-65" charset="-128"/>
              </a:rPr>
              <a:t>No other algorithm is guaranteed to expand fewer nodes than A* (unless there many tie-breaking nodes)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Characteristics of A*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Complete?</a:t>
            </a:r>
            <a:r>
              <a:rPr lang="en-US" sz="2800" smtClean="0">
                <a:ea typeface="ＭＳ Ｐゴシック" pitchFamily="-65" charset="-128"/>
              </a:rPr>
              <a:t> Yes (unless there are infinitely many nodes with f </a:t>
            </a:r>
            <a:r>
              <a:rPr lang="en-US" sz="2800" i="1" smtClean="0">
                <a:ea typeface="ＭＳ Ｐゴシック" pitchFamily="-65" charset="-128"/>
                <a:cs typeface="Arial" charset="0"/>
              </a:rPr>
              <a:t>≤</a:t>
            </a:r>
            <a:r>
              <a:rPr lang="en-US" sz="2800" i="1" smtClean="0">
                <a:ea typeface="ＭＳ Ｐゴシック" pitchFamily="-65" charset="-128"/>
              </a:rPr>
              <a:t> f(G) </a:t>
            </a:r>
            <a:r>
              <a:rPr lang="en-US" sz="2800" smtClean="0">
                <a:ea typeface="ＭＳ Ｐゴシック" pitchFamily="-65" charset="-128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z="2800" u="sng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Time?</a:t>
            </a:r>
            <a:r>
              <a:rPr lang="en-US" sz="2800" smtClean="0">
                <a:ea typeface="ＭＳ Ｐゴシック" pitchFamily="-65" charset="-128"/>
              </a:rPr>
              <a:t> Exponential (in length of optimal solution)</a:t>
            </a:r>
          </a:p>
          <a:p>
            <a:pPr eaLnBrk="1" hangingPunct="1">
              <a:lnSpc>
                <a:spcPct val="90000"/>
              </a:lnSpc>
            </a:pPr>
            <a:endParaRPr lang="en-US" sz="2800" u="sng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Space?</a:t>
            </a:r>
            <a:r>
              <a:rPr lang="en-US" sz="2800" smtClean="0">
                <a:ea typeface="ＭＳ Ｐゴシック" pitchFamily="-65" charset="-128"/>
              </a:rPr>
              <a:t> Keeps all (expanded) nodes in memory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Optimal?</a:t>
            </a:r>
            <a:r>
              <a:rPr lang="en-US" sz="2800" smtClean="0">
                <a:ea typeface="ＭＳ Ｐゴシック" pitchFamily="-65" charset="-128"/>
              </a:rPr>
              <a:t> Yes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Properties of A*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r>
              <a:rPr lang="en-US" sz="2000" smtClean="0">
                <a:ea typeface="ＭＳ Ｐゴシック" pitchFamily="-65" charset="-128"/>
              </a:rPr>
              <a:t>E.g., for the 8-puzzle: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smtClean="0">
                <a:ea typeface="ＭＳ Ｐゴシック" pitchFamily="-65" charset="-128"/>
              </a:rPr>
              <a:t>h</a:t>
            </a:r>
            <a:r>
              <a:rPr lang="en-US" sz="2000" i="1" baseline="-25000" smtClean="0">
                <a:ea typeface="ＭＳ Ｐゴシック" pitchFamily="-65" charset="-128"/>
              </a:rPr>
              <a:t>1</a:t>
            </a:r>
            <a:r>
              <a:rPr lang="en-US" sz="2000" i="1" smtClean="0">
                <a:ea typeface="ＭＳ Ｐゴシック" pitchFamily="-65" charset="-128"/>
              </a:rPr>
              <a:t>(n) </a:t>
            </a:r>
            <a:r>
              <a:rPr lang="en-US" sz="2000" smtClean="0">
                <a:ea typeface="ＭＳ Ｐゴシック" pitchFamily="-65" charset="-128"/>
              </a:rPr>
              <a:t>= number of misplaced tiles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smtClean="0">
                <a:ea typeface="ＭＳ Ｐゴシック" pitchFamily="-65" charset="-128"/>
              </a:rPr>
              <a:t>h</a:t>
            </a:r>
            <a:r>
              <a:rPr lang="en-US" sz="2000" i="1" baseline="-25000" smtClean="0">
                <a:ea typeface="ＭＳ Ｐゴシック" pitchFamily="-65" charset="-128"/>
              </a:rPr>
              <a:t>2</a:t>
            </a:r>
            <a:r>
              <a:rPr lang="en-US" sz="2000" i="1" smtClean="0">
                <a:ea typeface="ＭＳ Ｐゴシック" pitchFamily="-65" charset="-128"/>
              </a:rPr>
              <a:t>(n) </a:t>
            </a:r>
            <a:r>
              <a:rPr lang="en-US" sz="2000" smtClean="0">
                <a:ea typeface="ＭＳ Ｐゴシック" pitchFamily="-65" charset="-128"/>
              </a:rPr>
              <a:t>= total Manhattan distance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r>
              <a:rPr lang="en-US" sz="2000" smtClean="0">
                <a:ea typeface="ＭＳ Ｐゴシック" pitchFamily="-65" charset="-128"/>
              </a:rPr>
              <a:t>(i.e., no. of squares from desired location of each tile)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z="2000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h</a:t>
            </a:r>
            <a:r>
              <a:rPr lang="en-US" sz="2800" u="sng" baseline="-25000" smtClean="0">
                <a:solidFill>
                  <a:srgbClr val="CC0099"/>
                </a:solidFill>
                <a:ea typeface="ＭＳ Ｐゴシック" pitchFamily="-65" charset="-128"/>
              </a:rPr>
              <a:t>1</a:t>
            </a: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(S) = ? </a:t>
            </a: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h</a:t>
            </a:r>
            <a:r>
              <a:rPr lang="en-US" sz="2800" u="sng" baseline="-25000" smtClean="0">
                <a:solidFill>
                  <a:srgbClr val="CC0099"/>
                </a:solidFill>
                <a:ea typeface="ＭＳ Ｐゴシック" pitchFamily="-65" charset="-128"/>
              </a:rPr>
              <a:t>2</a:t>
            </a: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(S) = ?</a:t>
            </a:r>
            <a:r>
              <a:rPr lang="en-US" sz="2800" smtClean="0">
                <a:ea typeface="ＭＳ Ｐゴシック" pitchFamily="-65" charset="-128"/>
              </a:rPr>
              <a:t> 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Admissible heuristics</a:t>
            </a:r>
          </a:p>
        </p:txBody>
      </p:sp>
      <p:pic>
        <p:nvPicPr>
          <p:cNvPr id="39940" name="Picture 4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5738" y="3573463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r>
              <a:rPr lang="en-US" sz="2000" smtClean="0">
                <a:ea typeface="ＭＳ Ｐゴシック" pitchFamily="-65" charset="-128"/>
              </a:rPr>
              <a:t>E.g., for the 8-puzzle: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smtClean="0">
                <a:ea typeface="ＭＳ Ｐゴシック" pitchFamily="-65" charset="-128"/>
              </a:rPr>
              <a:t>h</a:t>
            </a:r>
            <a:r>
              <a:rPr lang="en-US" sz="2000" i="1" baseline="-25000" smtClean="0">
                <a:ea typeface="ＭＳ Ｐゴシック" pitchFamily="-65" charset="-128"/>
              </a:rPr>
              <a:t>1</a:t>
            </a:r>
            <a:r>
              <a:rPr lang="en-US" sz="2000" i="1" smtClean="0">
                <a:ea typeface="ＭＳ Ｐゴシック" pitchFamily="-65" charset="-128"/>
              </a:rPr>
              <a:t>(n) </a:t>
            </a:r>
            <a:r>
              <a:rPr lang="en-US" sz="2000" smtClean="0">
                <a:ea typeface="ＭＳ Ｐゴシック" pitchFamily="-65" charset="-128"/>
              </a:rPr>
              <a:t>= number of misplaced tiles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i="1" smtClean="0">
                <a:ea typeface="ＭＳ Ｐゴシック" pitchFamily="-65" charset="-128"/>
              </a:rPr>
              <a:t>h</a:t>
            </a:r>
            <a:r>
              <a:rPr lang="en-US" sz="2000" i="1" baseline="-25000" smtClean="0">
                <a:ea typeface="ＭＳ Ｐゴシック" pitchFamily="-65" charset="-128"/>
              </a:rPr>
              <a:t>2</a:t>
            </a:r>
            <a:r>
              <a:rPr lang="en-US" sz="2000" i="1" smtClean="0">
                <a:ea typeface="ＭＳ Ｐゴシック" pitchFamily="-65" charset="-128"/>
              </a:rPr>
              <a:t>(n) </a:t>
            </a:r>
            <a:r>
              <a:rPr lang="en-US" sz="2000" smtClean="0">
                <a:ea typeface="ＭＳ Ｐゴシック" pitchFamily="-65" charset="-128"/>
              </a:rPr>
              <a:t>= total Manhattan distance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r>
              <a:rPr lang="en-US" sz="2000" smtClean="0">
                <a:ea typeface="ＭＳ Ｐゴシック" pitchFamily="-65" charset="-128"/>
              </a:rPr>
              <a:t>(i.e., no. of squares from desired location of each tile)</a:t>
            </a: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z="2000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  <a:buFont typeface="Wingdings" pitchFamily="-65" charset="2"/>
              <a:buNone/>
            </a:pPr>
            <a:endParaRPr lang="en-US" smtClean="0"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h</a:t>
            </a:r>
            <a:r>
              <a:rPr lang="en-US" sz="2800" u="sng" baseline="-25000" smtClean="0">
                <a:solidFill>
                  <a:srgbClr val="CC0099"/>
                </a:solidFill>
                <a:ea typeface="ＭＳ Ｐゴシック" pitchFamily="-65" charset="-128"/>
              </a:rPr>
              <a:t>1</a:t>
            </a: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(S) = ?</a:t>
            </a:r>
            <a:r>
              <a:rPr lang="en-US" sz="2800" smtClean="0">
                <a:ea typeface="ＭＳ Ｐゴシック" pitchFamily="-65" charset="-128"/>
              </a:rPr>
              <a:t> 8</a:t>
            </a:r>
            <a:endParaRPr lang="en-US" sz="2800" u="sng" smtClean="0">
              <a:solidFill>
                <a:srgbClr val="CC0099"/>
              </a:solidFill>
              <a:ea typeface="ＭＳ Ｐゴシック" pitchFamily="-65" charset="-128"/>
            </a:endParaRPr>
          </a:p>
          <a:p>
            <a:pPr eaLnBrk="1" hangingPunct="1">
              <a:lnSpc>
                <a:spcPct val="90000"/>
              </a:lnSpc>
            </a:pP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h</a:t>
            </a:r>
            <a:r>
              <a:rPr lang="en-US" sz="2800" u="sng" baseline="-25000" smtClean="0">
                <a:solidFill>
                  <a:srgbClr val="CC0099"/>
                </a:solidFill>
                <a:ea typeface="ＭＳ Ｐゴシック" pitchFamily="-65" charset="-128"/>
              </a:rPr>
              <a:t>2</a:t>
            </a:r>
            <a:r>
              <a:rPr lang="en-US" sz="2800" u="sng" smtClean="0">
                <a:solidFill>
                  <a:srgbClr val="CC0099"/>
                </a:solidFill>
                <a:ea typeface="ＭＳ Ｐゴシック" pitchFamily="-65" charset="-128"/>
              </a:rPr>
              <a:t>(S) = ?</a:t>
            </a:r>
            <a:r>
              <a:rPr lang="en-US" sz="2800" smtClean="0">
                <a:ea typeface="ＭＳ Ｐゴシック" pitchFamily="-65" charset="-128"/>
              </a:rPr>
              <a:t> 3+1+2+2+2+3+3+2 = 18</a:t>
            </a:r>
            <a:r>
              <a:rPr lang="en-US" sz="2400" smtClean="0">
                <a:ea typeface="ＭＳ Ｐゴシック" pitchFamily="-65" charset="-128"/>
              </a:rPr>
              <a:t> 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Admissible heuristics</a:t>
            </a:r>
          </a:p>
        </p:txBody>
      </p:sp>
      <p:pic>
        <p:nvPicPr>
          <p:cNvPr id="40964" name="Picture 4" descr="8puzzl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2895600"/>
            <a:ext cx="4257675" cy="216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 pitchFamily="-65" charset="-128"/>
              </a:rPr>
              <a:t>If </a:t>
            </a:r>
            <a:r>
              <a:rPr lang="en-US" sz="2400" i="1" smtClean="0">
                <a:ea typeface="ＭＳ Ｐゴシック" pitchFamily="-65" charset="-128"/>
              </a:rPr>
              <a:t>h</a:t>
            </a:r>
            <a:r>
              <a:rPr lang="en-US" sz="2400" i="1" baseline="-25000" smtClean="0">
                <a:ea typeface="ＭＳ Ｐゴシック" pitchFamily="-65" charset="-128"/>
              </a:rPr>
              <a:t>2</a:t>
            </a:r>
            <a:r>
              <a:rPr lang="en-US" sz="2400" i="1" smtClean="0">
                <a:ea typeface="ＭＳ Ｐゴシック" pitchFamily="-65" charset="-128"/>
              </a:rPr>
              <a:t>(n) </a:t>
            </a:r>
            <a:r>
              <a:rPr lang="en-US" sz="2400" i="1" smtClean="0">
                <a:ea typeface="ＭＳ Ｐゴシック" pitchFamily="-65" charset="-128"/>
                <a:cs typeface="Arial" charset="0"/>
              </a:rPr>
              <a:t>≥</a:t>
            </a:r>
            <a:r>
              <a:rPr lang="en-US" sz="2400" i="1" smtClean="0">
                <a:ea typeface="ＭＳ Ｐゴシック" pitchFamily="-65" charset="-128"/>
              </a:rPr>
              <a:t> h</a:t>
            </a:r>
            <a:r>
              <a:rPr lang="en-US" sz="2400" i="1" baseline="-25000" smtClean="0">
                <a:ea typeface="ＭＳ Ｐゴシック" pitchFamily="-65" charset="-128"/>
              </a:rPr>
              <a:t>1</a:t>
            </a:r>
            <a:r>
              <a:rPr lang="en-US" sz="2400" i="1" smtClean="0">
                <a:ea typeface="ＭＳ Ｐゴシック" pitchFamily="-65" charset="-128"/>
              </a:rPr>
              <a:t>(n)</a:t>
            </a:r>
            <a:r>
              <a:rPr lang="en-US" sz="2400" smtClean="0">
                <a:ea typeface="ＭＳ Ｐゴシック" pitchFamily="-65" charset="-128"/>
              </a:rPr>
              <a:t> for all </a:t>
            </a:r>
            <a:r>
              <a:rPr lang="en-US" sz="2400" i="1" smtClean="0">
                <a:ea typeface="ＭＳ Ｐゴシック" pitchFamily="-65" charset="-128"/>
              </a:rPr>
              <a:t>n</a:t>
            </a:r>
            <a:r>
              <a:rPr lang="en-US" sz="2400" smtClean="0">
                <a:ea typeface="ＭＳ Ｐゴシック" pitchFamily="-65" charset="-128"/>
              </a:rPr>
              <a:t> (both admissible)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 pitchFamily="-65" charset="-128"/>
              </a:rPr>
              <a:t>then </a:t>
            </a:r>
            <a:r>
              <a:rPr lang="en-US" sz="2400" i="1" smtClean="0">
                <a:ea typeface="ＭＳ Ｐゴシック" pitchFamily="-65" charset="-128"/>
              </a:rPr>
              <a:t>h</a:t>
            </a:r>
            <a:r>
              <a:rPr lang="en-US" sz="2400" i="1" baseline="-25000" smtClean="0">
                <a:ea typeface="ＭＳ Ｐゴシック" pitchFamily="-65" charset="-128"/>
              </a:rPr>
              <a:t>2</a:t>
            </a:r>
            <a:r>
              <a:rPr lang="en-US" sz="2400" i="1" smtClean="0">
                <a:ea typeface="ＭＳ Ｐゴシック" pitchFamily="-65" charset="-128"/>
              </a:rPr>
              <a:t> </a:t>
            </a:r>
            <a:r>
              <a:rPr lang="en-US" sz="2400" smtClean="0">
                <a:solidFill>
                  <a:srgbClr val="FF0000"/>
                </a:solidFill>
                <a:ea typeface="ＭＳ Ｐゴシック" pitchFamily="-65" charset="-128"/>
              </a:rPr>
              <a:t>dominates</a:t>
            </a:r>
            <a:r>
              <a:rPr lang="en-US" sz="2400" smtClean="0">
                <a:ea typeface="ＭＳ Ｐゴシック" pitchFamily="-65" charset="-128"/>
              </a:rPr>
              <a:t> </a:t>
            </a:r>
            <a:r>
              <a:rPr lang="en-US" sz="2400" i="1" smtClean="0">
                <a:ea typeface="ＭＳ Ｐゴシック" pitchFamily="-65" charset="-128"/>
              </a:rPr>
              <a:t>h</a:t>
            </a:r>
            <a:r>
              <a:rPr lang="en-US" sz="2400" i="1" baseline="-25000" smtClean="0">
                <a:ea typeface="ＭＳ Ｐゴシック" pitchFamily="-65" charset="-128"/>
              </a:rPr>
              <a:t>1</a:t>
            </a:r>
            <a:r>
              <a:rPr lang="en-US" sz="2400" i="1" smtClean="0">
                <a:ea typeface="ＭＳ Ｐゴシック" pitchFamily="-65" charset="-128"/>
              </a:rPr>
              <a:t>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i="1" smtClean="0">
                <a:ea typeface="ＭＳ Ｐゴシック" pitchFamily="-65" charset="-128"/>
              </a:rPr>
              <a:t>h</a:t>
            </a:r>
            <a:r>
              <a:rPr lang="en-US" sz="2400" i="1" baseline="-25000" smtClean="0">
                <a:ea typeface="ＭＳ Ｐゴシック" pitchFamily="-65" charset="-128"/>
              </a:rPr>
              <a:t>2</a:t>
            </a:r>
            <a:r>
              <a:rPr lang="en-US" sz="2400" i="1" smtClean="0">
                <a:ea typeface="ＭＳ Ｐゴシック" pitchFamily="-65" charset="-128"/>
              </a:rPr>
              <a:t> </a:t>
            </a:r>
            <a:r>
              <a:rPr lang="en-US" sz="2400" smtClean="0">
                <a:ea typeface="ＭＳ Ｐゴシック" pitchFamily="-65" charset="-128"/>
              </a:rPr>
              <a:t>is better for search</a:t>
            </a:r>
          </a:p>
          <a:p>
            <a:pPr eaLnBrk="1" hangingPunct="1">
              <a:lnSpc>
                <a:spcPct val="80000"/>
              </a:lnSpc>
            </a:pPr>
            <a:endParaRPr lang="en-US" sz="2400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smtClean="0">
                <a:ea typeface="ＭＳ Ｐゴシック" pitchFamily="-65" charset="-128"/>
              </a:rPr>
              <a:t>Typical search costs (average number of nodes expanded = effective branching factor):</a:t>
            </a:r>
          </a:p>
          <a:p>
            <a:pPr eaLnBrk="1" hangingPunct="1">
              <a:lnSpc>
                <a:spcPct val="80000"/>
              </a:lnSpc>
            </a:pPr>
            <a:endParaRPr lang="en-US" sz="2400" i="1" smtClean="0">
              <a:ea typeface="ＭＳ Ｐゴシック" pitchFamily="-65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sz="2400" i="1" smtClean="0">
                <a:ea typeface="ＭＳ Ｐゴシック" pitchFamily="-65" charset="-128"/>
              </a:rPr>
              <a:t>d=12	</a:t>
            </a:r>
            <a:r>
              <a:rPr lang="en-US" sz="2400" smtClean="0">
                <a:ea typeface="ＭＳ Ｐゴシック" pitchFamily="-65" charset="-128"/>
              </a:rPr>
              <a:t>IDS = 3,644,035 nodes</a:t>
            </a:r>
            <a:br>
              <a:rPr lang="en-US" sz="2400" smtClean="0">
                <a:ea typeface="ＭＳ Ｐゴシック" pitchFamily="-65" charset="-128"/>
              </a:rPr>
            </a:br>
            <a:r>
              <a:rPr lang="en-US" sz="2400" smtClean="0">
                <a:ea typeface="ＭＳ Ｐゴシック" pitchFamily="-65" charset="-128"/>
              </a:rPr>
              <a:t>			A</a:t>
            </a:r>
            <a:r>
              <a:rPr lang="en-US" sz="2400" baseline="30000" smtClean="0">
                <a:ea typeface="ＭＳ Ｐゴシック" pitchFamily="-65" charset="-128"/>
              </a:rPr>
              <a:t>*</a:t>
            </a:r>
            <a:r>
              <a:rPr lang="en-US" sz="2400" smtClean="0">
                <a:ea typeface="ＭＳ Ｐゴシック" pitchFamily="-65" charset="-128"/>
              </a:rPr>
              <a:t>(h</a:t>
            </a:r>
            <a:r>
              <a:rPr lang="en-US" sz="2400" baseline="-25000" smtClean="0">
                <a:ea typeface="ＭＳ Ｐゴシック" pitchFamily="-65" charset="-128"/>
              </a:rPr>
              <a:t>1</a:t>
            </a:r>
            <a:r>
              <a:rPr lang="en-US" sz="2400" smtClean="0">
                <a:ea typeface="ＭＳ Ｐゴシック" pitchFamily="-65" charset="-128"/>
              </a:rPr>
              <a:t>) = 227 nodes </a:t>
            </a:r>
            <a:br>
              <a:rPr lang="en-US" sz="2400" smtClean="0">
                <a:ea typeface="ＭＳ Ｐゴシック" pitchFamily="-65" charset="-128"/>
              </a:rPr>
            </a:br>
            <a:r>
              <a:rPr lang="en-US" sz="2400" smtClean="0">
                <a:ea typeface="ＭＳ Ｐゴシック" pitchFamily="-65" charset="-128"/>
              </a:rPr>
              <a:t>			A</a:t>
            </a:r>
            <a:r>
              <a:rPr lang="en-US" sz="2400" baseline="30000" smtClean="0">
                <a:ea typeface="ＭＳ Ｐゴシック" pitchFamily="-65" charset="-128"/>
              </a:rPr>
              <a:t>*</a:t>
            </a:r>
            <a:r>
              <a:rPr lang="en-US" sz="2400" smtClean="0">
                <a:ea typeface="ＭＳ Ｐゴシック" pitchFamily="-65" charset="-128"/>
              </a:rPr>
              <a:t>(h</a:t>
            </a:r>
            <a:r>
              <a:rPr lang="en-US" sz="2400" baseline="-25000" smtClean="0">
                <a:ea typeface="ＭＳ Ｐゴシック" pitchFamily="-65" charset="-128"/>
              </a:rPr>
              <a:t>2</a:t>
            </a:r>
            <a:r>
              <a:rPr lang="en-US" sz="2400" smtClean="0">
                <a:ea typeface="ＭＳ Ｐゴシック" pitchFamily="-65" charset="-128"/>
              </a:rPr>
              <a:t>) = 73 nodes </a:t>
            </a:r>
          </a:p>
          <a:p>
            <a:pPr eaLnBrk="1" hangingPunct="1">
              <a:lnSpc>
                <a:spcPct val="80000"/>
              </a:lnSpc>
            </a:pPr>
            <a:r>
              <a:rPr lang="en-US" sz="2400" i="1" smtClean="0">
                <a:ea typeface="ＭＳ Ｐゴシック" pitchFamily="-65" charset="-128"/>
              </a:rPr>
              <a:t>d=24 	</a:t>
            </a:r>
            <a:r>
              <a:rPr lang="en-US" sz="2400" smtClean="0">
                <a:ea typeface="ＭＳ Ｐゴシック" pitchFamily="-65" charset="-128"/>
              </a:rPr>
              <a:t>IDS = too many nodes</a:t>
            </a:r>
            <a:br>
              <a:rPr lang="en-US" sz="2400" smtClean="0">
                <a:ea typeface="ＭＳ Ｐゴシック" pitchFamily="-65" charset="-128"/>
              </a:rPr>
            </a:br>
            <a:r>
              <a:rPr lang="en-US" sz="2400" smtClean="0">
                <a:ea typeface="ＭＳ Ｐゴシック" pitchFamily="-65" charset="-128"/>
              </a:rPr>
              <a:t>			A</a:t>
            </a:r>
            <a:r>
              <a:rPr lang="en-US" sz="2400" baseline="30000" smtClean="0">
                <a:ea typeface="ＭＳ Ｐゴシック" pitchFamily="-65" charset="-128"/>
              </a:rPr>
              <a:t>*</a:t>
            </a:r>
            <a:r>
              <a:rPr lang="en-US" sz="2400" smtClean="0">
                <a:ea typeface="ＭＳ Ｐゴシック" pitchFamily="-65" charset="-128"/>
              </a:rPr>
              <a:t>(h</a:t>
            </a:r>
            <a:r>
              <a:rPr lang="en-US" sz="2400" baseline="-25000" smtClean="0">
                <a:ea typeface="ＭＳ Ｐゴシック" pitchFamily="-65" charset="-128"/>
              </a:rPr>
              <a:t>1</a:t>
            </a:r>
            <a:r>
              <a:rPr lang="en-US" sz="2400" smtClean="0">
                <a:ea typeface="ＭＳ Ｐゴシック" pitchFamily="-65" charset="-128"/>
              </a:rPr>
              <a:t>) = 39,135 nodes </a:t>
            </a:r>
            <a:br>
              <a:rPr lang="en-US" sz="2400" smtClean="0">
                <a:ea typeface="ＭＳ Ｐゴシック" pitchFamily="-65" charset="-128"/>
              </a:rPr>
            </a:br>
            <a:r>
              <a:rPr lang="en-US" sz="2400" smtClean="0">
                <a:ea typeface="ＭＳ Ｐゴシック" pitchFamily="-65" charset="-128"/>
              </a:rPr>
              <a:t>			A</a:t>
            </a:r>
            <a:r>
              <a:rPr lang="en-US" sz="2400" baseline="30000" smtClean="0">
                <a:ea typeface="ＭＳ Ｐゴシック" pitchFamily="-65" charset="-128"/>
              </a:rPr>
              <a:t>*</a:t>
            </a:r>
            <a:r>
              <a:rPr lang="en-US" sz="2400" smtClean="0">
                <a:ea typeface="ＭＳ Ｐゴシック" pitchFamily="-65" charset="-128"/>
              </a:rPr>
              <a:t>(h</a:t>
            </a:r>
            <a:r>
              <a:rPr lang="en-US" sz="2400" baseline="-25000" smtClean="0">
                <a:ea typeface="ＭＳ Ｐゴシック" pitchFamily="-65" charset="-128"/>
              </a:rPr>
              <a:t>2</a:t>
            </a:r>
            <a:r>
              <a:rPr lang="en-US" sz="2400" smtClean="0">
                <a:ea typeface="ＭＳ Ｐゴシック" pitchFamily="-65" charset="-128"/>
              </a:rPr>
              <a:t>) = 1,641 nodes 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Dominance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mtClean="0">
                <a:ea typeface="ＭＳ Ｐゴシック" pitchFamily="-65" charset="-128"/>
              </a:rPr>
              <a:t>Often impractical to find optimal solution</a:t>
            </a:r>
          </a:p>
          <a:p>
            <a:pPr lvl="1" eaLnBrk="1" hangingPunct="1"/>
            <a:r>
              <a:rPr lang="en-GB" smtClean="0">
                <a:ea typeface="ＭＳ Ｐゴシック" pitchFamily="-65" charset="-128"/>
              </a:rPr>
              <a:t>Variants of A* that find sub-optimal solutions quickly</a:t>
            </a:r>
          </a:p>
          <a:p>
            <a:pPr lvl="1" eaLnBrk="1" hangingPunct="1"/>
            <a:r>
              <a:rPr lang="en-GB" smtClean="0">
                <a:ea typeface="ＭＳ Ｐゴシック" pitchFamily="-65" charset="-128"/>
              </a:rPr>
              <a:t>‘More accurate’ heuristics that are not strictly admissable</a:t>
            </a:r>
          </a:p>
          <a:p>
            <a:pPr lvl="1" eaLnBrk="1" hangingPunct="1"/>
            <a:endParaRPr lang="en-GB" smtClean="0">
              <a:ea typeface="ＭＳ Ｐゴシック" pitchFamily="-65" charset="-128"/>
            </a:endParaRPr>
          </a:p>
          <a:p>
            <a:pPr eaLnBrk="1" hangingPunct="1"/>
            <a:r>
              <a:rPr lang="en-GB" smtClean="0">
                <a:ea typeface="ＭＳ Ｐゴシック" pitchFamily="-65" charset="-128"/>
              </a:rPr>
              <a:t>How do you create a heuristic?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More on heuristics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Aft>
                <a:spcPts val="600"/>
              </a:spcAft>
            </a:pPr>
            <a:r>
              <a:rPr lang="en-US" sz="2400" dirty="0" smtClean="0">
                <a:ea typeface="ＭＳ Ｐゴシック" pitchFamily="-65" charset="-128"/>
              </a:rPr>
              <a:t>A problem with fewer restrictions on the actions is called a </a:t>
            </a:r>
            <a:r>
              <a:rPr lang="en-US" sz="2400" dirty="0" smtClean="0">
                <a:solidFill>
                  <a:srgbClr val="FF0000"/>
                </a:solidFill>
                <a:ea typeface="ＭＳ Ｐゴシック" pitchFamily="-65" charset="-128"/>
              </a:rPr>
              <a:t>relaxed problem</a:t>
            </a:r>
            <a:endParaRPr lang="en-US" sz="2400" dirty="0" smtClean="0">
              <a:ea typeface="ＭＳ Ｐゴシック" pitchFamily="-65" charset="-128"/>
            </a:endParaRPr>
          </a:p>
          <a:p>
            <a:pPr eaLnBrk="1" hangingPunct="1">
              <a:spcAft>
                <a:spcPts val="600"/>
              </a:spcAft>
            </a:pPr>
            <a:r>
              <a:rPr lang="en-US" sz="2400" dirty="0" smtClean="0">
                <a:ea typeface="ＭＳ Ｐゴシック" pitchFamily="-65" charset="-128"/>
              </a:rPr>
              <a:t>The cost of an optimal solution to a relaxed problem is an admissible heuristic for the original problem</a:t>
            </a:r>
          </a:p>
          <a:p>
            <a:pPr eaLnBrk="1" hangingPunct="1">
              <a:spcAft>
                <a:spcPts val="600"/>
              </a:spcAft>
            </a:pPr>
            <a:r>
              <a:rPr lang="en-US" sz="2400" dirty="0" smtClean="0">
                <a:ea typeface="ＭＳ Ｐゴシック" pitchFamily="-65" charset="-128"/>
              </a:rPr>
              <a:t>If the rules of the 8-puzzle are relaxed so that a tile can move </a:t>
            </a:r>
            <a:r>
              <a:rPr lang="en-US" sz="2400" dirty="0" smtClean="0">
                <a:solidFill>
                  <a:srgbClr val="FF0000"/>
                </a:solidFill>
                <a:ea typeface="ＭＳ Ｐゴシック" pitchFamily="-65" charset="-128"/>
              </a:rPr>
              <a:t>anywhere</a:t>
            </a:r>
            <a:r>
              <a:rPr lang="en-US" sz="2400" dirty="0" smtClean="0">
                <a:ea typeface="ＭＳ Ｐゴシック" pitchFamily="-65" charset="-128"/>
              </a:rPr>
              <a:t>, then </a:t>
            </a:r>
            <a:r>
              <a:rPr lang="en-US" sz="2400" i="1" dirty="0" smtClean="0">
                <a:ea typeface="ＭＳ Ｐゴシック" pitchFamily="-65" charset="-128"/>
              </a:rPr>
              <a:t>h</a:t>
            </a:r>
            <a:r>
              <a:rPr lang="en-US" sz="2400" i="1" baseline="-25000" dirty="0" smtClean="0">
                <a:ea typeface="ＭＳ Ｐゴシック" pitchFamily="-65" charset="-128"/>
              </a:rPr>
              <a:t>1</a:t>
            </a:r>
            <a:r>
              <a:rPr lang="en-US" sz="2400" i="1" dirty="0" smtClean="0">
                <a:ea typeface="ＭＳ Ｐゴシック" pitchFamily="-65" charset="-128"/>
              </a:rPr>
              <a:t>(n) </a:t>
            </a:r>
            <a:r>
              <a:rPr lang="en-US" sz="2400" dirty="0" smtClean="0">
                <a:ea typeface="ＭＳ Ｐゴシック" pitchFamily="-65" charset="-128"/>
              </a:rPr>
              <a:t>gives the shortest solution</a:t>
            </a:r>
          </a:p>
          <a:p>
            <a:pPr eaLnBrk="1" hangingPunct="1">
              <a:spcAft>
                <a:spcPts val="600"/>
              </a:spcAft>
            </a:pPr>
            <a:r>
              <a:rPr lang="en-US" sz="2400" dirty="0" smtClean="0">
                <a:ea typeface="ＭＳ Ｐゴシック" pitchFamily="-65" charset="-128"/>
              </a:rPr>
              <a:t>If the rules are relaxed so that a tile can move to </a:t>
            </a:r>
            <a:r>
              <a:rPr lang="en-US" sz="2400" dirty="0" smtClean="0">
                <a:solidFill>
                  <a:srgbClr val="FF0000"/>
                </a:solidFill>
                <a:ea typeface="ＭＳ Ｐゴシック" pitchFamily="-65" charset="-128"/>
              </a:rPr>
              <a:t>any adjacent square,</a:t>
            </a:r>
            <a:r>
              <a:rPr lang="en-US" sz="2400" dirty="0" smtClean="0">
                <a:ea typeface="ＭＳ Ｐゴシック" pitchFamily="-65" charset="-128"/>
              </a:rPr>
              <a:t> then </a:t>
            </a:r>
            <a:r>
              <a:rPr lang="en-US" sz="2400" i="1" dirty="0" smtClean="0">
                <a:ea typeface="ＭＳ Ｐゴシック" pitchFamily="-65" charset="-128"/>
              </a:rPr>
              <a:t>h</a:t>
            </a:r>
            <a:r>
              <a:rPr lang="en-US" sz="2400" i="1" baseline="-25000" dirty="0" smtClean="0">
                <a:ea typeface="ＭＳ Ｐゴシック" pitchFamily="-65" charset="-128"/>
              </a:rPr>
              <a:t>2</a:t>
            </a:r>
            <a:r>
              <a:rPr lang="en-US" sz="2400" i="1" dirty="0" smtClean="0">
                <a:ea typeface="ＭＳ Ｐゴシック" pitchFamily="-65" charset="-128"/>
              </a:rPr>
              <a:t>(n) </a:t>
            </a:r>
            <a:r>
              <a:rPr lang="en-US" sz="2400" dirty="0" smtClean="0">
                <a:ea typeface="ＭＳ Ｐゴシック" pitchFamily="-65" charset="-128"/>
              </a:rPr>
              <a:t>gives the shortest solution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>
                <a:ea typeface="+mj-ea"/>
                <a:cs typeface="+mj-cs"/>
              </a:rPr>
              <a:t>Relaxed problems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sz="2800" dirty="0" smtClean="0">
                <a:ea typeface="ＭＳ Ｐゴシック" pitchFamily="-65" charset="-128"/>
              </a:rPr>
              <a:t>Good heuristics help!</a:t>
            </a:r>
          </a:p>
          <a:p>
            <a:pPr lvl="1" eaLnBrk="1" hangingPunct="1"/>
            <a:r>
              <a:rPr lang="en-GB" sz="2400" dirty="0" smtClean="0">
                <a:ea typeface="ＭＳ Ｐゴシック" pitchFamily="-65" charset="-128"/>
              </a:rPr>
              <a:t>Bad heuristics also help (but not much)</a:t>
            </a:r>
          </a:p>
          <a:p>
            <a:pPr eaLnBrk="1" hangingPunct="1"/>
            <a:endParaRPr lang="en-GB" sz="2800" dirty="0" smtClean="0">
              <a:ea typeface="ＭＳ Ｐゴシック" pitchFamily="-65" charset="-128"/>
            </a:endParaRPr>
          </a:p>
          <a:p>
            <a:pPr eaLnBrk="1" hangingPunct="1"/>
            <a:r>
              <a:rPr lang="en-GB" sz="2800" dirty="0" smtClean="0">
                <a:ea typeface="ＭＳ Ｐゴシック" pitchFamily="-65" charset="-128"/>
              </a:rPr>
              <a:t>A* really is optimal in many ways (but optimality is often impractical)</a:t>
            </a:r>
          </a:p>
          <a:p>
            <a:pPr eaLnBrk="1" hangingPunct="1"/>
            <a:endParaRPr lang="en-GB" sz="2800" dirty="0" smtClean="0">
              <a:ea typeface="ＭＳ Ｐゴシック" pitchFamily="-65" charset="-128"/>
            </a:endParaRPr>
          </a:p>
          <a:p>
            <a:pPr eaLnBrk="1" hangingPunct="1"/>
            <a:r>
              <a:rPr lang="en-GB" sz="2800" dirty="0" smtClean="0">
                <a:ea typeface="ＭＳ Ｐゴシック" pitchFamily="-65" charset="-128"/>
              </a:rPr>
              <a:t>Always remember:</a:t>
            </a:r>
          </a:p>
          <a:p>
            <a:pPr lvl="1" eaLnBrk="1" hangingPunct="1"/>
            <a:r>
              <a:rPr lang="en-GB" sz="2400" dirty="0" smtClean="0">
                <a:ea typeface="ＭＳ Ｐゴシック" pitchFamily="-65" charset="-128"/>
              </a:rPr>
              <a:t>(naive) Search space is usually much, much, much, much, bigger than it first looks</a:t>
            </a: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soft" dir="t"/>
            </a:scene3d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>
                <a:ea typeface="+mj-ea"/>
                <a:cs typeface="+mj-cs"/>
              </a:rPr>
              <a:t>Summary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Concourse.thmx</Template>
  <TotalTime>3348</TotalTime>
  <Words>1249</Words>
  <Application>Microsoft Office PowerPoint</Application>
  <PresentationFormat>On-screen Show (4:3)</PresentationFormat>
  <Paragraphs>174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3" baseType="lpstr">
      <vt:lpstr>Wingdings</vt:lpstr>
      <vt:lpstr>Symbol</vt:lpstr>
      <vt:lpstr>Arial</vt:lpstr>
      <vt:lpstr>Courier New</vt:lpstr>
      <vt:lpstr>ＭＳ Ｐゴシック</vt:lpstr>
      <vt:lpstr>Tahoma</vt:lpstr>
      <vt:lpstr>Verdana</vt:lpstr>
      <vt:lpstr>Wingdings 3</vt:lpstr>
      <vt:lpstr>Wingdings 2</vt:lpstr>
      <vt:lpstr>Lucida Sans Unicode</vt:lpstr>
      <vt:lpstr>Concourse</vt:lpstr>
      <vt:lpstr>Heuristic Search</vt:lpstr>
      <vt:lpstr>Search</vt:lpstr>
      <vt:lpstr>Best-first search</vt:lpstr>
      <vt:lpstr>Romania with step costs in km</vt:lpstr>
      <vt:lpstr>Greedy best-first search</vt:lpstr>
      <vt:lpstr>Greedy best-first search example</vt:lpstr>
      <vt:lpstr>Greedy best-first search example</vt:lpstr>
      <vt:lpstr>Greedy best-first search example</vt:lpstr>
      <vt:lpstr>Greedy best-first search example</vt:lpstr>
      <vt:lpstr>Properties of greedy best-first search</vt:lpstr>
      <vt:lpstr>A* search</vt:lpstr>
      <vt:lpstr>A* search example</vt:lpstr>
      <vt:lpstr>A* search example</vt:lpstr>
      <vt:lpstr>A* search example</vt:lpstr>
      <vt:lpstr>A* search example</vt:lpstr>
      <vt:lpstr>A* search example</vt:lpstr>
      <vt:lpstr>A* search example</vt:lpstr>
      <vt:lpstr>Admissible heuristics</vt:lpstr>
      <vt:lpstr>Optimality of A* (proof)</vt:lpstr>
      <vt:lpstr>But, </vt:lpstr>
      <vt:lpstr>Consistent heuristics</vt:lpstr>
      <vt:lpstr>Optimality follows</vt:lpstr>
      <vt:lpstr>Optimality of A*</vt:lpstr>
      <vt:lpstr>Characteristics of A*</vt:lpstr>
      <vt:lpstr>Characteristics of A*</vt:lpstr>
      <vt:lpstr>Properties of A*</vt:lpstr>
      <vt:lpstr>Admissible heuristics</vt:lpstr>
      <vt:lpstr>Admissible heuristics</vt:lpstr>
      <vt:lpstr>Dominance</vt:lpstr>
      <vt:lpstr>More on heuristics</vt:lpstr>
      <vt:lpstr>Relaxed problems</vt:lpstr>
      <vt:lpstr>Summary</vt:lpstr>
    </vt:vector>
  </TitlesOfParts>
  <Company>ECS, University of Southampton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Heuristic Search</dc:title>
  <dc:creator>Craig Saunders</dc:creator>
  <cp:lastModifiedBy>Richard Watson</cp:lastModifiedBy>
  <cp:revision>22</cp:revision>
  <dcterms:created xsi:type="dcterms:W3CDTF">2005-10-13T10:04:21Z</dcterms:created>
  <dcterms:modified xsi:type="dcterms:W3CDTF">2021-10-26T12:49:41Z</dcterms:modified>
</cp:coreProperties>
</file>