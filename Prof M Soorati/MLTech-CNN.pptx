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0"/>
  </p:notesMasterIdLst>
  <p:sldIdLst>
    <p:sldId id="418" r:id="rId2"/>
    <p:sldId id="294" r:id="rId3"/>
    <p:sldId id="257" r:id="rId4"/>
    <p:sldId id="475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471" r:id="rId16"/>
    <p:sldId id="472" r:id="rId17"/>
    <p:sldId id="480" r:id="rId18"/>
    <p:sldId id="482" r:id="rId19"/>
    <p:sldId id="481" r:id="rId20"/>
    <p:sldId id="478" r:id="rId21"/>
    <p:sldId id="476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473" r:id="rId34"/>
    <p:sldId id="474" r:id="rId35"/>
    <p:sldId id="300" r:id="rId36"/>
    <p:sldId id="302" r:id="rId37"/>
    <p:sldId id="303" r:id="rId38"/>
    <p:sldId id="469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BB02E4-AB16-FE7D-271D-C2C99610CA60}" v="69" dt="2025-10-14T23:11:06.120"/>
    <p1510:client id="{660D5ED0-D5CE-14FC-9B61-5E26E9CAEBCA}" v="34" dt="2025-10-14T22:36:15.6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58" autoAdjust="0"/>
    <p:restoredTop sz="95807" autoAdjust="0"/>
  </p:normalViewPr>
  <p:slideViewPr>
    <p:cSldViewPr snapToGrid="0">
      <p:cViewPr varScale="1">
        <p:scale>
          <a:sx n="127" d="100"/>
          <a:sy n="127" d="100"/>
        </p:scale>
        <p:origin x="1960" y="176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A259A7-5386-49FD-83B9-BAD415B9CFAA}" type="datetimeFigureOut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F9E8A1-852F-4483-B97B-027903F81B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1524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5B0D6-157A-40CD-94B8-01C032586C1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1467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F9E8A1-852F-4483-B97B-027903F81BE5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81265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F9E8A1-852F-4483-B97B-027903F81BE5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57032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F9E8A1-852F-4483-B97B-027903F81BE5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0582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F9E8A1-852F-4483-B97B-027903F81BE5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1888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F9E8A1-852F-4483-B97B-027903F81BE5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41407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F9E8A1-852F-4483-B97B-027903F81BE5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72921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F9E8A1-852F-4483-B97B-027903F81BE5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7678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DAE2-1044-44AA-8E16-BB9FD2E2B3CC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0380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3C33-7587-467B-9291-152A5CBEF92E}" type="datetime1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3538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EE374-A74F-416D-9A0E-EA703DCC2574}" type="datetime1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1961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1C7ED-AAD2-4C06-8DA1-732FF3352D99}" type="datetime1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2844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DC16-A67B-4785-A898-8D634ADC804C}" type="datetime1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1131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BBC22-FE50-440D-B961-085D3DDD67D5}" type="datetime1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0729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108DF-D537-4968-BB84-C9C8B6DCAA0C}" type="datetime1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9896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EBCEB-661D-475A-A0CF-C7C66F5A53AA}" type="datetime1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732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CF883-3F51-4FC2-B045-2BA34E8000EE}" type="datetime1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9041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3802-9C1D-4CBA-A3A3-DC975551E1DE}" type="datetime1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5452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1055E-ED66-4CD7-9697-99DECC0E2525}" type="datetime1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9711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C5382-0FB6-40F2-BCA6-4187DF523EF2}" type="datetime1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9166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2A2AE3-F330-4E09-A0BA-135B1F684DB6}" type="datetime1">
              <a:rPr lang="zh-TW" altLang="en-US" smtClean="0"/>
              <a:t>2026/10/9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D6659-2584-4F41-9346-BD823C0400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4171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image" Target="../media/image8.png"/><Relationship Id="rId18" Type="http://schemas.openxmlformats.org/officeDocument/2006/relationships/image" Target="../media/image13.jpe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7.png"/><Relationship Id="rId1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wmf"/><Relationship Id="rId11" Type="http://schemas.openxmlformats.org/officeDocument/2006/relationships/image" Target="../media/image6.png"/><Relationship Id="rId5" Type="http://schemas.openxmlformats.org/officeDocument/2006/relationships/oleObject" Target="../embeddings/oleObject2.bin"/><Relationship Id="rId15" Type="http://schemas.openxmlformats.org/officeDocument/2006/relationships/image" Target="../media/image10.png"/><Relationship Id="rId10" Type="http://schemas.openxmlformats.org/officeDocument/2006/relationships/image" Target="../media/image5.png"/><Relationship Id="rId4" Type="http://schemas.openxmlformats.org/officeDocument/2006/relationships/image" Target="../media/image1.wmf"/><Relationship Id="rId9" Type="http://schemas.openxmlformats.org/officeDocument/2006/relationships/image" Target="../media/image4.png"/><Relationship Id="rId1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oloclub.github.io/cnn-explainer/" TargetMode="Externa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4.bin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f0t-OCG79-U?feature=oembed" TargetMode="Externa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84034"/>
            <a:ext cx="7772400" cy="1470025"/>
          </a:xfrm>
        </p:spPr>
        <p:txBody>
          <a:bodyPr>
            <a:normAutofit/>
          </a:bodyPr>
          <a:lstStyle/>
          <a:p>
            <a:r>
              <a:rPr lang="en-US" sz="3500" dirty="0">
                <a:latin typeface="Apple Braille"/>
              </a:rPr>
              <a:t>COMP 6246 </a:t>
            </a:r>
            <a:br>
              <a:rPr lang="en-US" sz="3500" dirty="0">
                <a:latin typeface="Apple Braille"/>
              </a:rPr>
            </a:br>
            <a:r>
              <a:rPr lang="en-US" sz="3500" dirty="0">
                <a:latin typeface="Apple Braille"/>
              </a:rPr>
              <a:t>Machine Learning Technologies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1580" y="3862535"/>
            <a:ext cx="7016620" cy="1752600"/>
          </a:xfrm>
        </p:spPr>
        <p:txBody>
          <a:bodyPr>
            <a:normAutofit/>
          </a:bodyPr>
          <a:lstStyle/>
          <a:p>
            <a:r>
              <a:rPr lang="en-US" dirty="0">
                <a:latin typeface="Apple Braille" pitchFamily="2" charset="0"/>
              </a:rPr>
              <a:t>Dr Mohammad Soorati</a:t>
            </a:r>
          </a:p>
          <a:p>
            <a:r>
              <a:rPr lang="en-US" dirty="0">
                <a:latin typeface="Apple Braille" pitchFamily="2" charset="0"/>
              </a:rPr>
              <a:t>School of Electronics and Computer Science</a:t>
            </a:r>
          </a:p>
          <a:p>
            <a:r>
              <a:rPr lang="en-US" dirty="0">
                <a:latin typeface="Apple Braille" pitchFamily="2" charset="0"/>
              </a:rPr>
              <a:t>University of Southampton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788437" y="2159373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/>
              <a:t>Convolutional Neural Network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5E66D9-398B-4E04-A787-68C7A68DC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>
                <a:latin typeface="Apple Braille" pitchFamily="2" charset="0"/>
              </a:rPr>
              <a:t>1</a:t>
            </a:fld>
            <a:endParaRPr lang="zh-TW" altLang="en-US" dirty="0">
              <a:latin typeface="Apple Braill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196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/>
        </p:nvSpPr>
        <p:spPr>
          <a:xfrm>
            <a:off x="109040" y="-183851"/>
            <a:ext cx="867513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/>
              <a:t>Motivation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B03A-5E40-A445-9D3D-99FC88E9338B}" type="slidenum">
              <a:rPr lang="en-US" smtClean="0"/>
              <a:t>2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34432" y="1377959"/>
            <a:ext cx="8675136" cy="4559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2200" dirty="0"/>
              <a:t>DNN with fully connected layers:</a:t>
            </a:r>
          </a:p>
          <a:p>
            <a:pPr marL="800100" lvl="1" indent="-342900">
              <a:buFont typeface="Arial" charset="0"/>
              <a:buChar char="•"/>
            </a:pPr>
            <a:r>
              <a:rPr lang="en-US" sz="2200" dirty="0"/>
              <a:t>Can learn (almost) any data model</a:t>
            </a:r>
          </a:p>
          <a:p>
            <a:pPr marL="800100" lvl="1" indent="-342900">
              <a:buFont typeface="Arial" charset="0"/>
              <a:buChar char="•"/>
            </a:pPr>
            <a:r>
              <a:rPr lang="en-US" sz="2200" dirty="0"/>
              <a:t>If we do not need a connection -&gt; set its weight close to 0</a:t>
            </a:r>
          </a:p>
          <a:p>
            <a:pPr marL="800100" lvl="1" indent="-342900">
              <a:buFont typeface="Arial" charset="0"/>
              <a:buChar char="•"/>
            </a:pPr>
            <a:r>
              <a:rPr lang="en-US" sz="2200" dirty="0"/>
              <a:t>It should be able to classify the images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200" dirty="0"/>
              <a:t>Issues:</a:t>
            </a:r>
          </a:p>
          <a:p>
            <a:pPr marL="800100" lvl="1" indent="-342900">
              <a:buFont typeface="Arial" charset="0"/>
              <a:buChar char="•"/>
            </a:pPr>
            <a:r>
              <a:rPr lang="en-US" sz="2200" dirty="0"/>
              <a:t>Too many parameters</a:t>
            </a:r>
          </a:p>
          <a:p>
            <a:pPr marL="800100" lvl="1" indent="-342900">
              <a:buFont typeface="Arial" charset="0"/>
              <a:buChar char="•"/>
            </a:pPr>
            <a:r>
              <a:rPr lang="en-US" sz="2200" dirty="0"/>
              <a:t>For example, 100x100 pixels </a:t>
            </a:r>
            <a:r>
              <a:rPr lang="mr-IN" sz="2200" dirty="0"/>
              <a:t>–</a:t>
            </a:r>
            <a:r>
              <a:rPr lang="en-US" sz="2200" dirty="0"/>
              <a:t> 1</a:t>
            </a:r>
            <a:r>
              <a:rPr lang="en-US" sz="2200" baseline="30000" dirty="0"/>
              <a:t>st</a:t>
            </a:r>
            <a:r>
              <a:rPr lang="en-US" sz="2200" dirty="0"/>
              <a:t> hidden layer with 1000 neurons -&gt; 10 million connections</a:t>
            </a:r>
          </a:p>
          <a:p>
            <a:pPr marL="342900" indent="-342900">
              <a:buFont typeface="Arial" charset="0"/>
              <a:buChar char="•"/>
            </a:pPr>
            <a:r>
              <a:rPr lang="en-GB" sz="2200" dirty="0"/>
              <a:t>Convolutional layer:</a:t>
            </a:r>
          </a:p>
          <a:p>
            <a:pPr marL="800100" lvl="1" indent="-342900">
              <a:buFont typeface="Arial" charset="0"/>
              <a:buChar char="•"/>
            </a:pPr>
            <a:r>
              <a:rPr lang="en-GB" sz="2200" dirty="0"/>
              <a:t>Motivated by nature</a:t>
            </a:r>
          </a:p>
          <a:p>
            <a:pPr marL="800100" lvl="1" indent="-342900">
              <a:buFont typeface="Arial" charset="0"/>
              <a:buChar char="•"/>
            </a:pPr>
            <a:r>
              <a:rPr lang="en-GB" sz="2200" dirty="0"/>
              <a:t>Neurons in the convolutional layers are not connected to every pixel in the input image/previous layers, but only to some pixels</a:t>
            </a:r>
          </a:p>
          <a:p>
            <a:pPr marL="800100" lvl="1" indent="-342900">
              <a:lnSpc>
                <a:spcPct val="130000"/>
              </a:lnSpc>
              <a:buFont typeface="Arial" charset="0"/>
              <a:buChar char="•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14961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Motivation</a:t>
            </a:r>
            <a:endParaRPr lang="zh-TW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DAA589-269E-4236-84AA-0CF51B80F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A00BB5-328B-9102-34D0-C1A6A511AE93}"/>
              </a:ext>
            </a:extLst>
          </p:cNvPr>
          <p:cNvSpPr/>
          <p:nvPr/>
        </p:nvSpPr>
        <p:spPr>
          <a:xfrm>
            <a:off x="234432" y="1377959"/>
            <a:ext cx="867513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2200" dirty="0"/>
              <a:t>If we input the entire raw image -&gt; we loose the spatial information</a:t>
            </a:r>
          </a:p>
        </p:txBody>
      </p:sp>
      <p:graphicFrame>
        <p:nvGraphicFramePr>
          <p:cNvPr id="63" name="內容版面配置區 3">
            <a:extLst>
              <a:ext uri="{FF2B5EF4-FFF2-40B4-BE49-F238E27FC236}">
                <a16:creationId xmlns:a16="http://schemas.microsoft.com/office/drawing/2014/main" id="{5A26DEAD-4DC1-555E-0E82-86AFFAC2F4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5589116"/>
              </p:ext>
            </p:extLst>
          </p:nvPr>
        </p:nvGraphicFramePr>
        <p:xfrm>
          <a:off x="1134581" y="3005731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0" name="Table 80">
            <a:extLst>
              <a:ext uri="{FF2B5EF4-FFF2-40B4-BE49-F238E27FC236}">
                <a16:creationId xmlns:a16="http://schemas.microsoft.com/office/drawing/2014/main" id="{6527BB1B-E94F-C5E0-3A12-919D283FD4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555096"/>
              </p:ext>
            </p:extLst>
          </p:nvPr>
        </p:nvGraphicFramePr>
        <p:xfrm>
          <a:off x="6129472" y="1879624"/>
          <a:ext cx="2082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349995454"/>
                    </a:ext>
                  </a:extLst>
                </a:gridCol>
              </a:tblGrid>
              <a:tr h="222612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9447351"/>
                  </a:ext>
                </a:extLst>
              </a:tr>
              <a:tr h="222612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1212454"/>
                  </a:ext>
                </a:extLst>
              </a:tr>
              <a:tr h="222612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696591"/>
                  </a:ext>
                </a:extLst>
              </a:tr>
              <a:tr h="222612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519979"/>
                  </a:ext>
                </a:extLst>
              </a:tr>
              <a:tr h="222612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633152"/>
                  </a:ext>
                </a:extLst>
              </a:tr>
              <a:tr h="222612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681286"/>
                  </a:ext>
                </a:extLst>
              </a:tr>
              <a:tr h="222612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982355"/>
                  </a:ext>
                </a:extLst>
              </a:tr>
              <a:tr h="222612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1799069"/>
                  </a:ext>
                </a:extLst>
              </a:tr>
              <a:tr h="222612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4841036"/>
                  </a:ext>
                </a:extLst>
              </a:tr>
              <a:tr h="222612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2989860"/>
                  </a:ext>
                </a:extLst>
              </a:tr>
              <a:tr h="222612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13856"/>
                  </a:ext>
                </a:extLst>
              </a:tr>
              <a:tr h="222612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0298809"/>
                  </a:ext>
                </a:extLst>
              </a:tr>
              <a:tr h="222612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38119"/>
                  </a:ext>
                </a:extLst>
              </a:tr>
              <a:tr h="222612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86122"/>
                  </a:ext>
                </a:extLst>
              </a:tr>
              <a:tr h="222612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2503616"/>
                  </a:ext>
                </a:extLst>
              </a:tr>
              <a:tr h="222612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572785"/>
                  </a:ext>
                </a:extLst>
              </a:tr>
              <a:tr h="222612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4412999"/>
                  </a:ext>
                </a:extLst>
              </a:tr>
              <a:tr h="222612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724610"/>
                  </a:ext>
                </a:extLst>
              </a:tr>
            </a:tbl>
          </a:graphicData>
        </a:graphic>
      </p:graphicFrame>
      <p:sp>
        <p:nvSpPr>
          <p:cNvPr id="81" name="TextBox 80">
            <a:extLst>
              <a:ext uri="{FF2B5EF4-FFF2-40B4-BE49-F238E27FC236}">
                <a16:creationId xmlns:a16="http://schemas.microsoft.com/office/drawing/2014/main" id="{E32ACAA2-6656-DAD0-36CF-44BC4E630901}"/>
              </a:ext>
            </a:extLst>
          </p:cNvPr>
          <p:cNvSpPr txBox="1"/>
          <p:nvPr/>
        </p:nvSpPr>
        <p:spPr>
          <a:xfrm>
            <a:off x="6061930" y="6515045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34B32E1C-801D-EA0C-3B6A-055C66A2B731}"/>
              </a:ext>
            </a:extLst>
          </p:cNvPr>
          <p:cNvCxnSpPr>
            <a:cxnSpLocks/>
          </p:cNvCxnSpPr>
          <p:nvPr/>
        </p:nvCxnSpPr>
        <p:spPr>
          <a:xfrm flipV="1">
            <a:off x="1494692" y="2092569"/>
            <a:ext cx="4567238" cy="8264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D17F5DCD-CDEC-9718-8416-9ABCC12CFD3C}"/>
              </a:ext>
            </a:extLst>
          </p:cNvPr>
          <p:cNvCxnSpPr>
            <a:cxnSpLocks/>
          </p:cNvCxnSpPr>
          <p:nvPr/>
        </p:nvCxnSpPr>
        <p:spPr>
          <a:xfrm flipV="1">
            <a:off x="1861231" y="2277208"/>
            <a:ext cx="4200699" cy="6418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0005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Motivation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2671810" y="2668947"/>
            <a:ext cx="498951" cy="26250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單箭頭接點 6"/>
          <p:cNvCxnSpPr/>
          <p:nvPr/>
        </p:nvCxnSpPr>
        <p:spPr>
          <a:xfrm>
            <a:off x="6943401" y="3707218"/>
            <a:ext cx="10185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>
            <a:off x="7052717" y="4953108"/>
            <a:ext cx="90574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>
            <a:off x="6919517" y="2928415"/>
            <a:ext cx="105037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2740198" y="3386640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2746016" y="2816311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2758715" y="2721061"/>
          <a:ext cx="32543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152280" imgH="215640" progId="Equation.3">
                  <p:embed/>
                </p:oleObj>
              </mc:Choice>
              <mc:Fallback>
                <p:oleObj name="方程式" r:id="rId3" imgW="152280" imgH="215640" progId="Equation.3">
                  <p:embed/>
                  <p:pic>
                    <p:nvPicPr>
                      <p:cNvPr id="1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8715" y="2721061"/>
                        <a:ext cx="325438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2764011" y="3303790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164880" imgH="215640" progId="Equation.3">
                  <p:embed/>
                </p:oleObj>
              </mc:Choice>
              <mc:Fallback>
                <p:oleObj name="方程式" r:id="rId5" imgW="164880" imgH="215640" progId="Equation.3">
                  <p:embed/>
                  <p:pic>
                    <p:nvPicPr>
                      <p:cNvPr id="1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4011" y="3303790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/>
        </p:nvSpPr>
        <p:spPr>
          <a:xfrm>
            <a:off x="3854913" y="2641306"/>
            <a:ext cx="746342" cy="26758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3952023" y="2652308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3954365" y="3430878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3942732" y="4658890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 rot="5400000">
            <a:off x="3939985" y="4081183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19" name="矩形 18"/>
          <p:cNvSpPr/>
          <p:nvPr/>
        </p:nvSpPr>
        <p:spPr>
          <a:xfrm>
            <a:off x="2749723" y="4784397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0" name="Object 12"/>
          <p:cNvGraphicFramePr>
            <a:graphicFrameLocks noChangeAspect="1"/>
          </p:cNvGraphicFramePr>
          <p:nvPr/>
        </p:nvGraphicFramePr>
        <p:xfrm>
          <a:off x="2746607" y="4688143"/>
          <a:ext cx="4079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190440" imgH="228600" progId="Equation.3">
                  <p:embed/>
                </p:oleObj>
              </mc:Choice>
              <mc:Fallback>
                <p:oleObj name="方程式" r:id="rId7" imgW="190440" imgH="228600" progId="Equation.3">
                  <p:embed/>
                  <p:pic>
                    <p:nvPicPr>
                      <p:cNvPr id="2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6607" y="4688143"/>
                        <a:ext cx="407988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字方塊 20"/>
          <p:cNvSpPr txBox="1"/>
          <p:nvPr/>
        </p:nvSpPr>
        <p:spPr>
          <a:xfrm rot="5400000">
            <a:off x="2625655" y="4069339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22" name="矩形 21"/>
          <p:cNvSpPr/>
          <p:nvPr/>
        </p:nvSpPr>
        <p:spPr>
          <a:xfrm>
            <a:off x="5180499" y="2624959"/>
            <a:ext cx="746342" cy="26758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/>
          <p:cNvSpPr/>
          <p:nvPr/>
        </p:nvSpPr>
        <p:spPr>
          <a:xfrm>
            <a:off x="5267585" y="2652308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/>
          <p:cNvSpPr/>
          <p:nvPr/>
        </p:nvSpPr>
        <p:spPr>
          <a:xfrm>
            <a:off x="5269927" y="3430878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/>
          <p:cNvSpPr/>
          <p:nvPr/>
        </p:nvSpPr>
        <p:spPr>
          <a:xfrm>
            <a:off x="5258294" y="4658890"/>
            <a:ext cx="574158" cy="5741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 rot="5400000">
            <a:off x="5255547" y="4081183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27" name="矩形 26"/>
          <p:cNvSpPr/>
          <p:nvPr/>
        </p:nvSpPr>
        <p:spPr>
          <a:xfrm>
            <a:off x="6556594" y="2600742"/>
            <a:ext cx="746342" cy="26758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橢圓 27"/>
          <p:cNvSpPr/>
          <p:nvPr/>
        </p:nvSpPr>
        <p:spPr>
          <a:xfrm>
            <a:off x="6632438" y="2650692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橢圓 28"/>
          <p:cNvSpPr/>
          <p:nvPr/>
        </p:nvSpPr>
        <p:spPr>
          <a:xfrm>
            <a:off x="6634780" y="3410601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橢圓 29"/>
          <p:cNvSpPr/>
          <p:nvPr/>
        </p:nvSpPr>
        <p:spPr>
          <a:xfrm>
            <a:off x="6641808" y="4657274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/>
          <p:cNvSpPr txBox="1"/>
          <p:nvPr/>
        </p:nvSpPr>
        <p:spPr>
          <a:xfrm rot="5400000">
            <a:off x="6639061" y="4076404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7879522" y="2596625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7886471" y="3386640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7886459" y="4601975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cxnSp>
        <p:nvCxnSpPr>
          <p:cNvPr id="35" name="直線單箭頭接點 34"/>
          <p:cNvCxnSpPr>
            <a:stCxn id="15" idx="6"/>
            <a:endCxn id="23" idx="2"/>
          </p:cNvCxnSpPr>
          <p:nvPr/>
        </p:nvCxnSpPr>
        <p:spPr>
          <a:xfrm>
            <a:off x="4526181" y="2939387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>
            <a:off x="4526181" y="3731139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>
            <a:off x="4516890" y="4953108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stCxn id="16" idx="6"/>
            <a:endCxn id="23" idx="2"/>
          </p:cNvCxnSpPr>
          <p:nvPr/>
        </p:nvCxnSpPr>
        <p:spPr>
          <a:xfrm flipV="1">
            <a:off x="4528523" y="2939387"/>
            <a:ext cx="739062" cy="7785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>
            <a:stCxn id="15" idx="6"/>
            <a:endCxn id="24" idx="2"/>
          </p:cNvCxnSpPr>
          <p:nvPr/>
        </p:nvCxnSpPr>
        <p:spPr>
          <a:xfrm>
            <a:off x="4526181" y="2939387"/>
            <a:ext cx="743746" cy="7785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>
            <a:stCxn id="15" idx="6"/>
            <a:endCxn id="25" idx="2"/>
          </p:cNvCxnSpPr>
          <p:nvPr/>
        </p:nvCxnSpPr>
        <p:spPr>
          <a:xfrm>
            <a:off x="4526181" y="2939387"/>
            <a:ext cx="732113" cy="20065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>
            <a:stCxn id="16" idx="6"/>
            <a:endCxn id="25" idx="2"/>
          </p:cNvCxnSpPr>
          <p:nvPr/>
        </p:nvCxnSpPr>
        <p:spPr>
          <a:xfrm>
            <a:off x="4528523" y="3717957"/>
            <a:ext cx="729771" cy="12280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>
            <a:stCxn id="17" idx="6"/>
            <a:endCxn id="23" idx="2"/>
          </p:cNvCxnSpPr>
          <p:nvPr/>
        </p:nvCxnSpPr>
        <p:spPr>
          <a:xfrm flipV="1">
            <a:off x="4516890" y="2939387"/>
            <a:ext cx="750695" cy="20065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>
            <a:stCxn id="17" idx="6"/>
            <a:endCxn id="24" idx="2"/>
          </p:cNvCxnSpPr>
          <p:nvPr/>
        </p:nvCxnSpPr>
        <p:spPr>
          <a:xfrm flipV="1">
            <a:off x="4516890" y="3717957"/>
            <a:ext cx="753037" cy="12280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>
            <a:endCxn id="15" idx="2"/>
          </p:cNvCxnSpPr>
          <p:nvPr/>
        </p:nvCxnSpPr>
        <p:spPr>
          <a:xfrm flipV="1">
            <a:off x="3092623" y="2939387"/>
            <a:ext cx="859400" cy="2999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>
            <a:stCxn id="11" idx="3"/>
            <a:endCxn id="16" idx="2"/>
          </p:cNvCxnSpPr>
          <p:nvPr/>
        </p:nvCxnSpPr>
        <p:spPr>
          <a:xfrm>
            <a:off x="3088916" y="2987761"/>
            <a:ext cx="865449" cy="7301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>
            <a:stCxn id="11" idx="3"/>
            <a:endCxn id="17" idx="2"/>
          </p:cNvCxnSpPr>
          <p:nvPr/>
        </p:nvCxnSpPr>
        <p:spPr>
          <a:xfrm>
            <a:off x="3088916" y="2987761"/>
            <a:ext cx="853816" cy="19582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>
            <a:stCxn id="13" idx="3"/>
            <a:endCxn id="15" idx="2"/>
          </p:cNvCxnSpPr>
          <p:nvPr/>
        </p:nvCxnSpPr>
        <p:spPr>
          <a:xfrm flipV="1">
            <a:off x="3116436" y="2939387"/>
            <a:ext cx="835587" cy="59538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>
            <a:stCxn id="10" idx="3"/>
            <a:endCxn id="16" idx="2"/>
          </p:cNvCxnSpPr>
          <p:nvPr/>
        </p:nvCxnSpPr>
        <p:spPr>
          <a:xfrm>
            <a:off x="3083098" y="3558090"/>
            <a:ext cx="871267" cy="15986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>
            <a:stCxn id="10" idx="3"/>
            <a:endCxn id="17" idx="2"/>
          </p:cNvCxnSpPr>
          <p:nvPr/>
        </p:nvCxnSpPr>
        <p:spPr>
          <a:xfrm>
            <a:off x="3083098" y="3558090"/>
            <a:ext cx="859634" cy="138787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>
            <a:stCxn id="20" idx="3"/>
            <a:endCxn id="15" idx="2"/>
          </p:cNvCxnSpPr>
          <p:nvPr/>
        </p:nvCxnSpPr>
        <p:spPr>
          <a:xfrm flipV="1">
            <a:off x="3154595" y="2939387"/>
            <a:ext cx="797428" cy="199323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>
            <a:stCxn id="20" idx="3"/>
            <a:endCxn id="16" idx="2"/>
          </p:cNvCxnSpPr>
          <p:nvPr/>
        </p:nvCxnSpPr>
        <p:spPr>
          <a:xfrm flipV="1">
            <a:off x="3128226" y="3717957"/>
            <a:ext cx="826139" cy="12146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>
            <a:stCxn id="20" idx="3"/>
            <a:endCxn id="17" idx="2"/>
          </p:cNvCxnSpPr>
          <p:nvPr/>
        </p:nvCxnSpPr>
        <p:spPr>
          <a:xfrm>
            <a:off x="3128226" y="4932563"/>
            <a:ext cx="814506" cy="134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/>
          <p:nvPr/>
        </p:nvCxnSpPr>
        <p:spPr>
          <a:xfrm>
            <a:off x="5876050" y="2949740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/>
          <p:nvPr/>
        </p:nvCxnSpPr>
        <p:spPr>
          <a:xfrm>
            <a:off x="5876050" y="3741492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/>
          <p:nvPr/>
        </p:nvCxnSpPr>
        <p:spPr>
          <a:xfrm>
            <a:off x="5866759" y="4963461"/>
            <a:ext cx="7414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/>
          <p:nvPr/>
        </p:nvCxnSpPr>
        <p:spPr>
          <a:xfrm flipV="1">
            <a:off x="5878392" y="2949740"/>
            <a:ext cx="739062" cy="7785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>
            <a:off x="5876050" y="2949740"/>
            <a:ext cx="743746" cy="7785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/>
          <p:nvPr/>
        </p:nvCxnSpPr>
        <p:spPr>
          <a:xfrm>
            <a:off x="5876050" y="2949740"/>
            <a:ext cx="732113" cy="20065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>
            <a:off x="5878392" y="3728310"/>
            <a:ext cx="729771" cy="12280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/>
          <p:nvPr/>
        </p:nvCxnSpPr>
        <p:spPr>
          <a:xfrm flipV="1">
            <a:off x="5866759" y="2949740"/>
            <a:ext cx="750695" cy="20065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/>
          <p:nvPr/>
        </p:nvCxnSpPr>
        <p:spPr>
          <a:xfrm flipV="1">
            <a:off x="5866759" y="3728310"/>
            <a:ext cx="753037" cy="12280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圖片 6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08536" y="2737598"/>
            <a:ext cx="444581" cy="444581"/>
          </a:xfrm>
          <a:prstGeom prst="rect">
            <a:avLst/>
          </a:prstGeom>
        </p:spPr>
      </p:pic>
      <p:pic>
        <p:nvPicPr>
          <p:cNvPr id="66" name="圖片 6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24396" y="3487555"/>
            <a:ext cx="443374" cy="443374"/>
          </a:xfrm>
          <a:prstGeom prst="rect">
            <a:avLst/>
          </a:prstGeom>
        </p:spPr>
      </p:pic>
      <p:pic>
        <p:nvPicPr>
          <p:cNvPr id="67" name="圖片 6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22440" y="4699259"/>
            <a:ext cx="460064" cy="452761"/>
          </a:xfrm>
          <a:prstGeom prst="rect">
            <a:avLst/>
          </a:prstGeom>
        </p:spPr>
      </p:pic>
      <p:pic>
        <p:nvPicPr>
          <p:cNvPr id="68" name="圖片 6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46924" y="2602555"/>
            <a:ext cx="599559" cy="599559"/>
          </a:xfrm>
          <a:prstGeom prst="rect">
            <a:avLst/>
          </a:prstGeom>
        </p:spPr>
      </p:pic>
      <p:pic>
        <p:nvPicPr>
          <p:cNvPr id="69" name="圖片 6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38236" y="4576566"/>
            <a:ext cx="616933" cy="651527"/>
          </a:xfrm>
          <a:prstGeom prst="rect">
            <a:avLst/>
          </a:prstGeom>
        </p:spPr>
      </p:pic>
      <p:pic>
        <p:nvPicPr>
          <p:cNvPr id="70" name="圖片 6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39572" y="3435043"/>
            <a:ext cx="600812" cy="600812"/>
          </a:xfrm>
          <a:prstGeom prst="rect">
            <a:avLst/>
          </a:prstGeom>
        </p:spPr>
      </p:pic>
      <p:pic>
        <p:nvPicPr>
          <p:cNvPr id="71" name="圖片 7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25272" y="2506886"/>
            <a:ext cx="790575" cy="762000"/>
          </a:xfrm>
          <a:prstGeom prst="rect">
            <a:avLst/>
          </a:prstGeom>
        </p:spPr>
      </p:pic>
      <p:pic>
        <p:nvPicPr>
          <p:cNvPr id="72" name="圖片 7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34796" y="3378057"/>
            <a:ext cx="771525" cy="723900"/>
          </a:xfrm>
          <a:prstGeom prst="rect">
            <a:avLst/>
          </a:prstGeom>
        </p:spPr>
      </p:pic>
      <p:pic>
        <p:nvPicPr>
          <p:cNvPr id="73" name="圖片 7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34796" y="4436823"/>
            <a:ext cx="752170" cy="772777"/>
          </a:xfrm>
          <a:prstGeom prst="rect">
            <a:avLst/>
          </a:prstGeom>
        </p:spPr>
      </p:pic>
      <p:sp>
        <p:nvSpPr>
          <p:cNvPr id="74" name="矩形 73"/>
          <p:cNvSpPr/>
          <p:nvPr/>
        </p:nvSpPr>
        <p:spPr>
          <a:xfrm>
            <a:off x="5909103" y="808885"/>
            <a:ext cx="29998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solidFill>
                  <a:srgbClr val="0070C0"/>
                </a:solidFill>
                <a:latin typeface="Arial" panose="020B0604020202020204" pitchFamily="34" charset="0"/>
              </a:rPr>
              <a:t>[</a:t>
            </a:r>
            <a:r>
              <a:rPr lang="en-US" altLang="zh-TW" dirty="0" err="1">
                <a:solidFill>
                  <a:srgbClr val="0070C0"/>
                </a:solidFill>
                <a:latin typeface="Arial" panose="020B0604020202020204" pitchFamily="34" charset="0"/>
              </a:rPr>
              <a:t>Zeiler</a:t>
            </a:r>
            <a:r>
              <a:rPr lang="en-US" altLang="zh-TW" dirty="0">
                <a:solidFill>
                  <a:srgbClr val="0070C0"/>
                </a:solidFill>
                <a:latin typeface="Arial" panose="020B0604020202020204" pitchFamily="34" charset="0"/>
              </a:rPr>
              <a:t>, M. D., </a:t>
            </a:r>
            <a:r>
              <a:rPr lang="en-US" altLang="zh-TW" i="1" dirty="0">
                <a:solidFill>
                  <a:srgbClr val="0070C0"/>
                </a:solidFill>
                <a:latin typeface="Arial" panose="020B0604020202020204" pitchFamily="34" charset="0"/>
              </a:rPr>
              <a:t>ECCV 2014</a:t>
            </a:r>
            <a:r>
              <a:rPr lang="en-US" altLang="zh-TW" dirty="0">
                <a:solidFill>
                  <a:srgbClr val="0070C0"/>
                </a:solidFill>
                <a:latin typeface="Arial" panose="020B0604020202020204" pitchFamily="34" charset="0"/>
              </a:rPr>
              <a:t>]</a:t>
            </a:r>
            <a:endParaRPr lang="zh-TW" altLang="en-US" dirty="0">
              <a:solidFill>
                <a:srgbClr val="0070C0"/>
              </a:solidFill>
            </a:endParaRPr>
          </a:p>
        </p:txBody>
      </p:sp>
      <p:pic>
        <p:nvPicPr>
          <p:cNvPr id="76" name="Picture 2" descr="http://s.hswstatic.com/gif/whiskers-sam.jpg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557" y="2817761"/>
            <a:ext cx="2115242" cy="14383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" name="文字方塊 76"/>
          <p:cNvSpPr txBox="1"/>
          <p:nvPr/>
        </p:nvSpPr>
        <p:spPr>
          <a:xfrm>
            <a:off x="608182" y="4309343"/>
            <a:ext cx="18431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Represented as pixels</a:t>
            </a:r>
            <a:endParaRPr lang="zh-TW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DAA589-269E-4236-84AA-0CF51B80F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3195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Why CNN for Image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Some patterns are much smaller than the whole image</a:t>
            </a:r>
            <a:endParaRPr lang="zh-TW" altLang="en-US" dirty="0"/>
          </a:p>
        </p:txBody>
      </p:sp>
      <p:pic>
        <p:nvPicPr>
          <p:cNvPr id="15" name="Picture 4" descr="https://upload.wikimedia.org/wikipedia/commons/5/5e/Silverbird_in_Murchison_Falls_National_Park,_Uganda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429" y="4692617"/>
            <a:ext cx="2485663" cy="1657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utoShape 8" descr="data:image/jpeg;base64,/9j/4AAQSkZJRgABAQAAAQABAAD/2wCEAAkGBxASEhAQDxIQDxAPDxAPEA8VFQ8QEBAQFRUWFhUVFRUYHSggGBomGxUVIjEhJSkrLi4uGB8zODMtNygtLisBCgoKDg0OFxAQGCseHx0tLS0tLSstLS0tKy0tLS0tLS0tLS0tLS0tLS0tLS0tKystLS0tKy0rLSstKystLTctLf/AABEIALUBFgMBIgACEQEDEQH/xAAbAAACAwEBAQAAAAAAAAAAAAADBAECBQAGB//EAEAQAAIBAgMFBQQHBgUFAAAAAAECAAMRBBIhBTFBUWETInGRoQYyQoEjUnKxwdHwQ2KSouHxFDNTgrIVY4PC0v/EABoBAAMBAQEBAAAAAAAAAAAAAAECAwAEBQb/xAAiEQEBAAICAgMBAQEBAAAAAAAAAQIRAxIhMQQTQVEykSL/2gAMAwEAAhEDEQA/APmaw1JIBDHsMsejBqNKaOHpwNJJoYZZy8iuMO4anNGisVoCPURFxPozSWMLAJO7Zb5bi/LjL4gYvBu8gtBO8tC2KO8ETId5TNE5KMi0uBKCXUThzp5F1EKolFEOiyWzSLoJe0lVkkR5R0GZWEInBY/bwCBLgSVWEVYlraQJxvCBZxWJR0FOAMKEk5ZPTaAIMi0PllSs0jaCMqSYS0qRKSFsVF4QEyqiXMa4lVJlCTLmDMX69sqXtIlGkyn1M+OUWmphZj0TNXCtPSrmjWoxjDYune2YA7rHT74pQaWr4EN3l38RznPlJ+qzevD0OHYHdqPkY7RqDmPC4nikpsh0zIfEiN0sZUHvBag5OAfVbH1gnH/KP2a/Hsw0yts4E1LMu8cJm0NpgcKtPorioh/21BcfxTQo7XQ7y1+qEH+VmjXGj3lmnYTEVVUX79tGUnvDwMINpITa5U8jOp42je4ZPmch/mtBY3CK/ep2PG28fIr+cMysJuz0OWl1Mx6LZTlZjTPPePnYflHalR0sW0W1+0GtMjqN4+6LlbVMco0FhkERw+IBOU6HhxB8DNBBOLO2Xytjq+l1EOglaaw6LJbNpKiSRLgTrRpR0FaSBL5ZIWHsGkAQiiQBCKJuzacBJtLBZYLFtbSgWTlhQknJAwGSVZIzkkMkLEykGyxtkgmWUxpLAgJxhCsG8culTBMJcmUJlcShkSZJMiWgPidLfNPDNM1DG6DS9c8bCVcoBtm562tGKe0bfAD/ALv6RPDtf5zRwuAznQMOtjaRuv2KefwVdpKfepsR9pT96Sy18Md9KqDzDpbyKytTZrLxUeLUk/5MJeng13tVpL4XqH+S49ZpIG6l3oG2TOv2ireoEgpS4uQOQCmV7Onf3gBzyg39ZDNRH+o/8KiEqxpUeFZh/wCNvwlP8JSJB7RW5HJVv5lZRaqa5aRPixY/dGaDMfdpovXvHz1M2zaR2VM91nqN4io5+WcETZw+zaYCk06h0uCFCgj95GI81iefj2jZh8NNcx9J6OjWFWmtr5lH7S2cnoFInPyWz0fFirh8Kaopmi6927HvIR1Ug6esJUwWJWplw1ZHUjSlWBRvlUF1OnQT0+GoJVTKbKw0KmwJ8dxlF2CxuvaZl4ad5eitykpNz3/0/bV8MLCbUYP2OIpPRqBc17ZqZHMMLi360m0h/vwgMR7Lgm7VSMt7G/e16xGlh61Mt2L9ooa5R1K3HGxvv8JLLHV8LY5y+2yJMyqO2aege9Ing26/Rv7R9KwOoII5ggjzEXRtwacYlW2hTU5bhm+qCLjx5SlQVKg17o35b28zxjTC3yXLkkEq7URSQAzW323D5yn/AFflTPn/AEiTYcDh/eHojdaNOO30S8mjI2q/+kD8zfwhKO3af7RWp9dHX01labDc9j5CXrYOnVGWwJPEb431WTyE5Gph6yOLoytbfbh4jhD5J4xsHVoH6LeCLam9uOXkf1aeh2Ftpa/cfu1bXGlg4HLr+vCPi/5qvme2lknZIfLOKwbak2pwTU46ywbLCWkmWLVBHqoidURpSUq5g2aXqCBYS2GRKhnnSjTp0TIHxlWh6LRVTD0zOhBs4WtoADlI4jS/zjOZuJY+JJmXg7k2HX0m1gcQiENdmO6wsoPS5/KTptRCL09Ix2VrZgRxAOlx0vCNth9yhKfEWAdv4nv6WizVHZszFmY7yblvOEBwo6feZYhBwLeOUD8funU0Nrnhv3WHiToJU10BsL1DyW4X5sRc/IDxi+xWGY6KoHIWLt4gG/nYCWKqD32LN9TV28gbDzMopd+4Ot6aaAdXP4m5kjIg1K1Nd+oog8h8VQ+kFMew9Y27tkS/vaeRPu36AExnDOKbdpTyhhqzsC7ep7vpMyriMuVqpYXAyUhYVXHgNKa+vjCUy7mzBbjXsxcU6Xj9ZvXwks/R49Ls3a9EjK4AJNy92TOemUi4+U2BWY/5YOUm1yco+U8lgCiVNbs1gSxF7fgPCezNE5AzEiwvYbyOg4SOPvQ5M1sMcxz3AvfRmt5XjFTFpYWFgLAAC5t1PKZWLxzFgFp5ad7Fibm/hxjCgkZVAGbQk8BKWePBJfJ/FbPSuo3hj7qgk2HM33TzGJ9matOrl7mIRsoICsQjb9W09DaelwJKgqCQl7Fvib8pqUnAUWI/dGhyg6X8Y+E/sC15nC4N0HuooU6ZVUMovuJA70NXYqN+Zt5PcBQdTNPGkLc5SfDfPPY1iQXBIN7rdrH9dDaQ+dy3i4//AD+r/E45yZ+RWqtuYWPoRBGsQRfW+7rM/EjEMFIZcm9rjvKb7gb2sfCcXIKhtGAt03+E8vj+ZyYY63LXrZfBwzy3PDQbF6kPcX4X8pn7R2viaVGuuEY9oyXpsBd1IILWuORbWEqYog3JzHdc6AeUDUrAFWuG48j1tx87SePyeTtLT34fHqwp7K7Q2jiXc11cUAoymoDmDCwIDEXbidd01cbmp5aiWVk7y8rg3t+ucDi/aW+WnTVmfLqti5sONl38OEBX2h3clZSpbQF1emrH6t7fq48I9nLny/Zjj13+I6w48Omd3H03CVu0RKgFs6K9uVwDCMJgexu2Eq0qdFl7GsqmyE5g4G8q19SBvXh4T0bLO242Xy4Ny+i7QTRhhBMIAK1FitVI84i1URoWzZCokXqCO1BFqglMaW4lWEiWedKdw0+JrCpBKIZZ3uc1QaxBGhHGP0qx0vYzNQw9N4tGPQbPo0z36xy0weHvueSj8ZWri1B+iWy7rtZmPXpEcPiiBlIDLyO8eB4R2v2aqjLmJZQzWtZWPw3tv+USGsDdzpnY9F3t8hwhlpW989kD+zXWs46/V+dvnF6VRhcgBL/HqWt4n8LS6WXvOTTU7231W+yOHjDaEhvMW+iRQBvNIHugc6r8fDSLVccFbLQtVrHu9ra6p0pL+MXas9X6KipSmfgB1bq54wq00pDfcNpnX363NafJP3+NzbqoiYekbswYs97VcQe8c/1KZPvNzbcLac4+tXIFRAM7aheCg/Ex4mJ1q/ZqpYLnYWo0R7qLzI5f8obAIQGqVCWOhcnUkncnz+6Jf6aNvAgKV4/EWO/q56ncBPR4TEZmyqCwHvNqflrPL4N7KznViw05udw8AJv7MxBQBBvY2zDefrGQvs/4Yx2HBOa1td3FQeNuG6UpkKDf4fXoJoYEqb5gCxYHnbl6Sa2HVn4AL3j0/V5THJPKM3H4ao4SkmjN3nO7KvEX4TVwgJa40SmMq9SNCzcz/WXygjMD7wuOekZpUlRLNbXUjn+ry3aRPW2fiK2YkaHpoQB1nlvafDOoJpLlUDUkqoLE2v8Aoaz2NLKb6anXlaZm3sF2iE086VdStRWZSoAte/K14vLjOXHSnFyXjz7R5KntBsvZhDxu27NbiOko1fTvMb7vAePOZ+z2FIlDVFUj3quoJJBNiTfXfxO68HXqOSrC4GoANyTcmeDn8frncdafScfNMsJk0cTiLZQoz3sO7e5J0A03nkBNnZPsXWqkPi3NFD+yXKaxH7zahNOAufAxn2F2MBfE1Vu+YrRDAXQDRn+0bkdALDfPcUxL8fFMZ4cHP8rLK6hfZOyaGHXLh6SUgRqQO832m3sfGPlAd4vfgdRIWEEq5LXmsf7HUGbtMMzYOqCD3NaRI1F6R0BB1BXLN1Q2Vc9i2UZiNAWtrbpeMGCeHtbPJPQLCBaGaBqTbGAPFqkYqGLOYdm2WqxSpHKkUqibs2yzTpYiTN2B8SWEWUEuBPX24Vw0IjQWWWAmbZynUmlszFBKiFiMmde0uARkvroZiq0YpvEsNK3Nt1HV2y0hTVrMthmBBFwVJ0sb3uJlLSdu9UNl+s17Hw5nwj+F2zWVRTvnRRZVPAcADy6GBxFUnvK3ZMSFBVe+xPDMST5Wgg2r4qsKQ7NVysR31axY8u0HDonzPKQh7P6at36j600O9uTHkohMRhKWGtdu2rMocJayqza3fXX8YlQoPUbMdebH7v6TWRjezqL1HNVznY8Tz4DoI+9f6uqobL/3Kp+Lw5dBB1jkHYpq7Czn6qnh4kS+FsDmI7lAWUfXrHd5Sdu/J41qC2KoNezAv1qt+V5sbOGZnb4aaimp6k2vMTBtkphj7zEkdWPH5C81cGpVLDfqfSw++JINrTwdfL3zrd2CjcBbQTRxTkJWy27tJSb7t1yJkpT7tFeQv5maOKzJSqnUZ3RR4TWSNPIWCxLM4DkZVAAsLWsNfKbGHp5zmYEgbh0Eztk4Mgi/xC5Y7vAevmZ6/D4bKFFgeJ6Rddsg3qMhMCT3msO96covidlByQXKrZsyg2D6HeOImrj6tgQFJ1Nh+MSxBcIGIu1i1tyj7XpOrGaiNr5ft7ZrJXNO1kZ6YFNNS2bMzMzG5LHLv6CGxOA7JlqH3adNbAa97MBbzM6u5q11yghVObPmzEsW1/IDheejXB53ZKlrGqlkHBKf0oHmFnP8ngxzly/Y6OH5GXH4/G7syjkponEKL/a3t6kzRpmKIYwhnB6mlN7MKYS8ArS4aLthCYJjOLwbtNsLVXMA5lnaBdodjKHUMWqGEqtFajQbbalRorUMK7QLQbDak6TadMO3xREjC04SnSjdLDz17k5piUFOWFGaVPCRmngon2H6MdaBhqeHM2UwMMmC6Qfa3RlU8PGUobuhuOh5zTp4SFGFk8uQehVdlduKlTKpcEF2zZGYG+vK+g4ScUiUAq0AzlhpVbcpO/d8QmlhlZDdTYkWOgII5EGM0nQG7Uhe4uUOS/ipBB8oZzTWsmuFnp5RARcLvOrVD8PMkxjA0u0ZadO5QGy34k+8xnqtpez1OrYq7FTYgJlVNdxy2tDbM9nzRz5QTemAjmxNzv8ACPvfoGQE7SqqKO4ndX8TPQJhtw36+gjOydjdnZnFySRoL2mrQwYIDDQ8jvHyjaDaMDs+5ubALaJ+0dUFlpJYga+LGN7SxJVgifVAPjzmFUftKtIAE/TAE8NOXPjJcuWsT4Ty9mtBFCLe5UWJ6zYo7hvmHgWu2ZvdAAA3kma9OuCdBa0Tiy/WzkVq0gAWPHcOUyNrZihU7zvHC022qC9zY3HpMHaWMGZ2uLIDr13D5D8J3Y3w5rPPh5KlshqVVayEWVbZSD3SbXIA375nv7U0qNSoX75Z2AYsq8r6W/dEb9pdt5mSjRBvUfs14XY8+mhmd7V7OwlClQdkWpVTEU6uYm7sqnM91O9dLW3C4kM85b197dEw1N32c2D7f0qzslZDQuyLSIu+YscutupGo01PKe3Rp8V2ht7BYis3YYd8O9UG57mUuobs2UJ7jEsb776dZ9M9icfUr4Sk9Zg9VcyMwILHKSFLjgxAHjv4zm5+LrO0mhwy34ejDS2aDE4zkUWLQbNOMG0JKh2i9R5dzF6hmDYbtF6hl3aLu0Jbkq7Sl5VjK3m0HcSdKZp03UO75pQoR+hh5fD0Zp4ehOvLJWQCjho7Swsao0I5ToSW9mZ64WEXDdJpLQhFoTeQZy4eEGHmiKEsKM2mjN7CVNCahoyppRbDxnohG4kR2njagAF7kaZunWW7GXWjFxyynqt1gmHx9QfVN9+/X1hDj3ZiMpFrEHXK3hY+kqlGM06UtjyZFuEJsahJFjc6Zza3yF4RKIphSN6bj1IIv6x9KUtVwuYW5zW3IJ4P4NhbMeAjL1tLj+klNmoEUM1rC7HS9/znn8VjiGqgupSlkuQCcrEnf/J8zOnHDrIlb2p3ae1sik336LzJ/ITHpUquIF/8ulwudT16wOKrq5NWopCJYJTIAZrDS/JRqeevjNOgjuoU91TZmO4m+uUfr7obl/fEGax9e3ka+ysS+KDYILSSkjU/8XVAcBm3mim5mA0udNTA7Z9j++v07VahWpWq16+o7KmFOUKvMkHw08foa0gAANANAJl+0WENVEoglO3qdg9Ue9TpOjZ7dSAFHVhOf7bcv4eTw8n7E+zeFxWzqRq0lDvUrVFqrdaiNmsMrAg2FhodNIH2YYYLHtQqswNS9Gr7opZswahUUAe6ynXk1+G73ewdkJhaFPDU2ZlpAgM1sxuSTe2nGE2lsqlWsaihyivkB3BmFr3GvD1MW8m7d+ZWk8HQJxEijTIVVJLFVUFjvYgWJljOfR6EYNoVoJ5tJUBzFajRmpFKgmkTtLVGi7tDVYsxj44oZcmkEyJ0mU6JfYi86WtOm6h3eXw1KalClF8Kk0qCTWvUFo0o7SpStFI5TSCCEtKEFOHCSwSM2gBTndnGckgpNWLFJHZxkpK5YlOCKcutOFCwirFZRacOiSUWHRY0BCJCqssqwgWPAeX27UxNNAytpYDjZG/tpMfB1XWkWAzOShK6d4u4BBv9seV57naeDNWjVpje6EL9revqBPE7NqXYBu6GBQ8bWuPusYe97S2tMZqvV4DDKyrmUB1AzLvCsfeHmDH8kV2dUu7D64Z+ujW/9ppZY/L/AKT4/QGScad9CLjkdRD5ZOWS0oBklskLknZIOrBZZUiHyyjCDTFmEC4jLiBcQaTyKVBFaojlSKVRDpHIjVizRqqIuwlccXHyB2kiSBJyyvVJBnSSJMPVmPhRNSgkzsKJrYcTmr2TdJY3TWBoiOUxMZwWWCy4EsBDGDIkWhisqRNRgJWVKwxEqREsFRRCKJAEuogFdRDoINIdBGBZRCqshFhlEYEAT57tWn2OKqr8Jqll6BgCB6gT6OFnjPbvB3dWHx07qeGekbt/I38sNm40aOxWLVg3D/DW8DmH6+U37TzfsS+dWbiqKpHizf8Az909RaNnd1PGaUtOtL5ZNopg7TrQmWdlmYMiDdYwVg2WBijiAcRtxF3EBKTqCKVBHqgi1RYYjmz6qxdljtURVhLYuTOBhJJWWEmWkR0HaRCETptAxcJNfDiZGEmvhhOJ7TQoxymIrREbQQCIJYSAJaYXSpEtOh2ylpUiXMrBaMRaWAnAS6iKK6RimIFBDoI0CipDLBJCrGgCCY3tXh81DOBdsPUWsBzUd1x/AzH5TZEh1BBU6hgVI5g6Qg8X7JOKWI7Me5Wptl5Z13jyW/8Auntp87w9Xsaovf6CuGU8Sl+zqj5Xp+c+hq17Eagi4PMHjNQ/U2kyLzrwbZM6dOm2LiJRhCXg2magOIvUEZeK1DBSUs4itWNPFKsMSyKVYrUjVWKvK4ubkUEsJUS4EvEHESZxnQgxMJNfDzp04HsNGjG0kzoDCCTJnQiidOnTArInTooxYCXWTOgERYVZ06NAoqwizp0YFwZM6dMzx3tvhQmWquhctmHM91b/ADDC/wBkT0Hs7XL4aix35beRInTofwK0hOkzoGdJkTpmWg3kzoWpZ4vUnToCUtUitWROhieRSpFqk6dLYObkUEus6dLxzrGdOnTFf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4492" y="4738634"/>
            <a:ext cx="1296890" cy="1139691"/>
          </a:xfrm>
          <a:prstGeom prst="rect">
            <a:avLst/>
          </a:prstGeom>
          <a:ln w="57150">
            <a:solidFill>
              <a:srgbClr val="FF0000"/>
            </a:solidFill>
          </a:ln>
        </p:spPr>
      </p:pic>
      <p:pic>
        <p:nvPicPr>
          <p:cNvPr id="19" name="圖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6720" y="4656461"/>
            <a:ext cx="2151234" cy="1279848"/>
          </a:xfrm>
          <a:prstGeom prst="rect">
            <a:avLst/>
          </a:prstGeom>
        </p:spPr>
      </p:pic>
      <p:sp>
        <p:nvSpPr>
          <p:cNvPr id="20" name="文字方塊 19"/>
          <p:cNvSpPr txBox="1"/>
          <p:nvPr/>
        </p:nvSpPr>
        <p:spPr>
          <a:xfrm>
            <a:off x="871066" y="2742468"/>
            <a:ext cx="7401868" cy="95410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800" dirty="0"/>
              <a:t>A neuron does not have to see the whole image to discover the pattern.</a:t>
            </a:r>
            <a:endParaRPr lang="zh-TW" altLang="en-US" sz="2800" dirty="0"/>
          </a:p>
        </p:txBody>
      </p:sp>
      <p:sp>
        <p:nvSpPr>
          <p:cNvPr id="43" name="圓角矩形圖說文字 42"/>
          <p:cNvSpPr/>
          <p:nvPr/>
        </p:nvSpPr>
        <p:spPr>
          <a:xfrm>
            <a:off x="6259915" y="5722671"/>
            <a:ext cx="2423235" cy="601661"/>
          </a:xfrm>
          <a:prstGeom prst="wedgeRoundRectCallout">
            <a:avLst>
              <a:gd name="adj1" fmla="val -16286"/>
              <a:gd name="adj2" fmla="val -92191"/>
              <a:gd name="adj3" fmla="val 1666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“beak”</a:t>
            </a:r>
            <a:r>
              <a:rPr lang="zh-TW" altLang="en-US" sz="2400" dirty="0"/>
              <a:t> </a:t>
            </a:r>
            <a:r>
              <a:rPr lang="en-US" altLang="zh-TW" sz="2400" dirty="0"/>
              <a:t>detector</a:t>
            </a:r>
            <a:endParaRPr lang="zh-TW" altLang="en-US" sz="2400" dirty="0"/>
          </a:p>
        </p:txBody>
      </p:sp>
      <p:sp>
        <p:nvSpPr>
          <p:cNvPr id="44" name="矩形 43"/>
          <p:cNvSpPr/>
          <p:nvPr/>
        </p:nvSpPr>
        <p:spPr>
          <a:xfrm>
            <a:off x="1473830" y="4738634"/>
            <a:ext cx="406400" cy="37945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6" name="直線單箭頭接點 45"/>
          <p:cNvCxnSpPr>
            <a:stCxn id="44" idx="3"/>
            <a:endCxn id="16" idx="1"/>
          </p:cNvCxnSpPr>
          <p:nvPr/>
        </p:nvCxnSpPr>
        <p:spPr>
          <a:xfrm>
            <a:off x="1880230" y="4928364"/>
            <a:ext cx="2214262" cy="38011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1698172" y="3636678"/>
            <a:ext cx="7142071" cy="5232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800" dirty="0"/>
              <a:t>Connecting to small region with less parameters</a:t>
            </a:r>
            <a:endParaRPr lang="zh-TW" alt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FB961-4F58-4197-952E-82F6AC615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3712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43" grpId="0" animBg="1"/>
      <p:bldP spid="44" grpId="0" animBg="1"/>
      <p:bldP spid="4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0" name="Picture 4" descr="http://all4desktop.com/data_images/original/4244361-bird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990" y="4477048"/>
            <a:ext cx="2485663" cy="1792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Why CNN for Image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same patterns appear in different regions.</a:t>
            </a:r>
            <a:endParaRPr lang="zh-TW" altLang="en-US" dirty="0"/>
          </a:p>
        </p:txBody>
      </p:sp>
      <p:pic>
        <p:nvPicPr>
          <p:cNvPr id="15" name="Picture 4" descr="https://upload.wikimedia.org/wikipedia/commons/5/5e/Silverbird_in_Murchison_Falls_National_Park,_Uganda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990" y="2578586"/>
            <a:ext cx="2485663" cy="1657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utoShape 8" descr="data:image/jpeg;base64,/9j/4AAQSkZJRgABAQAAAQABAAD/2wCEAAkGBxASEhAQDxIQDxAPDxAPEA8VFQ8QEBAQFRUWFhUVFRUYHSggGBomGxUVIjEhJSkrLi4uGB8zODMtNygtLisBCgoKDg0OFxAQGCseHx0tLS0tLSstLS0tKy0tLS0tLS0tLS0tLS0tLS0tLS0tKystLS0tKy0rLSstKystLTctLf/AABEIALUBFgMBIgACEQEDEQH/xAAbAAACAwEBAQAAAAAAAAAAAAADBAECBQAGB//EAEAQAAIBAgMFBQQHBgUFAAAAAAECAAMRBBIhBTFBUWETInGRoQYyQoEjUnKxwdHwQ2KSouHxFDNTgrIVY4PC0v/EABoBAAMBAQEBAAAAAAAAAAAAAAECAwAEBQb/xAAiEQEBAAICAgMBAQEBAAAAAAAAAQIRAxIhMQQTQVEykSL/2gAMAwEAAhEDEQA/APmaw1JIBDHsMsejBqNKaOHpwNJJoYZZy8iuMO4anNGisVoCPURFxPozSWMLAJO7Zb5bi/LjL4gYvBu8gtBO8tC2KO8ETId5TNE5KMi0uBKCXUThzp5F1EKolFEOiyWzSLoJe0lVkkR5R0GZWEInBY/bwCBLgSVWEVYlraQJxvCBZxWJR0FOAMKEk5ZPTaAIMi0PllSs0jaCMqSYS0qRKSFsVF4QEyqiXMa4lVJlCTLmDMX69sqXtIlGkyn1M+OUWmphZj0TNXCtPSrmjWoxjDYune2YA7rHT74pQaWr4EN3l38RznPlJ+qzevD0OHYHdqPkY7RqDmPC4nikpsh0zIfEiN0sZUHvBag5OAfVbH1gnH/KP2a/Hsw0yts4E1LMu8cJm0NpgcKtPorioh/21BcfxTQo7XQ7y1+qEH+VmjXGj3lmnYTEVVUX79tGUnvDwMINpITa5U8jOp42je4ZPmch/mtBY3CK/ep2PG28fIr+cMysJuz0OWl1Mx6LZTlZjTPPePnYflHalR0sW0W1+0GtMjqN4+6LlbVMco0FhkERw+IBOU6HhxB8DNBBOLO2Xytjq+l1EOglaaw6LJbNpKiSRLgTrRpR0FaSBL5ZIWHsGkAQiiQBCKJuzacBJtLBZYLFtbSgWTlhQknJAwGSVZIzkkMkLEykGyxtkgmWUxpLAgJxhCsG8culTBMJcmUJlcShkSZJMiWgPidLfNPDNM1DG6DS9c8bCVcoBtm562tGKe0bfAD/ALv6RPDtf5zRwuAznQMOtjaRuv2KefwVdpKfepsR9pT96Sy18Md9KqDzDpbyKytTZrLxUeLUk/5MJeng13tVpL4XqH+S49ZpIG6l3oG2TOv2ireoEgpS4uQOQCmV7Onf3gBzyg39ZDNRH+o/8KiEqxpUeFZh/wCNvwlP8JSJB7RW5HJVv5lZRaqa5aRPixY/dGaDMfdpovXvHz1M2zaR2VM91nqN4io5+WcETZw+zaYCk06h0uCFCgj95GI81iefj2jZh8NNcx9J6OjWFWmtr5lH7S2cnoFInPyWz0fFirh8Kaopmi6927HvIR1Ug6esJUwWJWplw1ZHUjSlWBRvlUF1OnQT0+GoJVTKbKw0KmwJ8dxlF2CxuvaZl4ad5eitykpNz3/0/bV8MLCbUYP2OIpPRqBc17ZqZHMMLi360m0h/vwgMR7Lgm7VSMt7G/e16xGlh61Mt2L9ooa5R1K3HGxvv8JLLHV8LY5y+2yJMyqO2aege9Ing26/Rv7R9KwOoII5ggjzEXRtwacYlW2hTU5bhm+qCLjx5SlQVKg17o35b28zxjTC3yXLkkEq7URSQAzW323D5yn/AFflTPn/AEiTYcDh/eHojdaNOO30S8mjI2q/+kD8zfwhKO3af7RWp9dHX01labDc9j5CXrYOnVGWwJPEb431WTyE5Gph6yOLoytbfbh4jhD5J4xsHVoH6LeCLam9uOXkf1aeh2Ftpa/cfu1bXGlg4HLr+vCPi/5qvme2lknZIfLOKwbak2pwTU46ywbLCWkmWLVBHqoidURpSUq5g2aXqCBYS2GRKhnnSjTp0TIHxlWh6LRVTD0zOhBs4WtoADlI4jS/zjOZuJY+JJmXg7k2HX0m1gcQiENdmO6wsoPS5/KTptRCL09Ix2VrZgRxAOlx0vCNth9yhKfEWAdv4nv6WizVHZszFmY7yblvOEBwo6feZYhBwLeOUD8funU0Nrnhv3WHiToJU10BsL1DyW4X5sRc/IDxi+xWGY6KoHIWLt4gG/nYCWKqD32LN9TV28gbDzMopd+4Ot6aaAdXP4m5kjIg1K1Nd+oog8h8VQ+kFMew9Y27tkS/vaeRPu36AExnDOKbdpTyhhqzsC7ep7vpMyriMuVqpYXAyUhYVXHgNKa+vjCUy7mzBbjXsxcU6Xj9ZvXwks/R49Ls3a9EjK4AJNy92TOemUi4+U2BWY/5YOUm1yco+U8lgCiVNbs1gSxF7fgPCezNE5AzEiwvYbyOg4SOPvQ5M1sMcxz3AvfRmt5XjFTFpYWFgLAAC5t1PKZWLxzFgFp5ad7Fibm/hxjCgkZVAGbQk8BKWePBJfJ/FbPSuo3hj7qgk2HM33TzGJ9matOrl7mIRsoICsQjb9W09DaelwJKgqCQl7Fvib8pqUnAUWI/dGhyg6X8Y+E/sC15nC4N0HuooU6ZVUMovuJA70NXYqN+Zt5PcBQdTNPGkLc5SfDfPPY1iQXBIN7rdrH9dDaQ+dy3i4//AD+r/E45yZ+RWqtuYWPoRBGsQRfW+7rM/EjEMFIZcm9rjvKb7gb2sfCcXIKhtGAt03+E8vj+ZyYY63LXrZfBwzy3PDQbF6kPcX4X8pn7R2viaVGuuEY9oyXpsBd1IILWuORbWEqYog3JzHdc6AeUDUrAFWuG48j1tx87SePyeTtLT34fHqwp7K7Q2jiXc11cUAoymoDmDCwIDEXbidd01cbmp5aiWVk7y8rg3t+ucDi/aW+WnTVmfLqti5sONl38OEBX2h3clZSpbQF1emrH6t7fq48I9nLny/Zjj13+I6w48Omd3H03CVu0RKgFs6K9uVwDCMJgexu2Eq0qdFl7GsqmyE5g4G8q19SBvXh4T0bLO242Xy4Ny+i7QTRhhBMIAK1FitVI84i1URoWzZCokXqCO1BFqglMaW4lWEiWedKdw0+JrCpBKIZZ3uc1QaxBGhHGP0qx0vYzNQw9N4tGPQbPo0z36xy0weHvueSj8ZWri1B+iWy7rtZmPXpEcPiiBlIDLyO8eB4R2v2aqjLmJZQzWtZWPw3tv+USGsDdzpnY9F3t8hwhlpW989kD+zXWs46/V+dvnF6VRhcgBL/HqWt4n8LS6WXvOTTU7231W+yOHjDaEhvMW+iRQBvNIHugc6r8fDSLVccFbLQtVrHu9ra6p0pL+MXas9X6KipSmfgB1bq54wq00pDfcNpnX363NafJP3+NzbqoiYekbswYs97VcQe8c/1KZPvNzbcLac4+tXIFRAM7aheCg/Ex4mJ1q/ZqpYLnYWo0R7qLzI5f8obAIQGqVCWOhcnUkncnz+6Jf6aNvAgKV4/EWO/q56ncBPR4TEZmyqCwHvNqflrPL4N7KznViw05udw8AJv7MxBQBBvY2zDefrGQvs/4Yx2HBOa1td3FQeNuG6UpkKDf4fXoJoYEqb5gCxYHnbl6Sa2HVn4AL3j0/V5THJPKM3H4ao4SkmjN3nO7KvEX4TVwgJa40SmMq9SNCzcz/WXygjMD7wuOekZpUlRLNbXUjn+ry3aRPW2fiK2YkaHpoQB1nlvafDOoJpLlUDUkqoLE2v8Aoaz2NLKb6anXlaZm3sF2iE086VdStRWZSoAte/K14vLjOXHSnFyXjz7R5KntBsvZhDxu27NbiOko1fTvMb7vAePOZ+z2FIlDVFUj3quoJJBNiTfXfxO68HXqOSrC4GoANyTcmeDn8frncdafScfNMsJk0cTiLZQoz3sO7e5J0A03nkBNnZPsXWqkPi3NFD+yXKaxH7zahNOAufAxn2F2MBfE1Vu+YrRDAXQDRn+0bkdALDfPcUxL8fFMZ4cHP8rLK6hfZOyaGHXLh6SUgRqQO832m3sfGPlAd4vfgdRIWEEq5LXmsf7HUGbtMMzYOqCD3NaRI1F6R0BB1BXLN1Q2Vc9i2UZiNAWtrbpeMGCeHtbPJPQLCBaGaBqTbGAPFqkYqGLOYdm2WqxSpHKkUqibs2yzTpYiTN2B8SWEWUEuBPX24Vw0IjQWWWAmbZynUmlszFBKiFiMmde0uARkvroZiq0YpvEsNK3Nt1HV2y0hTVrMthmBBFwVJ0sb3uJlLSdu9UNl+s17Hw5nwj+F2zWVRTvnRRZVPAcADy6GBxFUnvK3ZMSFBVe+xPDMST5Wgg2r4qsKQ7NVysR31axY8u0HDonzPKQh7P6at36j600O9uTHkohMRhKWGtdu2rMocJayqza3fXX8YlQoPUbMdebH7v6TWRjezqL1HNVznY8Tz4DoI+9f6uqobL/3Kp+Lw5dBB1jkHYpq7Czn6qnh4kS+FsDmI7lAWUfXrHd5Sdu/J41qC2KoNezAv1qt+V5sbOGZnb4aaimp6k2vMTBtkphj7zEkdWPH5C81cGpVLDfqfSw++JINrTwdfL3zrd2CjcBbQTRxTkJWy27tJSb7t1yJkpT7tFeQv5maOKzJSqnUZ3RR4TWSNPIWCxLM4DkZVAAsLWsNfKbGHp5zmYEgbh0Eztk4Mgi/xC5Y7vAevmZ6/D4bKFFgeJ6Rddsg3qMhMCT3msO96covidlByQXKrZsyg2D6HeOImrj6tgQFJ1Nh+MSxBcIGIu1i1tyj7XpOrGaiNr5ft7ZrJXNO1kZ6YFNNS2bMzMzG5LHLv6CGxOA7JlqH3adNbAa97MBbzM6u5q11yghVObPmzEsW1/IDheejXB53ZKlrGqlkHBKf0oHmFnP8ngxzly/Y6OH5GXH4/G7syjkponEKL/a3t6kzRpmKIYwhnB6mlN7MKYS8ArS4aLthCYJjOLwbtNsLVXMA5lnaBdodjKHUMWqGEqtFajQbbalRorUMK7QLQbDak6TadMO3xREjC04SnSjdLDz17k5piUFOWFGaVPCRmngon2H6MdaBhqeHM2UwMMmC6Qfa3RlU8PGUobuhuOh5zTp4SFGFk8uQehVdlduKlTKpcEF2zZGYG+vK+g4ScUiUAq0AzlhpVbcpO/d8QmlhlZDdTYkWOgII5EGM0nQG7Uhe4uUOS/ipBB8oZzTWsmuFnp5RARcLvOrVD8PMkxjA0u0ZadO5QGy34k+8xnqtpez1OrYq7FTYgJlVNdxy2tDbM9nzRz5QTemAjmxNzv8ACPvfoGQE7SqqKO4ndX8TPQJhtw36+gjOydjdnZnFySRoL2mrQwYIDDQ8jvHyjaDaMDs+5ubALaJ+0dUFlpJYga+LGN7SxJVgifVAPjzmFUftKtIAE/TAE8NOXPjJcuWsT4Ty9mtBFCLe5UWJ6zYo7hvmHgWu2ZvdAAA3kma9OuCdBa0Tiy/WzkVq0gAWPHcOUyNrZihU7zvHC022qC9zY3HpMHaWMGZ2uLIDr13D5D8J3Y3w5rPPh5KlshqVVayEWVbZSD3SbXIA375nv7U0qNSoX75Z2AYsq8r6W/dEb9pdt5mSjRBvUfs14XY8+mhmd7V7OwlClQdkWpVTEU6uYm7sqnM91O9dLW3C4kM85b197dEw1N32c2D7f0qzslZDQuyLSIu+YscutupGo01PKe3Rp8V2ht7BYis3YYd8O9UG57mUuobs2UJ7jEsb776dZ9M9icfUr4Sk9Zg9VcyMwILHKSFLjgxAHjv4zm5+LrO0mhwy34ejDS2aDE4zkUWLQbNOMG0JKh2i9R5dzF6hmDYbtF6hl3aLu0Jbkq7Sl5VjK3m0HcSdKZp03UO75pQoR+hh5fD0Zp4ehOvLJWQCjho7Swsao0I5ToSW9mZ64WEXDdJpLQhFoTeQZy4eEGHmiKEsKM2mjN7CVNCahoyppRbDxnohG4kR2njagAF7kaZunWW7GXWjFxyynqt1gmHx9QfVN9+/X1hDj3ZiMpFrEHXK3hY+kqlGM06UtjyZFuEJsahJFjc6Zza3yF4RKIphSN6bj1IIv6x9KUtVwuYW5zW3IJ4P4NhbMeAjL1tLj+klNmoEUM1rC7HS9/znn8VjiGqgupSlkuQCcrEnf/J8zOnHDrIlb2p3ae1sik336LzJ/ITHpUquIF/8ulwudT16wOKrq5NWopCJYJTIAZrDS/JRqeevjNOgjuoU91TZmO4m+uUfr7obl/fEGax9e3ka+ysS+KDYILSSkjU/8XVAcBm3mim5mA0udNTA7Z9j++v07VahWpWq16+o7KmFOUKvMkHw08foa0gAANANAJl+0WENVEoglO3qdg9Ue9TpOjZ7dSAFHVhOf7bcv4eTw8n7E+zeFxWzqRq0lDvUrVFqrdaiNmsMrAg2FhodNIH2YYYLHtQqswNS9Gr7opZswahUUAe6ynXk1+G73ewdkJhaFPDU2ZlpAgM1sxuSTe2nGE2lsqlWsaihyivkB3BmFr3GvD1MW8m7d+ZWk8HQJxEijTIVVJLFVUFjvYgWJljOfR6EYNoVoJ5tJUBzFajRmpFKgmkTtLVGi7tDVYsxj44oZcmkEyJ0mU6JfYi86WtOm6h3eXw1KalClF8Kk0qCTWvUFo0o7SpStFI5TSCCEtKEFOHCSwSM2gBTndnGckgpNWLFJHZxkpK5YlOCKcutOFCwirFZRacOiSUWHRY0BCJCqssqwgWPAeX27UxNNAytpYDjZG/tpMfB1XWkWAzOShK6d4u4BBv9seV57naeDNWjVpje6EL9revqBPE7NqXYBu6GBQ8bWuPusYe97S2tMZqvV4DDKyrmUB1AzLvCsfeHmDH8kV2dUu7D64Z+ujW/9ppZY/L/AKT4/QGScad9CLjkdRD5ZOWS0oBklskLknZIOrBZZUiHyyjCDTFmEC4jLiBcQaTyKVBFaojlSKVRDpHIjVizRqqIuwlccXHyB2kiSBJyyvVJBnSSJMPVmPhRNSgkzsKJrYcTmr2TdJY3TWBoiOUxMZwWWCy4EsBDGDIkWhisqRNRgJWVKwxEqREsFRRCKJAEuogFdRDoINIdBGBZRCqshFhlEYEAT57tWn2OKqr8Jqll6BgCB6gT6OFnjPbvB3dWHx07qeGekbt/I38sNm40aOxWLVg3D/DW8DmH6+U37TzfsS+dWbiqKpHizf8Az909RaNnd1PGaUtOtL5ZNopg7TrQmWdlmYMiDdYwVg2WBijiAcRtxF3EBKTqCKVBHqgi1RYYjmz6qxdljtURVhLYuTOBhJJWWEmWkR0HaRCETptAxcJNfDiZGEmvhhOJ7TQoxymIrREbQQCIJYSAJaYXSpEtOh2ylpUiXMrBaMRaWAnAS6iKK6RimIFBDoI0CipDLBJCrGgCCY3tXh81DOBdsPUWsBzUd1x/AzH5TZEh1BBU6hgVI5g6Qg8X7JOKWI7Me5Wptl5Z13jyW/8Auntp87w9Xsaovf6CuGU8Sl+zqj5Xp+c+hq17Eagi4PMHjNQ/U2kyLzrwbZM6dOm2LiJRhCXg2magOIvUEZeK1DBSUs4itWNPFKsMSyKVYrUjVWKvK4ubkUEsJUS4EvEHESZxnQgxMJNfDzp04HsNGjG0kzoDCCTJnQiidOnTArInTooxYCXWTOgERYVZ06NAoqwizp0YFwZM6dMzx3tvhQmWquhctmHM91b/ADDC/wBkT0Hs7XL4aix35beRInTofwK0hOkzoGdJkTpmWg3kzoWpZ4vUnToCUtUitWROhieRSpFqk6dLYObkUEus6dLxzrGdOnTFf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5817" y="2867957"/>
            <a:ext cx="2151234" cy="1279848"/>
          </a:xfrm>
          <a:prstGeom prst="rect">
            <a:avLst/>
          </a:prstGeom>
        </p:spPr>
      </p:pic>
      <p:sp>
        <p:nvSpPr>
          <p:cNvPr id="10" name="雲朵形圖說文字 9"/>
          <p:cNvSpPr/>
          <p:nvPr/>
        </p:nvSpPr>
        <p:spPr>
          <a:xfrm>
            <a:off x="5075306" y="2425770"/>
            <a:ext cx="3303662" cy="951706"/>
          </a:xfrm>
          <a:prstGeom prst="cloudCallout">
            <a:avLst>
              <a:gd name="adj1" fmla="val -48303"/>
              <a:gd name="adj2" fmla="val 5589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“upper-left beak”</a:t>
            </a:r>
            <a:r>
              <a:rPr lang="zh-TW" altLang="en-US" sz="2400" dirty="0"/>
              <a:t> </a:t>
            </a:r>
            <a:r>
              <a:rPr lang="en-US" altLang="zh-TW" sz="2400" dirty="0"/>
              <a:t>detector</a:t>
            </a:r>
            <a:endParaRPr lang="zh-TW" altLang="en-US" sz="2400" dirty="0"/>
          </a:p>
        </p:txBody>
      </p:sp>
      <p:sp>
        <p:nvSpPr>
          <p:cNvPr id="12" name="矩形 11"/>
          <p:cNvSpPr/>
          <p:nvPr/>
        </p:nvSpPr>
        <p:spPr>
          <a:xfrm>
            <a:off x="1289051" y="2628514"/>
            <a:ext cx="406400" cy="37945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1803855" y="4993913"/>
            <a:ext cx="406400" cy="37945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3672" y="4653035"/>
            <a:ext cx="2295525" cy="1590675"/>
          </a:xfrm>
          <a:prstGeom prst="rect">
            <a:avLst/>
          </a:prstGeom>
        </p:spPr>
      </p:pic>
      <p:sp>
        <p:nvSpPr>
          <p:cNvPr id="31" name="雲朵形圖說文字 30"/>
          <p:cNvSpPr/>
          <p:nvPr/>
        </p:nvSpPr>
        <p:spPr>
          <a:xfrm>
            <a:off x="5075306" y="5513706"/>
            <a:ext cx="3303662" cy="951706"/>
          </a:xfrm>
          <a:prstGeom prst="cloudCallout">
            <a:avLst>
              <a:gd name="adj1" fmla="val -40531"/>
              <a:gd name="adj2" fmla="val -60650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“middle beak”</a:t>
            </a:r>
            <a:r>
              <a:rPr lang="zh-TW" altLang="en-US" sz="2400" dirty="0"/>
              <a:t> </a:t>
            </a:r>
            <a:r>
              <a:rPr lang="en-US" altLang="zh-TW" sz="2400" dirty="0"/>
              <a:t>detector</a:t>
            </a:r>
            <a:endParaRPr lang="zh-TW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5548370" y="4278358"/>
            <a:ext cx="32573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/>
              <a:t>They can use the same set of parameters.</a:t>
            </a:r>
            <a:endParaRPr lang="zh-TW" altLang="en-US" sz="2400" dirty="0"/>
          </a:p>
        </p:txBody>
      </p:sp>
      <p:sp>
        <p:nvSpPr>
          <p:cNvPr id="34" name="矩形 33"/>
          <p:cNvSpPr/>
          <p:nvPr/>
        </p:nvSpPr>
        <p:spPr>
          <a:xfrm>
            <a:off x="4501720" y="3877534"/>
            <a:ext cx="33824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/>
              <a:t>Do almost the same thing</a:t>
            </a:r>
            <a:endParaRPr lang="zh-TW" altLang="en-US" sz="2400" dirty="0"/>
          </a:p>
        </p:txBody>
      </p:sp>
      <p:cxnSp>
        <p:nvCxnSpPr>
          <p:cNvPr id="8" name="直線單箭頭接點 7"/>
          <p:cNvCxnSpPr/>
          <p:nvPr/>
        </p:nvCxnSpPr>
        <p:spPr>
          <a:xfrm>
            <a:off x="4445448" y="3767980"/>
            <a:ext cx="0" cy="1341375"/>
          </a:xfrm>
          <a:prstGeom prst="straightConnector1">
            <a:avLst/>
          </a:prstGeom>
          <a:ln w="762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B91D4-E313-49F2-81CC-E35F67A9D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0356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  <p:bldP spid="31" grpId="0" animBg="1"/>
      <p:bldP spid="6" grpId="0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Why CNN for Image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215"/>
            <a:ext cx="7886700" cy="4351338"/>
          </a:xfrm>
        </p:spPr>
        <p:txBody>
          <a:bodyPr/>
          <a:lstStyle/>
          <a:p>
            <a:r>
              <a:rPr lang="en-US" altLang="zh-TW" dirty="0"/>
              <a:t>Subsampling</a:t>
            </a:r>
            <a:r>
              <a:rPr lang="zh-TW" altLang="en-US" dirty="0"/>
              <a:t> </a:t>
            </a:r>
            <a:r>
              <a:rPr lang="en-US" altLang="zh-TW" dirty="0"/>
              <a:t>the pixels will not change the object</a:t>
            </a:r>
            <a:endParaRPr lang="zh-TW" altLang="en-US" dirty="0"/>
          </a:p>
        </p:txBody>
      </p:sp>
      <p:pic>
        <p:nvPicPr>
          <p:cNvPr id="16386" name="Picture 2" descr="http://insider.si.edu/wordpress/wp-content/uploads/2016/04/Mountain_Bluebir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593" y="2924264"/>
            <a:ext cx="3336080" cy="225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http://insider.si.edu/wordpress/wp-content/uploads/2016/04/Mountain_Bluebird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553" y="3433773"/>
            <a:ext cx="1756743" cy="1190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向右箭號 3"/>
          <p:cNvSpPr/>
          <p:nvPr/>
        </p:nvSpPr>
        <p:spPr>
          <a:xfrm>
            <a:off x="4397010" y="3627332"/>
            <a:ext cx="1860668" cy="80293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4291673" y="4424983"/>
            <a:ext cx="2075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</a:rPr>
              <a:t>subsampling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1876147" y="2408420"/>
            <a:ext cx="1494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bird</a:t>
            </a:r>
            <a:endParaRPr lang="zh-TW" altLang="en-US" sz="28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6603438" y="2899949"/>
            <a:ext cx="1494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bird</a:t>
            </a:r>
            <a:endParaRPr lang="zh-TW" altLang="en-US" sz="28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780108" y="5511515"/>
            <a:ext cx="70231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We can subsample the pixels to make image smaller</a:t>
            </a:r>
            <a:endParaRPr lang="zh-TW" altLang="en-US" sz="240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C7A7AC3-11AD-4809-A771-3E5A3D77F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7835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/>
      <p:bldP spid="9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whole CNN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749703" y="2274347"/>
            <a:ext cx="2906568" cy="3201477"/>
            <a:chOff x="-1626455" y="3999117"/>
            <a:chExt cx="2906568" cy="3201477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 flipH="1">
              <a:off x="-1736746" y="4748962"/>
              <a:ext cx="3201477" cy="1701788"/>
            </a:xfrm>
            <a:prstGeom prst="rect">
              <a:avLst/>
            </a:prstGeom>
          </p:spPr>
        </p:pic>
        <p:sp>
          <p:nvSpPr>
            <p:cNvPr id="6" name="文字方塊 5"/>
            <p:cNvSpPr txBox="1"/>
            <p:nvPr/>
          </p:nvSpPr>
          <p:spPr>
            <a:xfrm>
              <a:off x="-1626455" y="5442856"/>
              <a:ext cx="2906568" cy="830997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Fully Connected Feedforward network</a:t>
              </a:r>
              <a:endParaRPr lang="zh-TW" altLang="en-US" sz="2400" dirty="0"/>
            </a:p>
          </p:txBody>
        </p:sp>
      </p:grpSp>
      <p:pic>
        <p:nvPicPr>
          <p:cNvPr id="12290" name="Picture 2" descr="http://s.hswstatic.com/gif/whiskers-sam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5642" y="191529"/>
            <a:ext cx="1771005" cy="1204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1277455" y="1705969"/>
            <a:ext cx="2046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cat dog ……</a:t>
            </a:r>
            <a:endParaRPr lang="zh-TW" altLang="en-US" sz="2400" dirty="0"/>
          </a:p>
        </p:txBody>
      </p:sp>
      <p:sp>
        <p:nvSpPr>
          <p:cNvPr id="11" name="矩形 10"/>
          <p:cNvSpPr/>
          <p:nvPr/>
        </p:nvSpPr>
        <p:spPr>
          <a:xfrm>
            <a:off x="5249923" y="1929505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Convolution</a:t>
            </a:r>
            <a:endParaRPr lang="zh-TW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5249923" y="3029517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Max Pooling</a:t>
            </a:r>
            <a:endParaRPr lang="zh-TW" altLang="en-US" sz="2400" dirty="0"/>
          </a:p>
        </p:txBody>
      </p:sp>
      <p:sp>
        <p:nvSpPr>
          <p:cNvPr id="14" name="矩形 13"/>
          <p:cNvSpPr/>
          <p:nvPr/>
        </p:nvSpPr>
        <p:spPr>
          <a:xfrm>
            <a:off x="5249923" y="4097730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Convolution</a:t>
            </a:r>
            <a:endParaRPr lang="zh-TW" altLang="en-US" sz="2400" dirty="0"/>
          </a:p>
        </p:txBody>
      </p:sp>
      <p:sp>
        <p:nvSpPr>
          <p:cNvPr id="15" name="矩形 14"/>
          <p:cNvSpPr/>
          <p:nvPr/>
        </p:nvSpPr>
        <p:spPr>
          <a:xfrm>
            <a:off x="5249923" y="5130982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Max Pooling</a:t>
            </a:r>
            <a:endParaRPr lang="zh-TW" altLang="en-US" sz="24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3324218" y="6055666"/>
            <a:ext cx="1556991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Flatten</a:t>
            </a:r>
            <a:endParaRPr lang="zh-TW" altLang="en-US" sz="2400" dirty="0"/>
          </a:p>
        </p:txBody>
      </p:sp>
      <p:sp>
        <p:nvSpPr>
          <p:cNvPr id="12" name="向下箭號 11"/>
          <p:cNvSpPr/>
          <p:nvPr/>
        </p:nvSpPr>
        <p:spPr>
          <a:xfrm>
            <a:off x="5869620" y="1451760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向下箭號 17"/>
          <p:cNvSpPr/>
          <p:nvPr/>
        </p:nvSpPr>
        <p:spPr>
          <a:xfrm>
            <a:off x="5869620" y="2562542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向下箭號 18"/>
          <p:cNvSpPr/>
          <p:nvPr/>
        </p:nvSpPr>
        <p:spPr>
          <a:xfrm>
            <a:off x="5869620" y="3654185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向下箭號 19"/>
          <p:cNvSpPr/>
          <p:nvPr/>
        </p:nvSpPr>
        <p:spPr>
          <a:xfrm>
            <a:off x="5869620" y="4689178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右彎箭號 16"/>
          <p:cNvSpPr/>
          <p:nvPr/>
        </p:nvSpPr>
        <p:spPr>
          <a:xfrm rot="10800000">
            <a:off x="4881209" y="5753402"/>
            <a:ext cx="1378857" cy="751743"/>
          </a:xfrm>
          <a:prstGeom prst="bentArrow">
            <a:avLst>
              <a:gd name="adj1" fmla="val 36585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2" name="右彎箭號 21"/>
          <p:cNvSpPr/>
          <p:nvPr/>
        </p:nvSpPr>
        <p:spPr>
          <a:xfrm rot="16200000">
            <a:off x="2154214" y="5340912"/>
            <a:ext cx="968423" cy="1238252"/>
          </a:xfrm>
          <a:prstGeom prst="bentArrow">
            <a:avLst>
              <a:gd name="adj1" fmla="val 28061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7424968" y="3414758"/>
            <a:ext cx="1690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Can repeat many times</a:t>
            </a:r>
            <a:endParaRPr lang="zh-TW" altLang="en-US" sz="2400" dirty="0"/>
          </a:p>
        </p:txBody>
      </p:sp>
      <p:sp>
        <p:nvSpPr>
          <p:cNvPr id="23" name="左大括弧 22"/>
          <p:cNvSpPr/>
          <p:nvPr/>
        </p:nvSpPr>
        <p:spPr>
          <a:xfrm flipH="1">
            <a:off x="7026249" y="1806541"/>
            <a:ext cx="334434" cy="4047433"/>
          </a:xfrm>
          <a:prstGeom prst="leftBrace">
            <a:avLst>
              <a:gd name="adj1" fmla="val 72890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E4E9D0-8EAC-4AD5-901E-CCCDFECE8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6441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 animBg="1"/>
      <p:bldP spid="13" grpId="0" animBg="1"/>
      <p:bldP spid="14" grpId="0" animBg="1"/>
      <p:bldP spid="15" grpId="0" animBg="1"/>
      <p:bldP spid="16" grpId="0" animBg="1"/>
      <p:bldP spid="12" grpId="0" animBg="1"/>
      <p:bldP spid="18" grpId="0" animBg="1"/>
      <p:bldP spid="19" grpId="0" animBg="1"/>
      <p:bldP spid="20" grpId="0" animBg="1"/>
      <p:bldP spid="17" grpId="0" animBg="1"/>
      <p:bldP spid="22" grpId="0" animBg="1"/>
      <p:bldP spid="21" grpId="0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414945" y="4419540"/>
            <a:ext cx="4173041" cy="9355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420795" y="1713451"/>
            <a:ext cx="4173041" cy="237459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whole CNN</a:t>
            </a:r>
            <a:endParaRPr lang="zh-TW" altLang="en-US" dirty="0"/>
          </a:p>
        </p:txBody>
      </p:sp>
      <p:pic>
        <p:nvPicPr>
          <p:cNvPr id="12290" name="Picture 2" descr="http://s.hswstatic.com/gif/whiskers-sa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5642" y="191529"/>
            <a:ext cx="1771005" cy="1204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/>
          <p:cNvSpPr/>
          <p:nvPr/>
        </p:nvSpPr>
        <p:spPr>
          <a:xfrm>
            <a:off x="5249923" y="1929505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Convolution</a:t>
            </a:r>
            <a:endParaRPr lang="zh-TW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5249923" y="3029517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Max Pooling</a:t>
            </a:r>
            <a:endParaRPr lang="zh-TW" altLang="en-US" sz="2400" dirty="0"/>
          </a:p>
        </p:txBody>
      </p:sp>
      <p:sp>
        <p:nvSpPr>
          <p:cNvPr id="14" name="矩形 13"/>
          <p:cNvSpPr/>
          <p:nvPr/>
        </p:nvSpPr>
        <p:spPr>
          <a:xfrm>
            <a:off x="5249923" y="4097730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Convolution</a:t>
            </a:r>
            <a:endParaRPr lang="zh-TW" altLang="en-US" sz="2400" dirty="0"/>
          </a:p>
        </p:txBody>
      </p:sp>
      <p:sp>
        <p:nvSpPr>
          <p:cNvPr id="15" name="矩形 14"/>
          <p:cNvSpPr/>
          <p:nvPr/>
        </p:nvSpPr>
        <p:spPr>
          <a:xfrm>
            <a:off x="5249923" y="5130982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Max Pooling</a:t>
            </a:r>
            <a:endParaRPr lang="zh-TW" altLang="en-US" sz="24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3324218" y="6055666"/>
            <a:ext cx="1556991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Flatten</a:t>
            </a:r>
            <a:endParaRPr lang="zh-TW" altLang="en-US" sz="2400" dirty="0"/>
          </a:p>
        </p:txBody>
      </p:sp>
      <p:sp>
        <p:nvSpPr>
          <p:cNvPr id="12" name="向下箭號 11"/>
          <p:cNvSpPr/>
          <p:nvPr/>
        </p:nvSpPr>
        <p:spPr>
          <a:xfrm>
            <a:off x="5869620" y="1451760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向下箭號 17"/>
          <p:cNvSpPr/>
          <p:nvPr/>
        </p:nvSpPr>
        <p:spPr>
          <a:xfrm>
            <a:off x="5869620" y="2562542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向下箭號 18"/>
          <p:cNvSpPr/>
          <p:nvPr/>
        </p:nvSpPr>
        <p:spPr>
          <a:xfrm>
            <a:off x="5869620" y="3654185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向下箭號 19"/>
          <p:cNvSpPr/>
          <p:nvPr/>
        </p:nvSpPr>
        <p:spPr>
          <a:xfrm>
            <a:off x="5869620" y="4689178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右彎箭號 16"/>
          <p:cNvSpPr/>
          <p:nvPr/>
        </p:nvSpPr>
        <p:spPr>
          <a:xfrm rot="10800000">
            <a:off x="4881209" y="5753402"/>
            <a:ext cx="1378857" cy="751743"/>
          </a:xfrm>
          <a:prstGeom prst="bentArrow">
            <a:avLst>
              <a:gd name="adj1" fmla="val 36585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2" name="右彎箭號 21"/>
          <p:cNvSpPr/>
          <p:nvPr/>
        </p:nvSpPr>
        <p:spPr>
          <a:xfrm rot="16200000">
            <a:off x="2154214" y="5340912"/>
            <a:ext cx="968423" cy="1238252"/>
          </a:xfrm>
          <a:prstGeom prst="bentArrow">
            <a:avLst>
              <a:gd name="adj1" fmla="val 28061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7424968" y="3414758"/>
            <a:ext cx="1690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Can repeat many times</a:t>
            </a:r>
            <a:endParaRPr lang="zh-TW" altLang="en-US" sz="2400" dirty="0"/>
          </a:p>
        </p:txBody>
      </p:sp>
      <p:sp>
        <p:nvSpPr>
          <p:cNvPr id="23" name="左大括弧 22"/>
          <p:cNvSpPr/>
          <p:nvPr/>
        </p:nvSpPr>
        <p:spPr>
          <a:xfrm flipH="1">
            <a:off x="7026249" y="1806541"/>
            <a:ext cx="334434" cy="4047433"/>
          </a:xfrm>
          <a:prstGeom prst="leftBrace">
            <a:avLst>
              <a:gd name="adj1" fmla="val 72890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427898" y="1862451"/>
            <a:ext cx="430554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TW" sz="2400" dirty="0"/>
              <a:t>Some patterns are much smaller than the whole image</a:t>
            </a:r>
            <a:endParaRPr lang="zh-TW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441502" y="3232243"/>
            <a:ext cx="41659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2400" dirty="0"/>
              <a:t>The same patterns appear in different regions.</a:t>
            </a:r>
            <a:endParaRPr lang="zh-TW" altLang="en-US" sz="2400" dirty="0"/>
          </a:p>
        </p:txBody>
      </p:sp>
      <p:sp>
        <p:nvSpPr>
          <p:cNvPr id="8" name="矩形 7"/>
          <p:cNvSpPr/>
          <p:nvPr/>
        </p:nvSpPr>
        <p:spPr>
          <a:xfrm>
            <a:off x="465943" y="4554815"/>
            <a:ext cx="417304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2400" dirty="0"/>
              <a:t>Subsampling</a:t>
            </a:r>
            <a:r>
              <a:rPr lang="zh-TW" altLang="en-US" sz="2400" dirty="0"/>
              <a:t> </a:t>
            </a:r>
            <a:r>
              <a:rPr lang="en-US" altLang="zh-TW" sz="2400" dirty="0"/>
              <a:t>the pixels will not change the object</a:t>
            </a:r>
            <a:endParaRPr lang="zh-TW" altLang="en-US" sz="2400" dirty="0"/>
          </a:p>
        </p:txBody>
      </p:sp>
      <p:cxnSp>
        <p:nvCxnSpPr>
          <p:cNvPr id="26" name="直線單箭頭接點 25"/>
          <p:cNvCxnSpPr>
            <a:stCxn id="11" idx="1"/>
            <a:endCxn id="10" idx="3"/>
          </p:cNvCxnSpPr>
          <p:nvPr/>
        </p:nvCxnSpPr>
        <p:spPr>
          <a:xfrm flipH="1">
            <a:off x="4593836" y="2207749"/>
            <a:ext cx="656087" cy="69300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>
            <a:stCxn id="14" idx="1"/>
            <a:endCxn id="10" idx="3"/>
          </p:cNvCxnSpPr>
          <p:nvPr/>
        </p:nvCxnSpPr>
        <p:spPr>
          <a:xfrm flipH="1" flipV="1">
            <a:off x="4593836" y="2900749"/>
            <a:ext cx="656087" cy="1475225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>
            <a:stCxn id="13" idx="1"/>
            <a:endCxn id="25" idx="3"/>
          </p:cNvCxnSpPr>
          <p:nvPr/>
        </p:nvCxnSpPr>
        <p:spPr>
          <a:xfrm flipH="1">
            <a:off x="4587986" y="3307761"/>
            <a:ext cx="661937" cy="157954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>
            <a:stCxn id="15" idx="1"/>
            <a:endCxn id="25" idx="3"/>
          </p:cNvCxnSpPr>
          <p:nvPr/>
        </p:nvCxnSpPr>
        <p:spPr>
          <a:xfrm flipH="1" flipV="1">
            <a:off x="4587986" y="4887306"/>
            <a:ext cx="661937" cy="52192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281190" y="1388954"/>
            <a:ext cx="1581687" cy="50547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Property 1</a:t>
            </a:r>
            <a:endParaRPr lang="zh-TW" altLang="en-US" sz="2400" dirty="0"/>
          </a:p>
        </p:txBody>
      </p:sp>
      <p:sp>
        <p:nvSpPr>
          <p:cNvPr id="29" name="矩形 28"/>
          <p:cNvSpPr/>
          <p:nvPr/>
        </p:nvSpPr>
        <p:spPr>
          <a:xfrm>
            <a:off x="287518" y="2743180"/>
            <a:ext cx="1581687" cy="50547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Property 2</a:t>
            </a:r>
            <a:endParaRPr lang="zh-TW" altLang="en-US" sz="2400" dirty="0"/>
          </a:p>
        </p:txBody>
      </p:sp>
      <p:sp>
        <p:nvSpPr>
          <p:cNvPr id="35" name="矩形 34"/>
          <p:cNvSpPr/>
          <p:nvPr/>
        </p:nvSpPr>
        <p:spPr>
          <a:xfrm>
            <a:off x="287518" y="4070720"/>
            <a:ext cx="1581687" cy="50547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Property 3</a:t>
            </a:r>
            <a:endParaRPr lang="zh-TW" alt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3FBDD-8FE9-42E2-BDE6-036EE5849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2079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10" grpId="0" animBg="1"/>
      <p:bldP spid="3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whole CNN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749703" y="2274347"/>
            <a:ext cx="2906568" cy="3201477"/>
            <a:chOff x="-1626455" y="3999117"/>
            <a:chExt cx="2906568" cy="3201477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 flipH="1">
              <a:off x="-1736746" y="4748962"/>
              <a:ext cx="3201477" cy="1701788"/>
            </a:xfrm>
            <a:prstGeom prst="rect">
              <a:avLst/>
            </a:prstGeom>
          </p:spPr>
        </p:pic>
        <p:sp>
          <p:nvSpPr>
            <p:cNvPr id="6" name="文字方塊 5"/>
            <p:cNvSpPr txBox="1"/>
            <p:nvPr/>
          </p:nvSpPr>
          <p:spPr>
            <a:xfrm>
              <a:off x="-1626455" y="5442856"/>
              <a:ext cx="2906568" cy="830997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Fully Connected Feedforward network</a:t>
              </a:r>
              <a:endParaRPr lang="zh-TW" altLang="en-US" sz="2400" dirty="0"/>
            </a:p>
          </p:txBody>
        </p:sp>
      </p:grpSp>
      <p:pic>
        <p:nvPicPr>
          <p:cNvPr id="12290" name="Picture 2" descr="http://s.hswstatic.com/gif/whiskers-sam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5642" y="191529"/>
            <a:ext cx="1771005" cy="1204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1277455" y="1705969"/>
            <a:ext cx="2046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cat dog ……</a:t>
            </a:r>
            <a:endParaRPr lang="zh-TW" altLang="en-US" sz="2400" dirty="0"/>
          </a:p>
        </p:txBody>
      </p:sp>
      <p:sp>
        <p:nvSpPr>
          <p:cNvPr id="11" name="矩形 10"/>
          <p:cNvSpPr/>
          <p:nvPr/>
        </p:nvSpPr>
        <p:spPr>
          <a:xfrm>
            <a:off x="5249923" y="1929505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Convolution</a:t>
            </a:r>
            <a:endParaRPr lang="zh-TW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5249923" y="3029517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Max Pooling</a:t>
            </a:r>
            <a:endParaRPr lang="zh-TW" altLang="en-US" sz="2400" dirty="0"/>
          </a:p>
        </p:txBody>
      </p:sp>
      <p:sp>
        <p:nvSpPr>
          <p:cNvPr id="14" name="矩形 13"/>
          <p:cNvSpPr/>
          <p:nvPr/>
        </p:nvSpPr>
        <p:spPr>
          <a:xfrm>
            <a:off x="5249923" y="4097730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Convolution</a:t>
            </a:r>
            <a:endParaRPr lang="zh-TW" altLang="en-US" sz="2400" dirty="0"/>
          </a:p>
        </p:txBody>
      </p:sp>
      <p:sp>
        <p:nvSpPr>
          <p:cNvPr id="15" name="矩形 14"/>
          <p:cNvSpPr/>
          <p:nvPr/>
        </p:nvSpPr>
        <p:spPr>
          <a:xfrm>
            <a:off x="5249923" y="5130982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Max Pooling</a:t>
            </a:r>
            <a:endParaRPr lang="zh-TW" altLang="en-US" sz="24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3324218" y="6055666"/>
            <a:ext cx="1556991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Flatten</a:t>
            </a:r>
            <a:endParaRPr lang="zh-TW" altLang="en-US" sz="2400" dirty="0"/>
          </a:p>
        </p:txBody>
      </p:sp>
      <p:sp>
        <p:nvSpPr>
          <p:cNvPr id="12" name="向下箭號 11"/>
          <p:cNvSpPr/>
          <p:nvPr/>
        </p:nvSpPr>
        <p:spPr>
          <a:xfrm>
            <a:off x="5869620" y="1451760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向下箭號 17"/>
          <p:cNvSpPr/>
          <p:nvPr/>
        </p:nvSpPr>
        <p:spPr>
          <a:xfrm>
            <a:off x="5869620" y="2562542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向下箭號 18"/>
          <p:cNvSpPr/>
          <p:nvPr/>
        </p:nvSpPr>
        <p:spPr>
          <a:xfrm>
            <a:off x="5869620" y="3654185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向下箭號 19"/>
          <p:cNvSpPr/>
          <p:nvPr/>
        </p:nvSpPr>
        <p:spPr>
          <a:xfrm>
            <a:off x="5869620" y="4689178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右彎箭號 16"/>
          <p:cNvSpPr/>
          <p:nvPr/>
        </p:nvSpPr>
        <p:spPr>
          <a:xfrm rot="10800000">
            <a:off x="4881209" y="5753402"/>
            <a:ext cx="1378857" cy="751743"/>
          </a:xfrm>
          <a:prstGeom prst="bentArrow">
            <a:avLst>
              <a:gd name="adj1" fmla="val 36585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2" name="右彎箭號 21"/>
          <p:cNvSpPr/>
          <p:nvPr/>
        </p:nvSpPr>
        <p:spPr>
          <a:xfrm rot="16200000">
            <a:off x="2154214" y="5340912"/>
            <a:ext cx="968423" cy="1238252"/>
          </a:xfrm>
          <a:prstGeom prst="bentArrow">
            <a:avLst>
              <a:gd name="adj1" fmla="val 28061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7424968" y="3414758"/>
            <a:ext cx="1690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Can repeat many times</a:t>
            </a:r>
            <a:endParaRPr lang="zh-TW" altLang="en-US" sz="2400" dirty="0"/>
          </a:p>
        </p:txBody>
      </p:sp>
      <p:sp>
        <p:nvSpPr>
          <p:cNvPr id="23" name="左大括弧 22"/>
          <p:cNvSpPr/>
          <p:nvPr/>
        </p:nvSpPr>
        <p:spPr>
          <a:xfrm flipH="1">
            <a:off x="7026249" y="1806541"/>
            <a:ext cx="334434" cy="4047433"/>
          </a:xfrm>
          <a:prstGeom prst="leftBrace">
            <a:avLst>
              <a:gd name="adj1" fmla="val 72890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5169420" y="1864286"/>
            <a:ext cx="1856830" cy="69651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/>
          <p:cNvSpPr/>
          <p:nvPr/>
        </p:nvSpPr>
        <p:spPr>
          <a:xfrm>
            <a:off x="5189870" y="4028284"/>
            <a:ext cx="1856830" cy="69651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02638E-EBAE-427C-B267-A6BB31E88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5329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CNN – Convolution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985111" y="2399062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1248583" y="5388970"/>
            <a:ext cx="2347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6 x 6 image</a:t>
            </a:r>
            <a:endParaRPr lang="zh-TW" altLang="en-US" sz="24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259953" y="2068862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791447" y="2421240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Filter 1</a:t>
            </a:r>
            <a:endParaRPr lang="zh-TW" altLang="en-US" sz="2400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5259953" y="3693600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6791447" y="4032874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Filter 2</a:t>
            </a:r>
            <a:endParaRPr lang="zh-TW" altLang="en-US" sz="2400" dirty="0"/>
          </a:p>
        </p:txBody>
      </p:sp>
      <p:sp>
        <p:nvSpPr>
          <p:cNvPr id="10" name="文字方塊 9"/>
          <p:cNvSpPr txBox="1"/>
          <p:nvPr/>
        </p:nvSpPr>
        <p:spPr>
          <a:xfrm rot="5400000">
            <a:off x="5830067" y="5234841"/>
            <a:ext cx="708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/>
              <a:t>……</a:t>
            </a:r>
            <a:endParaRPr lang="zh-TW" altLang="en-US" sz="2800" b="1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5213996" y="1005108"/>
            <a:ext cx="35553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</a:rPr>
              <a:t>Those are the network parameters to be learned.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7002037" y="2879557"/>
            <a:ext cx="1026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Matrix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7002037" y="4449636"/>
            <a:ext cx="1026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Matrix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5213996" y="5850635"/>
            <a:ext cx="35553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Each filter detects a small pattern (3 x 3). </a:t>
            </a:r>
            <a:endParaRPr lang="zh-TW" altLang="en-US" sz="2400" dirty="0"/>
          </a:p>
        </p:txBody>
      </p:sp>
      <p:sp>
        <p:nvSpPr>
          <p:cNvPr id="14" name="矩形 13"/>
          <p:cNvSpPr/>
          <p:nvPr/>
        </p:nvSpPr>
        <p:spPr>
          <a:xfrm>
            <a:off x="3678266" y="6013393"/>
            <a:ext cx="1581687" cy="50547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Property 1</a:t>
            </a:r>
            <a:endParaRPr lang="zh-TW" altLang="en-US" sz="2400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4B90E09-1A9F-48A7-B61B-24A8B2CE5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9680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CNN – Convolution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985111" y="2399062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1248583" y="5388970"/>
            <a:ext cx="2347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6 x 6 image</a:t>
            </a:r>
            <a:endParaRPr lang="zh-TW" altLang="en-US" sz="24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563892" y="478405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7186046" y="933372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Filter 1</a:t>
            </a:r>
            <a:endParaRPr lang="zh-TW" altLang="en-US" sz="2400" dirty="0"/>
          </a:p>
        </p:txBody>
      </p:sp>
      <p:sp>
        <p:nvSpPr>
          <p:cNvPr id="3" name="矩形 2"/>
          <p:cNvSpPr/>
          <p:nvPr/>
        </p:nvSpPr>
        <p:spPr>
          <a:xfrm>
            <a:off x="985111" y="2399062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4722062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13" name="橢圓 12"/>
          <p:cNvSpPr/>
          <p:nvPr/>
        </p:nvSpPr>
        <p:spPr>
          <a:xfrm>
            <a:off x="5563891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28" name="矩形 27"/>
          <p:cNvSpPr/>
          <p:nvPr/>
        </p:nvSpPr>
        <p:spPr>
          <a:xfrm>
            <a:off x="1484714" y="2399062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/>
          <p:cNvSpPr/>
          <p:nvPr/>
        </p:nvSpPr>
        <p:spPr>
          <a:xfrm>
            <a:off x="1167364" y="1732534"/>
            <a:ext cx="12071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/>
              <a:t>s</a:t>
            </a:r>
            <a:r>
              <a:rPr lang="zh-TW" altLang="en-US" sz="2400" dirty="0"/>
              <a:t>tride</a:t>
            </a:r>
            <a:r>
              <a:rPr lang="en-US" altLang="zh-TW" sz="2400" dirty="0"/>
              <a:t>=1</a:t>
            </a:r>
            <a:endParaRPr lang="zh-TW" altLang="en-US" sz="24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99F7EDA-B806-4446-87ED-FB9C65B4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04363C-8B93-5133-7126-D9EE353EB389}"/>
              </a:ext>
            </a:extLst>
          </p:cNvPr>
          <p:cNvSpPr txBox="1"/>
          <p:nvPr/>
        </p:nvSpPr>
        <p:spPr>
          <a:xfrm>
            <a:off x="4722062" y="2122999"/>
            <a:ext cx="3029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Inner Product of Image x Filter</a:t>
            </a:r>
          </a:p>
        </p:txBody>
      </p:sp>
    </p:spTree>
    <p:extLst>
      <p:ext uri="{BB962C8B-B14F-4D97-AF65-F5344CB8AC3E}">
        <p14:creationId xmlns:p14="http://schemas.microsoft.com/office/powerpoint/2010/main" val="2009696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12" grpId="0" animBg="1"/>
      <p:bldP spid="13" grpId="0" animBg="1"/>
      <p:bldP spid="28" grpId="0" animBg="1"/>
      <p:bldP spid="34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CNN – Convolution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985111" y="2399062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1248583" y="5388970"/>
            <a:ext cx="2347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6 x 6 image</a:t>
            </a:r>
            <a:endParaRPr lang="zh-TW" altLang="en-US" sz="24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563892" y="478405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7186046" y="933372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Filter 1</a:t>
            </a:r>
            <a:endParaRPr lang="zh-TW" altLang="en-US" sz="2400" dirty="0"/>
          </a:p>
        </p:txBody>
      </p:sp>
      <p:sp>
        <p:nvSpPr>
          <p:cNvPr id="3" name="矩形 2"/>
          <p:cNvSpPr/>
          <p:nvPr/>
        </p:nvSpPr>
        <p:spPr>
          <a:xfrm>
            <a:off x="985111" y="2399062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4722062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13" name="橢圓 12"/>
          <p:cNvSpPr/>
          <p:nvPr/>
        </p:nvSpPr>
        <p:spPr>
          <a:xfrm>
            <a:off x="5563891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28" name="矩形 27"/>
          <p:cNvSpPr/>
          <p:nvPr/>
        </p:nvSpPr>
        <p:spPr>
          <a:xfrm>
            <a:off x="1963015" y="2399062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/>
          <p:cNvSpPr/>
          <p:nvPr/>
        </p:nvSpPr>
        <p:spPr>
          <a:xfrm>
            <a:off x="1167364" y="1732534"/>
            <a:ext cx="14475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/>
              <a:t>If s</a:t>
            </a:r>
            <a:r>
              <a:rPr lang="zh-TW" altLang="en-US" sz="2400" dirty="0"/>
              <a:t>tride</a:t>
            </a:r>
            <a:r>
              <a:rPr lang="en-US" altLang="zh-TW" sz="2400" dirty="0"/>
              <a:t>=2</a:t>
            </a:r>
            <a:endParaRPr lang="zh-TW" altLang="en-US" sz="2400" dirty="0"/>
          </a:p>
        </p:txBody>
      </p:sp>
      <p:sp>
        <p:nvSpPr>
          <p:cNvPr id="14" name="矩形 13"/>
          <p:cNvSpPr/>
          <p:nvPr/>
        </p:nvSpPr>
        <p:spPr>
          <a:xfrm>
            <a:off x="5202911" y="4481651"/>
            <a:ext cx="29722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/>
              <a:t>We set s</a:t>
            </a:r>
            <a:r>
              <a:rPr lang="zh-TW" altLang="en-US" sz="2400" dirty="0"/>
              <a:t>tride</a:t>
            </a:r>
            <a:r>
              <a:rPr lang="en-US" altLang="zh-TW" sz="2400" dirty="0"/>
              <a:t>=1 below</a:t>
            </a:r>
            <a:endParaRPr lang="zh-TW" altLang="en-US" sz="24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48EA0DB-26B5-4A75-A6EC-FCCA221CA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13</a:t>
            </a:fld>
            <a:endParaRPr lang="zh-TW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EBF262-18E2-0BEE-65A0-9C7CD0E9388B}"/>
              </a:ext>
            </a:extLst>
          </p:cNvPr>
          <p:cNvSpPr txBox="1"/>
          <p:nvPr/>
        </p:nvSpPr>
        <p:spPr>
          <a:xfrm>
            <a:off x="4722062" y="2122999"/>
            <a:ext cx="3029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Inner Product of Image x Filter</a:t>
            </a:r>
          </a:p>
        </p:txBody>
      </p:sp>
    </p:spTree>
    <p:extLst>
      <p:ext uri="{BB962C8B-B14F-4D97-AF65-F5344CB8AC3E}">
        <p14:creationId xmlns:p14="http://schemas.microsoft.com/office/powerpoint/2010/main" val="1998281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12" grpId="0" animBg="1"/>
      <p:bldP spid="13" grpId="0" animBg="1"/>
      <p:bldP spid="28" grpId="0" animBg="1"/>
      <p:bldP spid="14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CNN – Convolution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985111" y="2399062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1248583" y="5388970"/>
            <a:ext cx="2347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6 x 6 image</a:t>
            </a:r>
            <a:endParaRPr lang="zh-TW" altLang="en-US" sz="24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563892" y="478405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7186046" y="933372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Filter 1</a:t>
            </a:r>
            <a:endParaRPr lang="zh-TW" altLang="en-US" sz="2400" dirty="0"/>
          </a:p>
        </p:txBody>
      </p:sp>
      <p:sp>
        <p:nvSpPr>
          <p:cNvPr id="3" name="矩形 2"/>
          <p:cNvSpPr/>
          <p:nvPr/>
        </p:nvSpPr>
        <p:spPr>
          <a:xfrm>
            <a:off x="985111" y="2399062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4722062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13" name="橢圓 12"/>
          <p:cNvSpPr/>
          <p:nvPr/>
        </p:nvSpPr>
        <p:spPr>
          <a:xfrm>
            <a:off x="5563891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4" name="橢圓 13"/>
          <p:cNvSpPr/>
          <p:nvPr/>
        </p:nvSpPr>
        <p:spPr>
          <a:xfrm>
            <a:off x="6405720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15" name="橢圓 14"/>
          <p:cNvSpPr/>
          <p:nvPr/>
        </p:nvSpPr>
        <p:spPr>
          <a:xfrm>
            <a:off x="7247549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6" name="橢圓 15"/>
          <p:cNvSpPr/>
          <p:nvPr/>
        </p:nvSpPr>
        <p:spPr>
          <a:xfrm>
            <a:off x="4722062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17" name="橢圓 16"/>
          <p:cNvSpPr/>
          <p:nvPr/>
        </p:nvSpPr>
        <p:spPr>
          <a:xfrm>
            <a:off x="5563891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18" name="橢圓 17"/>
          <p:cNvSpPr/>
          <p:nvPr/>
        </p:nvSpPr>
        <p:spPr>
          <a:xfrm>
            <a:off x="6405720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19" name="橢圓 18"/>
          <p:cNvSpPr/>
          <p:nvPr/>
        </p:nvSpPr>
        <p:spPr>
          <a:xfrm>
            <a:off x="7247549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20" name="橢圓 19"/>
          <p:cNvSpPr/>
          <p:nvPr/>
        </p:nvSpPr>
        <p:spPr>
          <a:xfrm>
            <a:off x="4722062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21" name="橢圓 20"/>
          <p:cNvSpPr/>
          <p:nvPr/>
        </p:nvSpPr>
        <p:spPr>
          <a:xfrm>
            <a:off x="5563891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22" name="橢圓 21"/>
          <p:cNvSpPr/>
          <p:nvPr/>
        </p:nvSpPr>
        <p:spPr>
          <a:xfrm>
            <a:off x="6405720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23" name="橢圓 22"/>
          <p:cNvSpPr/>
          <p:nvPr/>
        </p:nvSpPr>
        <p:spPr>
          <a:xfrm>
            <a:off x="7247549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24" name="橢圓 23"/>
          <p:cNvSpPr/>
          <p:nvPr/>
        </p:nvSpPr>
        <p:spPr>
          <a:xfrm>
            <a:off x="4732036" y="5259802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25" name="橢圓 24"/>
          <p:cNvSpPr/>
          <p:nvPr/>
        </p:nvSpPr>
        <p:spPr>
          <a:xfrm>
            <a:off x="5563891" y="52459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26" name="橢圓 25"/>
          <p:cNvSpPr/>
          <p:nvPr/>
        </p:nvSpPr>
        <p:spPr>
          <a:xfrm>
            <a:off x="6405720" y="52459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27" name="橢圓 26"/>
          <p:cNvSpPr/>
          <p:nvPr/>
        </p:nvSpPr>
        <p:spPr>
          <a:xfrm>
            <a:off x="7247549" y="52459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28" name="矩形 27"/>
          <p:cNvSpPr/>
          <p:nvPr/>
        </p:nvSpPr>
        <p:spPr>
          <a:xfrm>
            <a:off x="1484714" y="2399062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/>
          <p:cNvSpPr/>
          <p:nvPr/>
        </p:nvSpPr>
        <p:spPr>
          <a:xfrm>
            <a:off x="1930824" y="2402206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/>
          <p:cNvSpPr/>
          <p:nvPr/>
        </p:nvSpPr>
        <p:spPr>
          <a:xfrm>
            <a:off x="2432953" y="2405350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/>
          <p:cNvSpPr/>
          <p:nvPr/>
        </p:nvSpPr>
        <p:spPr>
          <a:xfrm>
            <a:off x="985111" y="2810239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/>
          <p:cNvSpPr/>
          <p:nvPr/>
        </p:nvSpPr>
        <p:spPr>
          <a:xfrm>
            <a:off x="1167364" y="1732534"/>
            <a:ext cx="12071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/>
              <a:t>s</a:t>
            </a:r>
            <a:r>
              <a:rPr lang="zh-TW" altLang="en-US" sz="2400" dirty="0"/>
              <a:t>tride</a:t>
            </a:r>
            <a:r>
              <a:rPr lang="en-US" altLang="zh-TW" sz="2400" dirty="0"/>
              <a:t>=1</a:t>
            </a:r>
            <a:endParaRPr lang="zh-TW" altLang="en-US" sz="2400" dirty="0"/>
          </a:p>
        </p:txBody>
      </p:sp>
      <p:sp>
        <p:nvSpPr>
          <p:cNvPr id="32" name="矩形 31"/>
          <p:cNvSpPr/>
          <p:nvPr/>
        </p:nvSpPr>
        <p:spPr>
          <a:xfrm>
            <a:off x="2432953" y="3767518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5563890" y="478405"/>
            <a:ext cx="524489" cy="454967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 35"/>
          <p:cNvSpPr/>
          <p:nvPr/>
        </p:nvSpPr>
        <p:spPr>
          <a:xfrm>
            <a:off x="6120535" y="936720"/>
            <a:ext cx="524489" cy="454967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36"/>
          <p:cNvSpPr/>
          <p:nvPr/>
        </p:nvSpPr>
        <p:spPr>
          <a:xfrm>
            <a:off x="6645024" y="1405708"/>
            <a:ext cx="524489" cy="454967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接點 9"/>
          <p:cNvCxnSpPr/>
          <p:nvPr/>
        </p:nvCxnSpPr>
        <p:spPr>
          <a:xfrm>
            <a:off x="5563890" y="478405"/>
            <a:ext cx="1605623" cy="138227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4713060" y="2785871"/>
            <a:ext cx="729002" cy="708265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/>
          <p:cNvSpPr/>
          <p:nvPr/>
        </p:nvSpPr>
        <p:spPr>
          <a:xfrm>
            <a:off x="4732036" y="5262585"/>
            <a:ext cx="729002" cy="708265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/>
          <p:cNvSpPr/>
          <p:nvPr/>
        </p:nvSpPr>
        <p:spPr>
          <a:xfrm>
            <a:off x="5599875" y="6046055"/>
            <a:ext cx="1581687" cy="50547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Property 2</a:t>
            </a:r>
            <a:endParaRPr lang="zh-TW" altLang="en-US" sz="2400" dirty="0"/>
          </a:p>
        </p:txBody>
      </p:sp>
      <p:cxnSp>
        <p:nvCxnSpPr>
          <p:cNvPr id="41" name="直線接點 40"/>
          <p:cNvCxnSpPr/>
          <p:nvPr/>
        </p:nvCxnSpPr>
        <p:spPr>
          <a:xfrm>
            <a:off x="929397" y="2425786"/>
            <a:ext cx="1605623" cy="138227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880630" y="3761564"/>
            <a:ext cx="1605623" cy="138227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F2D9C4-B34F-4E9D-9BB2-1B031F86C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7278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8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1741437"/>
              </p:ext>
            </p:extLst>
          </p:nvPr>
        </p:nvGraphicFramePr>
        <p:xfrm>
          <a:off x="670388" y="2446540"/>
          <a:ext cx="3098093" cy="3108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64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3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83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83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83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8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8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8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8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8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8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1066130" y="1837782"/>
            <a:ext cx="2273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Input Image</a:t>
            </a:r>
            <a:endParaRPr lang="zh-TW" altLang="en-US" sz="24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F2D9C4-B34F-4E9D-9BB2-1B031F86C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15</a:t>
            </a:fld>
            <a:endParaRPr lang="zh-TW" altLang="en-US"/>
          </a:p>
        </p:txBody>
      </p:sp>
      <p:graphicFrame>
        <p:nvGraphicFramePr>
          <p:cNvPr id="58" name="表格 5">
            <a:extLst>
              <a:ext uri="{FF2B5EF4-FFF2-40B4-BE49-F238E27FC236}">
                <a16:creationId xmlns:a16="http://schemas.microsoft.com/office/drawing/2014/main" id="{943D1BF0-F01C-D695-B640-83C525FE42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1083567"/>
              </p:ext>
            </p:extLst>
          </p:nvPr>
        </p:nvGraphicFramePr>
        <p:xfrm>
          <a:off x="5455140" y="744967"/>
          <a:ext cx="1622154" cy="1554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9" name="文字方塊 6">
            <a:extLst>
              <a:ext uri="{FF2B5EF4-FFF2-40B4-BE49-F238E27FC236}">
                <a16:creationId xmlns:a16="http://schemas.microsoft.com/office/drawing/2014/main" id="{912C4DC7-9D5F-BCEF-1E79-B99E492673CA}"/>
              </a:ext>
            </a:extLst>
          </p:cNvPr>
          <p:cNvSpPr txBox="1"/>
          <p:nvPr/>
        </p:nvSpPr>
        <p:spPr>
          <a:xfrm>
            <a:off x="5542155" y="198084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Filter 1</a:t>
            </a:r>
            <a:endParaRPr lang="zh-TW" altLang="en-US" sz="2400" dirty="0"/>
          </a:p>
        </p:txBody>
      </p:sp>
      <p:graphicFrame>
        <p:nvGraphicFramePr>
          <p:cNvPr id="61" name="Table 61">
            <a:extLst>
              <a:ext uri="{FF2B5EF4-FFF2-40B4-BE49-F238E27FC236}">
                <a16:creationId xmlns:a16="http://schemas.microsoft.com/office/drawing/2014/main" id="{CF2351B1-BE52-22BD-04F2-CBC4B48CBB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573771"/>
              </p:ext>
            </p:extLst>
          </p:nvPr>
        </p:nvGraphicFramePr>
        <p:xfrm>
          <a:off x="5012507" y="3177765"/>
          <a:ext cx="2164860" cy="1790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215">
                  <a:extLst>
                    <a:ext uri="{9D8B030D-6E8A-4147-A177-3AD203B41FA5}">
                      <a16:colId xmlns:a16="http://schemas.microsoft.com/office/drawing/2014/main" val="2401633477"/>
                    </a:ext>
                  </a:extLst>
                </a:gridCol>
                <a:gridCol w="541215">
                  <a:extLst>
                    <a:ext uri="{9D8B030D-6E8A-4147-A177-3AD203B41FA5}">
                      <a16:colId xmlns:a16="http://schemas.microsoft.com/office/drawing/2014/main" val="1679654638"/>
                    </a:ext>
                  </a:extLst>
                </a:gridCol>
                <a:gridCol w="541215">
                  <a:extLst>
                    <a:ext uri="{9D8B030D-6E8A-4147-A177-3AD203B41FA5}">
                      <a16:colId xmlns:a16="http://schemas.microsoft.com/office/drawing/2014/main" val="293373787"/>
                    </a:ext>
                  </a:extLst>
                </a:gridCol>
                <a:gridCol w="541215">
                  <a:extLst>
                    <a:ext uri="{9D8B030D-6E8A-4147-A177-3AD203B41FA5}">
                      <a16:colId xmlns:a16="http://schemas.microsoft.com/office/drawing/2014/main" val="2419844183"/>
                    </a:ext>
                  </a:extLst>
                </a:gridCol>
              </a:tblGrid>
              <a:tr h="447638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390817"/>
                  </a:ext>
                </a:extLst>
              </a:tr>
              <a:tr h="447638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627235"/>
                  </a:ext>
                </a:extLst>
              </a:tr>
              <a:tr h="447638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991329"/>
                  </a:ext>
                </a:extLst>
              </a:tr>
              <a:tr h="447638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47720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041BA98-CE4B-E2FB-4682-4415C101E7DD}"/>
              </a:ext>
            </a:extLst>
          </p:cNvPr>
          <p:cNvSpPr txBox="1"/>
          <p:nvPr/>
        </p:nvSpPr>
        <p:spPr>
          <a:xfrm>
            <a:off x="3276853" y="6169581"/>
            <a:ext cx="3033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Vertical edge detection kernel 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0119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0CA13-F47F-CDEE-301C-C47A06408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Edge Detection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4C07E-D0EF-9DD9-E6BA-9D39537BC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16</a:t>
            </a:fld>
            <a:endParaRPr lang="zh-TW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64E332-D536-CD70-5D09-8408D91F8A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503"/>
          <a:stretch/>
        </p:blipFill>
        <p:spPr>
          <a:xfrm>
            <a:off x="0" y="2574598"/>
            <a:ext cx="3425683" cy="22821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E7D5C4-BE93-F9A9-4719-BBDEF628D20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56" r="34647"/>
          <a:stretch/>
        </p:blipFill>
        <p:spPr>
          <a:xfrm>
            <a:off x="4745107" y="1298701"/>
            <a:ext cx="3425683" cy="22821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B4BE84-4EF5-03BE-CBC4-10165A8E31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03"/>
          <a:stretch/>
        </p:blipFill>
        <p:spPr>
          <a:xfrm>
            <a:off x="4745107" y="4113161"/>
            <a:ext cx="3425683" cy="22821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23A3B9-974F-597E-0609-8B900EBF98AF}"/>
              </a:ext>
            </a:extLst>
          </p:cNvPr>
          <p:cNvSpPr txBox="1"/>
          <p:nvPr/>
        </p:nvSpPr>
        <p:spPr>
          <a:xfrm>
            <a:off x="1261351" y="4846347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Brick Wall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507E76-7265-C186-0F46-CB322841A7B2}"/>
              </a:ext>
            </a:extLst>
          </p:cNvPr>
          <p:cNvSpPr txBox="1"/>
          <p:nvPr/>
        </p:nvSpPr>
        <p:spPr>
          <a:xfrm>
            <a:off x="5173757" y="3531027"/>
            <a:ext cx="3741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Horizontal Edge Detection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942EC1-BC4C-69C2-2336-B37FDA3BA634}"/>
              </a:ext>
            </a:extLst>
          </p:cNvPr>
          <p:cNvSpPr txBox="1"/>
          <p:nvPr/>
        </p:nvSpPr>
        <p:spPr>
          <a:xfrm>
            <a:off x="5407129" y="6352144"/>
            <a:ext cx="2935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Vertical Edge Detection</a:t>
            </a:r>
          </a:p>
        </p:txBody>
      </p:sp>
      <p:graphicFrame>
        <p:nvGraphicFramePr>
          <p:cNvPr id="11" name="表格 5">
            <a:extLst>
              <a:ext uri="{FF2B5EF4-FFF2-40B4-BE49-F238E27FC236}">
                <a16:creationId xmlns:a16="http://schemas.microsoft.com/office/drawing/2014/main" id="{8C8A7168-171B-6BE9-ACBB-62867A6F30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222564"/>
              </p:ext>
            </p:extLst>
          </p:nvPr>
        </p:nvGraphicFramePr>
        <p:xfrm>
          <a:off x="3587866" y="4846347"/>
          <a:ext cx="1111203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3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zh-TW" alt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3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zh-TW" alt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3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1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zh-TW" alt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表格 5">
            <a:extLst>
              <a:ext uri="{FF2B5EF4-FFF2-40B4-BE49-F238E27FC236}">
                <a16:creationId xmlns:a16="http://schemas.microsoft.com/office/drawing/2014/main" id="{313612D3-E08A-28C1-E580-A0DD0369B1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501381"/>
              </p:ext>
            </p:extLst>
          </p:nvPr>
        </p:nvGraphicFramePr>
        <p:xfrm>
          <a:off x="3580116" y="1891155"/>
          <a:ext cx="1111203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3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3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3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zh-TW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80522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174566" y="2966121"/>
            <a:ext cx="2273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Input Image</a:t>
            </a:r>
            <a:endParaRPr lang="zh-TW" altLang="en-US" sz="24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F2D9C4-B34F-4E9D-9BB2-1B031F86C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17</a:t>
            </a:fld>
            <a:endParaRPr lang="zh-TW" altLang="en-US"/>
          </a:p>
        </p:txBody>
      </p:sp>
      <p:graphicFrame>
        <p:nvGraphicFramePr>
          <p:cNvPr id="58" name="表格 5">
            <a:extLst>
              <a:ext uri="{FF2B5EF4-FFF2-40B4-BE49-F238E27FC236}">
                <a16:creationId xmlns:a16="http://schemas.microsoft.com/office/drawing/2014/main" id="{943D1BF0-F01C-D695-B640-83C525FE42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922920"/>
              </p:ext>
            </p:extLst>
          </p:nvPr>
        </p:nvGraphicFramePr>
        <p:xfrm>
          <a:off x="5455140" y="744967"/>
          <a:ext cx="1622154" cy="1554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-1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-1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-1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-1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-1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-1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9" name="文字方塊 6">
            <a:extLst>
              <a:ext uri="{FF2B5EF4-FFF2-40B4-BE49-F238E27FC236}">
                <a16:creationId xmlns:a16="http://schemas.microsoft.com/office/drawing/2014/main" id="{912C4DC7-9D5F-BCEF-1E79-B99E492673CA}"/>
              </a:ext>
            </a:extLst>
          </p:cNvPr>
          <p:cNvSpPr txBox="1"/>
          <p:nvPr/>
        </p:nvSpPr>
        <p:spPr>
          <a:xfrm>
            <a:off x="5542155" y="198084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Filter 1</a:t>
            </a:r>
            <a:endParaRPr lang="zh-TW" altLang="en-US" sz="2400" dirty="0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EB2E3AEF-6185-8AB1-121C-2B40850341AB}"/>
              </a:ext>
            </a:extLst>
          </p:cNvPr>
          <p:cNvSpPr/>
          <p:nvPr/>
        </p:nvSpPr>
        <p:spPr>
          <a:xfrm>
            <a:off x="4345354" y="4220308"/>
            <a:ext cx="954593" cy="53256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813336-9871-F47D-31F3-1907264B6EEE}"/>
              </a:ext>
            </a:extLst>
          </p:cNvPr>
          <p:cNvSpPr txBox="1"/>
          <p:nvPr/>
        </p:nvSpPr>
        <p:spPr>
          <a:xfrm>
            <a:off x="3276853" y="6169581"/>
            <a:ext cx="3018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Horizonal line detector kernel 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0B93C7D-BAE4-6845-89E4-7851A7DE88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76" y="3427786"/>
            <a:ext cx="3886200" cy="2286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85174B2-699E-4819-E4B2-A5AACF76CA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5140" y="3835626"/>
            <a:ext cx="2159000" cy="16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234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174566" y="2966121"/>
            <a:ext cx="2273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Input Image</a:t>
            </a:r>
            <a:endParaRPr lang="zh-TW" altLang="en-US" sz="24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F2D9C4-B34F-4E9D-9BB2-1B031F86C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18</a:t>
            </a:fld>
            <a:endParaRPr lang="zh-TW" altLang="en-US"/>
          </a:p>
        </p:txBody>
      </p:sp>
      <p:graphicFrame>
        <p:nvGraphicFramePr>
          <p:cNvPr id="58" name="表格 5">
            <a:extLst>
              <a:ext uri="{FF2B5EF4-FFF2-40B4-BE49-F238E27FC236}">
                <a16:creationId xmlns:a16="http://schemas.microsoft.com/office/drawing/2014/main" id="{943D1BF0-F01C-D695-B640-83C525FE42B7}"/>
              </a:ext>
            </a:extLst>
          </p:cNvPr>
          <p:cNvGraphicFramePr>
            <a:graphicFrameLocks noGrp="1"/>
          </p:cNvGraphicFramePr>
          <p:nvPr/>
        </p:nvGraphicFramePr>
        <p:xfrm>
          <a:off x="5455140" y="744967"/>
          <a:ext cx="1622154" cy="1554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-1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-1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-1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-1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9" name="文字方塊 6">
            <a:extLst>
              <a:ext uri="{FF2B5EF4-FFF2-40B4-BE49-F238E27FC236}">
                <a16:creationId xmlns:a16="http://schemas.microsoft.com/office/drawing/2014/main" id="{912C4DC7-9D5F-BCEF-1E79-B99E492673CA}"/>
              </a:ext>
            </a:extLst>
          </p:cNvPr>
          <p:cNvSpPr txBox="1"/>
          <p:nvPr/>
        </p:nvSpPr>
        <p:spPr>
          <a:xfrm>
            <a:off x="5542155" y="198084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Filter 1</a:t>
            </a:r>
            <a:endParaRPr lang="zh-TW" alt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596394-88C0-F95A-9D27-11FAC6389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821" y="3429000"/>
            <a:ext cx="3022600" cy="1968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1305A7-6F41-F78A-A78E-EB159B2FD7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783" y="3910854"/>
            <a:ext cx="2019300" cy="1295400"/>
          </a:xfrm>
          <a:prstGeom prst="rect">
            <a:avLst/>
          </a:prstGeom>
        </p:spPr>
      </p:pic>
      <p:sp>
        <p:nvSpPr>
          <p:cNvPr id="12" name="Right Arrow 11">
            <a:extLst>
              <a:ext uri="{FF2B5EF4-FFF2-40B4-BE49-F238E27FC236}">
                <a16:creationId xmlns:a16="http://schemas.microsoft.com/office/drawing/2014/main" id="{EB2E3AEF-6185-8AB1-121C-2B40850341AB}"/>
              </a:ext>
            </a:extLst>
          </p:cNvPr>
          <p:cNvSpPr/>
          <p:nvPr/>
        </p:nvSpPr>
        <p:spPr>
          <a:xfrm>
            <a:off x="4109776" y="4220308"/>
            <a:ext cx="954593" cy="53256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813336-9871-F47D-31F3-1907264B6EEE}"/>
              </a:ext>
            </a:extLst>
          </p:cNvPr>
          <p:cNvSpPr txBox="1"/>
          <p:nvPr/>
        </p:nvSpPr>
        <p:spPr>
          <a:xfrm>
            <a:off x="3276853" y="6169581"/>
            <a:ext cx="1934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Sharpening kernel 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1158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174566" y="2966121"/>
            <a:ext cx="2273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Input Image</a:t>
            </a:r>
            <a:endParaRPr lang="zh-TW" altLang="en-US" sz="24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F2D9C4-B34F-4E9D-9BB2-1B031F86C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19</a:t>
            </a:fld>
            <a:endParaRPr lang="zh-TW" altLang="en-US"/>
          </a:p>
        </p:txBody>
      </p:sp>
      <p:graphicFrame>
        <p:nvGraphicFramePr>
          <p:cNvPr id="58" name="表格 5">
            <a:extLst>
              <a:ext uri="{FF2B5EF4-FFF2-40B4-BE49-F238E27FC236}">
                <a16:creationId xmlns:a16="http://schemas.microsoft.com/office/drawing/2014/main" id="{943D1BF0-F01C-D695-B640-83C525FE42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447105"/>
              </p:ext>
            </p:extLst>
          </p:nvPr>
        </p:nvGraphicFramePr>
        <p:xfrm>
          <a:off x="5455139" y="744966"/>
          <a:ext cx="2342382" cy="164514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0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0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07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1271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1/9</a:t>
                      </a:r>
                      <a:endParaRPr lang="zh-TW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1/9</a:t>
                      </a:r>
                      <a:endParaRPr lang="zh-TW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1/9</a:t>
                      </a:r>
                      <a:endParaRPr lang="zh-TW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936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1/9</a:t>
                      </a:r>
                      <a:endParaRPr lang="zh-TW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1/9</a:t>
                      </a:r>
                      <a:endParaRPr lang="zh-TW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1/9</a:t>
                      </a:r>
                      <a:endParaRPr lang="zh-TW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936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1/9</a:t>
                      </a:r>
                      <a:endParaRPr lang="zh-TW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1/9</a:t>
                      </a:r>
                      <a:endParaRPr lang="zh-TW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1/9</a:t>
                      </a:r>
                      <a:endParaRPr lang="zh-TW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9" name="文字方塊 6">
            <a:extLst>
              <a:ext uri="{FF2B5EF4-FFF2-40B4-BE49-F238E27FC236}">
                <a16:creationId xmlns:a16="http://schemas.microsoft.com/office/drawing/2014/main" id="{912C4DC7-9D5F-BCEF-1E79-B99E492673CA}"/>
              </a:ext>
            </a:extLst>
          </p:cNvPr>
          <p:cNvSpPr txBox="1"/>
          <p:nvPr/>
        </p:nvSpPr>
        <p:spPr>
          <a:xfrm>
            <a:off x="5542155" y="198084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Filter 1</a:t>
            </a:r>
            <a:endParaRPr lang="zh-TW" altLang="en-US" sz="2400" dirty="0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EB2E3AEF-6185-8AB1-121C-2B40850341AB}"/>
              </a:ext>
            </a:extLst>
          </p:cNvPr>
          <p:cNvSpPr/>
          <p:nvPr/>
        </p:nvSpPr>
        <p:spPr>
          <a:xfrm>
            <a:off x="4109776" y="4220308"/>
            <a:ext cx="954593" cy="53256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813336-9871-F47D-31F3-1907264B6EEE}"/>
              </a:ext>
            </a:extLst>
          </p:cNvPr>
          <p:cNvSpPr txBox="1"/>
          <p:nvPr/>
        </p:nvSpPr>
        <p:spPr>
          <a:xfrm>
            <a:off x="3276853" y="6169581"/>
            <a:ext cx="1616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Blurring kernel 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06AD59-3A2F-51C7-0D86-AD8B733AC3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239" y="3483289"/>
            <a:ext cx="2806700" cy="2006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6732D1-05DE-1290-9D4F-78BCC31BD9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0050" y="3800789"/>
            <a:ext cx="30353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156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C8DA4-ABA4-30D4-269B-D259D95AB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9334"/>
            <a:ext cx="7886700" cy="1325563"/>
          </a:xfrm>
        </p:spPr>
        <p:txBody>
          <a:bodyPr/>
          <a:lstStyle/>
          <a:p>
            <a:r>
              <a:rPr lang="en-GB" dirty="0">
                <a:ea typeface="Calibri Light"/>
                <a:cs typeface="Calibri Light"/>
              </a:rPr>
              <a:t>Padding</a:t>
            </a:r>
            <a:endParaRPr lang="en-GB" dirty="0"/>
          </a:p>
        </p:txBody>
      </p:sp>
      <p:pic>
        <p:nvPicPr>
          <p:cNvPr id="5" name="Content Placeholder 4" descr="A diagram of a padding&#10;&#10;AI-generated content may be incorrect.">
            <a:extLst>
              <a:ext uri="{FF2B5EF4-FFF2-40B4-BE49-F238E27FC236}">
                <a16:creationId xmlns:a16="http://schemas.microsoft.com/office/drawing/2014/main" id="{77871BE6-62CF-41A5-3853-3ADF53E812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7867" y="2754146"/>
            <a:ext cx="7568092" cy="308673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5349BB-14AE-F273-D796-32DE67252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20</a:t>
            </a:fld>
            <a:endParaRPr lang="zh-TW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EA4D2F-9C8E-2799-DCB1-231D68903432}"/>
              </a:ext>
            </a:extLst>
          </p:cNvPr>
          <p:cNvSpPr txBox="1"/>
          <p:nvPr/>
        </p:nvSpPr>
        <p:spPr>
          <a:xfrm>
            <a:off x="477749" y="1498766"/>
            <a:ext cx="81915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Adding extra pixels (usually zeros) around the border of an input image or feature map before applying a convolution operation to not shrink the image too quickly.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D80CF4-0CFD-863C-FB0E-C0B93182EB8E}"/>
              </a:ext>
            </a:extLst>
          </p:cNvPr>
          <p:cNvSpPr txBox="1"/>
          <p:nvPr/>
        </p:nvSpPr>
        <p:spPr>
          <a:xfrm>
            <a:off x="628650" y="2569480"/>
            <a:ext cx="2190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padding = 1</a:t>
            </a:r>
          </a:p>
        </p:txBody>
      </p:sp>
    </p:spTree>
    <p:extLst>
      <p:ext uri="{BB962C8B-B14F-4D97-AF65-F5344CB8AC3E}">
        <p14:creationId xmlns:p14="http://schemas.microsoft.com/office/powerpoint/2010/main" val="5693699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92E91-E575-B0D6-0276-D964304B2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02087-6913-DBD5-5BBD-3D1B6944C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21</a:t>
            </a:fld>
            <a:endParaRPr lang="zh-TW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630324-C78D-439A-5F72-271BBB7EC7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195" y="3444192"/>
            <a:ext cx="1282700" cy="11811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37C54A2-B73A-56DB-B0DF-D9B11F9A30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9789" y="2851760"/>
            <a:ext cx="2110665" cy="21106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0D86EC9-8648-107C-3451-A96C7E6ABE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4226" y="3617950"/>
            <a:ext cx="922897" cy="83358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B019C9F-C26A-501A-6B6F-959EE4D331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461" y="2550633"/>
            <a:ext cx="2070100" cy="271292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EDCE2A1-E509-3D63-2ED3-7A4D2C33AE1F}"/>
              </a:ext>
            </a:extLst>
          </p:cNvPr>
          <p:cNvSpPr txBox="1"/>
          <p:nvPr/>
        </p:nvSpPr>
        <p:spPr>
          <a:xfrm>
            <a:off x="1173863" y="2058824"/>
            <a:ext cx="1545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Image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BA7AD3-DA32-D28A-725F-0DC7AF5CE83E}"/>
              </a:ext>
            </a:extLst>
          </p:cNvPr>
          <p:cNvSpPr txBox="1"/>
          <p:nvPr/>
        </p:nvSpPr>
        <p:spPr>
          <a:xfrm>
            <a:off x="3121867" y="1950468"/>
            <a:ext cx="13119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Horizonal Edge Detection Filter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A985B0-581B-5073-FD2F-F910D18B6A1E}"/>
              </a:ext>
            </a:extLst>
          </p:cNvPr>
          <p:cNvSpPr txBox="1"/>
          <p:nvPr/>
        </p:nvSpPr>
        <p:spPr>
          <a:xfrm>
            <a:off x="4895617" y="2085960"/>
            <a:ext cx="1311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After Convolution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DC74A4-1F01-80AD-AEFB-5C801DA47E46}"/>
              </a:ext>
            </a:extLst>
          </p:cNvPr>
          <p:cNvSpPr txBox="1"/>
          <p:nvPr/>
        </p:nvSpPr>
        <p:spPr>
          <a:xfrm>
            <a:off x="6740699" y="2136193"/>
            <a:ext cx="16536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After Pooling </a:t>
            </a:r>
          </a:p>
          <a:p>
            <a:pPr algn="ctr"/>
            <a:r>
              <a:rPr lang="en-US" dirty="0"/>
              <a:t>(2x2, stride =2)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9A32E1-78A1-B74B-D33D-460442762F9C}"/>
              </a:ext>
            </a:extLst>
          </p:cNvPr>
          <p:cNvSpPr txBox="1"/>
          <p:nvPr/>
        </p:nvSpPr>
        <p:spPr>
          <a:xfrm>
            <a:off x="2607697" y="6168300"/>
            <a:ext cx="4572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linkClick r:id="rId6"/>
              </a:rPr>
              <a:t>https://poloclub.github.io/cnn-explainer/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A09B77-EBE9-67B7-B95D-03AD75F55207}"/>
              </a:ext>
            </a:extLst>
          </p:cNvPr>
          <p:cNvSpPr txBox="1"/>
          <p:nvPr/>
        </p:nvSpPr>
        <p:spPr>
          <a:xfrm>
            <a:off x="1345188" y="6172023"/>
            <a:ext cx="944621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ea typeface="Calibri"/>
                <a:cs typeface="Calibri"/>
              </a:rPr>
              <a:t>Demo: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63684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CNN – Convolution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985111" y="2399062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1248583" y="5388970"/>
            <a:ext cx="2347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6 x 6 image</a:t>
            </a:r>
            <a:endParaRPr lang="zh-TW" altLang="en-US" sz="2400" dirty="0"/>
          </a:p>
        </p:txBody>
      </p:sp>
      <p:sp>
        <p:nvSpPr>
          <p:cNvPr id="12" name="橢圓 11"/>
          <p:cNvSpPr/>
          <p:nvPr/>
        </p:nvSpPr>
        <p:spPr>
          <a:xfrm>
            <a:off x="4722062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13" name="橢圓 12"/>
          <p:cNvSpPr/>
          <p:nvPr/>
        </p:nvSpPr>
        <p:spPr>
          <a:xfrm>
            <a:off x="5563891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4" name="橢圓 13"/>
          <p:cNvSpPr/>
          <p:nvPr/>
        </p:nvSpPr>
        <p:spPr>
          <a:xfrm>
            <a:off x="6405720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15" name="橢圓 14"/>
          <p:cNvSpPr/>
          <p:nvPr/>
        </p:nvSpPr>
        <p:spPr>
          <a:xfrm>
            <a:off x="7247549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6" name="橢圓 15"/>
          <p:cNvSpPr/>
          <p:nvPr/>
        </p:nvSpPr>
        <p:spPr>
          <a:xfrm>
            <a:off x="4722062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17" name="橢圓 16"/>
          <p:cNvSpPr/>
          <p:nvPr/>
        </p:nvSpPr>
        <p:spPr>
          <a:xfrm>
            <a:off x="5563891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18" name="橢圓 17"/>
          <p:cNvSpPr/>
          <p:nvPr/>
        </p:nvSpPr>
        <p:spPr>
          <a:xfrm>
            <a:off x="6405720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19" name="橢圓 18"/>
          <p:cNvSpPr/>
          <p:nvPr/>
        </p:nvSpPr>
        <p:spPr>
          <a:xfrm>
            <a:off x="7247549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20" name="橢圓 19"/>
          <p:cNvSpPr/>
          <p:nvPr/>
        </p:nvSpPr>
        <p:spPr>
          <a:xfrm>
            <a:off x="4722062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21" name="橢圓 20"/>
          <p:cNvSpPr/>
          <p:nvPr/>
        </p:nvSpPr>
        <p:spPr>
          <a:xfrm>
            <a:off x="5563891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22" name="橢圓 21"/>
          <p:cNvSpPr/>
          <p:nvPr/>
        </p:nvSpPr>
        <p:spPr>
          <a:xfrm>
            <a:off x="6405720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23" name="橢圓 22"/>
          <p:cNvSpPr/>
          <p:nvPr/>
        </p:nvSpPr>
        <p:spPr>
          <a:xfrm>
            <a:off x="7247549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24" name="橢圓 23"/>
          <p:cNvSpPr/>
          <p:nvPr/>
        </p:nvSpPr>
        <p:spPr>
          <a:xfrm>
            <a:off x="4722062" y="52459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25" name="橢圓 24"/>
          <p:cNvSpPr/>
          <p:nvPr/>
        </p:nvSpPr>
        <p:spPr>
          <a:xfrm>
            <a:off x="5563891" y="52459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26" name="橢圓 25"/>
          <p:cNvSpPr/>
          <p:nvPr/>
        </p:nvSpPr>
        <p:spPr>
          <a:xfrm>
            <a:off x="6405720" y="52459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27" name="橢圓 26"/>
          <p:cNvSpPr/>
          <p:nvPr/>
        </p:nvSpPr>
        <p:spPr>
          <a:xfrm>
            <a:off x="7247549" y="52459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graphicFrame>
        <p:nvGraphicFramePr>
          <p:cNvPr id="35" name="表格 34"/>
          <p:cNvGraphicFramePr>
            <a:graphicFrameLocks noGrp="1"/>
          </p:cNvGraphicFramePr>
          <p:nvPr/>
        </p:nvGraphicFramePr>
        <p:xfrm>
          <a:off x="5687103" y="365126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6" name="文字方塊 35"/>
          <p:cNvSpPr txBox="1"/>
          <p:nvPr/>
        </p:nvSpPr>
        <p:spPr>
          <a:xfrm>
            <a:off x="7309257" y="820093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Filter 2</a:t>
            </a:r>
            <a:endParaRPr lang="zh-TW" altLang="en-US" sz="2400" dirty="0"/>
          </a:p>
        </p:txBody>
      </p:sp>
      <p:sp>
        <p:nvSpPr>
          <p:cNvPr id="37" name="矩形 36"/>
          <p:cNvSpPr/>
          <p:nvPr/>
        </p:nvSpPr>
        <p:spPr>
          <a:xfrm>
            <a:off x="985111" y="2399062"/>
            <a:ext cx="1417126" cy="1382524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 37"/>
          <p:cNvSpPr/>
          <p:nvPr/>
        </p:nvSpPr>
        <p:spPr>
          <a:xfrm>
            <a:off x="1488818" y="2399062"/>
            <a:ext cx="1417126" cy="1382524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/>
          <p:cNvSpPr/>
          <p:nvPr/>
        </p:nvSpPr>
        <p:spPr>
          <a:xfrm>
            <a:off x="1930824" y="2400838"/>
            <a:ext cx="1417126" cy="1382524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/>
          <p:cNvSpPr/>
          <p:nvPr/>
        </p:nvSpPr>
        <p:spPr>
          <a:xfrm>
            <a:off x="2406593" y="2399062"/>
            <a:ext cx="1417126" cy="1382524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矩形 40"/>
          <p:cNvSpPr/>
          <p:nvPr/>
        </p:nvSpPr>
        <p:spPr>
          <a:xfrm>
            <a:off x="985111" y="2810239"/>
            <a:ext cx="1417126" cy="1382524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橢圓 41"/>
          <p:cNvSpPr/>
          <p:nvPr/>
        </p:nvSpPr>
        <p:spPr>
          <a:xfrm>
            <a:off x="4905599" y="2996196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43" name="橢圓 42"/>
          <p:cNvSpPr/>
          <p:nvPr/>
        </p:nvSpPr>
        <p:spPr>
          <a:xfrm>
            <a:off x="5747428" y="2996196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44" name="橢圓 43"/>
          <p:cNvSpPr/>
          <p:nvPr/>
        </p:nvSpPr>
        <p:spPr>
          <a:xfrm>
            <a:off x="6589257" y="2996196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45" name="橢圓 44"/>
          <p:cNvSpPr/>
          <p:nvPr/>
        </p:nvSpPr>
        <p:spPr>
          <a:xfrm>
            <a:off x="7431086" y="2996196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46" name="橢圓 45"/>
          <p:cNvSpPr/>
          <p:nvPr/>
        </p:nvSpPr>
        <p:spPr>
          <a:xfrm>
            <a:off x="4905599" y="3796296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47" name="橢圓 46"/>
          <p:cNvSpPr/>
          <p:nvPr/>
        </p:nvSpPr>
        <p:spPr>
          <a:xfrm>
            <a:off x="5747428" y="3796296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48" name="橢圓 47"/>
          <p:cNvSpPr/>
          <p:nvPr/>
        </p:nvSpPr>
        <p:spPr>
          <a:xfrm>
            <a:off x="6589257" y="3796296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49" name="橢圓 48"/>
          <p:cNvSpPr/>
          <p:nvPr/>
        </p:nvSpPr>
        <p:spPr>
          <a:xfrm>
            <a:off x="7431086" y="3796296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50" name="橢圓 49"/>
          <p:cNvSpPr/>
          <p:nvPr/>
        </p:nvSpPr>
        <p:spPr>
          <a:xfrm>
            <a:off x="4905599" y="4654068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51" name="橢圓 50"/>
          <p:cNvSpPr/>
          <p:nvPr/>
        </p:nvSpPr>
        <p:spPr>
          <a:xfrm>
            <a:off x="5747428" y="4654068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52" name="橢圓 51"/>
          <p:cNvSpPr/>
          <p:nvPr/>
        </p:nvSpPr>
        <p:spPr>
          <a:xfrm>
            <a:off x="6589257" y="4654068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53" name="橢圓 52"/>
          <p:cNvSpPr/>
          <p:nvPr/>
        </p:nvSpPr>
        <p:spPr>
          <a:xfrm>
            <a:off x="7431086" y="4654068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54" name="橢圓 53"/>
          <p:cNvSpPr/>
          <p:nvPr/>
        </p:nvSpPr>
        <p:spPr>
          <a:xfrm>
            <a:off x="4905599" y="5454168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55" name="橢圓 54"/>
          <p:cNvSpPr/>
          <p:nvPr/>
        </p:nvSpPr>
        <p:spPr>
          <a:xfrm>
            <a:off x="5747428" y="5454168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56" name="橢圓 55"/>
          <p:cNvSpPr/>
          <p:nvPr/>
        </p:nvSpPr>
        <p:spPr>
          <a:xfrm>
            <a:off x="6589257" y="5454168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-4</a:t>
            </a:r>
            <a:endParaRPr lang="zh-TW" altLang="en-US" sz="2400" dirty="0"/>
          </a:p>
        </p:txBody>
      </p:sp>
      <p:sp>
        <p:nvSpPr>
          <p:cNvPr id="57" name="橢圓 56"/>
          <p:cNvSpPr/>
          <p:nvPr/>
        </p:nvSpPr>
        <p:spPr>
          <a:xfrm>
            <a:off x="7431086" y="5454168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4572000" y="1789385"/>
            <a:ext cx="37932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rgbClr val="0000FF"/>
                </a:solidFill>
              </a:rPr>
              <a:t>Do the same process for every filter</a:t>
            </a:r>
            <a:endParaRPr lang="zh-TW" altLang="en-US" sz="2800" dirty="0">
              <a:solidFill>
                <a:srgbClr val="0000FF"/>
              </a:solidFill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2415409" y="3783331"/>
            <a:ext cx="1417126" cy="1382524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矩形 58"/>
          <p:cNvSpPr/>
          <p:nvPr/>
        </p:nvSpPr>
        <p:spPr>
          <a:xfrm>
            <a:off x="1167364" y="1732534"/>
            <a:ext cx="12071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/>
              <a:t>s</a:t>
            </a:r>
            <a:r>
              <a:rPr lang="zh-TW" altLang="en-US" sz="2400" dirty="0"/>
              <a:t>tride</a:t>
            </a:r>
            <a:r>
              <a:rPr lang="en-US" altLang="zh-TW" sz="2400" dirty="0"/>
              <a:t>=1</a:t>
            </a:r>
            <a:endParaRPr lang="zh-TW" altLang="en-US" sz="2400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5415744" y="6174168"/>
            <a:ext cx="2347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4 x 4 image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15799" y="4052684"/>
            <a:ext cx="2320707" cy="97246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Feature</a:t>
            </a:r>
          </a:p>
          <a:p>
            <a:pPr algn="ctr"/>
            <a:r>
              <a:rPr lang="en-US" altLang="zh-TW" sz="2800" dirty="0"/>
              <a:t>Map</a:t>
            </a:r>
            <a:endParaRPr lang="zh-TW" altLang="en-US" sz="28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EFF08-964F-46D9-9146-C6FF6EA1C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4539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3" grpId="0"/>
      <p:bldP spid="58" grpId="0" animBg="1"/>
      <p:bldP spid="60" grpId="0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CNN – Colorful image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graphicFrame>
        <p:nvGraphicFramePr>
          <p:cNvPr id="6" name="內容版面配置區 3"/>
          <p:cNvGraphicFramePr>
            <a:graphicFrameLocks/>
          </p:cNvGraphicFramePr>
          <p:nvPr/>
        </p:nvGraphicFramePr>
        <p:xfrm>
          <a:off x="4953907" y="3442427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35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內容版面配置區 3"/>
          <p:cNvGraphicFramePr>
            <a:graphicFrameLocks/>
          </p:cNvGraphicFramePr>
          <p:nvPr/>
        </p:nvGraphicFramePr>
        <p:xfrm>
          <a:off x="5117572" y="3647290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內容版面配置區 3"/>
          <p:cNvGraphicFramePr>
            <a:graphicFrameLocks/>
          </p:cNvGraphicFramePr>
          <p:nvPr/>
        </p:nvGraphicFramePr>
        <p:xfrm>
          <a:off x="5324483" y="3849906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78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01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2967403" y="1614770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4676035" y="2341867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Filter 1</a:t>
            </a:r>
            <a:endParaRPr lang="zh-TW" altLang="en-US" sz="2400" dirty="0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5971758" y="1572680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7680922" y="2301169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Filter 2</a:t>
            </a:r>
            <a:endParaRPr lang="zh-TW" altLang="en-US" sz="24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3119803" y="1767170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3272203" y="1882328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6124690" y="1708736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6277090" y="1861136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向右箭號 4"/>
          <p:cNvSpPr/>
          <p:nvPr/>
        </p:nvSpPr>
        <p:spPr>
          <a:xfrm>
            <a:off x="4295788" y="4380417"/>
            <a:ext cx="508522" cy="8672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8" name="群組 17"/>
          <p:cNvGrpSpPr/>
          <p:nvPr/>
        </p:nvGrpSpPr>
        <p:grpSpPr>
          <a:xfrm>
            <a:off x="353684" y="3059766"/>
            <a:ext cx="3927508" cy="3629534"/>
            <a:chOff x="353684" y="3059766"/>
            <a:chExt cx="3927508" cy="3629534"/>
          </a:xfrm>
        </p:grpSpPr>
        <p:pic>
          <p:nvPicPr>
            <p:cNvPr id="4" name="圖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4122" y="3442427"/>
              <a:ext cx="3907070" cy="3246873"/>
            </a:xfrm>
            <a:prstGeom prst="rect">
              <a:avLst/>
            </a:prstGeom>
          </p:spPr>
        </p:pic>
        <p:sp>
          <p:nvSpPr>
            <p:cNvPr id="17" name="文字方塊 16"/>
            <p:cNvSpPr txBox="1"/>
            <p:nvPr/>
          </p:nvSpPr>
          <p:spPr>
            <a:xfrm>
              <a:off x="353684" y="3059766"/>
              <a:ext cx="19976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/>
                <a:t>Colorful image</a:t>
              </a:r>
              <a:endParaRPr lang="zh-TW" altLang="en-US" sz="2400" dirty="0"/>
            </a:p>
          </p:txBody>
        </p:sp>
      </p:grp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3865667A-A59F-4EBE-8D6C-CAD705A11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8667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/>
          <p:cNvGraphicFramePr>
            <a:graphicFrameLocks/>
          </p:cNvGraphicFramePr>
          <p:nvPr/>
        </p:nvGraphicFramePr>
        <p:xfrm>
          <a:off x="1450294" y="1289137"/>
          <a:ext cx="1805646" cy="17234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9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9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9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09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09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72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2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2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2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2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2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1729795" y="3012625"/>
            <a:ext cx="1246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image</a:t>
            </a:r>
            <a:endParaRPr lang="zh-TW" altLang="en-US" sz="2400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2849" y="1312729"/>
            <a:ext cx="1915672" cy="1873101"/>
          </a:xfrm>
          <a:prstGeom prst="rect">
            <a:avLst/>
          </a:prstGeom>
        </p:spPr>
      </p:pic>
      <p:sp>
        <p:nvSpPr>
          <p:cNvPr id="7" name="向右箭號 62"/>
          <p:cNvSpPr/>
          <p:nvPr/>
        </p:nvSpPr>
        <p:spPr>
          <a:xfrm>
            <a:off x="3674008" y="2150881"/>
            <a:ext cx="1880625" cy="6664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3729707" y="2629555"/>
            <a:ext cx="17043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convolution</a:t>
            </a:r>
            <a:endParaRPr lang="zh-TW" altLang="en-US" sz="24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4586226" y="1267812"/>
          <a:ext cx="964038" cy="8151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1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3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17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4343" marR="54343" marT="27171" marB="27171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</a:t>
                      </a:r>
                      <a:endParaRPr lang="zh-TW" altLang="en-US" sz="1400" dirty="0"/>
                    </a:p>
                  </a:txBody>
                  <a:tcPr marL="54343" marR="54343" marT="27171" marB="27171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4343" marR="54343" marT="27171" marB="27171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7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4343" marR="54343" marT="27171" marB="27171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</a:t>
                      </a:r>
                      <a:endParaRPr lang="zh-TW" altLang="en-US" sz="1400" dirty="0"/>
                    </a:p>
                  </a:txBody>
                  <a:tcPr marL="54343" marR="54343" marT="27171" marB="27171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4343" marR="54343" marT="27171" marB="27171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7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4343" marR="54343" marT="27171" marB="27171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</a:t>
                      </a:r>
                      <a:endParaRPr lang="zh-TW" altLang="en-US" sz="1400" dirty="0"/>
                    </a:p>
                  </a:txBody>
                  <a:tcPr marL="54343" marR="54343" marT="27171" marB="27171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4343" marR="54343" marT="27171" marB="27171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3503901" y="1272565"/>
          <a:ext cx="947868" cy="8021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5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9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73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</a:t>
                      </a:r>
                      <a:endParaRPr lang="zh-TW" altLang="en-US" sz="1400" dirty="0"/>
                    </a:p>
                  </a:txBody>
                  <a:tcPr marL="53431" marR="53431" marT="26715" marB="2671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3431" marR="53431" marT="26715" marB="2671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3431" marR="53431" marT="26715" marB="2671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3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3431" marR="53431" marT="26715" marB="2671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</a:t>
                      </a:r>
                      <a:endParaRPr lang="zh-TW" altLang="en-US" sz="1400" dirty="0"/>
                    </a:p>
                  </a:txBody>
                  <a:tcPr marL="53431" marR="53431" marT="26715" marB="2671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3431" marR="53431" marT="26715" marB="2671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3431" marR="53431" marT="26715" marB="2671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3431" marR="53431" marT="26715" marB="2671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</a:t>
                      </a:r>
                      <a:endParaRPr lang="zh-TW" altLang="en-US" sz="1400" dirty="0"/>
                    </a:p>
                  </a:txBody>
                  <a:tcPr marL="53431" marR="53431" marT="26715" marB="2671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1040889" y="1045679"/>
            <a:ext cx="7090673" cy="260453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/>
          <p:cNvSpPr/>
          <p:nvPr/>
        </p:nvSpPr>
        <p:spPr>
          <a:xfrm>
            <a:off x="5271968" y="3898279"/>
            <a:ext cx="498951" cy="26250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矩形 40"/>
          <p:cNvSpPr/>
          <p:nvPr/>
        </p:nvSpPr>
        <p:spPr>
          <a:xfrm>
            <a:off x="5340356" y="4615972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/>
          <p:cNvSpPr/>
          <p:nvPr/>
        </p:nvSpPr>
        <p:spPr>
          <a:xfrm>
            <a:off x="5346174" y="4045643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43" name="Object 12"/>
          <p:cNvGraphicFramePr>
            <a:graphicFrameLocks noChangeAspect="1"/>
          </p:cNvGraphicFramePr>
          <p:nvPr/>
        </p:nvGraphicFramePr>
        <p:xfrm>
          <a:off x="5358873" y="3950393"/>
          <a:ext cx="32543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152280" imgH="215640" progId="Equation.3">
                  <p:embed/>
                </p:oleObj>
              </mc:Choice>
              <mc:Fallback>
                <p:oleObj name="方程式" r:id="rId3" imgW="152280" imgH="215640" progId="Equation.3">
                  <p:embed/>
                  <p:pic>
                    <p:nvPicPr>
                      <p:cNvPr id="4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8873" y="3950393"/>
                        <a:ext cx="325438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12"/>
          <p:cNvGraphicFramePr>
            <a:graphicFrameLocks noChangeAspect="1"/>
          </p:cNvGraphicFramePr>
          <p:nvPr/>
        </p:nvGraphicFramePr>
        <p:xfrm>
          <a:off x="5364169" y="4533122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164880" imgH="215640" progId="Equation.3">
                  <p:embed/>
                </p:oleObj>
              </mc:Choice>
              <mc:Fallback>
                <p:oleObj name="方程式" r:id="rId5" imgW="164880" imgH="215640" progId="Equation.3">
                  <p:embed/>
                  <p:pic>
                    <p:nvPicPr>
                      <p:cNvPr id="4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9" y="4533122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矩形 44"/>
          <p:cNvSpPr/>
          <p:nvPr/>
        </p:nvSpPr>
        <p:spPr>
          <a:xfrm>
            <a:off x="6826131" y="3870638"/>
            <a:ext cx="746342" cy="26758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橢圓 45"/>
          <p:cNvSpPr/>
          <p:nvPr/>
        </p:nvSpPr>
        <p:spPr>
          <a:xfrm>
            <a:off x="6923241" y="3881640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橢圓 46"/>
          <p:cNvSpPr/>
          <p:nvPr/>
        </p:nvSpPr>
        <p:spPr>
          <a:xfrm>
            <a:off x="6925583" y="4660210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橢圓 47"/>
          <p:cNvSpPr/>
          <p:nvPr/>
        </p:nvSpPr>
        <p:spPr>
          <a:xfrm>
            <a:off x="6913950" y="5888222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文字方塊 48"/>
          <p:cNvSpPr txBox="1"/>
          <p:nvPr/>
        </p:nvSpPr>
        <p:spPr>
          <a:xfrm rot="5400000">
            <a:off x="6911203" y="5310515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50" name="矩形 49"/>
          <p:cNvSpPr/>
          <p:nvPr/>
        </p:nvSpPr>
        <p:spPr>
          <a:xfrm>
            <a:off x="5349881" y="6013729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51" name="Object 12"/>
          <p:cNvGraphicFramePr>
            <a:graphicFrameLocks noChangeAspect="1"/>
          </p:cNvGraphicFramePr>
          <p:nvPr/>
        </p:nvGraphicFramePr>
        <p:xfrm>
          <a:off x="5319713" y="5918269"/>
          <a:ext cx="46196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215640" imgH="228600" progId="Equation.3">
                  <p:embed/>
                </p:oleObj>
              </mc:Choice>
              <mc:Fallback>
                <p:oleObj name="方程式" r:id="rId7" imgW="215640" imgH="228600" progId="Equation.3">
                  <p:embed/>
                  <p:pic>
                    <p:nvPicPr>
                      <p:cNvPr id="51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9713" y="5918269"/>
                        <a:ext cx="461962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文字方塊 51"/>
          <p:cNvSpPr txBox="1"/>
          <p:nvPr/>
        </p:nvSpPr>
        <p:spPr>
          <a:xfrm rot="5400000">
            <a:off x="5240926" y="5259474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cxnSp>
        <p:nvCxnSpPr>
          <p:cNvPr id="53" name="直線單箭頭接點 52"/>
          <p:cNvCxnSpPr>
            <a:stCxn id="43" idx="3"/>
            <a:endCxn id="46" idx="2"/>
          </p:cNvCxnSpPr>
          <p:nvPr/>
        </p:nvCxnSpPr>
        <p:spPr>
          <a:xfrm flipV="1">
            <a:off x="5684311" y="4168719"/>
            <a:ext cx="1238930" cy="126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>
            <a:stCxn id="42" idx="3"/>
            <a:endCxn id="47" idx="2"/>
          </p:cNvCxnSpPr>
          <p:nvPr/>
        </p:nvCxnSpPr>
        <p:spPr>
          <a:xfrm>
            <a:off x="5689074" y="4217093"/>
            <a:ext cx="1236509" cy="7301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>
            <a:stCxn id="42" idx="3"/>
            <a:endCxn id="48" idx="2"/>
          </p:cNvCxnSpPr>
          <p:nvPr/>
        </p:nvCxnSpPr>
        <p:spPr>
          <a:xfrm>
            <a:off x="5689074" y="4217093"/>
            <a:ext cx="1224876" cy="19582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>
            <a:stCxn id="44" idx="3"/>
            <a:endCxn id="46" idx="2"/>
          </p:cNvCxnSpPr>
          <p:nvPr/>
        </p:nvCxnSpPr>
        <p:spPr>
          <a:xfrm flipV="1">
            <a:off x="5716594" y="4168719"/>
            <a:ext cx="1206647" cy="59538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>
            <a:stCxn id="41" idx="3"/>
            <a:endCxn id="47" idx="2"/>
          </p:cNvCxnSpPr>
          <p:nvPr/>
        </p:nvCxnSpPr>
        <p:spPr>
          <a:xfrm>
            <a:off x="5683256" y="4787422"/>
            <a:ext cx="1242327" cy="15986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>
            <a:stCxn id="41" idx="3"/>
            <a:endCxn id="48" idx="2"/>
          </p:cNvCxnSpPr>
          <p:nvPr/>
        </p:nvCxnSpPr>
        <p:spPr>
          <a:xfrm>
            <a:off x="5683256" y="4787422"/>
            <a:ext cx="1230694" cy="138787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>
            <a:stCxn id="51" idx="3"/>
            <a:endCxn id="46" idx="2"/>
          </p:cNvCxnSpPr>
          <p:nvPr/>
        </p:nvCxnSpPr>
        <p:spPr>
          <a:xfrm flipV="1">
            <a:off x="5781675" y="4168719"/>
            <a:ext cx="1141566" cy="199402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>
            <a:stCxn id="51" idx="3"/>
            <a:endCxn id="47" idx="2"/>
          </p:cNvCxnSpPr>
          <p:nvPr/>
        </p:nvCxnSpPr>
        <p:spPr>
          <a:xfrm flipV="1">
            <a:off x="5781675" y="4947289"/>
            <a:ext cx="1143908" cy="12154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>
            <a:stCxn id="51" idx="3"/>
            <a:endCxn id="48" idx="2"/>
          </p:cNvCxnSpPr>
          <p:nvPr/>
        </p:nvCxnSpPr>
        <p:spPr>
          <a:xfrm>
            <a:off x="5781675" y="6162744"/>
            <a:ext cx="1132275" cy="1255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內容版面配置區 3"/>
          <p:cNvGraphicFramePr>
            <a:graphicFrameLocks/>
          </p:cNvGraphicFramePr>
          <p:nvPr/>
        </p:nvGraphicFramePr>
        <p:xfrm>
          <a:off x="3331975" y="4274711"/>
          <a:ext cx="1805646" cy="17234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9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9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9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09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09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72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2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2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2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2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2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50" marR="57450" marT="28725" marB="28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50" marR="57450" marT="28725" marB="28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9" name="矩形 68"/>
          <p:cNvSpPr/>
          <p:nvPr/>
        </p:nvSpPr>
        <p:spPr>
          <a:xfrm>
            <a:off x="318572" y="150071"/>
            <a:ext cx="56396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i="1" u="sng" dirty="0"/>
              <a:t>Convolution </a:t>
            </a:r>
            <a:r>
              <a:rPr lang="en-US" altLang="zh-TW" sz="3200" b="1" i="1" u="sng" dirty="0" err="1"/>
              <a:t>v.s</a:t>
            </a:r>
            <a:r>
              <a:rPr lang="en-US" altLang="zh-TW" sz="3200" b="1" i="1" u="sng" dirty="0"/>
              <a:t>. Fully Connected</a:t>
            </a:r>
            <a:endParaRPr lang="zh-TW" altLang="en-US" sz="3200" b="1" i="1" u="sng" dirty="0"/>
          </a:p>
        </p:txBody>
      </p:sp>
      <p:sp>
        <p:nvSpPr>
          <p:cNvPr id="70" name="文字方塊 69"/>
          <p:cNvSpPr txBox="1"/>
          <p:nvPr/>
        </p:nvSpPr>
        <p:spPr>
          <a:xfrm>
            <a:off x="1476798" y="4688677"/>
            <a:ext cx="19355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Fully-connected</a:t>
            </a:r>
            <a:endParaRPr lang="zh-TW" altLang="en-US" sz="2800" dirty="0"/>
          </a:p>
        </p:txBody>
      </p:sp>
      <p:sp>
        <p:nvSpPr>
          <p:cNvPr id="72" name="矩形 71"/>
          <p:cNvSpPr/>
          <p:nvPr/>
        </p:nvSpPr>
        <p:spPr>
          <a:xfrm>
            <a:off x="6732391" y="3797230"/>
            <a:ext cx="916129" cy="274927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矩形 72"/>
          <p:cNvSpPr/>
          <p:nvPr/>
        </p:nvSpPr>
        <p:spPr>
          <a:xfrm>
            <a:off x="5666879" y="1232761"/>
            <a:ext cx="2085643" cy="205884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7F3D38-8178-450C-AF9D-6B45A722A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9797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7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/>
          <p:cNvGraphicFramePr>
            <a:graphicFrameLocks/>
          </p:cNvGraphicFramePr>
          <p:nvPr/>
        </p:nvGraphicFramePr>
        <p:xfrm>
          <a:off x="399969" y="1850005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708602" y="4640718"/>
            <a:ext cx="2347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6 x 6 image</a:t>
            </a:r>
            <a:endParaRPr lang="zh-TW" altLang="en-US" sz="24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399969" y="152030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1845797" y="236862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Filter 1</a:t>
            </a:r>
            <a:endParaRPr lang="zh-TW" altLang="en-US" sz="2400" dirty="0"/>
          </a:p>
        </p:txBody>
      </p:sp>
      <p:sp>
        <p:nvSpPr>
          <p:cNvPr id="8" name="矩形 7"/>
          <p:cNvSpPr/>
          <p:nvPr/>
        </p:nvSpPr>
        <p:spPr>
          <a:xfrm>
            <a:off x="399969" y="1850005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2" name="圖片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184" y="1197255"/>
            <a:ext cx="2239711" cy="22269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34" name="直線單箭頭接點 33"/>
          <p:cNvCxnSpPr/>
          <p:nvPr/>
        </p:nvCxnSpPr>
        <p:spPr>
          <a:xfrm>
            <a:off x="2022123" y="837829"/>
            <a:ext cx="860562" cy="57038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 flipV="1">
            <a:off x="1839938" y="1571401"/>
            <a:ext cx="1042747" cy="96509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字方塊 37"/>
          <p:cNvSpPr txBox="1"/>
          <p:nvPr/>
        </p:nvSpPr>
        <p:spPr>
          <a:xfrm>
            <a:off x="5445337" y="49450"/>
            <a:ext cx="387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1:</a:t>
            </a:r>
            <a:endParaRPr lang="zh-TW" altLang="en-US" sz="24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5445337" y="511115"/>
            <a:ext cx="387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2:</a:t>
            </a:r>
            <a:endParaRPr lang="zh-TW" altLang="en-US" sz="2400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5445337" y="960797"/>
            <a:ext cx="387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3:</a:t>
            </a:r>
            <a:endParaRPr lang="zh-TW" altLang="en-US" sz="2400" dirty="0"/>
          </a:p>
        </p:txBody>
      </p:sp>
      <p:sp>
        <p:nvSpPr>
          <p:cNvPr id="41" name="文字方塊 40"/>
          <p:cNvSpPr txBox="1"/>
          <p:nvPr/>
        </p:nvSpPr>
        <p:spPr>
          <a:xfrm rot="5400000">
            <a:off x="5308019" y="1810764"/>
            <a:ext cx="8214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dirty="0"/>
              <a:t>…</a:t>
            </a:r>
            <a:endParaRPr lang="zh-TW" altLang="en-US" sz="2800" b="1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5461374" y="2239708"/>
            <a:ext cx="387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7:</a:t>
            </a:r>
            <a:endParaRPr lang="zh-TW" altLang="en-US" sz="2400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5461374" y="2701373"/>
            <a:ext cx="387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8:</a:t>
            </a:r>
            <a:endParaRPr lang="zh-TW" altLang="en-US" sz="2400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5461374" y="3151055"/>
            <a:ext cx="387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9:</a:t>
            </a:r>
            <a:endParaRPr lang="zh-TW" altLang="en-US" sz="2400" dirty="0"/>
          </a:p>
        </p:txBody>
      </p:sp>
      <p:sp>
        <p:nvSpPr>
          <p:cNvPr id="45" name="文字方塊 44"/>
          <p:cNvSpPr txBox="1"/>
          <p:nvPr/>
        </p:nvSpPr>
        <p:spPr>
          <a:xfrm rot="5400000">
            <a:off x="5447334" y="3988283"/>
            <a:ext cx="539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dirty="0"/>
              <a:t>…</a:t>
            </a:r>
            <a:endParaRPr lang="zh-TW" altLang="en-US" sz="2800" b="1" dirty="0"/>
          </a:p>
        </p:txBody>
      </p:sp>
      <p:sp>
        <p:nvSpPr>
          <p:cNvPr id="46" name="文字方塊 45"/>
          <p:cNvSpPr txBox="1"/>
          <p:nvPr/>
        </p:nvSpPr>
        <p:spPr>
          <a:xfrm>
            <a:off x="5301903" y="4438478"/>
            <a:ext cx="523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13:</a:t>
            </a:r>
            <a:endParaRPr lang="zh-TW" altLang="en-US" sz="2400" dirty="0"/>
          </a:p>
        </p:txBody>
      </p:sp>
      <p:sp>
        <p:nvSpPr>
          <p:cNvPr id="47" name="文字方塊 46"/>
          <p:cNvSpPr txBox="1"/>
          <p:nvPr/>
        </p:nvSpPr>
        <p:spPr>
          <a:xfrm>
            <a:off x="5296320" y="4902670"/>
            <a:ext cx="523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14:</a:t>
            </a:r>
            <a:endParaRPr lang="zh-TW" altLang="en-US" sz="2400" dirty="0"/>
          </a:p>
        </p:txBody>
      </p:sp>
      <p:sp>
        <p:nvSpPr>
          <p:cNvPr id="48" name="文字方塊 47"/>
          <p:cNvSpPr txBox="1"/>
          <p:nvPr/>
        </p:nvSpPr>
        <p:spPr>
          <a:xfrm>
            <a:off x="5296320" y="5380352"/>
            <a:ext cx="596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15:</a:t>
            </a:r>
            <a:endParaRPr lang="zh-TW" altLang="en-US" sz="2400" dirty="0"/>
          </a:p>
        </p:txBody>
      </p:sp>
      <p:sp>
        <p:nvSpPr>
          <p:cNvPr id="49" name="文字方塊 48"/>
          <p:cNvSpPr txBox="1"/>
          <p:nvPr/>
        </p:nvSpPr>
        <p:spPr>
          <a:xfrm rot="5400000">
            <a:off x="5494533" y="6217727"/>
            <a:ext cx="4248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dirty="0"/>
              <a:t>…</a:t>
            </a:r>
            <a:endParaRPr lang="zh-TW" altLang="en-US" sz="2800" b="1" dirty="0"/>
          </a:p>
        </p:txBody>
      </p:sp>
      <p:sp>
        <p:nvSpPr>
          <p:cNvPr id="50" name="文字方塊 49"/>
          <p:cNvSpPr txBox="1"/>
          <p:nvPr/>
        </p:nvSpPr>
        <p:spPr>
          <a:xfrm>
            <a:off x="6495467" y="5303637"/>
            <a:ext cx="2371241" cy="1200329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400" dirty="0"/>
              <a:t>Only connect to 9 inputs, not fully connected</a:t>
            </a:r>
            <a:endParaRPr lang="zh-TW" altLang="en-US" sz="240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5455404" y="1408214"/>
            <a:ext cx="387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4:</a:t>
            </a:r>
            <a:endParaRPr lang="zh-TW" altLang="en-US" sz="2400" dirty="0"/>
          </a:p>
        </p:txBody>
      </p:sp>
      <p:sp>
        <p:nvSpPr>
          <p:cNvPr id="52" name="文字方塊 51"/>
          <p:cNvSpPr txBox="1"/>
          <p:nvPr/>
        </p:nvSpPr>
        <p:spPr>
          <a:xfrm>
            <a:off x="5228900" y="3562359"/>
            <a:ext cx="639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400" dirty="0"/>
              <a:t>10:</a:t>
            </a:r>
            <a:endParaRPr lang="zh-TW" altLang="en-US" sz="2400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5291125" y="5789241"/>
            <a:ext cx="596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16:</a:t>
            </a:r>
            <a:endParaRPr lang="zh-TW" altLang="en-US" sz="2400" dirty="0"/>
          </a:p>
        </p:txBody>
      </p:sp>
      <p:sp>
        <p:nvSpPr>
          <p:cNvPr id="55" name="矩形 54"/>
          <p:cNvSpPr/>
          <p:nvPr/>
        </p:nvSpPr>
        <p:spPr>
          <a:xfrm>
            <a:off x="5887504" y="145282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56" name="矩形 55"/>
          <p:cNvSpPr/>
          <p:nvPr/>
        </p:nvSpPr>
        <p:spPr>
          <a:xfrm>
            <a:off x="5887504" y="614270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57" name="矩形 56"/>
          <p:cNvSpPr/>
          <p:nvPr/>
        </p:nvSpPr>
        <p:spPr>
          <a:xfrm>
            <a:off x="5887504" y="1056629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58" name="矩形 57"/>
          <p:cNvSpPr/>
          <p:nvPr/>
        </p:nvSpPr>
        <p:spPr>
          <a:xfrm>
            <a:off x="5887504" y="1518425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59" name="矩形 58"/>
          <p:cNvSpPr/>
          <p:nvPr/>
        </p:nvSpPr>
        <p:spPr>
          <a:xfrm>
            <a:off x="5887504" y="2356323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60" name="矩形 59"/>
          <p:cNvSpPr/>
          <p:nvPr/>
        </p:nvSpPr>
        <p:spPr>
          <a:xfrm>
            <a:off x="5887504" y="2825311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61" name="矩形 60"/>
          <p:cNvSpPr/>
          <p:nvPr/>
        </p:nvSpPr>
        <p:spPr>
          <a:xfrm>
            <a:off x="5887504" y="3267670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62" name="矩形 61"/>
          <p:cNvSpPr/>
          <p:nvPr/>
        </p:nvSpPr>
        <p:spPr>
          <a:xfrm>
            <a:off x="5887504" y="3729466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63" name="矩形 62"/>
          <p:cNvSpPr/>
          <p:nvPr/>
        </p:nvSpPr>
        <p:spPr>
          <a:xfrm>
            <a:off x="5887504" y="4519573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64" name="矩形 63"/>
          <p:cNvSpPr/>
          <p:nvPr/>
        </p:nvSpPr>
        <p:spPr>
          <a:xfrm>
            <a:off x="5887504" y="4988561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65" name="矩形 64"/>
          <p:cNvSpPr/>
          <p:nvPr/>
        </p:nvSpPr>
        <p:spPr>
          <a:xfrm>
            <a:off x="5887504" y="5430920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66" name="矩形 65"/>
          <p:cNvSpPr/>
          <p:nvPr/>
        </p:nvSpPr>
        <p:spPr>
          <a:xfrm>
            <a:off x="5887504" y="5892716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cxnSp>
        <p:nvCxnSpPr>
          <p:cNvPr id="68" name="直線單箭頭接點 67"/>
          <p:cNvCxnSpPr>
            <a:stCxn id="55" idx="3"/>
          </p:cNvCxnSpPr>
          <p:nvPr/>
        </p:nvCxnSpPr>
        <p:spPr>
          <a:xfrm>
            <a:off x="6157504" y="280282"/>
            <a:ext cx="1421404" cy="127731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stCxn id="56" idx="3"/>
          </p:cNvCxnSpPr>
          <p:nvPr/>
        </p:nvCxnSpPr>
        <p:spPr>
          <a:xfrm>
            <a:off x="6157504" y="749270"/>
            <a:ext cx="1421404" cy="80832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>
            <a:stCxn id="57" idx="3"/>
          </p:cNvCxnSpPr>
          <p:nvPr/>
        </p:nvCxnSpPr>
        <p:spPr>
          <a:xfrm>
            <a:off x="6157504" y="1191629"/>
            <a:ext cx="1421404" cy="365964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單箭頭接點 78"/>
          <p:cNvCxnSpPr/>
          <p:nvPr/>
        </p:nvCxnSpPr>
        <p:spPr>
          <a:xfrm flipV="1">
            <a:off x="6177394" y="1596965"/>
            <a:ext cx="1351279" cy="894439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>
            <a:endCxn id="109" idx="2"/>
          </p:cNvCxnSpPr>
          <p:nvPr/>
        </p:nvCxnSpPr>
        <p:spPr>
          <a:xfrm flipV="1">
            <a:off x="6177393" y="1537263"/>
            <a:ext cx="1371154" cy="1415807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>
            <a:endCxn id="109" idx="2"/>
          </p:cNvCxnSpPr>
          <p:nvPr/>
        </p:nvCxnSpPr>
        <p:spPr>
          <a:xfrm flipV="1">
            <a:off x="6177393" y="1537263"/>
            <a:ext cx="1371154" cy="186311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>
            <a:stCxn id="63" idx="3"/>
          </p:cNvCxnSpPr>
          <p:nvPr/>
        </p:nvCxnSpPr>
        <p:spPr>
          <a:xfrm flipV="1">
            <a:off x="6157504" y="1644696"/>
            <a:ext cx="1351280" cy="3009877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>
            <a:endCxn id="109" idx="2"/>
          </p:cNvCxnSpPr>
          <p:nvPr/>
        </p:nvCxnSpPr>
        <p:spPr>
          <a:xfrm flipV="1">
            <a:off x="6157503" y="1537263"/>
            <a:ext cx="1391044" cy="356512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>
            <a:endCxn id="109" idx="2"/>
          </p:cNvCxnSpPr>
          <p:nvPr/>
        </p:nvCxnSpPr>
        <p:spPr>
          <a:xfrm flipV="1">
            <a:off x="6157503" y="1537263"/>
            <a:ext cx="1391044" cy="4012428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橢圓 108"/>
          <p:cNvSpPr/>
          <p:nvPr/>
        </p:nvSpPr>
        <p:spPr>
          <a:xfrm>
            <a:off x="7548547" y="117726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117" name="橢圓 116"/>
          <p:cNvSpPr/>
          <p:nvPr/>
        </p:nvSpPr>
        <p:spPr>
          <a:xfrm>
            <a:off x="446463" y="160780"/>
            <a:ext cx="454965" cy="454965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8" name="橢圓 117"/>
          <p:cNvSpPr/>
          <p:nvPr/>
        </p:nvSpPr>
        <p:spPr>
          <a:xfrm>
            <a:off x="998655" y="132552"/>
            <a:ext cx="454965" cy="454965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橢圓 118"/>
          <p:cNvSpPr/>
          <p:nvPr/>
        </p:nvSpPr>
        <p:spPr>
          <a:xfrm>
            <a:off x="1509844" y="145282"/>
            <a:ext cx="454965" cy="454965"/>
          </a:xfrm>
          <a:prstGeom prst="ellipse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0" name="橢圓 119"/>
          <p:cNvSpPr/>
          <p:nvPr/>
        </p:nvSpPr>
        <p:spPr>
          <a:xfrm>
            <a:off x="446463" y="619044"/>
            <a:ext cx="454965" cy="454965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1" name="橢圓 120"/>
          <p:cNvSpPr/>
          <p:nvPr/>
        </p:nvSpPr>
        <p:spPr>
          <a:xfrm>
            <a:off x="998655" y="590816"/>
            <a:ext cx="454965" cy="454965"/>
          </a:xfrm>
          <a:prstGeom prst="ellipse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2" name="橢圓 121"/>
          <p:cNvSpPr/>
          <p:nvPr/>
        </p:nvSpPr>
        <p:spPr>
          <a:xfrm>
            <a:off x="1509844" y="603546"/>
            <a:ext cx="454965" cy="454965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3" name="橢圓 122"/>
          <p:cNvSpPr/>
          <p:nvPr/>
        </p:nvSpPr>
        <p:spPr>
          <a:xfrm>
            <a:off x="459086" y="1075126"/>
            <a:ext cx="454965" cy="454965"/>
          </a:xfrm>
          <a:prstGeom prst="ellipse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4" name="橢圓 123"/>
          <p:cNvSpPr/>
          <p:nvPr/>
        </p:nvSpPr>
        <p:spPr>
          <a:xfrm>
            <a:off x="1011278" y="1046898"/>
            <a:ext cx="454965" cy="454965"/>
          </a:xfrm>
          <a:prstGeom prst="ellipse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5" name="橢圓 124"/>
          <p:cNvSpPr/>
          <p:nvPr/>
        </p:nvSpPr>
        <p:spPr>
          <a:xfrm>
            <a:off x="1522467" y="1059628"/>
            <a:ext cx="454965" cy="454965"/>
          </a:xfrm>
          <a:prstGeom prst="ellipse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文字方塊 66"/>
          <p:cNvSpPr txBox="1"/>
          <p:nvPr/>
        </p:nvSpPr>
        <p:spPr>
          <a:xfrm>
            <a:off x="619053" y="5258561"/>
            <a:ext cx="2797248" cy="52322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800" dirty="0"/>
              <a:t>Less parameters!</a:t>
            </a:r>
            <a:endParaRPr lang="zh-TW" altLang="en-US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28E5B7-8DB6-4EBB-94C5-6AE75471E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0966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 animBg="1"/>
      <p:bldP spid="51" grpId="0"/>
      <p:bldP spid="52" grpId="0"/>
      <p:bldP spid="53" grpId="0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109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6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/>
          <p:cNvGraphicFramePr>
            <a:graphicFrameLocks/>
          </p:cNvGraphicFramePr>
          <p:nvPr/>
        </p:nvGraphicFramePr>
        <p:xfrm>
          <a:off x="399969" y="1850005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399969" y="152030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2022123" y="606997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Filter 1</a:t>
            </a:r>
            <a:endParaRPr lang="zh-TW" altLang="en-US" sz="2400" dirty="0"/>
          </a:p>
        </p:txBody>
      </p:sp>
      <p:sp>
        <p:nvSpPr>
          <p:cNvPr id="8" name="矩形 7"/>
          <p:cNvSpPr/>
          <p:nvPr/>
        </p:nvSpPr>
        <p:spPr>
          <a:xfrm>
            <a:off x="911332" y="1834394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文字方塊 37"/>
          <p:cNvSpPr txBox="1"/>
          <p:nvPr/>
        </p:nvSpPr>
        <p:spPr>
          <a:xfrm>
            <a:off x="5445337" y="49450"/>
            <a:ext cx="387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1:</a:t>
            </a:r>
            <a:endParaRPr lang="zh-TW" altLang="en-US" sz="24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5445337" y="511115"/>
            <a:ext cx="387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2:</a:t>
            </a:r>
            <a:endParaRPr lang="zh-TW" altLang="en-US" sz="2400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5445337" y="960797"/>
            <a:ext cx="387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3:</a:t>
            </a:r>
            <a:endParaRPr lang="zh-TW" altLang="en-US" sz="2400" dirty="0"/>
          </a:p>
        </p:txBody>
      </p:sp>
      <p:sp>
        <p:nvSpPr>
          <p:cNvPr id="41" name="文字方塊 40"/>
          <p:cNvSpPr txBox="1"/>
          <p:nvPr/>
        </p:nvSpPr>
        <p:spPr>
          <a:xfrm rot="5400000">
            <a:off x="5308019" y="1810764"/>
            <a:ext cx="8214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dirty="0"/>
              <a:t>…</a:t>
            </a:r>
            <a:endParaRPr lang="zh-TW" altLang="en-US" sz="2800" b="1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5461374" y="2239708"/>
            <a:ext cx="387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7:</a:t>
            </a:r>
            <a:endParaRPr lang="zh-TW" altLang="en-US" sz="2400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5461374" y="2701373"/>
            <a:ext cx="387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8:</a:t>
            </a:r>
            <a:endParaRPr lang="zh-TW" altLang="en-US" sz="2400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5461374" y="3151055"/>
            <a:ext cx="387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9:</a:t>
            </a:r>
            <a:endParaRPr lang="zh-TW" altLang="en-US" sz="2400" dirty="0"/>
          </a:p>
        </p:txBody>
      </p:sp>
      <p:sp>
        <p:nvSpPr>
          <p:cNvPr id="45" name="文字方塊 44"/>
          <p:cNvSpPr txBox="1"/>
          <p:nvPr/>
        </p:nvSpPr>
        <p:spPr>
          <a:xfrm rot="5400000">
            <a:off x="5447334" y="3988283"/>
            <a:ext cx="539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dirty="0"/>
              <a:t>…</a:t>
            </a:r>
            <a:endParaRPr lang="zh-TW" altLang="en-US" sz="2800" b="1" dirty="0"/>
          </a:p>
        </p:txBody>
      </p:sp>
      <p:sp>
        <p:nvSpPr>
          <p:cNvPr id="46" name="文字方塊 45"/>
          <p:cNvSpPr txBox="1"/>
          <p:nvPr/>
        </p:nvSpPr>
        <p:spPr>
          <a:xfrm>
            <a:off x="5301903" y="4438478"/>
            <a:ext cx="523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13:</a:t>
            </a:r>
            <a:endParaRPr lang="zh-TW" altLang="en-US" sz="2400" dirty="0"/>
          </a:p>
        </p:txBody>
      </p:sp>
      <p:sp>
        <p:nvSpPr>
          <p:cNvPr id="47" name="文字方塊 46"/>
          <p:cNvSpPr txBox="1"/>
          <p:nvPr/>
        </p:nvSpPr>
        <p:spPr>
          <a:xfrm>
            <a:off x="5296320" y="4902670"/>
            <a:ext cx="523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14:</a:t>
            </a:r>
            <a:endParaRPr lang="zh-TW" altLang="en-US" sz="2400" dirty="0"/>
          </a:p>
        </p:txBody>
      </p:sp>
      <p:sp>
        <p:nvSpPr>
          <p:cNvPr id="48" name="文字方塊 47"/>
          <p:cNvSpPr txBox="1"/>
          <p:nvPr/>
        </p:nvSpPr>
        <p:spPr>
          <a:xfrm>
            <a:off x="5296320" y="5380352"/>
            <a:ext cx="596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15:</a:t>
            </a:r>
            <a:endParaRPr lang="zh-TW" altLang="en-US" sz="2400" dirty="0"/>
          </a:p>
        </p:txBody>
      </p:sp>
      <p:sp>
        <p:nvSpPr>
          <p:cNvPr id="49" name="文字方塊 48"/>
          <p:cNvSpPr txBox="1"/>
          <p:nvPr/>
        </p:nvSpPr>
        <p:spPr>
          <a:xfrm rot="5400000">
            <a:off x="5494533" y="6217727"/>
            <a:ext cx="4248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dirty="0"/>
              <a:t>…</a:t>
            </a:r>
            <a:endParaRPr lang="zh-TW" altLang="en-US" sz="2800" b="1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5455404" y="1408214"/>
            <a:ext cx="387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4:</a:t>
            </a:r>
            <a:endParaRPr lang="zh-TW" altLang="en-US" sz="2400" dirty="0"/>
          </a:p>
        </p:txBody>
      </p:sp>
      <p:sp>
        <p:nvSpPr>
          <p:cNvPr id="52" name="文字方塊 51"/>
          <p:cNvSpPr txBox="1"/>
          <p:nvPr/>
        </p:nvSpPr>
        <p:spPr>
          <a:xfrm>
            <a:off x="5228900" y="3562359"/>
            <a:ext cx="639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400" dirty="0"/>
              <a:t>10:</a:t>
            </a:r>
            <a:endParaRPr lang="zh-TW" altLang="en-US" sz="2400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5291125" y="5789241"/>
            <a:ext cx="596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16:</a:t>
            </a:r>
            <a:endParaRPr lang="zh-TW" altLang="en-US" sz="2400" dirty="0"/>
          </a:p>
        </p:txBody>
      </p:sp>
      <p:sp>
        <p:nvSpPr>
          <p:cNvPr id="55" name="矩形 54"/>
          <p:cNvSpPr/>
          <p:nvPr/>
        </p:nvSpPr>
        <p:spPr>
          <a:xfrm>
            <a:off x="5887504" y="145282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56" name="矩形 55"/>
          <p:cNvSpPr/>
          <p:nvPr/>
        </p:nvSpPr>
        <p:spPr>
          <a:xfrm>
            <a:off x="5887504" y="614270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57" name="矩形 56"/>
          <p:cNvSpPr/>
          <p:nvPr/>
        </p:nvSpPr>
        <p:spPr>
          <a:xfrm>
            <a:off x="5887504" y="1056629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58" name="矩形 57"/>
          <p:cNvSpPr/>
          <p:nvPr/>
        </p:nvSpPr>
        <p:spPr>
          <a:xfrm>
            <a:off x="5887504" y="1518425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59" name="矩形 58"/>
          <p:cNvSpPr/>
          <p:nvPr/>
        </p:nvSpPr>
        <p:spPr>
          <a:xfrm>
            <a:off x="5887504" y="2356323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60" name="矩形 59"/>
          <p:cNvSpPr/>
          <p:nvPr/>
        </p:nvSpPr>
        <p:spPr>
          <a:xfrm>
            <a:off x="5887504" y="2825311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61" name="矩形 60"/>
          <p:cNvSpPr/>
          <p:nvPr/>
        </p:nvSpPr>
        <p:spPr>
          <a:xfrm>
            <a:off x="5887504" y="3267670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62" name="矩形 61"/>
          <p:cNvSpPr/>
          <p:nvPr/>
        </p:nvSpPr>
        <p:spPr>
          <a:xfrm>
            <a:off x="5887504" y="3729466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63" name="矩形 62"/>
          <p:cNvSpPr/>
          <p:nvPr/>
        </p:nvSpPr>
        <p:spPr>
          <a:xfrm>
            <a:off x="5887504" y="4519573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64" name="矩形 63"/>
          <p:cNvSpPr/>
          <p:nvPr/>
        </p:nvSpPr>
        <p:spPr>
          <a:xfrm>
            <a:off x="5887504" y="4988561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65" name="矩形 64"/>
          <p:cNvSpPr/>
          <p:nvPr/>
        </p:nvSpPr>
        <p:spPr>
          <a:xfrm>
            <a:off x="5887504" y="5430920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66" name="矩形 65"/>
          <p:cNvSpPr/>
          <p:nvPr/>
        </p:nvSpPr>
        <p:spPr>
          <a:xfrm>
            <a:off x="5887504" y="5892716"/>
            <a:ext cx="270000" cy="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cxnSp>
        <p:nvCxnSpPr>
          <p:cNvPr id="68" name="直線單箭頭接點 67"/>
          <p:cNvCxnSpPr>
            <a:stCxn id="55" idx="3"/>
          </p:cNvCxnSpPr>
          <p:nvPr/>
        </p:nvCxnSpPr>
        <p:spPr>
          <a:xfrm>
            <a:off x="6157504" y="280282"/>
            <a:ext cx="1421404" cy="127731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stCxn id="56" idx="3"/>
          </p:cNvCxnSpPr>
          <p:nvPr/>
        </p:nvCxnSpPr>
        <p:spPr>
          <a:xfrm>
            <a:off x="6157504" y="749270"/>
            <a:ext cx="1421404" cy="80832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>
            <a:stCxn id="57" idx="3"/>
          </p:cNvCxnSpPr>
          <p:nvPr/>
        </p:nvCxnSpPr>
        <p:spPr>
          <a:xfrm>
            <a:off x="6157504" y="1191629"/>
            <a:ext cx="1421404" cy="365964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單箭頭接點 78"/>
          <p:cNvCxnSpPr/>
          <p:nvPr/>
        </p:nvCxnSpPr>
        <p:spPr>
          <a:xfrm flipV="1">
            <a:off x="6177394" y="1596965"/>
            <a:ext cx="1351279" cy="894439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>
            <a:endCxn id="109" idx="2"/>
          </p:cNvCxnSpPr>
          <p:nvPr/>
        </p:nvCxnSpPr>
        <p:spPr>
          <a:xfrm flipV="1">
            <a:off x="6177393" y="1537263"/>
            <a:ext cx="1371154" cy="1415807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>
            <a:endCxn id="109" idx="2"/>
          </p:cNvCxnSpPr>
          <p:nvPr/>
        </p:nvCxnSpPr>
        <p:spPr>
          <a:xfrm flipV="1">
            <a:off x="6177393" y="1537263"/>
            <a:ext cx="1371154" cy="186311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>
            <a:stCxn id="63" idx="3"/>
          </p:cNvCxnSpPr>
          <p:nvPr/>
        </p:nvCxnSpPr>
        <p:spPr>
          <a:xfrm flipV="1">
            <a:off x="6157504" y="1644696"/>
            <a:ext cx="1351280" cy="3009877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>
            <a:endCxn id="109" idx="2"/>
          </p:cNvCxnSpPr>
          <p:nvPr/>
        </p:nvCxnSpPr>
        <p:spPr>
          <a:xfrm flipV="1">
            <a:off x="6157503" y="1537263"/>
            <a:ext cx="1391044" cy="356512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>
            <a:endCxn id="109" idx="2"/>
          </p:cNvCxnSpPr>
          <p:nvPr/>
        </p:nvCxnSpPr>
        <p:spPr>
          <a:xfrm flipV="1">
            <a:off x="6157503" y="1537263"/>
            <a:ext cx="1391044" cy="4012428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橢圓 108"/>
          <p:cNvSpPr/>
          <p:nvPr/>
        </p:nvSpPr>
        <p:spPr>
          <a:xfrm>
            <a:off x="7548547" y="117726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110" name="橢圓 109"/>
          <p:cNvSpPr/>
          <p:nvPr/>
        </p:nvSpPr>
        <p:spPr>
          <a:xfrm>
            <a:off x="7528673" y="297346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17" name="橢圓 116"/>
          <p:cNvSpPr/>
          <p:nvPr/>
        </p:nvSpPr>
        <p:spPr>
          <a:xfrm>
            <a:off x="446463" y="160780"/>
            <a:ext cx="454965" cy="454965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8" name="橢圓 117"/>
          <p:cNvSpPr/>
          <p:nvPr/>
        </p:nvSpPr>
        <p:spPr>
          <a:xfrm>
            <a:off x="998655" y="132552"/>
            <a:ext cx="454965" cy="454965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橢圓 118"/>
          <p:cNvSpPr/>
          <p:nvPr/>
        </p:nvSpPr>
        <p:spPr>
          <a:xfrm>
            <a:off x="1509844" y="145282"/>
            <a:ext cx="454965" cy="454965"/>
          </a:xfrm>
          <a:prstGeom prst="ellipse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0" name="橢圓 119"/>
          <p:cNvSpPr/>
          <p:nvPr/>
        </p:nvSpPr>
        <p:spPr>
          <a:xfrm>
            <a:off x="446463" y="619044"/>
            <a:ext cx="454965" cy="454965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1" name="橢圓 120"/>
          <p:cNvSpPr/>
          <p:nvPr/>
        </p:nvSpPr>
        <p:spPr>
          <a:xfrm>
            <a:off x="998655" y="590816"/>
            <a:ext cx="454965" cy="454965"/>
          </a:xfrm>
          <a:prstGeom prst="ellipse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2" name="橢圓 121"/>
          <p:cNvSpPr/>
          <p:nvPr/>
        </p:nvSpPr>
        <p:spPr>
          <a:xfrm>
            <a:off x="1509844" y="603546"/>
            <a:ext cx="454965" cy="454965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3" name="橢圓 122"/>
          <p:cNvSpPr/>
          <p:nvPr/>
        </p:nvSpPr>
        <p:spPr>
          <a:xfrm>
            <a:off x="459086" y="1075126"/>
            <a:ext cx="454965" cy="454965"/>
          </a:xfrm>
          <a:prstGeom prst="ellipse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4" name="橢圓 123"/>
          <p:cNvSpPr/>
          <p:nvPr/>
        </p:nvSpPr>
        <p:spPr>
          <a:xfrm>
            <a:off x="1011278" y="1046898"/>
            <a:ext cx="454965" cy="454965"/>
          </a:xfrm>
          <a:prstGeom prst="ellipse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5" name="橢圓 124"/>
          <p:cNvSpPr/>
          <p:nvPr/>
        </p:nvSpPr>
        <p:spPr>
          <a:xfrm>
            <a:off x="1522467" y="1059628"/>
            <a:ext cx="454965" cy="454965"/>
          </a:xfrm>
          <a:prstGeom prst="ellipse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文字方塊 66"/>
          <p:cNvSpPr txBox="1"/>
          <p:nvPr/>
        </p:nvSpPr>
        <p:spPr>
          <a:xfrm>
            <a:off x="6515549" y="5760325"/>
            <a:ext cx="2126717" cy="461665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400" dirty="0"/>
              <a:t>Shared weights</a:t>
            </a:r>
            <a:endParaRPr lang="zh-TW" altLang="en-US" sz="2400" dirty="0"/>
          </a:p>
        </p:txBody>
      </p:sp>
      <p:cxnSp>
        <p:nvCxnSpPr>
          <p:cNvPr id="72" name="直線單箭頭接點 71"/>
          <p:cNvCxnSpPr>
            <a:stCxn id="56" idx="3"/>
            <a:endCxn id="110" idx="2"/>
          </p:cNvCxnSpPr>
          <p:nvPr/>
        </p:nvCxnSpPr>
        <p:spPr>
          <a:xfrm>
            <a:off x="6157504" y="749270"/>
            <a:ext cx="1371169" cy="258419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>
            <a:stCxn id="57" idx="3"/>
            <a:endCxn id="110" idx="2"/>
          </p:cNvCxnSpPr>
          <p:nvPr/>
        </p:nvCxnSpPr>
        <p:spPr>
          <a:xfrm>
            <a:off x="6157504" y="1191629"/>
            <a:ext cx="1371169" cy="214183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>
            <a:stCxn id="58" idx="3"/>
            <a:endCxn id="110" idx="2"/>
          </p:cNvCxnSpPr>
          <p:nvPr/>
        </p:nvCxnSpPr>
        <p:spPr>
          <a:xfrm>
            <a:off x="6157504" y="1653425"/>
            <a:ext cx="1371169" cy="1680041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>
            <a:endCxn id="110" idx="2"/>
          </p:cNvCxnSpPr>
          <p:nvPr/>
        </p:nvCxnSpPr>
        <p:spPr>
          <a:xfrm>
            <a:off x="6186794" y="2980636"/>
            <a:ext cx="1341879" cy="35283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>
            <a:endCxn id="110" idx="2"/>
          </p:cNvCxnSpPr>
          <p:nvPr/>
        </p:nvCxnSpPr>
        <p:spPr>
          <a:xfrm flipV="1">
            <a:off x="6173541" y="3333466"/>
            <a:ext cx="1355132" cy="125038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>
            <a:endCxn id="110" idx="2"/>
          </p:cNvCxnSpPr>
          <p:nvPr/>
        </p:nvCxnSpPr>
        <p:spPr>
          <a:xfrm flipV="1">
            <a:off x="6173556" y="3333466"/>
            <a:ext cx="1355117" cy="56999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>
            <a:stCxn id="64" idx="3"/>
          </p:cNvCxnSpPr>
          <p:nvPr/>
        </p:nvCxnSpPr>
        <p:spPr>
          <a:xfrm flipV="1">
            <a:off x="6157504" y="3361033"/>
            <a:ext cx="1336956" cy="1762528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>
            <a:stCxn id="65" idx="3"/>
          </p:cNvCxnSpPr>
          <p:nvPr/>
        </p:nvCxnSpPr>
        <p:spPr>
          <a:xfrm flipV="1">
            <a:off x="6157504" y="3326993"/>
            <a:ext cx="1359292" cy="2238927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>
            <a:stCxn id="66" idx="3"/>
          </p:cNvCxnSpPr>
          <p:nvPr/>
        </p:nvCxnSpPr>
        <p:spPr>
          <a:xfrm flipV="1">
            <a:off x="6157504" y="3389926"/>
            <a:ext cx="1344118" cy="263779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字方塊 87"/>
          <p:cNvSpPr txBox="1"/>
          <p:nvPr/>
        </p:nvSpPr>
        <p:spPr>
          <a:xfrm>
            <a:off x="708602" y="4640718"/>
            <a:ext cx="2347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6 x 6 image</a:t>
            </a:r>
            <a:endParaRPr lang="zh-TW" altLang="en-US" sz="2400" dirty="0"/>
          </a:p>
        </p:txBody>
      </p:sp>
      <p:pic>
        <p:nvPicPr>
          <p:cNvPr id="87" name="圖片 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876" y="1215655"/>
            <a:ext cx="2229885" cy="22428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35" name="直線單箭頭接點 34"/>
          <p:cNvCxnSpPr/>
          <p:nvPr/>
        </p:nvCxnSpPr>
        <p:spPr>
          <a:xfrm flipV="1">
            <a:off x="2328458" y="1557594"/>
            <a:ext cx="945481" cy="93381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/>
          <p:nvPr/>
        </p:nvCxnSpPr>
        <p:spPr>
          <a:xfrm>
            <a:off x="2022123" y="837829"/>
            <a:ext cx="1251816" cy="68580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文字方塊 91"/>
          <p:cNvSpPr txBox="1"/>
          <p:nvPr/>
        </p:nvSpPr>
        <p:spPr>
          <a:xfrm>
            <a:off x="619053" y="5258561"/>
            <a:ext cx="2797248" cy="52322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800" dirty="0"/>
              <a:t>Less parameters!</a:t>
            </a:r>
            <a:endParaRPr lang="zh-TW" altLang="en-US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14DB08-C70E-4B00-B490-03F63FFF0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6853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 animBg="1"/>
      <p:bldP spid="6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whole CNN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749703" y="2274347"/>
            <a:ext cx="2906568" cy="3201477"/>
            <a:chOff x="-1626455" y="3999117"/>
            <a:chExt cx="2906568" cy="3201477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 flipH="1">
              <a:off x="-1736746" y="4748962"/>
              <a:ext cx="3201477" cy="1701788"/>
            </a:xfrm>
            <a:prstGeom prst="rect">
              <a:avLst/>
            </a:prstGeom>
          </p:spPr>
        </p:pic>
        <p:sp>
          <p:nvSpPr>
            <p:cNvPr id="6" name="文字方塊 5"/>
            <p:cNvSpPr txBox="1"/>
            <p:nvPr/>
          </p:nvSpPr>
          <p:spPr>
            <a:xfrm>
              <a:off x="-1626455" y="5442856"/>
              <a:ext cx="2906568" cy="830997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Fully Connected Feedforward network</a:t>
              </a:r>
              <a:endParaRPr lang="zh-TW" altLang="en-US" sz="2400" dirty="0"/>
            </a:p>
          </p:txBody>
        </p:sp>
      </p:grpSp>
      <p:pic>
        <p:nvPicPr>
          <p:cNvPr id="12290" name="Picture 2" descr="http://s.hswstatic.com/gif/whiskers-sam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5642" y="191529"/>
            <a:ext cx="1771005" cy="1204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1277455" y="1705969"/>
            <a:ext cx="2046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cat dog ……</a:t>
            </a:r>
            <a:endParaRPr lang="zh-TW" altLang="en-US" sz="2400" dirty="0"/>
          </a:p>
        </p:txBody>
      </p:sp>
      <p:sp>
        <p:nvSpPr>
          <p:cNvPr id="11" name="矩形 10"/>
          <p:cNvSpPr/>
          <p:nvPr/>
        </p:nvSpPr>
        <p:spPr>
          <a:xfrm>
            <a:off x="5249923" y="1929505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Convolution</a:t>
            </a:r>
            <a:endParaRPr lang="zh-TW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5249923" y="3029517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Max Pooling</a:t>
            </a:r>
            <a:endParaRPr lang="zh-TW" altLang="en-US" sz="2400" dirty="0"/>
          </a:p>
        </p:txBody>
      </p:sp>
      <p:sp>
        <p:nvSpPr>
          <p:cNvPr id="14" name="矩形 13"/>
          <p:cNvSpPr/>
          <p:nvPr/>
        </p:nvSpPr>
        <p:spPr>
          <a:xfrm>
            <a:off x="5249923" y="4097730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Convolution</a:t>
            </a:r>
            <a:endParaRPr lang="zh-TW" altLang="en-US" sz="2400" dirty="0"/>
          </a:p>
        </p:txBody>
      </p:sp>
      <p:sp>
        <p:nvSpPr>
          <p:cNvPr id="15" name="矩形 14"/>
          <p:cNvSpPr/>
          <p:nvPr/>
        </p:nvSpPr>
        <p:spPr>
          <a:xfrm>
            <a:off x="5249923" y="5130982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Max Pooling</a:t>
            </a:r>
            <a:endParaRPr lang="zh-TW" altLang="en-US" sz="24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3324218" y="6055666"/>
            <a:ext cx="1556991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Flatten</a:t>
            </a:r>
            <a:endParaRPr lang="zh-TW" altLang="en-US" sz="2400" dirty="0"/>
          </a:p>
        </p:txBody>
      </p:sp>
      <p:sp>
        <p:nvSpPr>
          <p:cNvPr id="12" name="向下箭號 11"/>
          <p:cNvSpPr/>
          <p:nvPr/>
        </p:nvSpPr>
        <p:spPr>
          <a:xfrm>
            <a:off x="5869620" y="1451760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向下箭號 17"/>
          <p:cNvSpPr/>
          <p:nvPr/>
        </p:nvSpPr>
        <p:spPr>
          <a:xfrm>
            <a:off x="5869620" y="2562542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向下箭號 18"/>
          <p:cNvSpPr/>
          <p:nvPr/>
        </p:nvSpPr>
        <p:spPr>
          <a:xfrm>
            <a:off x="5869620" y="3654185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向下箭號 19"/>
          <p:cNvSpPr/>
          <p:nvPr/>
        </p:nvSpPr>
        <p:spPr>
          <a:xfrm>
            <a:off x="5869620" y="4689178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右彎箭號 16"/>
          <p:cNvSpPr/>
          <p:nvPr/>
        </p:nvSpPr>
        <p:spPr>
          <a:xfrm rot="10800000">
            <a:off x="4881209" y="5753402"/>
            <a:ext cx="1378857" cy="751743"/>
          </a:xfrm>
          <a:prstGeom prst="bentArrow">
            <a:avLst>
              <a:gd name="adj1" fmla="val 36585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2" name="右彎箭號 21"/>
          <p:cNvSpPr/>
          <p:nvPr/>
        </p:nvSpPr>
        <p:spPr>
          <a:xfrm rot="16200000">
            <a:off x="2154214" y="5340912"/>
            <a:ext cx="968423" cy="1238252"/>
          </a:xfrm>
          <a:prstGeom prst="bentArrow">
            <a:avLst>
              <a:gd name="adj1" fmla="val 28061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7424968" y="3414758"/>
            <a:ext cx="1690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Can repeat many times</a:t>
            </a:r>
            <a:endParaRPr lang="zh-TW" altLang="en-US" sz="2400" dirty="0"/>
          </a:p>
        </p:txBody>
      </p:sp>
      <p:sp>
        <p:nvSpPr>
          <p:cNvPr id="23" name="左大括弧 22"/>
          <p:cNvSpPr/>
          <p:nvPr/>
        </p:nvSpPr>
        <p:spPr>
          <a:xfrm flipH="1">
            <a:off x="7026249" y="1806541"/>
            <a:ext cx="334434" cy="4047433"/>
          </a:xfrm>
          <a:prstGeom prst="leftBrace">
            <a:avLst>
              <a:gd name="adj1" fmla="val 72890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5169420" y="2977281"/>
            <a:ext cx="1856830" cy="69651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/>
          <p:cNvSpPr/>
          <p:nvPr/>
        </p:nvSpPr>
        <p:spPr>
          <a:xfrm>
            <a:off x="5169420" y="5080581"/>
            <a:ext cx="1856830" cy="69651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5DA8F0-E7A1-4CCE-BF8B-7B3B7A268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5916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CNN – Max Pooling</a:t>
            </a:r>
            <a:endParaRPr lang="zh-TW" altLang="en-US" dirty="0"/>
          </a:p>
        </p:txBody>
      </p:sp>
      <p:sp>
        <p:nvSpPr>
          <p:cNvPr id="12" name="橢圓 11"/>
          <p:cNvSpPr/>
          <p:nvPr/>
        </p:nvSpPr>
        <p:spPr>
          <a:xfrm>
            <a:off x="895269" y="3285294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13" name="橢圓 12"/>
          <p:cNvSpPr/>
          <p:nvPr/>
        </p:nvSpPr>
        <p:spPr>
          <a:xfrm>
            <a:off x="1737098" y="3285294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4" name="橢圓 13"/>
          <p:cNvSpPr/>
          <p:nvPr/>
        </p:nvSpPr>
        <p:spPr>
          <a:xfrm>
            <a:off x="2578927" y="3285294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15" name="橢圓 14"/>
          <p:cNvSpPr/>
          <p:nvPr/>
        </p:nvSpPr>
        <p:spPr>
          <a:xfrm>
            <a:off x="3420756" y="3285294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6" name="橢圓 15"/>
          <p:cNvSpPr/>
          <p:nvPr/>
        </p:nvSpPr>
        <p:spPr>
          <a:xfrm>
            <a:off x="895269" y="4085394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17" name="橢圓 16"/>
          <p:cNvSpPr/>
          <p:nvPr/>
        </p:nvSpPr>
        <p:spPr>
          <a:xfrm>
            <a:off x="1737098" y="4085394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18" name="橢圓 17"/>
          <p:cNvSpPr/>
          <p:nvPr/>
        </p:nvSpPr>
        <p:spPr>
          <a:xfrm>
            <a:off x="2578927" y="4085394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19" name="橢圓 18"/>
          <p:cNvSpPr/>
          <p:nvPr/>
        </p:nvSpPr>
        <p:spPr>
          <a:xfrm>
            <a:off x="3420756" y="4085394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20" name="橢圓 19"/>
          <p:cNvSpPr/>
          <p:nvPr/>
        </p:nvSpPr>
        <p:spPr>
          <a:xfrm>
            <a:off x="895269" y="494316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21" name="橢圓 20"/>
          <p:cNvSpPr/>
          <p:nvPr/>
        </p:nvSpPr>
        <p:spPr>
          <a:xfrm>
            <a:off x="1737098" y="494316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22" name="橢圓 21"/>
          <p:cNvSpPr/>
          <p:nvPr/>
        </p:nvSpPr>
        <p:spPr>
          <a:xfrm>
            <a:off x="2578927" y="494316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23" name="橢圓 22"/>
          <p:cNvSpPr/>
          <p:nvPr/>
        </p:nvSpPr>
        <p:spPr>
          <a:xfrm>
            <a:off x="3420756" y="494316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24" name="橢圓 23"/>
          <p:cNvSpPr/>
          <p:nvPr/>
        </p:nvSpPr>
        <p:spPr>
          <a:xfrm>
            <a:off x="895269" y="574326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25" name="橢圓 24"/>
          <p:cNvSpPr/>
          <p:nvPr/>
        </p:nvSpPr>
        <p:spPr>
          <a:xfrm>
            <a:off x="1737098" y="574326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26" name="橢圓 25"/>
          <p:cNvSpPr/>
          <p:nvPr/>
        </p:nvSpPr>
        <p:spPr>
          <a:xfrm>
            <a:off x="2578927" y="574326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27" name="橢圓 26"/>
          <p:cNvSpPr/>
          <p:nvPr/>
        </p:nvSpPr>
        <p:spPr>
          <a:xfrm>
            <a:off x="3420756" y="574326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graphicFrame>
        <p:nvGraphicFramePr>
          <p:cNvPr id="35" name="表格 34"/>
          <p:cNvGraphicFramePr>
            <a:graphicFrameLocks noGrp="1"/>
          </p:cNvGraphicFramePr>
          <p:nvPr/>
        </p:nvGraphicFramePr>
        <p:xfrm>
          <a:off x="5711842" y="1617399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6" name="文字方塊 35"/>
          <p:cNvSpPr txBox="1"/>
          <p:nvPr/>
        </p:nvSpPr>
        <p:spPr>
          <a:xfrm>
            <a:off x="7200612" y="2086626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Filter 2</a:t>
            </a:r>
            <a:endParaRPr lang="zh-TW" altLang="en-US" sz="2400" dirty="0"/>
          </a:p>
        </p:txBody>
      </p:sp>
      <p:sp>
        <p:nvSpPr>
          <p:cNvPr id="42" name="橢圓 41"/>
          <p:cNvSpPr/>
          <p:nvPr/>
        </p:nvSpPr>
        <p:spPr>
          <a:xfrm>
            <a:off x="5064249" y="3354180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43" name="橢圓 42"/>
          <p:cNvSpPr/>
          <p:nvPr/>
        </p:nvSpPr>
        <p:spPr>
          <a:xfrm>
            <a:off x="5906078" y="3354180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44" name="橢圓 43"/>
          <p:cNvSpPr/>
          <p:nvPr/>
        </p:nvSpPr>
        <p:spPr>
          <a:xfrm>
            <a:off x="6747907" y="3354180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45" name="橢圓 44"/>
          <p:cNvSpPr/>
          <p:nvPr/>
        </p:nvSpPr>
        <p:spPr>
          <a:xfrm>
            <a:off x="7589736" y="3354180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46" name="橢圓 45"/>
          <p:cNvSpPr/>
          <p:nvPr/>
        </p:nvSpPr>
        <p:spPr>
          <a:xfrm>
            <a:off x="5064249" y="4154280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47" name="橢圓 46"/>
          <p:cNvSpPr/>
          <p:nvPr/>
        </p:nvSpPr>
        <p:spPr>
          <a:xfrm>
            <a:off x="5906078" y="4154280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48" name="橢圓 47"/>
          <p:cNvSpPr/>
          <p:nvPr/>
        </p:nvSpPr>
        <p:spPr>
          <a:xfrm>
            <a:off x="6747907" y="4154280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49" name="橢圓 48"/>
          <p:cNvSpPr/>
          <p:nvPr/>
        </p:nvSpPr>
        <p:spPr>
          <a:xfrm>
            <a:off x="7589736" y="4154280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50" name="橢圓 49"/>
          <p:cNvSpPr/>
          <p:nvPr/>
        </p:nvSpPr>
        <p:spPr>
          <a:xfrm>
            <a:off x="5064249" y="5012052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51" name="橢圓 50"/>
          <p:cNvSpPr/>
          <p:nvPr/>
        </p:nvSpPr>
        <p:spPr>
          <a:xfrm>
            <a:off x="5906078" y="5012052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52" name="橢圓 51"/>
          <p:cNvSpPr/>
          <p:nvPr/>
        </p:nvSpPr>
        <p:spPr>
          <a:xfrm>
            <a:off x="6747907" y="5012052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-2</a:t>
            </a:r>
            <a:endParaRPr lang="zh-TW" altLang="en-US" sz="2400" dirty="0"/>
          </a:p>
        </p:txBody>
      </p:sp>
      <p:sp>
        <p:nvSpPr>
          <p:cNvPr id="53" name="橢圓 52"/>
          <p:cNvSpPr/>
          <p:nvPr/>
        </p:nvSpPr>
        <p:spPr>
          <a:xfrm>
            <a:off x="7589736" y="5012052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54" name="橢圓 53"/>
          <p:cNvSpPr/>
          <p:nvPr/>
        </p:nvSpPr>
        <p:spPr>
          <a:xfrm>
            <a:off x="5064249" y="5812152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55" name="橢圓 54"/>
          <p:cNvSpPr/>
          <p:nvPr/>
        </p:nvSpPr>
        <p:spPr>
          <a:xfrm>
            <a:off x="5906078" y="5812152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56" name="橢圓 55"/>
          <p:cNvSpPr/>
          <p:nvPr/>
        </p:nvSpPr>
        <p:spPr>
          <a:xfrm>
            <a:off x="6747907" y="5812152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-4</a:t>
            </a:r>
            <a:endParaRPr lang="zh-TW" altLang="en-US" sz="2400" dirty="0"/>
          </a:p>
        </p:txBody>
      </p:sp>
      <p:sp>
        <p:nvSpPr>
          <p:cNvPr id="57" name="橢圓 56"/>
          <p:cNvSpPr/>
          <p:nvPr/>
        </p:nvSpPr>
        <p:spPr>
          <a:xfrm>
            <a:off x="7589736" y="5812152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graphicFrame>
        <p:nvGraphicFramePr>
          <p:cNvPr id="58" name="表格 57"/>
          <p:cNvGraphicFramePr>
            <a:graphicFrameLocks noGrp="1"/>
          </p:cNvGraphicFramePr>
          <p:nvPr/>
        </p:nvGraphicFramePr>
        <p:xfrm>
          <a:off x="1706936" y="1617399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9" name="文字方塊 58"/>
          <p:cNvSpPr txBox="1"/>
          <p:nvPr/>
        </p:nvSpPr>
        <p:spPr>
          <a:xfrm>
            <a:off x="3329090" y="2072366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Filter 1</a:t>
            </a:r>
            <a:endParaRPr lang="zh-TW" altLang="en-US" sz="2400" dirty="0"/>
          </a:p>
        </p:txBody>
      </p:sp>
      <p:sp>
        <p:nvSpPr>
          <p:cNvPr id="3" name="矩形 2"/>
          <p:cNvSpPr/>
          <p:nvPr/>
        </p:nvSpPr>
        <p:spPr>
          <a:xfrm>
            <a:off x="895269" y="3285294"/>
            <a:ext cx="1561830" cy="15201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矩形 67"/>
          <p:cNvSpPr/>
          <p:nvPr/>
        </p:nvSpPr>
        <p:spPr>
          <a:xfrm>
            <a:off x="2578926" y="3285294"/>
            <a:ext cx="1561830" cy="15201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矩形 68"/>
          <p:cNvSpPr/>
          <p:nvPr/>
        </p:nvSpPr>
        <p:spPr>
          <a:xfrm>
            <a:off x="895269" y="4940857"/>
            <a:ext cx="1561830" cy="15201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矩形 69"/>
          <p:cNvSpPr/>
          <p:nvPr/>
        </p:nvSpPr>
        <p:spPr>
          <a:xfrm>
            <a:off x="2578926" y="4940857"/>
            <a:ext cx="1561830" cy="15201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矩形 70"/>
          <p:cNvSpPr/>
          <p:nvPr/>
        </p:nvSpPr>
        <p:spPr>
          <a:xfrm>
            <a:off x="5064250" y="3325344"/>
            <a:ext cx="1561830" cy="1520100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矩形 71"/>
          <p:cNvSpPr/>
          <p:nvPr/>
        </p:nvSpPr>
        <p:spPr>
          <a:xfrm>
            <a:off x="6747907" y="3325344"/>
            <a:ext cx="1561830" cy="1520100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矩形 72"/>
          <p:cNvSpPr/>
          <p:nvPr/>
        </p:nvSpPr>
        <p:spPr>
          <a:xfrm>
            <a:off x="5064250" y="4980907"/>
            <a:ext cx="1561830" cy="1520100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矩形 73"/>
          <p:cNvSpPr/>
          <p:nvPr/>
        </p:nvSpPr>
        <p:spPr>
          <a:xfrm>
            <a:off x="6747907" y="4980907"/>
            <a:ext cx="1561830" cy="1520100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E4D37E-E405-45A7-94E0-C6FAF1A3E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9843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4" grpId="0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36" grpId="0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8" grpId="0" animBg="1"/>
      <p:bldP spid="48" grpId="1" animBg="1"/>
      <p:bldP spid="49" grpId="0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  <p:bldP spid="55" grpId="0" animBg="1"/>
      <p:bldP spid="56" grpId="0" animBg="1"/>
      <p:bldP spid="56" grpId="1" animBg="1"/>
      <p:bldP spid="57" grpId="0" animBg="1"/>
      <p:bldP spid="59" grpId="0"/>
      <p:bldP spid="3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CNN – Max Pooling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/>
          </p:cNvGraphicFramePr>
          <p:nvPr/>
        </p:nvGraphicFramePr>
        <p:xfrm>
          <a:off x="338635" y="2503457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602107" y="5493365"/>
            <a:ext cx="2347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6 x 6 image</a:t>
            </a:r>
            <a:endParaRPr lang="zh-TW" altLang="en-US" sz="2400" dirty="0"/>
          </a:p>
        </p:txBody>
      </p:sp>
      <p:sp>
        <p:nvSpPr>
          <p:cNvPr id="6" name="橢圓 5"/>
          <p:cNvSpPr/>
          <p:nvPr/>
        </p:nvSpPr>
        <p:spPr>
          <a:xfrm>
            <a:off x="6598679" y="3086837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7" name="橢圓 6"/>
          <p:cNvSpPr/>
          <p:nvPr/>
        </p:nvSpPr>
        <p:spPr>
          <a:xfrm>
            <a:off x="7570286" y="3086837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8" name="橢圓 7"/>
          <p:cNvSpPr/>
          <p:nvPr/>
        </p:nvSpPr>
        <p:spPr>
          <a:xfrm>
            <a:off x="7570286" y="419513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9" name="橢圓 8"/>
          <p:cNvSpPr/>
          <p:nvPr/>
        </p:nvSpPr>
        <p:spPr>
          <a:xfrm>
            <a:off x="6598679" y="419513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10" name="橢圓 9"/>
          <p:cNvSpPr/>
          <p:nvPr/>
        </p:nvSpPr>
        <p:spPr>
          <a:xfrm>
            <a:off x="6788771" y="3303596"/>
            <a:ext cx="720000" cy="72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11" name="橢圓 10"/>
          <p:cNvSpPr/>
          <p:nvPr/>
        </p:nvSpPr>
        <p:spPr>
          <a:xfrm>
            <a:off x="7795350" y="3281294"/>
            <a:ext cx="720000" cy="72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12" name="橢圓 11"/>
          <p:cNvSpPr/>
          <p:nvPr/>
        </p:nvSpPr>
        <p:spPr>
          <a:xfrm>
            <a:off x="7795350" y="4352180"/>
            <a:ext cx="720000" cy="72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13" name="橢圓 12"/>
          <p:cNvSpPr/>
          <p:nvPr/>
        </p:nvSpPr>
        <p:spPr>
          <a:xfrm>
            <a:off x="6803112" y="4354671"/>
            <a:ext cx="720000" cy="720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6425893" y="5185949"/>
            <a:ext cx="2347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2 x 2 image</a:t>
            </a:r>
            <a:endParaRPr lang="zh-TW" altLang="en-US" sz="24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6436727" y="5699909"/>
            <a:ext cx="22671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Each filter </a:t>
            </a:r>
          </a:p>
          <a:p>
            <a:pPr algn="ctr"/>
            <a:r>
              <a:rPr lang="en-US" altLang="zh-TW" sz="2800" dirty="0">
                <a:solidFill>
                  <a:srgbClr val="0000FF"/>
                </a:solidFill>
              </a:rPr>
              <a:t>is a channel</a:t>
            </a:r>
            <a:endParaRPr lang="zh-TW" altLang="en-US" sz="2800" dirty="0">
              <a:solidFill>
                <a:srgbClr val="0000FF"/>
              </a:solidFill>
            </a:endParaRPr>
          </a:p>
        </p:txBody>
      </p:sp>
      <p:sp>
        <p:nvSpPr>
          <p:cNvPr id="16" name="向右箭號 15"/>
          <p:cNvSpPr/>
          <p:nvPr/>
        </p:nvSpPr>
        <p:spPr>
          <a:xfrm>
            <a:off x="3152252" y="2729341"/>
            <a:ext cx="859387" cy="84697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6436727" y="1957287"/>
            <a:ext cx="22807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New image </a:t>
            </a:r>
          </a:p>
          <a:p>
            <a:pPr algn="ctr"/>
            <a:r>
              <a:rPr lang="en-US" altLang="zh-TW" sz="2800" dirty="0"/>
              <a:t>but smaller</a:t>
            </a:r>
            <a:endParaRPr lang="zh-TW" altLang="en-US" sz="2800" dirty="0"/>
          </a:p>
        </p:txBody>
      </p:sp>
      <p:sp>
        <p:nvSpPr>
          <p:cNvPr id="19" name="矩形 18"/>
          <p:cNvSpPr/>
          <p:nvPr/>
        </p:nvSpPr>
        <p:spPr>
          <a:xfrm>
            <a:off x="4014707" y="2610493"/>
            <a:ext cx="1375221" cy="106705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Conv</a:t>
            </a:r>
            <a:endParaRPr lang="zh-TW" altLang="en-US" sz="2800" dirty="0"/>
          </a:p>
        </p:txBody>
      </p:sp>
      <p:sp>
        <p:nvSpPr>
          <p:cNvPr id="20" name="矩形 19"/>
          <p:cNvSpPr/>
          <p:nvPr/>
        </p:nvSpPr>
        <p:spPr>
          <a:xfrm>
            <a:off x="4011639" y="4187992"/>
            <a:ext cx="1378290" cy="106705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Max</a:t>
            </a:r>
          </a:p>
          <a:p>
            <a:pPr algn="ctr"/>
            <a:r>
              <a:rPr lang="en-US" altLang="zh-TW" sz="2800" dirty="0"/>
              <a:t>Pooling</a:t>
            </a:r>
            <a:endParaRPr lang="zh-TW" altLang="en-US" sz="2800" dirty="0"/>
          </a:p>
        </p:txBody>
      </p:sp>
      <p:sp>
        <p:nvSpPr>
          <p:cNvPr id="21" name="向右箭號 20"/>
          <p:cNvSpPr/>
          <p:nvPr/>
        </p:nvSpPr>
        <p:spPr>
          <a:xfrm>
            <a:off x="5378125" y="4289228"/>
            <a:ext cx="859387" cy="84697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向右箭號 21"/>
          <p:cNvSpPr/>
          <p:nvPr/>
        </p:nvSpPr>
        <p:spPr>
          <a:xfrm rot="5400000">
            <a:off x="4454982" y="3518705"/>
            <a:ext cx="491601" cy="84697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0D1173-A40E-44E1-8ABA-1787E2EB8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6161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whole CNN</a:t>
            </a:r>
            <a:endParaRPr lang="zh-TW" altLang="en-US" dirty="0"/>
          </a:p>
        </p:txBody>
      </p:sp>
      <p:pic>
        <p:nvPicPr>
          <p:cNvPr id="12290" name="Picture 2" descr="http://s.hswstatic.com/gif/whiskers-sa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5642" y="191529"/>
            <a:ext cx="1771005" cy="1204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/>
          <p:cNvSpPr/>
          <p:nvPr/>
        </p:nvSpPr>
        <p:spPr>
          <a:xfrm>
            <a:off x="5249923" y="1929505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Convolution</a:t>
            </a:r>
            <a:endParaRPr lang="zh-TW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5249923" y="3029517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Max Pooling</a:t>
            </a:r>
            <a:endParaRPr lang="zh-TW" altLang="en-US" sz="2400" dirty="0"/>
          </a:p>
        </p:txBody>
      </p:sp>
      <p:sp>
        <p:nvSpPr>
          <p:cNvPr id="14" name="矩形 13"/>
          <p:cNvSpPr/>
          <p:nvPr/>
        </p:nvSpPr>
        <p:spPr>
          <a:xfrm>
            <a:off x="5249923" y="4097730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Convolution</a:t>
            </a:r>
            <a:endParaRPr lang="zh-TW" altLang="en-US" sz="2400" dirty="0"/>
          </a:p>
        </p:txBody>
      </p:sp>
      <p:sp>
        <p:nvSpPr>
          <p:cNvPr id="15" name="矩形 14"/>
          <p:cNvSpPr/>
          <p:nvPr/>
        </p:nvSpPr>
        <p:spPr>
          <a:xfrm>
            <a:off x="5249923" y="5130982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Max Pooling</a:t>
            </a:r>
            <a:endParaRPr lang="zh-TW" altLang="en-US" sz="2400" dirty="0"/>
          </a:p>
        </p:txBody>
      </p:sp>
      <p:sp>
        <p:nvSpPr>
          <p:cNvPr id="12" name="向下箭號 11"/>
          <p:cNvSpPr/>
          <p:nvPr/>
        </p:nvSpPr>
        <p:spPr>
          <a:xfrm>
            <a:off x="5869620" y="1451760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向下箭號 17"/>
          <p:cNvSpPr/>
          <p:nvPr/>
        </p:nvSpPr>
        <p:spPr>
          <a:xfrm>
            <a:off x="5869620" y="2562542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向下箭號 18"/>
          <p:cNvSpPr/>
          <p:nvPr/>
        </p:nvSpPr>
        <p:spPr>
          <a:xfrm>
            <a:off x="5869620" y="3654185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向下箭號 19"/>
          <p:cNvSpPr/>
          <p:nvPr/>
        </p:nvSpPr>
        <p:spPr>
          <a:xfrm>
            <a:off x="5869620" y="4689178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/>
          <p:cNvSpPr txBox="1"/>
          <p:nvPr/>
        </p:nvSpPr>
        <p:spPr>
          <a:xfrm>
            <a:off x="7424968" y="3414758"/>
            <a:ext cx="1690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Can repeat many times</a:t>
            </a:r>
            <a:endParaRPr lang="zh-TW" altLang="en-US" sz="2400" dirty="0"/>
          </a:p>
        </p:txBody>
      </p:sp>
      <p:sp>
        <p:nvSpPr>
          <p:cNvPr id="23" name="左大括弧 22"/>
          <p:cNvSpPr/>
          <p:nvPr/>
        </p:nvSpPr>
        <p:spPr>
          <a:xfrm flipH="1">
            <a:off x="7026249" y="1806541"/>
            <a:ext cx="334434" cy="4047433"/>
          </a:xfrm>
          <a:prstGeom prst="leftBrace">
            <a:avLst>
              <a:gd name="adj1" fmla="val 72890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/>
          <p:cNvSpPr/>
          <p:nvPr/>
        </p:nvSpPr>
        <p:spPr>
          <a:xfrm>
            <a:off x="5189870" y="1848547"/>
            <a:ext cx="1856830" cy="189920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/>
          <p:cNvSpPr txBox="1"/>
          <p:nvPr/>
        </p:nvSpPr>
        <p:spPr>
          <a:xfrm>
            <a:off x="1381456" y="3568646"/>
            <a:ext cx="2097183" cy="52322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800" dirty="0"/>
              <a:t>A new image</a:t>
            </a:r>
            <a:endParaRPr lang="zh-TW" altLang="en-US" sz="28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574351" y="5210416"/>
            <a:ext cx="42895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The number of the channel is the number of filters</a:t>
            </a:r>
            <a:endParaRPr lang="zh-TW" altLang="en-US" sz="28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574351" y="4250781"/>
            <a:ext cx="42499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Smaller than the original image</a:t>
            </a:r>
            <a:endParaRPr lang="zh-TW" altLang="en-US" sz="2800" dirty="0"/>
          </a:p>
        </p:txBody>
      </p:sp>
      <p:cxnSp>
        <p:nvCxnSpPr>
          <p:cNvPr id="7" name="直線單箭頭接點 6"/>
          <p:cNvCxnSpPr/>
          <p:nvPr/>
        </p:nvCxnSpPr>
        <p:spPr>
          <a:xfrm flipH="1">
            <a:off x="3534847" y="3875087"/>
            <a:ext cx="2270077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5189870" y="4002423"/>
            <a:ext cx="1856830" cy="189920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" name="群組 7"/>
          <p:cNvGrpSpPr/>
          <p:nvPr/>
        </p:nvGrpSpPr>
        <p:grpSpPr>
          <a:xfrm>
            <a:off x="1561968" y="1612084"/>
            <a:ext cx="1947915" cy="1771562"/>
            <a:chOff x="1561968" y="1612084"/>
            <a:chExt cx="1947915" cy="1771562"/>
          </a:xfrm>
        </p:grpSpPr>
        <p:sp>
          <p:nvSpPr>
            <p:cNvPr id="30" name="橢圓 29"/>
            <p:cNvSpPr/>
            <p:nvPr/>
          </p:nvSpPr>
          <p:spPr>
            <a:xfrm>
              <a:off x="1593212" y="161208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3</a:t>
              </a:r>
              <a:endParaRPr lang="zh-TW" altLang="en-US" sz="2400" dirty="0"/>
            </a:p>
          </p:txBody>
        </p:sp>
        <p:sp>
          <p:nvSpPr>
            <p:cNvPr id="31" name="橢圓 30"/>
            <p:cNvSpPr/>
            <p:nvPr/>
          </p:nvSpPr>
          <p:spPr>
            <a:xfrm>
              <a:off x="2564819" y="161208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0</a:t>
              </a:r>
              <a:endParaRPr lang="zh-TW" altLang="en-US" sz="2400" dirty="0"/>
            </a:p>
          </p:txBody>
        </p:sp>
        <p:sp>
          <p:nvSpPr>
            <p:cNvPr id="32" name="橢圓 31"/>
            <p:cNvSpPr/>
            <p:nvPr/>
          </p:nvSpPr>
          <p:spPr>
            <a:xfrm>
              <a:off x="2533575" y="2504111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1</a:t>
              </a:r>
              <a:endParaRPr lang="zh-TW" altLang="en-US" sz="2400" dirty="0"/>
            </a:p>
          </p:txBody>
        </p:sp>
        <p:sp>
          <p:nvSpPr>
            <p:cNvPr id="33" name="橢圓 32"/>
            <p:cNvSpPr/>
            <p:nvPr/>
          </p:nvSpPr>
          <p:spPr>
            <a:xfrm>
              <a:off x="1561968" y="2504111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3</a:t>
              </a:r>
              <a:endParaRPr lang="zh-TW" altLang="en-US" sz="2400" dirty="0"/>
            </a:p>
          </p:txBody>
        </p:sp>
        <p:sp>
          <p:nvSpPr>
            <p:cNvPr id="34" name="橢圓 33"/>
            <p:cNvSpPr/>
            <p:nvPr/>
          </p:nvSpPr>
          <p:spPr>
            <a:xfrm>
              <a:off x="1783304" y="1828843"/>
              <a:ext cx="720000" cy="720000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-1</a:t>
              </a:r>
              <a:endParaRPr lang="zh-TW" altLang="en-US" sz="2400" dirty="0"/>
            </a:p>
          </p:txBody>
        </p:sp>
        <p:sp>
          <p:nvSpPr>
            <p:cNvPr id="35" name="橢圓 34"/>
            <p:cNvSpPr/>
            <p:nvPr/>
          </p:nvSpPr>
          <p:spPr>
            <a:xfrm>
              <a:off x="2789883" y="1806541"/>
              <a:ext cx="720000" cy="720000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1</a:t>
              </a:r>
              <a:endParaRPr lang="zh-TW" altLang="en-US" sz="2400" dirty="0"/>
            </a:p>
          </p:txBody>
        </p:sp>
        <p:sp>
          <p:nvSpPr>
            <p:cNvPr id="36" name="橢圓 35"/>
            <p:cNvSpPr/>
            <p:nvPr/>
          </p:nvSpPr>
          <p:spPr>
            <a:xfrm>
              <a:off x="2758639" y="2661155"/>
              <a:ext cx="720000" cy="720000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3</a:t>
              </a:r>
              <a:endParaRPr lang="zh-TW" altLang="en-US" sz="2400" dirty="0"/>
            </a:p>
          </p:txBody>
        </p:sp>
        <p:sp>
          <p:nvSpPr>
            <p:cNvPr id="37" name="橢圓 36"/>
            <p:cNvSpPr/>
            <p:nvPr/>
          </p:nvSpPr>
          <p:spPr>
            <a:xfrm>
              <a:off x="1766401" y="2663646"/>
              <a:ext cx="720000" cy="720000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0</a:t>
              </a:r>
              <a:endParaRPr lang="zh-TW" altLang="en-US" sz="2400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5B7639-3D07-4FA5-ABBD-32023D54D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9495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5" grpId="0" animBg="1"/>
      <p:bldP spid="27" grpId="0"/>
      <p:bldP spid="28" grpId="0"/>
      <p:bldP spid="2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whole CNN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749703" y="2274347"/>
            <a:ext cx="2906568" cy="3201477"/>
            <a:chOff x="-1626455" y="3999117"/>
            <a:chExt cx="2906568" cy="3201477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 flipH="1">
              <a:off x="-1736746" y="4748962"/>
              <a:ext cx="3201477" cy="1701788"/>
            </a:xfrm>
            <a:prstGeom prst="rect">
              <a:avLst/>
            </a:prstGeom>
          </p:spPr>
        </p:pic>
        <p:sp>
          <p:nvSpPr>
            <p:cNvPr id="6" name="文字方塊 5"/>
            <p:cNvSpPr txBox="1"/>
            <p:nvPr/>
          </p:nvSpPr>
          <p:spPr>
            <a:xfrm>
              <a:off x="-1626455" y="5442856"/>
              <a:ext cx="2906568" cy="830997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Fully Connected Feedforward network</a:t>
              </a:r>
              <a:endParaRPr lang="zh-TW" altLang="en-US" sz="2400" dirty="0"/>
            </a:p>
          </p:txBody>
        </p:sp>
      </p:grpSp>
      <p:pic>
        <p:nvPicPr>
          <p:cNvPr id="12290" name="Picture 2" descr="http://s.hswstatic.com/gif/whiskers-sam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5642" y="191529"/>
            <a:ext cx="1771005" cy="1204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1277455" y="1705969"/>
            <a:ext cx="2046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cat dog ……</a:t>
            </a:r>
            <a:endParaRPr lang="zh-TW" altLang="en-US" sz="2400" dirty="0"/>
          </a:p>
        </p:txBody>
      </p:sp>
      <p:sp>
        <p:nvSpPr>
          <p:cNvPr id="11" name="矩形 10"/>
          <p:cNvSpPr/>
          <p:nvPr/>
        </p:nvSpPr>
        <p:spPr>
          <a:xfrm>
            <a:off x="5249923" y="1929505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Convolution</a:t>
            </a:r>
            <a:endParaRPr lang="zh-TW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5249923" y="3029517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Max Pooling</a:t>
            </a:r>
            <a:endParaRPr lang="zh-TW" altLang="en-US" sz="2400" dirty="0"/>
          </a:p>
        </p:txBody>
      </p:sp>
      <p:sp>
        <p:nvSpPr>
          <p:cNvPr id="14" name="矩形 13"/>
          <p:cNvSpPr/>
          <p:nvPr/>
        </p:nvSpPr>
        <p:spPr>
          <a:xfrm>
            <a:off x="5249923" y="4097730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Convolution</a:t>
            </a:r>
            <a:endParaRPr lang="zh-TW" altLang="en-US" sz="2400" dirty="0"/>
          </a:p>
        </p:txBody>
      </p:sp>
      <p:sp>
        <p:nvSpPr>
          <p:cNvPr id="15" name="矩形 14"/>
          <p:cNvSpPr/>
          <p:nvPr/>
        </p:nvSpPr>
        <p:spPr>
          <a:xfrm>
            <a:off x="5249923" y="5130982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Max Pooling</a:t>
            </a:r>
            <a:endParaRPr lang="zh-TW" altLang="en-US" sz="24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3324218" y="6055666"/>
            <a:ext cx="1556991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Flatten</a:t>
            </a:r>
            <a:endParaRPr lang="zh-TW" altLang="en-US" sz="2400" dirty="0"/>
          </a:p>
        </p:txBody>
      </p:sp>
      <p:sp>
        <p:nvSpPr>
          <p:cNvPr id="12" name="向下箭號 11"/>
          <p:cNvSpPr/>
          <p:nvPr/>
        </p:nvSpPr>
        <p:spPr>
          <a:xfrm>
            <a:off x="5869620" y="1451760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向下箭號 17"/>
          <p:cNvSpPr/>
          <p:nvPr/>
        </p:nvSpPr>
        <p:spPr>
          <a:xfrm>
            <a:off x="5869620" y="2562542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向下箭號 18"/>
          <p:cNvSpPr/>
          <p:nvPr/>
        </p:nvSpPr>
        <p:spPr>
          <a:xfrm>
            <a:off x="5869620" y="3654185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向下箭號 19"/>
          <p:cNvSpPr/>
          <p:nvPr/>
        </p:nvSpPr>
        <p:spPr>
          <a:xfrm>
            <a:off x="5869620" y="4689178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右彎箭號 16"/>
          <p:cNvSpPr/>
          <p:nvPr/>
        </p:nvSpPr>
        <p:spPr>
          <a:xfrm rot="10800000">
            <a:off x="4881209" y="5753402"/>
            <a:ext cx="1378857" cy="751743"/>
          </a:xfrm>
          <a:prstGeom prst="bentArrow">
            <a:avLst>
              <a:gd name="adj1" fmla="val 36585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2" name="右彎箭號 21"/>
          <p:cNvSpPr/>
          <p:nvPr/>
        </p:nvSpPr>
        <p:spPr>
          <a:xfrm rot="16200000">
            <a:off x="2154214" y="5340912"/>
            <a:ext cx="968423" cy="1238252"/>
          </a:xfrm>
          <a:prstGeom prst="bentArrow">
            <a:avLst>
              <a:gd name="adj1" fmla="val 28061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28650" y="2562542"/>
            <a:ext cx="4369145" cy="407221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/>
          <p:cNvSpPr txBox="1"/>
          <p:nvPr/>
        </p:nvSpPr>
        <p:spPr>
          <a:xfrm>
            <a:off x="6260066" y="3414978"/>
            <a:ext cx="2097183" cy="52322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800" dirty="0"/>
              <a:t>A new image</a:t>
            </a:r>
            <a:endParaRPr lang="zh-TW" altLang="en-US" sz="28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6155254" y="5630639"/>
            <a:ext cx="2097183" cy="52322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800" dirty="0"/>
              <a:t>A new image</a:t>
            </a:r>
            <a:endParaRPr lang="zh-TW" alt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1A2AAC-4B27-45F0-AFBD-E98AE1106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7816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Flatten</a:t>
            </a:r>
            <a:endParaRPr lang="zh-TW" altLang="en-US" dirty="0"/>
          </a:p>
        </p:txBody>
      </p:sp>
      <p:grpSp>
        <p:nvGrpSpPr>
          <p:cNvPr id="14" name="群組 13"/>
          <p:cNvGrpSpPr/>
          <p:nvPr/>
        </p:nvGrpSpPr>
        <p:grpSpPr>
          <a:xfrm>
            <a:off x="267012" y="2473538"/>
            <a:ext cx="1943214" cy="2049364"/>
            <a:chOff x="758373" y="2759289"/>
            <a:chExt cx="1943214" cy="2049364"/>
          </a:xfrm>
        </p:grpSpPr>
        <p:sp>
          <p:nvSpPr>
            <p:cNvPr id="6" name="橢圓 5"/>
            <p:cNvSpPr/>
            <p:nvPr/>
          </p:nvSpPr>
          <p:spPr>
            <a:xfrm>
              <a:off x="758373" y="2759289"/>
              <a:ext cx="720000" cy="720000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3</a:t>
              </a:r>
              <a:endParaRPr lang="zh-TW" altLang="en-US" sz="2400" dirty="0"/>
            </a:p>
          </p:txBody>
        </p:sp>
        <p:sp>
          <p:nvSpPr>
            <p:cNvPr id="7" name="橢圓 6"/>
            <p:cNvSpPr/>
            <p:nvPr/>
          </p:nvSpPr>
          <p:spPr>
            <a:xfrm>
              <a:off x="1729980" y="2759289"/>
              <a:ext cx="720000" cy="720000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0</a:t>
              </a:r>
              <a:endParaRPr lang="zh-TW" altLang="en-US" sz="2400" dirty="0"/>
            </a:p>
          </p:txBody>
        </p:sp>
        <p:sp>
          <p:nvSpPr>
            <p:cNvPr id="8" name="橢圓 7"/>
            <p:cNvSpPr/>
            <p:nvPr/>
          </p:nvSpPr>
          <p:spPr>
            <a:xfrm>
              <a:off x="1729980" y="3867588"/>
              <a:ext cx="720000" cy="720000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1</a:t>
              </a:r>
              <a:endParaRPr lang="zh-TW" altLang="en-US" sz="2400" dirty="0"/>
            </a:p>
          </p:txBody>
        </p:sp>
        <p:sp>
          <p:nvSpPr>
            <p:cNvPr id="9" name="橢圓 8"/>
            <p:cNvSpPr/>
            <p:nvPr/>
          </p:nvSpPr>
          <p:spPr>
            <a:xfrm>
              <a:off x="758373" y="3867588"/>
              <a:ext cx="720000" cy="720000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3</a:t>
              </a:r>
              <a:endParaRPr lang="zh-TW" altLang="en-US" sz="2400" dirty="0"/>
            </a:p>
          </p:txBody>
        </p:sp>
        <p:sp>
          <p:nvSpPr>
            <p:cNvPr id="10" name="橢圓 9"/>
            <p:cNvSpPr/>
            <p:nvPr/>
          </p:nvSpPr>
          <p:spPr>
            <a:xfrm>
              <a:off x="936506" y="2999566"/>
              <a:ext cx="720000" cy="720000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-1</a:t>
              </a:r>
              <a:endParaRPr lang="zh-TW" altLang="en-US" sz="2400" dirty="0"/>
            </a:p>
          </p:txBody>
        </p:sp>
        <p:sp>
          <p:nvSpPr>
            <p:cNvPr id="11" name="橢圓 10"/>
            <p:cNvSpPr/>
            <p:nvPr/>
          </p:nvSpPr>
          <p:spPr>
            <a:xfrm>
              <a:off x="1981587" y="2999566"/>
              <a:ext cx="720000" cy="720000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1</a:t>
              </a:r>
              <a:endParaRPr lang="zh-TW" altLang="en-US" sz="2400" dirty="0"/>
            </a:p>
          </p:txBody>
        </p:sp>
        <p:sp>
          <p:nvSpPr>
            <p:cNvPr id="12" name="橢圓 11"/>
            <p:cNvSpPr/>
            <p:nvPr/>
          </p:nvSpPr>
          <p:spPr>
            <a:xfrm>
              <a:off x="1981587" y="4088653"/>
              <a:ext cx="720000" cy="720000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3</a:t>
              </a:r>
              <a:endParaRPr lang="zh-TW" altLang="en-US" sz="2400" dirty="0"/>
            </a:p>
          </p:txBody>
        </p:sp>
        <p:sp>
          <p:nvSpPr>
            <p:cNvPr id="13" name="橢圓 12"/>
            <p:cNvSpPr/>
            <p:nvPr/>
          </p:nvSpPr>
          <p:spPr>
            <a:xfrm>
              <a:off x="962806" y="4027123"/>
              <a:ext cx="720000" cy="720000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0</a:t>
              </a:r>
              <a:endParaRPr lang="zh-TW" altLang="en-US" sz="2400" dirty="0"/>
            </a:p>
          </p:txBody>
        </p:sp>
      </p:grpSp>
      <p:sp>
        <p:nvSpPr>
          <p:cNvPr id="17" name="文字方塊 16"/>
          <p:cNvSpPr txBox="1"/>
          <p:nvPr/>
        </p:nvSpPr>
        <p:spPr>
          <a:xfrm>
            <a:off x="2509007" y="3902849"/>
            <a:ext cx="1364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Flatten</a:t>
            </a:r>
            <a:endParaRPr lang="zh-TW" altLang="en-US" sz="2800" dirty="0"/>
          </a:p>
        </p:txBody>
      </p:sp>
      <p:sp>
        <p:nvSpPr>
          <p:cNvPr id="21" name="橢圓 20"/>
          <p:cNvSpPr/>
          <p:nvPr/>
        </p:nvSpPr>
        <p:spPr>
          <a:xfrm>
            <a:off x="4212000" y="194885"/>
            <a:ext cx="720000" cy="72000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22" name="橢圓 21"/>
          <p:cNvSpPr/>
          <p:nvPr/>
        </p:nvSpPr>
        <p:spPr>
          <a:xfrm>
            <a:off x="4212000" y="1084384"/>
            <a:ext cx="720000" cy="72000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23" name="橢圓 22"/>
          <p:cNvSpPr/>
          <p:nvPr/>
        </p:nvSpPr>
        <p:spPr>
          <a:xfrm>
            <a:off x="4212000" y="1923284"/>
            <a:ext cx="720000" cy="72000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24" name="橢圓 23"/>
          <p:cNvSpPr/>
          <p:nvPr/>
        </p:nvSpPr>
        <p:spPr>
          <a:xfrm>
            <a:off x="4212000" y="2778220"/>
            <a:ext cx="720000" cy="72000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25" name="橢圓 24"/>
          <p:cNvSpPr/>
          <p:nvPr/>
        </p:nvSpPr>
        <p:spPr>
          <a:xfrm>
            <a:off x="4212000" y="3615067"/>
            <a:ext cx="720000" cy="720000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26" name="橢圓 25"/>
          <p:cNvSpPr/>
          <p:nvPr/>
        </p:nvSpPr>
        <p:spPr>
          <a:xfrm>
            <a:off x="4212000" y="4402756"/>
            <a:ext cx="720000" cy="720000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27" name="橢圓 26"/>
          <p:cNvSpPr/>
          <p:nvPr/>
        </p:nvSpPr>
        <p:spPr>
          <a:xfrm>
            <a:off x="4212000" y="5204579"/>
            <a:ext cx="720000" cy="720000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28" name="橢圓 27"/>
          <p:cNvSpPr/>
          <p:nvPr/>
        </p:nvSpPr>
        <p:spPr>
          <a:xfrm>
            <a:off x="4212000" y="6029276"/>
            <a:ext cx="720000" cy="720000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5" name="向右箭號 4"/>
          <p:cNvSpPr/>
          <p:nvPr/>
        </p:nvSpPr>
        <p:spPr>
          <a:xfrm>
            <a:off x="4987646" y="3190637"/>
            <a:ext cx="558279" cy="72872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向右箭號 32"/>
          <p:cNvSpPr/>
          <p:nvPr/>
        </p:nvSpPr>
        <p:spPr>
          <a:xfrm>
            <a:off x="7473525" y="3419072"/>
            <a:ext cx="558279" cy="72872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9" name="群組 28"/>
          <p:cNvGrpSpPr/>
          <p:nvPr/>
        </p:nvGrpSpPr>
        <p:grpSpPr>
          <a:xfrm>
            <a:off x="5601571" y="2724281"/>
            <a:ext cx="3201477" cy="2629618"/>
            <a:chOff x="-2630921" y="4440114"/>
            <a:chExt cx="3201477" cy="2629618"/>
          </a:xfrm>
        </p:grpSpPr>
        <p:pic>
          <p:nvPicPr>
            <p:cNvPr id="30" name="圖片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 flipH="1">
              <a:off x="-2630921" y="4440114"/>
              <a:ext cx="3201477" cy="1701788"/>
            </a:xfrm>
            <a:prstGeom prst="rect">
              <a:avLst/>
            </a:prstGeom>
          </p:spPr>
        </p:pic>
        <p:sp>
          <p:nvSpPr>
            <p:cNvPr id="31" name="文字方塊 30"/>
            <p:cNvSpPr txBox="1"/>
            <p:nvPr/>
          </p:nvSpPr>
          <p:spPr>
            <a:xfrm>
              <a:off x="-2630921" y="6238735"/>
              <a:ext cx="2906568" cy="830997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Fully Connected Feedforward network</a:t>
              </a:r>
              <a:endParaRPr lang="zh-TW" altLang="en-US" sz="2400" dirty="0"/>
            </a:p>
          </p:txBody>
        </p:sp>
      </p:grpSp>
      <p:sp>
        <p:nvSpPr>
          <p:cNvPr id="34" name="向右箭號 33"/>
          <p:cNvSpPr/>
          <p:nvPr/>
        </p:nvSpPr>
        <p:spPr>
          <a:xfrm>
            <a:off x="2325687" y="3202044"/>
            <a:ext cx="1832676" cy="72872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DC2CCF-8162-4C75-A8FE-9A7FC1373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974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5" grpId="0" animBg="1"/>
      <p:bldP spid="33" grpId="0" animBg="1"/>
      <p:bldP spid="3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A7FAE-F840-4156-7D01-EDB6CBBB2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Alphabet Recognition with CNN</a:t>
            </a:r>
          </a:p>
        </p:txBody>
      </p:sp>
      <p:pic>
        <p:nvPicPr>
          <p:cNvPr id="5" name="Online Media 4">
            <a:hlinkClick r:id="" action="ppaction://media"/>
            <a:extLst>
              <a:ext uri="{FF2B5EF4-FFF2-40B4-BE49-F238E27FC236}">
                <a16:creationId xmlns:a16="http://schemas.microsoft.com/office/drawing/2014/main" id="{42791E5A-EF32-C318-F296-10B6E547548B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722313" y="1825625"/>
            <a:ext cx="7700962" cy="435133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CF55ED-D85E-0B4B-7CCB-CB11F4A44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8064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A7FAE-F840-4156-7D01-EDB6CBBB2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123" y="2664573"/>
            <a:ext cx="5015754" cy="1325563"/>
          </a:xfrm>
        </p:spPr>
        <p:txBody>
          <a:bodyPr>
            <a:normAutofit/>
          </a:bodyPr>
          <a:lstStyle/>
          <a:p>
            <a:r>
              <a:rPr lang="en-US" dirty="0"/>
              <a:t>More about CCNs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CF55ED-D85E-0B4B-7CCB-CB11F4A44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1338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534110" y="265062"/>
            <a:ext cx="21067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b="1" i="1" u="sng" dirty="0"/>
              <a:t>CNN in </a:t>
            </a:r>
            <a:r>
              <a:rPr lang="en-US" altLang="zh-TW" sz="2800" b="1" i="1" u="sng" dirty="0" err="1"/>
              <a:t>Keras</a:t>
            </a:r>
            <a:endParaRPr lang="zh-TW" altLang="en-US" sz="2800" b="1" i="1" u="sng" dirty="0"/>
          </a:p>
        </p:txBody>
      </p:sp>
      <p:sp>
        <p:nvSpPr>
          <p:cNvPr id="29" name="矩形 28"/>
          <p:cNvSpPr/>
          <p:nvPr/>
        </p:nvSpPr>
        <p:spPr>
          <a:xfrm>
            <a:off x="6308508" y="1874056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Convolution</a:t>
            </a:r>
            <a:endParaRPr lang="zh-TW" altLang="en-US" sz="2400" dirty="0"/>
          </a:p>
        </p:txBody>
      </p:sp>
      <p:sp>
        <p:nvSpPr>
          <p:cNvPr id="30" name="矩形 29"/>
          <p:cNvSpPr/>
          <p:nvPr/>
        </p:nvSpPr>
        <p:spPr>
          <a:xfrm>
            <a:off x="6308508" y="2974068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Max Pooling</a:t>
            </a:r>
            <a:endParaRPr lang="zh-TW" altLang="en-US" sz="2400" dirty="0"/>
          </a:p>
        </p:txBody>
      </p:sp>
      <p:sp>
        <p:nvSpPr>
          <p:cNvPr id="31" name="矩形 30"/>
          <p:cNvSpPr/>
          <p:nvPr/>
        </p:nvSpPr>
        <p:spPr>
          <a:xfrm>
            <a:off x="6308508" y="4042281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Convolution</a:t>
            </a:r>
            <a:endParaRPr lang="zh-TW" altLang="en-US" sz="2400" dirty="0"/>
          </a:p>
        </p:txBody>
      </p:sp>
      <p:sp>
        <p:nvSpPr>
          <p:cNvPr id="32" name="矩形 31"/>
          <p:cNvSpPr/>
          <p:nvPr/>
        </p:nvSpPr>
        <p:spPr>
          <a:xfrm>
            <a:off x="6308508" y="5075533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Max Pooling</a:t>
            </a:r>
            <a:endParaRPr lang="zh-TW" altLang="en-US" sz="2400" dirty="0"/>
          </a:p>
        </p:txBody>
      </p:sp>
      <p:sp>
        <p:nvSpPr>
          <p:cNvPr id="34" name="向下箭號 11"/>
          <p:cNvSpPr/>
          <p:nvPr/>
        </p:nvSpPr>
        <p:spPr>
          <a:xfrm>
            <a:off x="6928205" y="1396311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向下箭號 17"/>
          <p:cNvSpPr/>
          <p:nvPr/>
        </p:nvSpPr>
        <p:spPr>
          <a:xfrm>
            <a:off x="6928205" y="2507093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向下箭號 18"/>
          <p:cNvSpPr/>
          <p:nvPr/>
        </p:nvSpPr>
        <p:spPr>
          <a:xfrm>
            <a:off x="6928205" y="3598736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向下箭號 19"/>
          <p:cNvSpPr/>
          <p:nvPr/>
        </p:nvSpPr>
        <p:spPr>
          <a:xfrm>
            <a:off x="6928205" y="4633729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文字方塊 41"/>
          <p:cNvSpPr txBox="1"/>
          <p:nvPr/>
        </p:nvSpPr>
        <p:spPr>
          <a:xfrm>
            <a:off x="6190457" y="972748"/>
            <a:ext cx="2046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input</a:t>
            </a:r>
            <a:endParaRPr lang="zh-TW" altLang="en-US" sz="2400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415" y="1451668"/>
            <a:ext cx="4867275" cy="552450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572" y="4697760"/>
            <a:ext cx="4171950" cy="266700"/>
          </a:xfrm>
          <a:prstGeom prst="rect">
            <a:avLst/>
          </a:prstGeom>
        </p:spPr>
      </p:pic>
      <p:cxnSp>
        <p:nvCxnSpPr>
          <p:cNvPr id="46" name="直線接點 45"/>
          <p:cNvCxnSpPr/>
          <p:nvPr/>
        </p:nvCxnSpPr>
        <p:spPr>
          <a:xfrm>
            <a:off x="2202602" y="1671305"/>
            <a:ext cx="1709530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>
            <a:off x="4128698" y="1671305"/>
            <a:ext cx="335470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4559811" y="1671305"/>
            <a:ext cx="167735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4815728" y="1672553"/>
            <a:ext cx="167735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2046048" y="1908773"/>
            <a:ext cx="2780861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5" name="表格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6050183"/>
              </p:ext>
            </p:extLst>
          </p:nvPr>
        </p:nvGraphicFramePr>
        <p:xfrm>
          <a:off x="723413" y="2204047"/>
          <a:ext cx="1382601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0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8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-1</a:t>
                      </a:r>
                      <a:endParaRPr lang="zh-TW" altLang="en-US" sz="1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-1</a:t>
                      </a:r>
                      <a:endParaRPr lang="zh-TW" altLang="en-US" sz="1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-1</a:t>
                      </a:r>
                      <a:endParaRPr lang="zh-TW" altLang="en-US" sz="1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-1</a:t>
                      </a:r>
                      <a:endParaRPr lang="zh-TW" altLang="en-US" sz="1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-1</a:t>
                      </a:r>
                      <a:endParaRPr lang="zh-TW" altLang="en-US" sz="1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-1</a:t>
                      </a:r>
                      <a:endParaRPr lang="zh-TW" altLang="en-US" sz="18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6" name="表格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726113"/>
              </p:ext>
            </p:extLst>
          </p:nvPr>
        </p:nvGraphicFramePr>
        <p:xfrm>
          <a:off x="1492451" y="2368009"/>
          <a:ext cx="1398729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6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2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2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-1</a:t>
                      </a:r>
                      <a:endParaRPr lang="zh-TW" altLang="en-US" sz="18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-1</a:t>
                      </a:r>
                      <a:endParaRPr lang="zh-TW" altLang="en-US" sz="18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-1</a:t>
                      </a:r>
                      <a:endParaRPr lang="zh-TW" altLang="en-US" sz="18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-1</a:t>
                      </a:r>
                      <a:endParaRPr lang="zh-TW" altLang="en-US" sz="18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-1</a:t>
                      </a:r>
                      <a:endParaRPr lang="zh-TW" altLang="en-US" sz="18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-1</a:t>
                      </a:r>
                      <a:endParaRPr lang="zh-TW" altLang="en-US" sz="18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7" name="文字方塊 56"/>
          <p:cNvSpPr txBox="1"/>
          <p:nvPr/>
        </p:nvSpPr>
        <p:spPr>
          <a:xfrm>
            <a:off x="3621426" y="2453104"/>
            <a:ext cx="18014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There are </a:t>
            </a:r>
            <a:r>
              <a:rPr lang="en-US" altLang="zh-TW" sz="2400" dirty="0">
                <a:solidFill>
                  <a:srgbClr val="FF0000"/>
                </a:solidFill>
              </a:rPr>
              <a:t>25</a:t>
            </a:r>
            <a:r>
              <a:rPr lang="en-US" altLang="zh-TW" sz="2400" dirty="0"/>
              <a:t> </a:t>
            </a:r>
            <a:r>
              <a:rPr lang="en-US" altLang="zh-TW" sz="2400" dirty="0">
                <a:solidFill>
                  <a:srgbClr val="FF0000"/>
                </a:solidFill>
              </a:rPr>
              <a:t>3x3</a:t>
            </a:r>
            <a:r>
              <a:rPr lang="en-US" altLang="zh-TW" sz="2400" dirty="0"/>
              <a:t> filters.</a:t>
            </a:r>
            <a:endParaRPr lang="zh-TW" altLang="en-US" sz="2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2927090" y="2521757"/>
            <a:ext cx="692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444773" y="3522805"/>
            <a:ext cx="3633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err="1"/>
              <a:t>Input_shape</a:t>
            </a:r>
            <a:r>
              <a:rPr lang="en-US" altLang="zh-TW" sz="2400" dirty="0"/>
              <a:t> = ( 1 , 28 , 28 )</a:t>
            </a:r>
            <a:endParaRPr lang="zh-TW" altLang="en-US" sz="2400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437329" y="3961662"/>
            <a:ext cx="3301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1: black/white, 3: RGB</a:t>
            </a:r>
            <a:endParaRPr lang="zh-TW" altLang="en-US" sz="24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3619310" y="3984470"/>
            <a:ext cx="2024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28 x 28 pixels</a:t>
            </a:r>
            <a:endParaRPr lang="zh-TW" altLang="en-US" sz="2400" dirty="0"/>
          </a:p>
        </p:txBody>
      </p:sp>
      <p:sp>
        <p:nvSpPr>
          <p:cNvPr id="62" name="橢圓 61"/>
          <p:cNvSpPr/>
          <p:nvPr/>
        </p:nvSpPr>
        <p:spPr>
          <a:xfrm>
            <a:off x="1652977" y="5117852"/>
            <a:ext cx="630000" cy="63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63" name="橢圓 62"/>
          <p:cNvSpPr/>
          <p:nvPr/>
        </p:nvSpPr>
        <p:spPr>
          <a:xfrm>
            <a:off x="2354073" y="5117852"/>
            <a:ext cx="630000" cy="63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-1</a:t>
            </a:r>
            <a:endParaRPr lang="zh-TW" altLang="en-US" sz="2400" dirty="0"/>
          </a:p>
        </p:txBody>
      </p:sp>
      <p:sp>
        <p:nvSpPr>
          <p:cNvPr id="64" name="橢圓 63"/>
          <p:cNvSpPr/>
          <p:nvPr/>
        </p:nvSpPr>
        <p:spPr>
          <a:xfrm>
            <a:off x="1645830" y="5838602"/>
            <a:ext cx="630000" cy="63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-3</a:t>
            </a:r>
            <a:endParaRPr lang="zh-TW" altLang="en-US" sz="2400" dirty="0"/>
          </a:p>
        </p:txBody>
      </p:sp>
      <p:sp>
        <p:nvSpPr>
          <p:cNvPr id="65" name="橢圓 64"/>
          <p:cNvSpPr/>
          <p:nvPr/>
        </p:nvSpPr>
        <p:spPr>
          <a:xfrm>
            <a:off x="2346156" y="5838602"/>
            <a:ext cx="630000" cy="63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66" name="矩形 65"/>
          <p:cNvSpPr/>
          <p:nvPr/>
        </p:nvSpPr>
        <p:spPr>
          <a:xfrm>
            <a:off x="1652977" y="5092535"/>
            <a:ext cx="1331096" cy="1376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橢圓 66"/>
          <p:cNvSpPr/>
          <p:nvPr/>
        </p:nvSpPr>
        <p:spPr>
          <a:xfrm>
            <a:off x="3940494" y="5130469"/>
            <a:ext cx="630000" cy="63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71" name="矩形 70"/>
          <p:cNvSpPr/>
          <p:nvPr/>
        </p:nvSpPr>
        <p:spPr>
          <a:xfrm>
            <a:off x="3940494" y="5105152"/>
            <a:ext cx="1331096" cy="1376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箭號: 向右 71"/>
          <p:cNvSpPr/>
          <p:nvPr/>
        </p:nvSpPr>
        <p:spPr>
          <a:xfrm>
            <a:off x="3082439" y="5583877"/>
            <a:ext cx="783688" cy="476679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矩形 72"/>
          <p:cNvSpPr/>
          <p:nvPr/>
        </p:nvSpPr>
        <p:spPr>
          <a:xfrm>
            <a:off x="374178" y="1258953"/>
            <a:ext cx="5365985" cy="321250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矩形 73"/>
          <p:cNvSpPr/>
          <p:nvPr/>
        </p:nvSpPr>
        <p:spPr>
          <a:xfrm>
            <a:off x="1222905" y="4598769"/>
            <a:ext cx="4524701" cy="2054425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6" name="直線單箭頭接點 75"/>
          <p:cNvCxnSpPr>
            <a:stCxn id="29" idx="1"/>
          </p:cNvCxnSpPr>
          <p:nvPr/>
        </p:nvCxnSpPr>
        <p:spPr>
          <a:xfrm flipH="1">
            <a:off x="5747607" y="2152300"/>
            <a:ext cx="560901" cy="821768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>
            <a:stCxn id="30" idx="1"/>
            <a:endCxn id="74" idx="3"/>
          </p:cNvCxnSpPr>
          <p:nvPr/>
        </p:nvCxnSpPr>
        <p:spPr>
          <a:xfrm flipH="1">
            <a:off x="5747606" y="3252312"/>
            <a:ext cx="560902" cy="237367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>
            <a:off x="2469706" y="3933200"/>
            <a:ext cx="27406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2894670" y="3933200"/>
            <a:ext cx="84427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接點 84"/>
          <p:cNvCxnSpPr/>
          <p:nvPr/>
        </p:nvCxnSpPr>
        <p:spPr>
          <a:xfrm flipH="1">
            <a:off x="2088136" y="3956215"/>
            <a:ext cx="518600" cy="15195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3424134" y="3940359"/>
            <a:ext cx="702867" cy="145143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9D07AE-0A06-44EE-AC93-FA85D96F8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0398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8" grpId="0"/>
      <p:bldP spid="59" grpId="0"/>
      <p:bldP spid="60" grpId="0"/>
      <p:bldP spid="61" grpId="0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71" grpId="0" animBg="1"/>
      <p:bldP spid="72" grpId="0" animBg="1"/>
      <p:bldP spid="73" grpId="0" animBg="1"/>
      <p:bldP spid="7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534110" y="265062"/>
            <a:ext cx="21067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b="1" i="1" u="sng" dirty="0"/>
              <a:t>CNN in </a:t>
            </a:r>
            <a:r>
              <a:rPr lang="en-US" altLang="zh-TW" sz="2800" b="1" i="1" u="sng" dirty="0" err="1"/>
              <a:t>Keras</a:t>
            </a:r>
            <a:endParaRPr lang="zh-TW" altLang="en-US" sz="2800" b="1" i="1" u="sng" dirty="0"/>
          </a:p>
        </p:txBody>
      </p:sp>
      <p:sp>
        <p:nvSpPr>
          <p:cNvPr id="29" name="矩形 28"/>
          <p:cNvSpPr/>
          <p:nvPr/>
        </p:nvSpPr>
        <p:spPr>
          <a:xfrm>
            <a:off x="6308508" y="1874056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Convolution</a:t>
            </a:r>
            <a:endParaRPr lang="zh-TW" altLang="en-US" sz="2400" dirty="0"/>
          </a:p>
        </p:txBody>
      </p:sp>
      <p:sp>
        <p:nvSpPr>
          <p:cNvPr id="30" name="矩形 29"/>
          <p:cNvSpPr/>
          <p:nvPr/>
        </p:nvSpPr>
        <p:spPr>
          <a:xfrm>
            <a:off x="6308508" y="2974068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Max Pooling</a:t>
            </a:r>
            <a:endParaRPr lang="zh-TW" altLang="en-US" sz="2400" dirty="0"/>
          </a:p>
        </p:txBody>
      </p:sp>
      <p:sp>
        <p:nvSpPr>
          <p:cNvPr id="31" name="矩形 30"/>
          <p:cNvSpPr/>
          <p:nvPr/>
        </p:nvSpPr>
        <p:spPr>
          <a:xfrm>
            <a:off x="6308508" y="4042281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Convolution</a:t>
            </a:r>
            <a:endParaRPr lang="zh-TW" altLang="en-US" sz="2400" dirty="0"/>
          </a:p>
        </p:txBody>
      </p:sp>
      <p:sp>
        <p:nvSpPr>
          <p:cNvPr id="32" name="矩形 31"/>
          <p:cNvSpPr/>
          <p:nvPr/>
        </p:nvSpPr>
        <p:spPr>
          <a:xfrm>
            <a:off x="6308508" y="5075533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Max Pooling</a:t>
            </a:r>
            <a:endParaRPr lang="zh-TW" altLang="en-US" sz="2400" dirty="0"/>
          </a:p>
        </p:txBody>
      </p:sp>
      <p:sp>
        <p:nvSpPr>
          <p:cNvPr id="34" name="向下箭號 11"/>
          <p:cNvSpPr/>
          <p:nvPr/>
        </p:nvSpPr>
        <p:spPr>
          <a:xfrm>
            <a:off x="6928205" y="1396311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向下箭號 17"/>
          <p:cNvSpPr/>
          <p:nvPr/>
        </p:nvSpPr>
        <p:spPr>
          <a:xfrm>
            <a:off x="6928205" y="2507093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向下箭號 18"/>
          <p:cNvSpPr/>
          <p:nvPr/>
        </p:nvSpPr>
        <p:spPr>
          <a:xfrm>
            <a:off x="6928205" y="3598736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向下箭號 19"/>
          <p:cNvSpPr/>
          <p:nvPr/>
        </p:nvSpPr>
        <p:spPr>
          <a:xfrm>
            <a:off x="6928205" y="4633729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文字方塊 41"/>
          <p:cNvSpPr txBox="1"/>
          <p:nvPr/>
        </p:nvSpPr>
        <p:spPr>
          <a:xfrm>
            <a:off x="6190457" y="972748"/>
            <a:ext cx="2046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input</a:t>
            </a:r>
            <a:endParaRPr lang="zh-TW" altLang="en-US" sz="2400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703" y="1874056"/>
            <a:ext cx="4867275" cy="552450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028" y="3118834"/>
            <a:ext cx="4171950" cy="266700"/>
          </a:xfrm>
          <a:prstGeom prst="rect">
            <a:avLst/>
          </a:prstGeom>
        </p:spPr>
      </p:pic>
      <p:pic>
        <p:nvPicPr>
          <p:cNvPr id="43" name="圖片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378" y="4197792"/>
            <a:ext cx="4419600" cy="304800"/>
          </a:xfrm>
          <a:prstGeom prst="rect">
            <a:avLst/>
          </a:prstGeom>
        </p:spPr>
      </p:pic>
      <p:pic>
        <p:nvPicPr>
          <p:cNvPr id="44" name="圖片 4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2403" y="5238660"/>
            <a:ext cx="4219575" cy="257175"/>
          </a:xfrm>
          <a:prstGeom prst="rect">
            <a:avLst/>
          </a:prstGeom>
        </p:spPr>
      </p:pic>
      <p:sp>
        <p:nvSpPr>
          <p:cNvPr id="23" name="文字方塊 22"/>
          <p:cNvSpPr txBox="1"/>
          <p:nvPr/>
        </p:nvSpPr>
        <p:spPr>
          <a:xfrm>
            <a:off x="3888642" y="1332908"/>
            <a:ext cx="1674994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28 x 28</a:t>
            </a:r>
            <a:endParaRPr lang="zh-TW" altLang="en-US" sz="24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3888642" y="2499807"/>
            <a:ext cx="1674994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26 x 26 x 25</a:t>
            </a:r>
            <a:endParaRPr lang="zh-TW" altLang="en-US" sz="2400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3888642" y="3513227"/>
            <a:ext cx="1674994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13 x 13 x 25</a:t>
            </a:r>
            <a:endParaRPr lang="zh-TW" altLang="en-US" sz="24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3888642" y="4595369"/>
            <a:ext cx="1674994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11 x 11 x 50</a:t>
            </a:r>
            <a:endParaRPr lang="zh-TW" altLang="en-US" sz="24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3888642" y="5624892"/>
            <a:ext cx="1674994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5 x 5 x 50</a:t>
            </a:r>
            <a:endParaRPr lang="zh-TW" altLang="en-US" sz="2400" dirty="0"/>
          </a:p>
        </p:txBody>
      </p:sp>
      <p:cxnSp>
        <p:nvCxnSpPr>
          <p:cNvPr id="33" name="直線單箭頭接點 32"/>
          <p:cNvCxnSpPr>
            <a:stCxn id="29" idx="1"/>
            <a:endCxn id="2" idx="3"/>
          </p:cNvCxnSpPr>
          <p:nvPr/>
        </p:nvCxnSpPr>
        <p:spPr>
          <a:xfrm flipH="1" flipV="1">
            <a:off x="5571978" y="2150281"/>
            <a:ext cx="736530" cy="2019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 flipH="1" flipV="1">
            <a:off x="5571978" y="3250293"/>
            <a:ext cx="736530" cy="2019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/>
          <p:nvPr/>
        </p:nvCxnSpPr>
        <p:spPr>
          <a:xfrm flipH="1" flipV="1">
            <a:off x="5571978" y="4352134"/>
            <a:ext cx="736530" cy="2019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 flipH="1" flipV="1">
            <a:off x="5579349" y="5400385"/>
            <a:ext cx="736530" cy="2019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A55F5-81DA-4DAC-A99D-1054BA3B0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8760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534110" y="265062"/>
            <a:ext cx="21067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b="1" i="1" u="sng" dirty="0"/>
              <a:t>CNN in </a:t>
            </a:r>
            <a:r>
              <a:rPr lang="en-US" altLang="zh-TW" sz="2800" b="1" i="1" u="sng" dirty="0" err="1"/>
              <a:t>Keras</a:t>
            </a:r>
            <a:endParaRPr lang="zh-TW" altLang="en-US" sz="2800" b="1" i="1" u="sng" dirty="0"/>
          </a:p>
        </p:txBody>
      </p:sp>
      <p:sp>
        <p:nvSpPr>
          <p:cNvPr id="29" name="矩形 28"/>
          <p:cNvSpPr/>
          <p:nvPr/>
        </p:nvSpPr>
        <p:spPr>
          <a:xfrm>
            <a:off x="6308508" y="1874056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Convolution</a:t>
            </a:r>
            <a:endParaRPr lang="zh-TW" altLang="en-US" sz="2400" dirty="0"/>
          </a:p>
        </p:txBody>
      </p:sp>
      <p:sp>
        <p:nvSpPr>
          <p:cNvPr id="30" name="矩形 29"/>
          <p:cNvSpPr/>
          <p:nvPr/>
        </p:nvSpPr>
        <p:spPr>
          <a:xfrm>
            <a:off x="6308508" y="2974068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Max Pooling</a:t>
            </a:r>
            <a:endParaRPr lang="zh-TW" altLang="en-US" sz="2400" dirty="0"/>
          </a:p>
        </p:txBody>
      </p:sp>
      <p:sp>
        <p:nvSpPr>
          <p:cNvPr id="31" name="矩形 30"/>
          <p:cNvSpPr/>
          <p:nvPr/>
        </p:nvSpPr>
        <p:spPr>
          <a:xfrm>
            <a:off x="6308508" y="4042281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Convolution</a:t>
            </a:r>
            <a:endParaRPr lang="zh-TW" altLang="en-US" sz="2400" dirty="0"/>
          </a:p>
        </p:txBody>
      </p:sp>
      <p:sp>
        <p:nvSpPr>
          <p:cNvPr id="32" name="矩形 31"/>
          <p:cNvSpPr/>
          <p:nvPr/>
        </p:nvSpPr>
        <p:spPr>
          <a:xfrm>
            <a:off x="6308508" y="5075533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Max Pooling</a:t>
            </a:r>
            <a:endParaRPr lang="zh-TW" altLang="en-US" sz="2400" dirty="0"/>
          </a:p>
        </p:txBody>
      </p:sp>
      <p:sp>
        <p:nvSpPr>
          <p:cNvPr id="34" name="向下箭號 11"/>
          <p:cNvSpPr/>
          <p:nvPr/>
        </p:nvSpPr>
        <p:spPr>
          <a:xfrm>
            <a:off x="6928205" y="1396311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向下箭號 17"/>
          <p:cNvSpPr/>
          <p:nvPr/>
        </p:nvSpPr>
        <p:spPr>
          <a:xfrm>
            <a:off x="6928205" y="2507093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向下箭號 18"/>
          <p:cNvSpPr/>
          <p:nvPr/>
        </p:nvSpPr>
        <p:spPr>
          <a:xfrm>
            <a:off x="6928205" y="3598736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向下箭號 19"/>
          <p:cNvSpPr/>
          <p:nvPr/>
        </p:nvSpPr>
        <p:spPr>
          <a:xfrm>
            <a:off x="6928205" y="4633729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文字方塊 41"/>
          <p:cNvSpPr txBox="1"/>
          <p:nvPr/>
        </p:nvSpPr>
        <p:spPr>
          <a:xfrm>
            <a:off x="6190457" y="972748"/>
            <a:ext cx="2046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input</a:t>
            </a:r>
            <a:endParaRPr lang="zh-TW" altLang="en-US" sz="24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5253211" y="1364983"/>
            <a:ext cx="1674994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28 x 28</a:t>
            </a:r>
            <a:endParaRPr lang="zh-TW" altLang="en-US" sz="24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5253211" y="2480449"/>
            <a:ext cx="1674994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26 x 26 x 25</a:t>
            </a:r>
            <a:endParaRPr lang="zh-TW" altLang="en-US" sz="2400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5253211" y="3556630"/>
            <a:ext cx="1674994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13 x 13 x25</a:t>
            </a:r>
            <a:endParaRPr lang="zh-TW" altLang="en-US" sz="24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5253211" y="4613868"/>
            <a:ext cx="1674994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11 x 11 x 50</a:t>
            </a:r>
            <a:endParaRPr lang="zh-TW" altLang="en-US" sz="24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5253211" y="5552297"/>
            <a:ext cx="1674994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5 x 5 x 50</a:t>
            </a:r>
            <a:endParaRPr lang="zh-TW" altLang="en-US" sz="2400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3267596" y="5851258"/>
            <a:ext cx="1556991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Flatten</a:t>
            </a:r>
            <a:endParaRPr lang="zh-TW" altLang="en-US" sz="2400" dirty="0"/>
          </a:p>
        </p:txBody>
      </p:sp>
      <p:sp>
        <p:nvSpPr>
          <p:cNvPr id="38" name="右彎箭號 16"/>
          <p:cNvSpPr/>
          <p:nvPr/>
        </p:nvSpPr>
        <p:spPr>
          <a:xfrm rot="10800000">
            <a:off x="4864709" y="5651583"/>
            <a:ext cx="2451998" cy="631290"/>
          </a:xfrm>
          <a:prstGeom prst="bentArrow">
            <a:avLst>
              <a:gd name="adj1" fmla="val 36585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9" name="右彎箭號 21"/>
          <p:cNvSpPr/>
          <p:nvPr/>
        </p:nvSpPr>
        <p:spPr>
          <a:xfrm rot="16200000">
            <a:off x="2152146" y="5127138"/>
            <a:ext cx="726735" cy="1398675"/>
          </a:xfrm>
          <a:prstGeom prst="bentArrow">
            <a:avLst>
              <a:gd name="adj1" fmla="val 28061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103" y="6328591"/>
            <a:ext cx="2847975" cy="266700"/>
          </a:xfrm>
          <a:prstGeom prst="rect">
            <a:avLst/>
          </a:prstGeom>
        </p:spPr>
      </p:pic>
      <p:sp>
        <p:nvSpPr>
          <p:cNvPr id="40" name="文字方塊 39"/>
          <p:cNvSpPr txBox="1"/>
          <p:nvPr/>
        </p:nvSpPr>
        <p:spPr>
          <a:xfrm>
            <a:off x="2178715" y="5482755"/>
            <a:ext cx="1006467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1250</a:t>
            </a:r>
            <a:endParaRPr lang="zh-TW" altLang="en-US" sz="2400" dirty="0"/>
          </a:p>
        </p:txBody>
      </p:sp>
      <p:grpSp>
        <p:nvGrpSpPr>
          <p:cNvPr id="41" name="群組 40"/>
          <p:cNvGrpSpPr/>
          <p:nvPr/>
        </p:nvGrpSpPr>
        <p:grpSpPr>
          <a:xfrm>
            <a:off x="514616" y="2208309"/>
            <a:ext cx="2906568" cy="3201477"/>
            <a:chOff x="-1595803" y="3999117"/>
            <a:chExt cx="2906568" cy="3201477"/>
          </a:xfrm>
        </p:grpSpPr>
        <p:pic>
          <p:nvPicPr>
            <p:cNvPr id="45" name="圖片 4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 flipH="1">
              <a:off x="-1736746" y="4748962"/>
              <a:ext cx="3201477" cy="1701788"/>
            </a:xfrm>
            <a:prstGeom prst="rect">
              <a:avLst/>
            </a:prstGeom>
          </p:spPr>
        </p:pic>
        <p:sp>
          <p:nvSpPr>
            <p:cNvPr id="46" name="文字方塊 45"/>
            <p:cNvSpPr txBox="1"/>
            <p:nvPr/>
          </p:nvSpPr>
          <p:spPr>
            <a:xfrm>
              <a:off x="-1595803" y="4773762"/>
              <a:ext cx="2906568" cy="830997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Fully Connected Feedforward network</a:t>
              </a:r>
              <a:endParaRPr lang="zh-TW" altLang="en-US" sz="2400" dirty="0"/>
            </a:p>
          </p:txBody>
        </p:sp>
      </p:grpSp>
      <p:sp>
        <p:nvSpPr>
          <p:cNvPr id="47" name="文字方塊 46"/>
          <p:cNvSpPr txBox="1"/>
          <p:nvPr/>
        </p:nvSpPr>
        <p:spPr>
          <a:xfrm>
            <a:off x="951029" y="1827526"/>
            <a:ext cx="2046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output</a:t>
            </a:r>
            <a:endParaRPr lang="zh-TW" altLang="en-US" sz="24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06" y="3932234"/>
            <a:ext cx="4552950" cy="10287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799003-0553-4F39-9BB4-3165F3AB3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3217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8" grpId="0" animBg="1"/>
      <p:bldP spid="39" grpId="0" animBg="1"/>
      <p:bldP spid="40" grpId="0" animBg="1"/>
      <p:bldP spid="4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EDA14-1849-48EE-A46F-2C54C37A9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784DA-7304-4A8A-8D88-71E13DC16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are the three properties a CNN aims to handle?</a:t>
            </a:r>
          </a:p>
          <a:p>
            <a:r>
              <a:rPr lang="en-GB" dirty="0"/>
              <a:t>Given two matrices, how is convolution conducted?</a:t>
            </a:r>
          </a:p>
          <a:p>
            <a:r>
              <a:rPr lang="en-GB" dirty="0"/>
              <a:t>Describe max pooling and average pooling</a:t>
            </a:r>
          </a:p>
          <a:p>
            <a:r>
              <a:rPr lang="en-GB" dirty="0"/>
              <a:t>What is flatten operation?</a:t>
            </a:r>
          </a:p>
          <a:p>
            <a:r>
              <a:rPr lang="en-GB" dirty="0"/>
              <a:t>Describe why there are much fewer parameters in a CNN?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8711CB-3998-4279-86FF-20824ABB7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D6659-2584-4F41-9346-BD823C040088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3543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5870</TotalTime>
  <Words>2170</Words>
  <Application>Microsoft Macintosh PowerPoint</Application>
  <PresentationFormat>On-screen Show (4:3)</PresentationFormat>
  <Paragraphs>1282</Paragraphs>
  <Slides>38</Slides>
  <Notes>9</Notes>
  <HiddenSlides>0</HiddenSlides>
  <MMClips>1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Apple Braille</vt:lpstr>
      <vt:lpstr>Arial</vt:lpstr>
      <vt:lpstr>Calibri</vt:lpstr>
      <vt:lpstr>Calibri Light</vt:lpstr>
      <vt:lpstr>Wingdings</vt:lpstr>
      <vt:lpstr>Office 佈景主題</vt:lpstr>
      <vt:lpstr>方程式</vt:lpstr>
      <vt:lpstr>COMP 6246  Machine Learning Technologies</vt:lpstr>
      <vt:lpstr>PowerPoint Presentation</vt:lpstr>
      <vt:lpstr>Motivation</vt:lpstr>
      <vt:lpstr>Motivation</vt:lpstr>
      <vt:lpstr>Why CNN for Image</vt:lpstr>
      <vt:lpstr>Why CNN for Image</vt:lpstr>
      <vt:lpstr>Why CNN for Image</vt:lpstr>
      <vt:lpstr>The whole CNN</vt:lpstr>
      <vt:lpstr>The whole CNN</vt:lpstr>
      <vt:lpstr>The whole CNN</vt:lpstr>
      <vt:lpstr>CNN – Convolution</vt:lpstr>
      <vt:lpstr>CNN – Convolution</vt:lpstr>
      <vt:lpstr>CNN – Convolution</vt:lpstr>
      <vt:lpstr>CNN – Convolution</vt:lpstr>
      <vt:lpstr>Example</vt:lpstr>
      <vt:lpstr>Edge Detection</vt:lpstr>
      <vt:lpstr>Example</vt:lpstr>
      <vt:lpstr>Example</vt:lpstr>
      <vt:lpstr>Example</vt:lpstr>
      <vt:lpstr>Padding</vt:lpstr>
      <vt:lpstr>Example</vt:lpstr>
      <vt:lpstr>CNN – Convolution</vt:lpstr>
      <vt:lpstr>CNN – Colorful image</vt:lpstr>
      <vt:lpstr>PowerPoint Presentation</vt:lpstr>
      <vt:lpstr>PowerPoint Presentation</vt:lpstr>
      <vt:lpstr>PowerPoint Presentation</vt:lpstr>
      <vt:lpstr>The whole CNN</vt:lpstr>
      <vt:lpstr>CNN – Max Pooling</vt:lpstr>
      <vt:lpstr>CNN – Max Pooling</vt:lpstr>
      <vt:lpstr>The whole CNN</vt:lpstr>
      <vt:lpstr>The whole CNN</vt:lpstr>
      <vt:lpstr>Flatten</vt:lpstr>
      <vt:lpstr>Alphabet Recognition with CNN</vt:lpstr>
      <vt:lpstr>More about CCNs …</vt:lpstr>
      <vt:lpstr>PowerPoint Presentation</vt:lpstr>
      <vt:lpstr>PowerPoint Presentation</vt:lpstr>
      <vt:lpstr>PowerPoint Presentation</vt:lpstr>
      <vt:lpstr>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cp:lastModifiedBy>Mohammad Soorati</cp:lastModifiedBy>
  <cp:revision>137</cp:revision>
  <dcterms:created xsi:type="dcterms:W3CDTF">2016-10-25T03:11:16Z</dcterms:created>
  <dcterms:modified xsi:type="dcterms:W3CDTF">2026-10-09T16:20:31Z</dcterms:modified>
</cp:coreProperties>
</file>