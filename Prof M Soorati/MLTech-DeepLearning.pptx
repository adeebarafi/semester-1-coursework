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468" r:id="rId2"/>
    <p:sldId id="635" r:id="rId3"/>
    <p:sldId id="303" r:id="rId4"/>
    <p:sldId id="637" r:id="rId5"/>
    <p:sldId id="257" r:id="rId6"/>
    <p:sldId id="306" r:id="rId7"/>
    <p:sldId id="639" r:id="rId8"/>
    <p:sldId id="433" r:id="rId9"/>
    <p:sldId id="271" r:id="rId10"/>
    <p:sldId id="275" r:id="rId11"/>
    <p:sldId id="318" r:id="rId12"/>
    <p:sldId id="319" r:id="rId13"/>
    <p:sldId id="272" r:id="rId14"/>
    <p:sldId id="273" r:id="rId15"/>
    <p:sldId id="274" r:id="rId16"/>
    <p:sldId id="310" r:id="rId17"/>
    <p:sldId id="311" r:id="rId18"/>
    <p:sldId id="312" r:id="rId19"/>
    <p:sldId id="323" r:id="rId20"/>
    <p:sldId id="451" r:id="rId21"/>
    <p:sldId id="452" r:id="rId22"/>
    <p:sldId id="278" r:id="rId23"/>
    <p:sldId id="279" r:id="rId24"/>
    <p:sldId id="324" r:id="rId25"/>
    <p:sldId id="286" r:id="rId26"/>
    <p:sldId id="633" r:id="rId27"/>
    <p:sldId id="634" r:id="rId28"/>
    <p:sldId id="631" r:id="rId29"/>
    <p:sldId id="638" r:id="rId30"/>
    <p:sldId id="632" r:id="rId31"/>
    <p:sldId id="640" r:id="rId32"/>
    <p:sldId id="415" r:id="rId33"/>
    <p:sldId id="636" r:id="rId34"/>
    <p:sldId id="417" r:id="rId35"/>
    <p:sldId id="418" r:id="rId36"/>
    <p:sldId id="419" r:id="rId37"/>
    <p:sldId id="420" r:id="rId38"/>
    <p:sldId id="421" r:id="rId39"/>
    <p:sldId id="422" r:id="rId40"/>
    <p:sldId id="430" r:id="rId41"/>
    <p:sldId id="431" r:id="rId42"/>
    <p:sldId id="43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9FFE4-0719-B898-2C58-D4A47CA070BE}" v="19" dt="2025-10-13T20:33:25.463"/>
    <p1510:client id="{3A15B2D1-5378-FCCC-2292-8A5DA14A736A}" v="89" dt="2025-10-13T16:14:23.597"/>
    <p1510:client id="{C40A0B87-D10C-3255-5202-57825F3FA4AF}" v="3" dt="2025-10-13T22:54:06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88" autoAdjust="0"/>
    <p:restoredTop sz="91030" autoAdjust="0"/>
  </p:normalViewPr>
  <p:slideViewPr>
    <p:cSldViewPr snapToGrid="0">
      <p:cViewPr varScale="1">
        <p:scale>
          <a:sx n="87" d="100"/>
          <a:sy n="87" d="100"/>
        </p:scale>
        <p:origin x="2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EB32D-3EFC-443D-9FD5-44BA8F54B34E}" type="datetimeFigureOut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F5DAF-6A0D-4EB6-BEE4-4A3D9B453F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231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289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1114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</a:t>
            </a:r>
            <a:r>
              <a:rPr lang="en-US" dirty="0" err="1"/>
              <a:t>fns</a:t>
            </a:r>
            <a:r>
              <a:rPr lang="en-US" dirty="0"/>
              <a:t> of variance</a:t>
            </a:r>
          </a:p>
          <a:p>
            <a:r>
              <a:rPr lang="en-US" dirty="0"/>
              <a:t>Anything below 0, answer is 0 if above then any no depend on if 3 then 3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30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Operators</a:t>
            </a:r>
            <a:br>
              <a:rPr lang="en-US" altLang="zh-TW" dirty="0"/>
            </a:br>
            <a:r>
              <a:rPr lang="en-US" altLang="zh-TW" dirty="0" err="1"/>
              <a:t>Xor</a:t>
            </a:r>
            <a:endParaRPr lang="en-US" altLang="zh-TW" dirty="0"/>
          </a:p>
          <a:p>
            <a:r>
              <a:rPr lang="en-US" altLang="zh-TW" dirty="0"/>
              <a:t>Nor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3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Classifer</a:t>
            </a:r>
            <a:r>
              <a:rPr lang="en-US" dirty="0"/>
              <a:t> that can split 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89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to interpret why what certain decision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181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54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290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More layers leaders to better learning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670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610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756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283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593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2992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919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529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679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488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086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Slope –</a:t>
            </a:r>
            <a:r>
              <a:rPr lang="en-US" dirty="0" err="1"/>
              <a:t>ive</a:t>
            </a:r>
            <a:r>
              <a:rPr lang="en-US" dirty="0"/>
              <a:t> we increase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096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 rule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1316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many times we’ve visited to the datasets so far. </a:t>
            </a:r>
          </a:p>
          <a:p>
            <a:r>
              <a:rPr lang="en-US" dirty="0"/>
              <a:t>b/c why we go back and back for accuracy!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205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589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949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171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936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1291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5859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3918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7081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1E159-3AD0-44C3-A952-4AC72385ECF1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71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12B89-C748-412C-9442-524D266336E6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59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DA63-E3EE-4FEF-A7BD-6AFDFC7DE0AE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84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F60EC-7666-4149-99E8-94501843BCFE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231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A31DA-9257-4E54-BCE4-AF19EE88CEF2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30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352D-E406-4062-9871-FFDB27DC44D8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05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B08BF-50B5-4BB9-93AA-B0A2DEAA6D04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4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EE1B0-C1FC-48C3-8DEA-31988FEC75C3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39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AB7A-B195-4582-90B8-8264DD98BAB3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69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E1FC-D58F-4D6A-9AFF-513A79E7C5E7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43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F17F-4476-48BE-B217-43EE1B0F9EDF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932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2FCE6-7D79-4942-83A2-6DD6F49247AC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25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N1TEjTeQeg0?si=6Mpvf63oQ0GGXy" TargetMode="Externa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7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image" Target="../media/image18.png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image" Target="../media/image16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4.bin"/><Relationship Id="rId8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3.w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25.png"/><Relationship Id="rId21" Type="http://schemas.openxmlformats.org/officeDocument/2006/relationships/image" Target="../media/image31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29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0.wmf"/><Relationship Id="rId5" Type="http://schemas.openxmlformats.org/officeDocument/2006/relationships/image" Target="../media/image26.wmf"/><Relationship Id="rId15" Type="http://schemas.openxmlformats.org/officeDocument/2006/relationships/image" Target="../media/image4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30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18" Type="http://schemas.openxmlformats.org/officeDocument/2006/relationships/image" Target="../media/image208.png"/><Relationship Id="rId3" Type="http://schemas.openxmlformats.org/officeDocument/2006/relationships/image" Target="../media/image25.png"/><Relationship Id="rId7" Type="http://schemas.openxmlformats.org/officeDocument/2006/relationships/image" Target="../media/image27.wmf"/><Relationship Id="rId12" Type="http://schemas.openxmlformats.org/officeDocument/2006/relationships/image" Target="../media/image202.png"/><Relationship Id="rId17" Type="http://schemas.openxmlformats.org/officeDocument/2006/relationships/image" Target="../media/image20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88.png"/><Relationship Id="rId5" Type="http://schemas.openxmlformats.org/officeDocument/2006/relationships/image" Target="../media/image26.wmf"/><Relationship Id="rId15" Type="http://schemas.openxmlformats.org/officeDocument/2006/relationships/image" Target="../media/image205.png"/><Relationship Id="rId10" Type="http://schemas.openxmlformats.org/officeDocument/2006/relationships/image" Target="../media/image200.png"/><Relationship Id="rId19" Type="http://schemas.openxmlformats.org/officeDocument/2006/relationships/image" Target="../media/image209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9.png"/><Relationship Id="rId14" Type="http://schemas.openxmlformats.org/officeDocument/2006/relationships/image" Target="../media/image25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6.wmf"/><Relationship Id="rId3" Type="http://schemas.openxmlformats.org/officeDocument/2006/relationships/image" Target="../media/image1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9.bin"/><Relationship Id="rId20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213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37.jpeg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3.png"/><Relationship Id="rId7" Type="http://schemas.openxmlformats.org/officeDocument/2006/relationships/image" Target="../media/image1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33.png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11" Type="http://schemas.openxmlformats.org/officeDocument/2006/relationships/image" Target="../media/image31.png"/><Relationship Id="rId5" Type="http://schemas.openxmlformats.org/officeDocument/2006/relationships/oleObject" Target="../embeddings/oleObject30.bin"/><Relationship Id="rId15" Type="http://schemas.openxmlformats.org/officeDocument/2006/relationships/image" Target="../media/image350.png"/><Relationship Id="rId10" Type="http://schemas.openxmlformats.org/officeDocument/2006/relationships/image" Target="../media/image300.png"/><Relationship Id="rId4" Type="http://schemas.openxmlformats.org/officeDocument/2006/relationships/image" Target="../media/image280.png"/><Relationship Id="rId9" Type="http://schemas.openxmlformats.org/officeDocument/2006/relationships/image" Target="../media/image29.png"/><Relationship Id="rId14" Type="http://schemas.openxmlformats.org/officeDocument/2006/relationships/image" Target="../media/image3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image" Target="../media/image372.png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60.png"/><Relationship Id="rId4" Type="http://schemas.openxmlformats.org/officeDocument/2006/relationships/image" Target="../media/image4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420.png"/><Relationship Id="rId7" Type="http://schemas.openxmlformats.org/officeDocument/2006/relationships/image" Target="../media/image40.wmf"/><Relationship Id="rId12" Type="http://schemas.openxmlformats.org/officeDocument/2006/relationships/image" Target="../media/image4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2.wmf"/><Relationship Id="rId5" Type="http://schemas.openxmlformats.org/officeDocument/2006/relationships/image" Target="../media/image41.png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40.png"/><Relationship Id="rId9" Type="http://schemas.openxmlformats.org/officeDocument/2006/relationships/image" Target="../media/image41.wmf"/><Relationship Id="rId14" Type="http://schemas.openxmlformats.org/officeDocument/2006/relationships/image" Target="../media/image4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51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34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.bin"/><Relationship Id="rId18" Type="http://schemas.openxmlformats.org/officeDocument/2006/relationships/image" Target="../media/image56.wmf"/><Relationship Id="rId26" Type="http://schemas.openxmlformats.org/officeDocument/2006/relationships/image" Target="../media/image60.wmf"/><Relationship Id="rId39" Type="http://schemas.openxmlformats.org/officeDocument/2006/relationships/oleObject" Target="../embeddings/oleObject49.bin"/><Relationship Id="rId21" Type="http://schemas.openxmlformats.org/officeDocument/2006/relationships/oleObject" Target="../embeddings/oleObject41.bin"/><Relationship Id="rId34" Type="http://schemas.openxmlformats.org/officeDocument/2006/relationships/image" Target="../media/image63.wmf"/><Relationship Id="rId42" Type="http://schemas.openxmlformats.org/officeDocument/2006/relationships/image" Target="../media/image67.wmf"/><Relationship Id="rId7" Type="http://schemas.openxmlformats.org/officeDocument/2006/relationships/image" Target="../media/image161.png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29" Type="http://schemas.openxmlformats.org/officeDocument/2006/relationships/oleObject" Target="../embeddings/oleObject44.bin"/><Relationship Id="rId41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59.wmf"/><Relationship Id="rId32" Type="http://schemas.openxmlformats.org/officeDocument/2006/relationships/image" Target="../media/image62.wmf"/><Relationship Id="rId37" Type="http://schemas.openxmlformats.org/officeDocument/2006/relationships/oleObject" Target="../embeddings/oleObject48.bin"/><Relationship Id="rId40" Type="http://schemas.openxmlformats.org/officeDocument/2006/relationships/image" Target="../media/image66.wmf"/><Relationship Id="rId5" Type="http://schemas.openxmlformats.org/officeDocument/2006/relationships/image" Target="../media/image1590.png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10.wmf"/><Relationship Id="rId36" Type="http://schemas.openxmlformats.org/officeDocument/2006/relationships/image" Target="../media/image64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45.bin"/><Relationship Id="rId4" Type="http://schemas.openxmlformats.org/officeDocument/2006/relationships/image" Target="../media/image1580.png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9.bin"/><Relationship Id="rId30" Type="http://schemas.openxmlformats.org/officeDocument/2006/relationships/image" Target="../media/image61.wmf"/><Relationship Id="rId35" Type="http://schemas.openxmlformats.org/officeDocument/2006/relationships/oleObject" Target="../embeddings/oleObject47.bin"/><Relationship Id="rId43" Type="http://schemas.openxmlformats.org/officeDocument/2006/relationships/image" Target="../media/image163.png"/><Relationship Id="rId8" Type="http://schemas.openxmlformats.org/officeDocument/2006/relationships/image" Target="../media/image162.png"/><Relationship Id="rId3" Type="http://schemas.openxmlformats.org/officeDocument/2006/relationships/image" Target="../media/image1570.png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33" Type="http://schemas.openxmlformats.org/officeDocument/2006/relationships/oleObject" Target="../embeddings/oleObject46.bin"/><Relationship Id="rId38" Type="http://schemas.openxmlformats.org/officeDocument/2006/relationships/image" Target="../media/image6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176.png"/><Relationship Id="rId18" Type="http://schemas.openxmlformats.org/officeDocument/2006/relationships/image" Target="../media/image72.wmf"/><Relationship Id="rId26" Type="http://schemas.openxmlformats.org/officeDocument/2006/relationships/image" Target="../media/image179.png"/><Relationship Id="rId3" Type="http://schemas.openxmlformats.org/officeDocument/2006/relationships/image" Target="../media/image172.png"/><Relationship Id="rId21" Type="http://schemas.openxmlformats.org/officeDocument/2006/relationships/oleObject" Target="../embeddings/oleObject57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175.png"/><Relationship Id="rId17" Type="http://schemas.openxmlformats.org/officeDocument/2006/relationships/oleObject" Target="../embeddings/oleObject55.bin"/><Relationship Id="rId25" Type="http://schemas.openxmlformats.org/officeDocument/2006/relationships/image" Target="../media/image164.png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29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wmf"/><Relationship Id="rId11" Type="http://schemas.openxmlformats.org/officeDocument/2006/relationships/image" Target="../media/image174.png"/><Relationship Id="rId24" Type="http://schemas.openxmlformats.org/officeDocument/2006/relationships/image" Target="../media/image75.wmf"/><Relationship Id="rId32" Type="http://schemas.openxmlformats.org/officeDocument/2006/relationships/image" Target="../media/image185.png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4.bin"/><Relationship Id="rId23" Type="http://schemas.openxmlformats.org/officeDocument/2006/relationships/oleObject" Target="../embeddings/oleObject58.bin"/><Relationship Id="rId28" Type="http://schemas.openxmlformats.org/officeDocument/2006/relationships/image" Target="../media/image181.png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56.bin"/><Relationship Id="rId31" Type="http://schemas.openxmlformats.org/officeDocument/2006/relationships/image" Target="../media/image184.png"/><Relationship Id="rId4" Type="http://schemas.openxmlformats.org/officeDocument/2006/relationships/image" Target="../media/image173.png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177.png"/><Relationship Id="rId22" Type="http://schemas.openxmlformats.org/officeDocument/2006/relationships/image" Target="../media/image74.wmf"/><Relationship Id="rId27" Type="http://schemas.openxmlformats.org/officeDocument/2006/relationships/image" Target="../media/image180.png"/><Relationship Id="rId30" Type="http://schemas.openxmlformats.org/officeDocument/2006/relationships/image" Target="../media/image1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76.pn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40.wmf"/><Relationship Id="rId10" Type="http://schemas.openxmlformats.org/officeDocument/2006/relationships/image" Target="../media/image78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7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76.pn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7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image" Target="../media/image51.png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image" Target="../media/image760.png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53.png"/><Relationship Id="rId4" Type="http://schemas.openxmlformats.org/officeDocument/2006/relationships/image" Target="../media/image40.wmf"/><Relationship Id="rId9" Type="http://schemas.openxmlformats.org/officeDocument/2006/relationships/image" Target="../media/image79.png"/><Relationship Id="rId1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62.png"/><Relationship Id="rId3" Type="http://schemas.openxmlformats.org/officeDocument/2006/relationships/image" Target="../media/image83.png"/><Relationship Id="rId7" Type="http://schemas.openxmlformats.org/officeDocument/2006/relationships/image" Target="../media/image860.png"/><Relationship Id="rId12" Type="http://schemas.openxmlformats.org/officeDocument/2006/relationships/image" Target="../media/image460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2.png"/><Relationship Id="rId11" Type="http://schemas.openxmlformats.org/officeDocument/2006/relationships/image" Target="../media/image84.png"/><Relationship Id="rId5" Type="http://schemas.openxmlformats.org/officeDocument/2006/relationships/image" Target="../media/image55.png"/><Relationship Id="rId15" Type="http://schemas.openxmlformats.org/officeDocument/2006/relationships/image" Target="../media/image48.png"/><Relationship Id="rId10" Type="http://schemas.openxmlformats.org/officeDocument/2006/relationships/image" Target="../media/image83.png"/><Relationship Id="rId4" Type="http://schemas.openxmlformats.org/officeDocument/2006/relationships/image" Target="../media/image84.png"/><Relationship Id="rId9" Type="http://schemas.openxmlformats.org/officeDocument/2006/relationships/image" Target="../media/image81.png"/><Relationship Id="rId1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0.png"/><Relationship Id="rId4" Type="http://schemas.openxmlformats.org/officeDocument/2006/relationships/image" Target="../media/image8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800.png"/><Relationship Id="rId7" Type="http://schemas.openxmlformats.org/officeDocument/2006/relationships/image" Target="../media/image8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0.png"/><Relationship Id="rId5" Type="http://schemas.openxmlformats.org/officeDocument/2006/relationships/image" Target="../media/image840.png"/><Relationship Id="rId10" Type="http://schemas.openxmlformats.org/officeDocument/2006/relationships/image" Target="../media/image87.png"/><Relationship Id="rId4" Type="http://schemas.openxmlformats.org/officeDocument/2006/relationships/image" Target="../media/image810.png"/><Relationship Id="rId9" Type="http://schemas.openxmlformats.org/officeDocument/2006/relationships/image" Target="../media/image86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10.png"/><Relationship Id="rId7" Type="http://schemas.openxmlformats.org/officeDocument/2006/relationships/image" Target="../media/image89.png"/><Relationship Id="rId12" Type="http://schemas.openxmlformats.org/officeDocument/2006/relationships/image" Target="../media/image92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0.png"/><Relationship Id="rId11" Type="http://schemas.openxmlformats.org/officeDocument/2006/relationships/image" Target="../media/image861.png"/><Relationship Id="rId5" Type="http://schemas.openxmlformats.org/officeDocument/2006/relationships/image" Target="../media/image820.png"/><Relationship Id="rId10" Type="http://schemas.openxmlformats.org/officeDocument/2006/relationships/image" Target="../media/image850.png"/><Relationship Id="rId4" Type="http://schemas.openxmlformats.org/officeDocument/2006/relationships/image" Target="../media/image88.png"/><Relationship Id="rId9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10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0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108.png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image" Target="../media/image106.png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4" Type="http://schemas.openxmlformats.org/officeDocument/2006/relationships/image" Target="../media/image40.wmf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61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jpeg"/><Relationship Id="rId4" Type="http://schemas.openxmlformats.org/officeDocument/2006/relationships/image" Target="../media/image1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034"/>
            <a:ext cx="7772400" cy="1470025"/>
          </a:xfrm>
        </p:spPr>
        <p:txBody>
          <a:bodyPr>
            <a:normAutofit/>
          </a:bodyPr>
          <a:lstStyle/>
          <a:p>
            <a:r>
              <a:rPr lang="en-US" sz="3500" dirty="0"/>
              <a:t>COMP 6246 </a:t>
            </a:r>
            <a:br>
              <a:rPr lang="en-US" sz="3500" dirty="0"/>
            </a:br>
            <a:r>
              <a:rPr lang="en-US" sz="3500" dirty="0"/>
              <a:t>Machine Learning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1579" y="4083712"/>
            <a:ext cx="7016620" cy="1752600"/>
          </a:xfrm>
        </p:spPr>
        <p:txBody>
          <a:bodyPr>
            <a:normAutofit/>
          </a:bodyPr>
          <a:lstStyle/>
          <a:p>
            <a:r>
              <a:rPr lang="en-US" dirty="0"/>
              <a:t>Dr Mohammad Soorati</a:t>
            </a:r>
          </a:p>
          <a:p>
            <a:r>
              <a:rPr lang="en-US" dirty="0"/>
              <a:t>School of Electronics and Computer Science</a:t>
            </a:r>
          </a:p>
          <a:p>
            <a:r>
              <a:rPr lang="en-US" dirty="0"/>
              <a:t>University of Southampton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88437" y="215937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30319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8144-9F6E-9DF3-7E2F-95CFB3B4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3744"/>
            <a:ext cx="7886700" cy="1325563"/>
          </a:xfrm>
        </p:spPr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0FFE1-30C4-6267-02B7-18736640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360589-4A0D-4051-5310-B914DDD55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1" y="869650"/>
            <a:ext cx="5118699" cy="51186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251D33-AC62-13BE-A0DC-16950D599BA1}"/>
              </a:ext>
            </a:extLst>
          </p:cNvPr>
          <p:cNvSpPr txBox="1"/>
          <p:nvPr/>
        </p:nvSpPr>
        <p:spPr>
          <a:xfrm>
            <a:off x="157924" y="6211669"/>
            <a:ext cx="9236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Prof. Geoffrey Hinton , "Will digital intelligence replace biological intelligence?”</a:t>
            </a:r>
          </a:p>
          <a:p>
            <a:r>
              <a:rPr lang="en-US" dirty="0">
                <a:hlinkClick r:id="rId4"/>
              </a:rPr>
              <a:t>https://youtu.be/N1TEjTeQeg0?si=6Mpvf63oQ0GGXy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9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Object 12"/>
          <p:cNvGraphicFramePr>
            <a:graphicFrameLocks noChangeAspect="1"/>
          </p:cNvGraphicFramePr>
          <p:nvPr/>
        </p:nvGraphicFramePr>
        <p:xfrm>
          <a:off x="2433844" y="1941520"/>
          <a:ext cx="253841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914400" imgH="342720" progId="Equation.3">
                  <p:embed/>
                </p:oleObj>
              </mc:Choice>
              <mc:Fallback>
                <p:oleObj name="方程式" r:id="rId3" imgW="914400" imgH="342720" progId="Equation.3">
                  <p:embed/>
                  <p:pic>
                    <p:nvPicPr>
                      <p:cNvPr id="3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844" y="1941520"/>
                        <a:ext cx="2538412" cy="947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Logistic Regression</a:t>
            </a:r>
            <a:endParaRPr lang="zh-TW" altLang="en-US" dirty="0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4798669" y="3488664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873323" y="4510282"/>
            <a:ext cx="596697" cy="584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99029" y="1897810"/>
            <a:ext cx="596697" cy="31839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>
            <a:stCxn id="18" idx="3"/>
            <a:endCxn id="22" idx="1"/>
          </p:cNvCxnSpPr>
          <p:nvPr/>
        </p:nvCxnSpPr>
        <p:spPr>
          <a:xfrm flipV="1">
            <a:off x="788106" y="3499109"/>
            <a:ext cx="2145559" cy="12533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/>
          <p:cNvSpPr/>
          <p:nvPr/>
        </p:nvSpPr>
        <p:spPr>
          <a:xfrm>
            <a:off x="4088237" y="2990203"/>
            <a:ext cx="941612" cy="9416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3617303" y="3101630"/>
          <a:ext cx="3524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26720" imgH="126720" progId="Equation.3">
                  <p:embed/>
                </p:oleObj>
              </mc:Choice>
              <mc:Fallback>
                <p:oleObj name="方程式" r:id="rId5" imgW="126720" imgH="126720" progId="Equation.3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303" y="3101630"/>
                        <a:ext cx="352425" cy="350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1241805" y="2006407"/>
          <a:ext cx="49371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15640" progId="Equation.3">
                  <p:embed/>
                </p:oleObj>
              </mc:Choice>
              <mc:Fallback>
                <p:oleObj name="方程式" r:id="rId7" imgW="177480" imgH="215640" progId="Equation.3">
                  <p:embed/>
                  <p:pic>
                    <p:nvPicPr>
                      <p:cNvPr id="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805" y="2006407"/>
                        <a:ext cx="493713" cy="595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1282025" y="2914881"/>
          <a:ext cx="4937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77480" imgH="228600" progId="Equation.3">
                  <p:embed/>
                </p:oleObj>
              </mc:Choice>
              <mc:Fallback>
                <p:oleObj name="方程式" r:id="rId9" imgW="177480" imgH="228600" progId="Equation.3">
                  <p:embed/>
                  <p:pic>
                    <p:nvPicPr>
                      <p:cNvPr id="1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025" y="2914881"/>
                        <a:ext cx="493712" cy="630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1241805" y="4050873"/>
          <a:ext cx="49371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77480" imgH="215640" progId="Equation.3">
                  <p:embed/>
                </p:oleObj>
              </mc:Choice>
              <mc:Fallback>
                <p:oleObj name="方程式" r:id="rId11" imgW="177480" imgH="215640" progId="Equation.3">
                  <p:embed/>
                  <p:pic>
                    <p:nvPicPr>
                      <p:cNvPr id="1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805" y="4050873"/>
                        <a:ext cx="493712" cy="595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線單箭頭接點 11"/>
          <p:cNvCxnSpPr/>
          <p:nvPr/>
        </p:nvCxnSpPr>
        <p:spPr>
          <a:xfrm flipV="1">
            <a:off x="3275179" y="3468507"/>
            <a:ext cx="80468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5" idx="3"/>
            <a:endCxn id="22" idx="1"/>
          </p:cNvCxnSpPr>
          <p:nvPr/>
        </p:nvCxnSpPr>
        <p:spPr>
          <a:xfrm>
            <a:off x="795726" y="3489780"/>
            <a:ext cx="2137939" cy="93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22" idx="1"/>
          </p:cNvCxnSpPr>
          <p:nvPr/>
        </p:nvCxnSpPr>
        <p:spPr>
          <a:xfrm>
            <a:off x="795726" y="2213577"/>
            <a:ext cx="2137939" cy="1285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 rot="5400000">
            <a:off x="191831" y="387824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280775" y="1855034"/>
          <a:ext cx="4953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77480" imgH="228600" progId="Equation.3">
                  <p:embed/>
                </p:oleObj>
              </mc:Choice>
              <mc:Fallback>
                <p:oleObj name="方程式" r:id="rId13" imgW="177480" imgH="228600" progId="Equation.3">
                  <p:embed/>
                  <p:pic>
                    <p:nvPicPr>
                      <p:cNvPr id="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75" y="1855034"/>
                        <a:ext cx="495300" cy="630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280775" y="3070652"/>
          <a:ext cx="49530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77480" imgH="241200" progId="Equation.3">
                  <p:embed/>
                </p:oleObj>
              </mc:Choice>
              <mc:Fallback>
                <p:oleObj name="方程式" r:id="rId15" imgW="177480" imgH="241200" progId="Equation.3">
                  <p:embed/>
                  <p:pic>
                    <p:nvPicPr>
                      <p:cNvPr id="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75" y="3070652"/>
                        <a:ext cx="495300" cy="665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272829" y="4436609"/>
          <a:ext cx="49688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177480" imgH="228600" progId="Equation.3">
                  <p:embed/>
                </p:oleObj>
              </mc:Choice>
              <mc:Fallback>
                <p:oleObj name="方程式" r:id="rId17" imgW="177480" imgH="228600" progId="Equation.3">
                  <p:embed/>
                  <p:pic>
                    <p:nvPicPr>
                      <p:cNvPr id="1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29" y="4436609"/>
                        <a:ext cx="496887" cy="630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群組 20"/>
          <p:cNvGrpSpPr/>
          <p:nvPr/>
        </p:nvGrpSpPr>
        <p:grpSpPr>
          <a:xfrm>
            <a:off x="2933665" y="3238949"/>
            <a:ext cx="520319" cy="520319"/>
            <a:chOff x="3342651" y="3507082"/>
            <a:chExt cx="520319" cy="520319"/>
          </a:xfrm>
        </p:grpSpPr>
        <p:sp>
          <p:nvSpPr>
            <p:cNvPr id="22" name="矩形 21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23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9" imgW="139680" imgH="139680" progId="Equation.3">
                    <p:embed/>
                  </p:oleObj>
                </mc:Choice>
                <mc:Fallback>
                  <p:oleObj name="方程式" r:id="rId19" imgW="139680" imgH="139680" progId="Equation.3">
                    <p:embed/>
                    <p:pic>
                      <p:nvPicPr>
                        <p:cNvPr id="2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2991361" y="4592800"/>
          <a:ext cx="3540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1" imgW="126720" imgH="177480" progId="Equation.3">
                  <p:embed/>
                </p:oleObj>
              </mc:Choice>
              <mc:Fallback>
                <p:oleObj name="方程式" r:id="rId21" imgW="126720" imgH="177480" progId="Equation.3">
                  <p:embed/>
                  <p:pic>
                    <p:nvPicPr>
                      <p:cNvPr id="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361" y="4592800"/>
                        <a:ext cx="354012" cy="488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線單箭頭接點 24"/>
          <p:cNvCxnSpPr/>
          <p:nvPr/>
        </p:nvCxnSpPr>
        <p:spPr>
          <a:xfrm flipV="1">
            <a:off x="3184872" y="3769712"/>
            <a:ext cx="0" cy="7547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12"/>
          <p:cNvGraphicFramePr>
            <a:graphicFrameLocks noChangeAspect="1"/>
          </p:cNvGraphicFramePr>
          <p:nvPr/>
        </p:nvGraphicFramePr>
        <p:xfrm>
          <a:off x="4155628" y="3185767"/>
          <a:ext cx="78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3" imgW="317160" imgH="215640" progId="Equation.3">
                  <p:embed/>
                </p:oleObj>
              </mc:Choice>
              <mc:Fallback>
                <p:oleObj name="方程式" r:id="rId23" imgW="317160" imgH="215640" progId="Equation.3">
                  <p:embed/>
                  <p:pic>
                    <p:nvPicPr>
                      <p:cNvPr id="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5628" y="3185767"/>
                        <a:ext cx="787400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字方塊 40"/>
          <p:cNvSpPr txBox="1"/>
          <p:nvPr/>
        </p:nvSpPr>
        <p:spPr>
          <a:xfrm rot="5400000">
            <a:off x="185030" y="255334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42" name="文字方塊 41"/>
          <p:cNvSpPr txBox="1"/>
          <p:nvPr/>
        </p:nvSpPr>
        <p:spPr>
          <a:xfrm rot="5400000">
            <a:off x="1217933" y="361168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43" name="文字方塊 42"/>
          <p:cNvSpPr txBox="1"/>
          <p:nvPr/>
        </p:nvSpPr>
        <p:spPr>
          <a:xfrm rot="5400000">
            <a:off x="1210408" y="263563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1074057" y="1855034"/>
            <a:ext cx="4185716" cy="332426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0" name="群組 39"/>
          <p:cNvGrpSpPr/>
          <p:nvPr/>
        </p:nvGrpSpPr>
        <p:grpSpPr>
          <a:xfrm>
            <a:off x="3793515" y="4139854"/>
            <a:ext cx="5297714" cy="2078894"/>
            <a:chOff x="3566162" y="4678338"/>
            <a:chExt cx="5297714" cy="2078894"/>
          </a:xfrm>
        </p:grpSpPr>
        <p:sp>
          <p:nvSpPr>
            <p:cNvPr id="45" name="圓角矩形圖說文字 63"/>
            <p:cNvSpPr/>
            <p:nvPr/>
          </p:nvSpPr>
          <p:spPr>
            <a:xfrm>
              <a:off x="3566162" y="4678338"/>
              <a:ext cx="5297714" cy="2078894"/>
            </a:xfrm>
            <a:prstGeom prst="wedgeRoundRectCallout">
              <a:avLst>
                <a:gd name="adj1" fmla="val -36525"/>
                <a:gd name="adj2" fmla="val -65840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5943645" y="4731685"/>
              <a:ext cx="2743688" cy="1838325"/>
              <a:chOff x="4096343" y="4657321"/>
              <a:chExt cx="2743688" cy="1838325"/>
            </a:xfrm>
          </p:grpSpPr>
          <p:pic>
            <p:nvPicPr>
              <p:cNvPr id="49" name="圖片 48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96343" y="4657321"/>
                <a:ext cx="2571750" cy="1838325"/>
              </a:xfrm>
              <a:prstGeom prst="rect">
                <a:avLst/>
              </a:prstGeom>
            </p:spPr>
          </p:pic>
          <p:graphicFrame>
            <p:nvGraphicFramePr>
              <p:cNvPr id="50" name="Object 12"/>
              <p:cNvGraphicFramePr>
                <a:graphicFrameLocks noChangeAspect="1"/>
              </p:cNvGraphicFramePr>
              <p:nvPr/>
            </p:nvGraphicFramePr>
            <p:xfrm>
              <a:off x="4474734" y="4768231"/>
              <a:ext cx="717072" cy="4897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26" imgW="317160" imgH="215640" progId="Equation.3">
                      <p:embed/>
                    </p:oleObj>
                  </mc:Choice>
                  <mc:Fallback>
                    <p:oleObj name="方程式" r:id="rId26" imgW="317160" imgH="215640" progId="Equation.3">
                      <p:embed/>
                      <p:pic>
                        <p:nvPicPr>
                          <p:cNvPr id="5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4734" y="4768231"/>
                            <a:ext cx="717072" cy="48974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12"/>
              <p:cNvGraphicFramePr>
                <a:graphicFrameLocks noChangeAspect="1"/>
              </p:cNvGraphicFramePr>
              <p:nvPr/>
            </p:nvGraphicFramePr>
            <p:xfrm>
              <a:off x="6512897" y="6101982"/>
              <a:ext cx="327134" cy="325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28" imgW="126720" imgH="126720" progId="Equation.3">
                      <p:embed/>
                    </p:oleObj>
                  </mc:Choice>
                  <mc:Fallback>
                    <p:oleObj name="方程式" r:id="rId28" imgW="126720" imgH="126720" progId="Equation.3">
                      <p:embed/>
                      <p:pic>
                        <p:nvPicPr>
                          <p:cNvPr id="51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2897" y="6101982"/>
                            <a:ext cx="327134" cy="32566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7" name="Object 12"/>
            <p:cNvGraphicFramePr>
              <a:graphicFrameLocks noChangeAspect="1"/>
            </p:cNvGraphicFramePr>
            <p:nvPr/>
          </p:nvGraphicFramePr>
          <p:xfrm>
            <a:off x="3800520" y="5368768"/>
            <a:ext cx="2143125" cy="973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0" imgW="863280" imgH="393480" progId="Equation.3">
                    <p:embed/>
                  </p:oleObj>
                </mc:Choice>
                <mc:Fallback>
                  <p:oleObj name="方程式" r:id="rId30" imgW="863280" imgH="393480" progId="Equation.3">
                    <p:embed/>
                    <p:pic>
                      <p:nvPicPr>
                        <p:cNvPr id="4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520" y="5368768"/>
                          <a:ext cx="2143125" cy="973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文字方塊 47"/>
            <p:cNvSpPr txBox="1"/>
            <p:nvPr/>
          </p:nvSpPr>
          <p:spPr>
            <a:xfrm>
              <a:off x="3800520" y="4795570"/>
              <a:ext cx="246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Sigmoid Function</a:t>
              </a:r>
              <a:endParaRPr lang="zh-TW" altLang="en-US" sz="2400" dirty="0"/>
            </a:p>
          </p:txBody>
        </p:sp>
      </p:grp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7212-BA17-4827-9773-40972E0CDC4A}" type="slidenum">
              <a:rPr lang="zh-TW" altLang="en-US" smtClean="0"/>
              <a:t>3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2"/>
              <p:cNvSpPr/>
              <p:nvPr/>
            </p:nvSpPr>
            <p:spPr>
              <a:xfrm>
                <a:off x="5202232" y="2599304"/>
                <a:ext cx="3671640" cy="14598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232" y="2599304"/>
                <a:ext cx="3671640" cy="1459823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99029" y="6263630"/>
                <a:ext cx="4249625" cy="3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&gt;0.5,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data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class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29" y="6263630"/>
                <a:ext cx="4249625" cy="381515"/>
              </a:xfrm>
              <a:prstGeom prst="rect">
                <a:avLst/>
              </a:prstGeom>
              <a:blipFill>
                <a:blip r:embed="rId3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346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E03F-DE87-17E6-7A14-27C1C0D6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Activation Functions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FF3D9-B37C-D37F-A709-5421D7ED2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88" y="1825625"/>
            <a:ext cx="78867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ea typeface="Calibri"/>
                <a:cs typeface="Calibri"/>
              </a:rPr>
              <a:t>Sigmoid</a:t>
            </a:r>
          </a:p>
          <a:p>
            <a:pPr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Tanh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ea typeface="Calibri"/>
                <a:cs typeface="Calibri"/>
              </a:rPr>
              <a:t>ReLU</a:t>
            </a:r>
          </a:p>
          <a:p>
            <a:pPr>
              <a:lnSpc>
                <a:spcPct val="150000"/>
              </a:lnSpc>
            </a:pPr>
            <a:r>
              <a:rPr lang="en-US" dirty="0">
                <a:ea typeface="Calibri"/>
                <a:cs typeface="Calibri"/>
              </a:rPr>
              <a:t>Leaky </a:t>
            </a:r>
            <a:r>
              <a:rPr lang="en-US" dirty="0" err="1">
                <a:ea typeface="Calibri"/>
                <a:cs typeface="Calibri"/>
              </a:rPr>
              <a:t>ReLU</a:t>
            </a:r>
          </a:p>
          <a:p>
            <a:pPr>
              <a:lnSpc>
                <a:spcPct val="150000"/>
              </a:lnSpc>
            </a:pPr>
            <a:r>
              <a:rPr lang="en-US" dirty="0">
                <a:ea typeface="Calibri"/>
                <a:cs typeface="Calibri"/>
              </a:rPr>
              <a:t>Swish</a:t>
            </a:r>
          </a:p>
          <a:p>
            <a:pPr>
              <a:lnSpc>
                <a:spcPct val="150000"/>
              </a:lnSpc>
            </a:pPr>
            <a:r>
              <a:rPr lang="en-US" dirty="0">
                <a:ea typeface="Calibri"/>
                <a:cs typeface="Calibri"/>
              </a:rPr>
              <a:t>…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7ED5E-92A3-5476-A159-5F97E903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9FBC873-8A04-C030-7D31-E4F8F8BE4B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62" b="16438"/>
          <a:stretch>
            <a:fillRect/>
          </a:stretch>
        </p:blipFill>
        <p:spPr>
          <a:xfrm>
            <a:off x="2320326" y="4946349"/>
            <a:ext cx="2206582" cy="440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8C315B-435F-E0D7-24B4-3E392868E8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" b="10945"/>
          <a:stretch>
            <a:fillRect/>
          </a:stretch>
        </p:blipFill>
        <p:spPr>
          <a:xfrm>
            <a:off x="2367052" y="4019011"/>
            <a:ext cx="1835565" cy="645309"/>
          </a:xfrm>
          <a:prstGeom prst="rect">
            <a:avLst/>
          </a:prstGeom>
        </p:spPr>
      </p:pic>
      <p:pic>
        <p:nvPicPr>
          <p:cNvPr id="7" name="Picture 6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B16F6AFF-2A54-4E7D-8A93-193E20748B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64" r="-9" b="9023"/>
          <a:stretch>
            <a:fillRect/>
          </a:stretch>
        </p:blipFill>
        <p:spPr>
          <a:xfrm>
            <a:off x="2320325" y="3441565"/>
            <a:ext cx="1874258" cy="427769"/>
          </a:xfrm>
          <a:prstGeom prst="rect">
            <a:avLst/>
          </a:prstGeom>
        </p:spPr>
      </p:pic>
      <p:pic>
        <p:nvPicPr>
          <p:cNvPr id="8" name="Picture 7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237369F8-8382-E7E8-48CC-D974E29489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836" b="10000"/>
          <a:stretch>
            <a:fillRect/>
          </a:stretch>
        </p:blipFill>
        <p:spPr>
          <a:xfrm>
            <a:off x="2234062" y="2714266"/>
            <a:ext cx="2498774" cy="5832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39AD29-17AA-2090-094B-C9D8D78C97C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164" b="10053"/>
          <a:stretch>
            <a:fillRect/>
          </a:stretch>
        </p:blipFill>
        <p:spPr>
          <a:xfrm>
            <a:off x="2367052" y="1923511"/>
            <a:ext cx="1882767" cy="612332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C0C454E-F45E-088C-4801-57F5E48723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341" t="4326" b="-60"/>
          <a:stretch>
            <a:fillRect/>
          </a:stretch>
        </p:blipFill>
        <p:spPr>
          <a:xfrm>
            <a:off x="4999726" y="2135820"/>
            <a:ext cx="4004104" cy="261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4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4962612" y="3516210"/>
            <a:ext cx="3561818" cy="3206261"/>
            <a:chOff x="4962612" y="3516210"/>
            <a:chExt cx="3561818" cy="3206261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2840" y="3669596"/>
              <a:ext cx="3421590" cy="2970942"/>
            </a:xfrm>
            <a:prstGeom prst="rect">
              <a:avLst/>
            </a:prstGeom>
          </p:spPr>
        </p:pic>
        <p:graphicFrame>
          <p:nvGraphicFramePr>
            <p:cNvPr id="30" name="Object 12"/>
            <p:cNvGraphicFramePr>
              <a:graphicFrameLocks noChangeAspect="1"/>
            </p:cNvGraphicFramePr>
            <p:nvPr/>
          </p:nvGraphicFramePr>
          <p:xfrm>
            <a:off x="8019078" y="6127158"/>
            <a:ext cx="425450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152280" imgH="215640" progId="Equation.3">
                    <p:embed/>
                  </p:oleObj>
                </mc:Choice>
                <mc:Fallback>
                  <p:oleObj name="方程式" r:id="rId4" imgW="152280" imgH="215640" progId="Equation.3">
                    <p:embed/>
                    <p:pic>
                      <p:nvPicPr>
                        <p:cNvPr id="3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9078" y="6127158"/>
                          <a:ext cx="425450" cy="5953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2"/>
            <p:cNvGraphicFramePr>
              <a:graphicFrameLocks noChangeAspect="1"/>
            </p:cNvGraphicFramePr>
            <p:nvPr/>
          </p:nvGraphicFramePr>
          <p:xfrm>
            <a:off x="4962612" y="3516210"/>
            <a:ext cx="457200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164880" imgH="215640" progId="Equation.3">
                    <p:embed/>
                  </p:oleObj>
                </mc:Choice>
                <mc:Fallback>
                  <p:oleObj name="方程式" r:id="rId6" imgW="164880" imgH="215640" progId="Equation.3">
                    <p:embed/>
                    <p:pic>
                      <p:nvPicPr>
                        <p:cNvPr id="3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612" y="3516210"/>
                          <a:ext cx="457200" cy="5953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Limitation of Logistic Regression</a:t>
            </a:r>
            <a:endParaRPr lang="zh-TW" altLang="en-US" dirty="0"/>
          </a:p>
        </p:txBody>
      </p:sp>
      <p:graphicFrame>
        <p:nvGraphicFramePr>
          <p:cNvPr id="47" name="表格 46"/>
          <p:cNvGraphicFramePr>
            <a:graphicFrameLocks noGrp="1"/>
          </p:cNvGraphicFramePr>
          <p:nvPr/>
        </p:nvGraphicFramePr>
        <p:xfrm>
          <a:off x="729402" y="3718925"/>
          <a:ext cx="3659532" cy="274320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21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Input Feature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Label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/>
                        <a:t>x</a:t>
                      </a:r>
                      <a:r>
                        <a:rPr lang="en-US" altLang="zh-TW" sz="2400" baseline="-250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/>
                        <a:t>x</a:t>
                      </a:r>
                      <a:r>
                        <a:rPr lang="en-US" altLang="zh-TW" sz="2400" baseline="-250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Class</a:t>
                      </a:r>
                      <a:r>
                        <a:rPr lang="en-US" altLang="zh-TW" sz="2400" baseline="0" dirty="0">
                          <a:solidFill>
                            <a:srgbClr val="0000FF"/>
                          </a:solidFill>
                        </a:rPr>
                        <a:t> 2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Class 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Class</a:t>
                      </a:r>
                      <a:r>
                        <a:rPr lang="en-US" altLang="zh-TW" sz="2400" baseline="0" dirty="0">
                          <a:solidFill>
                            <a:srgbClr val="FF0000"/>
                          </a:solidFill>
                        </a:rPr>
                        <a:t> 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Class</a:t>
                      </a:r>
                      <a:r>
                        <a:rPr lang="en-US" altLang="zh-TW" sz="2400" baseline="0" dirty="0">
                          <a:solidFill>
                            <a:srgbClr val="0000FF"/>
                          </a:solidFill>
                        </a:rPr>
                        <a:t> 2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2" name="群組 41"/>
          <p:cNvGrpSpPr/>
          <p:nvPr/>
        </p:nvGrpSpPr>
        <p:grpSpPr>
          <a:xfrm>
            <a:off x="331554" y="1599940"/>
            <a:ext cx="4384090" cy="1993608"/>
            <a:chOff x="4950833" y="25634"/>
            <a:chExt cx="4384090" cy="1993608"/>
          </a:xfrm>
        </p:grpSpPr>
        <p:sp>
          <p:nvSpPr>
            <p:cNvPr id="9" name="橢圓 8"/>
            <p:cNvSpPr/>
            <p:nvPr/>
          </p:nvSpPr>
          <p:spPr>
            <a:xfrm>
              <a:off x="7313925" y="590377"/>
              <a:ext cx="772783" cy="772783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graphicFrame>
          <p:nvGraphicFramePr>
            <p:cNvPr id="10" name="Object 12"/>
            <p:cNvGraphicFramePr>
              <a:graphicFrameLocks noChangeAspect="1"/>
            </p:cNvGraphicFramePr>
            <p:nvPr/>
          </p:nvGraphicFramePr>
          <p:xfrm>
            <a:off x="8982054" y="772456"/>
            <a:ext cx="352869" cy="4140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139680" imgH="164880" progId="Equation.3">
                    <p:embed/>
                  </p:oleObj>
                </mc:Choice>
                <mc:Fallback>
                  <p:oleObj name="方程式" r:id="rId8" imgW="139680" imgH="164880" progId="Equation.3">
                    <p:embed/>
                    <p:pic>
                      <p:nvPicPr>
                        <p:cNvPr id="1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82054" y="772456"/>
                          <a:ext cx="352869" cy="41408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群組 10"/>
            <p:cNvGrpSpPr/>
            <p:nvPr/>
          </p:nvGrpSpPr>
          <p:grpSpPr>
            <a:xfrm>
              <a:off x="6179997" y="730888"/>
              <a:ext cx="520319" cy="520319"/>
              <a:chOff x="3342651" y="3507082"/>
              <a:chExt cx="520319" cy="520319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342651" y="3507082"/>
                <a:ext cx="520319" cy="52031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13" name="Object 12"/>
              <p:cNvGraphicFramePr>
                <a:graphicFrameLocks noChangeAspect="1"/>
              </p:cNvGraphicFramePr>
              <p:nvPr/>
            </p:nvGraphicFramePr>
            <p:xfrm>
              <a:off x="3435128" y="3545009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10" imgW="139680" imgH="139680" progId="Equation.3">
                      <p:embed/>
                    </p:oleObj>
                  </mc:Choice>
                  <mc:Fallback>
                    <p:oleObj name="方程式" r:id="rId10" imgW="139680" imgH="139680" progId="Equation.3">
                      <p:embed/>
                      <p:pic>
                        <p:nvPicPr>
                          <p:cNvPr id="13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5128" y="3545009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Object 12"/>
            <p:cNvGraphicFramePr>
              <a:graphicFrameLocks noChangeAspect="1"/>
            </p:cNvGraphicFramePr>
            <p:nvPr/>
          </p:nvGraphicFramePr>
          <p:xfrm>
            <a:off x="6844972" y="555469"/>
            <a:ext cx="352425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2" imgW="126720" imgH="126720" progId="Equation.3">
                    <p:embed/>
                  </p:oleObj>
                </mc:Choice>
                <mc:Fallback>
                  <p:oleObj name="方程式" r:id="rId12" imgW="126720" imgH="126720" progId="Equation.3">
                    <p:embed/>
                    <p:pic>
                      <p:nvPicPr>
                        <p:cNvPr id="1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4972" y="555469"/>
                          <a:ext cx="352425" cy="3508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5408033" y="25634"/>
            <a:ext cx="493713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4" imgW="177480" imgH="215640" progId="Equation.3">
                    <p:embed/>
                  </p:oleObj>
                </mc:Choice>
                <mc:Fallback>
                  <p:oleObj name="方程式" r:id="rId14" imgW="177480" imgH="215640" progId="Equation.3">
                    <p:embed/>
                    <p:pic>
                      <p:nvPicPr>
                        <p:cNvPr id="1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8033" y="25634"/>
                          <a:ext cx="493713" cy="5953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5355663" y="757683"/>
            <a:ext cx="528638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6" imgW="190440" imgH="215640" progId="Equation.3">
                    <p:embed/>
                  </p:oleObj>
                </mc:Choice>
                <mc:Fallback>
                  <p:oleObj name="方程式" r:id="rId16" imgW="190440" imgH="21564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5663" y="757683"/>
                          <a:ext cx="528638" cy="5953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直線單箭頭接點 17"/>
            <p:cNvCxnSpPr>
              <a:stCxn id="9" idx="6"/>
            </p:cNvCxnSpPr>
            <p:nvPr/>
          </p:nvCxnSpPr>
          <p:spPr>
            <a:xfrm>
              <a:off x="8086708" y="976769"/>
              <a:ext cx="86323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/>
            <p:nvPr/>
          </p:nvCxnSpPr>
          <p:spPr>
            <a:xfrm flipV="1">
              <a:off x="6712011" y="998547"/>
              <a:ext cx="618349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endCxn id="12" idx="1"/>
            </p:cNvCxnSpPr>
            <p:nvPr/>
          </p:nvCxnSpPr>
          <p:spPr>
            <a:xfrm>
              <a:off x="5389072" y="393260"/>
              <a:ext cx="790925" cy="5977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endCxn id="12" idx="1"/>
            </p:cNvCxnSpPr>
            <p:nvPr/>
          </p:nvCxnSpPr>
          <p:spPr>
            <a:xfrm flipV="1">
              <a:off x="5383680" y="991048"/>
              <a:ext cx="796317" cy="65373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4" name="Object 12"/>
            <p:cNvGraphicFramePr>
              <a:graphicFrameLocks noChangeAspect="1"/>
            </p:cNvGraphicFramePr>
            <p:nvPr/>
          </p:nvGraphicFramePr>
          <p:xfrm>
            <a:off x="4982583" y="25634"/>
            <a:ext cx="425450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152280" imgH="215640" progId="Equation.3">
                    <p:embed/>
                  </p:oleObj>
                </mc:Choice>
                <mc:Fallback>
                  <p:oleObj name="方程式" r:id="rId4" imgW="152280" imgH="215640" progId="Equation.3">
                    <p:embed/>
                    <p:pic>
                      <p:nvPicPr>
                        <p:cNvPr id="2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2583" y="25634"/>
                          <a:ext cx="425450" cy="5953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2"/>
            <p:cNvGraphicFramePr>
              <a:graphicFrameLocks noChangeAspect="1"/>
            </p:cNvGraphicFramePr>
            <p:nvPr/>
          </p:nvGraphicFramePr>
          <p:xfrm>
            <a:off x="4950833" y="1282830"/>
            <a:ext cx="457200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164880" imgH="215640" progId="Equation.3">
                    <p:embed/>
                  </p:oleObj>
                </mc:Choice>
                <mc:Fallback>
                  <p:oleObj name="方程式" r:id="rId6" imgW="164880" imgH="215640" progId="Equation.3">
                    <p:embed/>
                    <p:pic>
                      <p:nvPicPr>
                        <p:cNvPr id="2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0833" y="1282830"/>
                          <a:ext cx="457200" cy="5953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手繪多邊形 4"/>
            <p:cNvSpPr/>
            <p:nvPr/>
          </p:nvSpPr>
          <p:spPr>
            <a:xfrm>
              <a:off x="7409391" y="786616"/>
              <a:ext cx="534578" cy="385762"/>
            </a:xfrm>
            <a:custGeom>
              <a:avLst/>
              <a:gdLst>
                <a:gd name="connsiteX0" fmla="*/ 0 w 638175"/>
                <a:gd name="connsiteY0" fmla="*/ 409575 h 415258"/>
                <a:gd name="connsiteX1" fmla="*/ 304800 w 638175"/>
                <a:gd name="connsiteY1" fmla="*/ 371475 h 415258"/>
                <a:gd name="connsiteX2" fmla="*/ 409575 w 638175"/>
                <a:gd name="connsiteY2" fmla="*/ 85725 h 415258"/>
                <a:gd name="connsiteX3" fmla="*/ 638175 w 638175"/>
                <a:gd name="connsiteY3" fmla="*/ 0 h 41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175" h="415258">
                  <a:moveTo>
                    <a:pt x="0" y="409575"/>
                  </a:moveTo>
                  <a:cubicBezTo>
                    <a:pt x="118269" y="417512"/>
                    <a:pt x="236538" y="425450"/>
                    <a:pt x="304800" y="371475"/>
                  </a:cubicBezTo>
                  <a:cubicBezTo>
                    <a:pt x="373062" y="317500"/>
                    <a:pt x="354013" y="147637"/>
                    <a:pt x="409575" y="85725"/>
                  </a:cubicBezTo>
                  <a:cubicBezTo>
                    <a:pt x="465138" y="23812"/>
                    <a:pt x="551656" y="11906"/>
                    <a:pt x="638175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36" name="Object 12"/>
            <p:cNvGraphicFramePr>
              <a:graphicFrameLocks noChangeAspect="1"/>
            </p:cNvGraphicFramePr>
            <p:nvPr/>
          </p:nvGraphicFramePr>
          <p:xfrm>
            <a:off x="6256991" y="1528705"/>
            <a:ext cx="352425" cy="490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8" imgW="126720" imgH="177480" progId="Equation.3">
                    <p:embed/>
                  </p:oleObj>
                </mc:Choice>
                <mc:Fallback>
                  <p:oleObj name="方程式" r:id="rId18" imgW="126720" imgH="177480" progId="Equation.3">
                    <p:embed/>
                    <p:pic>
                      <p:nvPicPr>
                        <p:cNvPr id="3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6991" y="1528705"/>
                          <a:ext cx="352425" cy="4905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7" name="直線單箭頭接點 36"/>
            <p:cNvCxnSpPr/>
            <p:nvPr/>
          </p:nvCxnSpPr>
          <p:spPr>
            <a:xfrm flipV="1">
              <a:off x="6440156" y="1251207"/>
              <a:ext cx="0" cy="2922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9" name="Object 12"/>
          <p:cNvGraphicFramePr>
            <a:graphicFrameLocks noChangeAspect="1"/>
          </p:cNvGraphicFramePr>
          <p:nvPr/>
        </p:nvGraphicFramePr>
        <p:xfrm>
          <a:off x="1646158" y="1433142"/>
          <a:ext cx="29987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0" imgW="1168200" imgH="215640" progId="Equation.3">
                  <p:embed/>
                </p:oleObj>
              </mc:Choice>
              <mc:Fallback>
                <p:oleObj name="方程式" r:id="rId20" imgW="1168200" imgH="215640" progId="Equation.3">
                  <p:embed/>
                  <p:pic>
                    <p:nvPicPr>
                      <p:cNvPr id="3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158" y="1433142"/>
                        <a:ext cx="2998787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419812" y="4269447"/>
            <a:ext cx="78404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z ≥ 0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439788" y="5475378"/>
            <a:ext cx="824712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z ≥ 0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7458400" y="4276285"/>
            <a:ext cx="80610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z &lt; 0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5409495" y="5475379"/>
            <a:ext cx="794357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z &lt; 0</a:t>
            </a:r>
            <a:endParaRPr lang="zh-TW" altLang="en-US" sz="2400" dirty="0"/>
          </a:p>
        </p:txBody>
      </p:sp>
      <p:cxnSp>
        <p:nvCxnSpPr>
          <p:cNvPr id="43" name="直線接點 42"/>
          <p:cNvCxnSpPr>
            <a:cxnSpLocks/>
          </p:cNvCxnSpPr>
          <p:nvPr/>
        </p:nvCxnSpPr>
        <p:spPr>
          <a:xfrm flipH="1">
            <a:off x="5922212" y="4370281"/>
            <a:ext cx="2662544" cy="201029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7212-BA17-4827-9773-40972E0CDC4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51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5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Limitation of Logistic Regression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Feature Transformation </a:t>
            </a:r>
            <a:endParaRPr lang="zh-TW" altLang="en-US" dirty="0"/>
          </a:p>
        </p:txBody>
      </p:sp>
      <p:grpSp>
        <p:nvGrpSpPr>
          <p:cNvPr id="13" name="群組 12"/>
          <p:cNvGrpSpPr/>
          <p:nvPr/>
        </p:nvGrpSpPr>
        <p:grpSpPr>
          <a:xfrm>
            <a:off x="762532" y="3454567"/>
            <a:ext cx="3561818" cy="3206261"/>
            <a:chOff x="4962612" y="3516210"/>
            <a:chExt cx="3561818" cy="3206261"/>
          </a:xfrm>
        </p:grpSpPr>
        <p:pic>
          <p:nvPicPr>
            <p:cNvPr id="14" name="圖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2840" y="3669596"/>
              <a:ext cx="3421590" cy="2970942"/>
            </a:xfrm>
            <a:prstGeom prst="rect">
              <a:avLst/>
            </a:prstGeom>
          </p:spPr>
        </p:pic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8019078" y="6127158"/>
            <a:ext cx="425450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152280" imgH="215640" progId="Equation.3">
                    <p:embed/>
                  </p:oleObj>
                </mc:Choice>
                <mc:Fallback>
                  <p:oleObj name="方程式" r:id="rId4" imgW="152280" imgH="215640" progId="Equation.3">
                    <p:embed/>
                    <p:pic>
                      <p:nvPicPr>
                        <p:cNvPr id="1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9078" y="6127158"/>
                          <a:ext cx="425450" cy="5953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4962612" y="3516210"/>
            <a:ext cx="457200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164880" imgH="215640" progId="Equation.3">
                    <p:embed/>
                  </p:oleObj>
                </mc:Choice>
                <mc:Fallback>
                  <p:oleObj name="方程式" r:id="rId6" imgW="164880" imgH="21564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612" y="3516210"/>
                          <a:ext cx="457200" cy="5953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396756" y="5294215"/>
                <a:ext cx="463652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56" y="5294215"/>
                <a:ext cx="463652" cy="6158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146906" y="4049880"/>
                <a:ext cx="463652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906" y="4049880"/>
                <a:ext cx="463652" cy="6134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396756" y="4072521"/>
                <a:ext cx="463652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56" y="4072521"/>
                <a:ext cx="463652" cy="6134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146906" y="5296587"/>
                <a:ext cx="463652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906" y="5296587"/>
                <a:ext cx="463652" cy="6158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892691" y="2867522"/>
                <a:ext cx="596830" cy="614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91" y="2867522"/>
                <a:ext cx="596830" cy="6149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804291" y="2800676"/>
                <a:ext cx="605294" cy="7493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291" y="2800676"/>
                <a:ext cx="605294" cy="7493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箭號: 向右 18"/>
          <p:cNvSpPr/>
          <p:nvPr/>
        </p:nvSpPr>
        <p:spPr>
          <a:xfrm>
            <a:off x="1533971" y="3101661"/>
            <a:ext cx="3225870" cy="1957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4937156" y="1575133"/>
                <a:ext cx="2348224" cy="12292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400" dirty="0"/>
                  <a:t>: distance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zh-TW" altLang="en-US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400" dirty="0"/>
                  <a:t>: distance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156" y="1575133"/>
                <a:ext cx="2348224" cy="1229247"/>
              </a:xfrm>
              <a:prstGeom prst="rect">
                <a:avLst/>
              </a:prstGeom>
              <a:blipFill>
                <a:blip r:embed="rId14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443122" y="3863128"/>
                <a:ext cx="674224" cy="669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zh-TW" alt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122" y="3863128"/>
                <a:ext cx="674224" cy="66935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565808" y="5323351"/>
                <a:ext cx="463652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808" y="5323351"/>
                <a:ext cx="463652" cy="6134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8109326" y="6066922"/>
                <a:ext cx="4945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26" y="6066922"/>
                <a:ext cx="494548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4688951" y="3685972"/>
                <a:ext cx="4945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51" y="3685972"/>
                <a:ext cx="494548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單箭頭接點 31"/>
          <p:cNvCxnSpPr/>
          <p:nvPr/>
        </p:nvCxnSpPr>
        <p:spPr>
          <a:xfrm>
            <a:off x="4997444" y="6004257"/>
            <a:ext cx="33591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H="1" flipV="1">
            <a:off x="5300081" y="3783636"/>
            <a:ext cx="0" cy="26646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>
            <a:off x="5206537" y="4099572"/>
            <a:ext cx="177800" cy="177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7651188" y="5194394"/>
                <a:ext cx="674224" cy="707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ad>
                                <m:radPr>
                                  <m:degHide m:val="on"/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188" y="5194394"/>
                <a:ext cx="674224" cy="70769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橢圓 40"/>
          <p:cNvSpPr/>
          <p:nvPr/>
        </p:nvSpPr>
        <p:spPr>
          <a:xfrm>
            <a:off x="7376586" y="5900415"/>
            <a:ext cx="177800" cy="1778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6016760" y="5212407"/>
            <a:ext cx="189016" cy="189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接點 43"/>
          <p:cNvCxnSpPr/>
          <p:nvPr/>
        </p:nvCxnSpPr>
        <p:spPr>
          <a:xfrm>
            <a:off x="5125656" y="4264672"/>
            <a:ext cx="2343532" cy="19388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6348229" y="2925646"/>
            <a:ext cx="2587253" cy="13849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Not always easy to find a good transformation</a:t>
            </a:r>
            <a:endParaRPr lang="zh-TW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7212-BA17-4827-9773-40972E0CDC4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56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  <p:bldP spid="25" grpId="0"/>
      <p:bldP spid="28" grpId="0"/>
      <p:bldP spid="29" grpId="0" animBg="1"/>
      <p:bldP spid="30" grpId="0" animBg="1"/>
      <p:bldP spid="38" grpId="0" animBg="1"/>
      <p:bldP spid="40" grpId="0"/>
      <p:bldP spid="41" grpId="0" animBg="1"/>
      <p:bldP spid="42" grpId="0" animBg="1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855A-C6E8-9860-11F7-BB3EC01D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DA373-82AB-AA3A-79D4-C635E68B9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GB" dirty="0"/>
              <a:t>- Can increase complexity-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dirty="0"/>
              <a:t>- May cause information loss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dirty="0"/>
              <a:t>- Can increase the number of features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dirty="0"/>
              <a:t>- Interpretability may decrease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2D368-5D95-1A6A-7E4C-A6B2D704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259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線單箭頭接點 59"/>
          <p:cNvCxnSpPr/>
          <p:nvPr/>
        </p:nvCxnSpPr>
        <p:spPr>
          <a:xfrm>
            <a:off x="3979612" y="3322241"/>
            <a:ext cx="72895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Limitation of Logistic Regression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Cascading logistic regression models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>
            <a:off x="7616569" y="4127857"/>
            <a:ext cx="5990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3995441" y="5010462"/>
            <a:ext cx="72895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/>
          <p:cNvSpPr/>
          <p:nvPr/>
        </p:nvSpPr>
        <p:spPr>
          <a:xfrm>
            <a:off x="3454749" y="2914071"/>
            <a:ext cx="772783" cy="77278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-25000" dirty="0"/>
          </a:p>
        </p:txBody>
      </p:sp>
      <p:grpSp>
        <p:nvGrpSpPr>
          <p:cNvPr id="9" name="群組 8"/>
          <p:cNvGrpSpPr/>
          <p:nvPr/>
        </p:nvGrpSpPr>
        <p:grpSpPr>
          <a:xfrm>
            <a:off x="2270022" y="3054582"/>
            <a:ext cx="520319" cy="520319"/>
            <a:chOff x="3342651" y="3507082"/>
            <a:chExt cx="520319" cy="520319"/>
          </a:xfrm>
        </p:grpSpPr>
        <p:sp>
          <p:nvSpPr>
            <p:cNvPr id="10" name="矩形 9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139680" imgH="139680" progId="Equation.3">
                    <p:embed/>
                  </p:oleObj>
                </mc:Choice>
                <mc:Fallback>
                  <p:oleObj name="方程式" r:id="rId2" imgW="139680" imgH="13968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899726" y="2757486"/>
          <a:ext cx="422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9726" y="2757486"/>
                        <a:ext cx="422275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線單箭頭接點 12"/>
          <p:cNvCxnSpPr/>
          <p:nvPr/>
        </p:nvCxnSpPr>
        <p:spPr>
          <a:xfrm flipV="1">
            <a:off x="2802036" y="3322241"/>
            <a:ext cx="618349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10" idx="1"/>
          </p:cNvCxnSpPr>
          <p:nvPr/>
        </p:nvCxnSpPr>
        <p:spPr>
          <a:xfrm flipV="1">
            <a:off x="1106408" y="3314742"/>
            <a:ext cx="11636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endCxn id="10" idx="1"/>
          </p:cNvCxnSpPr>
          <p:nvPr/>
        </p:nvCxnSpPr>
        <p:spPr>
          <a:xfrm flipV="1">
            <a:off x="1039883" y="3314742"/>
            <a:ext cx="1230139" cy="14895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>
          <a:xfrm>
            <a:off x="3485168" y="4601369"/>
            <a:ext cx="772783" cy="77278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-25000" dirty="0"/>
          </a:p>
        </p:txBody>
      </p:sp>
      <p:grpSp>
        <p:nvGrpSpPr>
          <p:cNvPr id="17" name="群組 16"/>
          <p:cNvGrpSpPr/>
          <p:nvPr/>
        </p:nvGrpSpPr>
        <p:grpSpPr>
          <a:xfrm>
            <a:off x="2334744" y="4737035"/>
            <a:ext cx="520319" cy="520319"/>
            <a:chOff x="3342651" y="3507082"/>
            <a:chExt cx="520319" cy="520319"/>
          </a:xfrm>
        </p:grpSpPr>
        <p:sp>
          <p:nvSpPr>
            <p:cNvPr id="18" name="矩形 17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9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139680" imgH="139680" progId="Equation.3">
                    <p:embed/>
                  </p:oleObj>
                </mc:Choice>
                <mc:Fallback>
                  <p:oleObj name="方程式" r:id="rId2" imgW="139680" imgH="139680" progId="Equation.3">
                    <p:embed/>
                    <p:pic>
                      <p:nvPicPr>
                        <p:cNvPr id="1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2963918" y="4422097"/>
          <a:ext cx="45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918" y="4422097"/>
                        <a:ext cx="458788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線單箭頭接點 20"/>
          <p:cNvCxnSpPr/>
          <p:nvPr/>
        </p:nvCxnSpPr>
        <p:spPr>
          <a:xfrm flipV="1">
            <a:off x="2866819" y="5020530"/>
            <a:ext cx="618349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25" idx="3"/>
            <a:endCxn id="18" idx="1"/>
          </p:cNvCxnSpPr>
          <p:nvPr/>
        </p:nvCxnSpPr>
        <p:spPr>
          <a:xfrm flipV="1">
            <a:off x="1081962" y="4997195"/>
            <a:ext cx="125278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endCxn id="18" idx="1"/>
          </p:cNvCxnSpPr>
          <p:nvPr/>
        </p:nvCxnSpPr>
        <p:spPr>
          <a:xfrm>
            <a:off x="1039883" y="3540737"/>
            <a:ext cx="1294861" cy="14564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659323" y="2914113"/>
          <a:ext cx="4238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52280" imgH="215640" progId="Equation.3">
                  <p:embed/>
                </p:oleObj>
              </mc:Choice>
              <mc:Fallback>
                <p:oleObj name="方程式" r:id="rId8" imgW="152280" imgH="215640" progId="Equation.3">
                  <p:embed/>
                  <p:pic>
                    <p:nvPicPr>
                      <p:cNvPr id="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323" y="2914113"/>
                        <a:ext cx="423862" cy="596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624762" y="4723585"/>
          <a:ext cx="4572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64880" imgH="215640" progId="Equation.3">
                  <p:embed/>
                </p:oleObj>
              </mc:Choice>
              <mc:Fallback>
                <p:oleObj name="方程式" r:id="rId10" imgW="164880" imgH="215640" progId="Equation.3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762" y="4723585"/>
                        <a:ext cx="457200" cy="595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橢圓 25"/>
          <p:cNvSpPr/>
          <p:nvPr/>
        </p:nvSpPr>
        <p:spPr>
          <a:xfrm>
            <a:off x="7051585" y="3719686"/>
            <a:ext cx="772783" cy="77278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8258175" y="3898900"/>
          <a:ext cx="3873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2" imgW="139680" imgH="164880" progId="Equation.3">
                  <p:embed/>
                </p:oleObj>
              </mc:Choice>
              <mc:Fallback>
                <p:oleObj name="方程式" r:id="rId12" imgW="139680" imgH="164880" progId="Equation.3">
                  <p:embed/>
                  <p:pic>
                    <p:nvPicPr>
                      <p:cNvPr id="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175" y="3898900"/>
                        <a:ext cx="387350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群組 27"/>
          <p:cNvGrpSpPr/>
          <p:nvPr/>
        </p:nvGrpSpPr>
        <p:grpSpPr>
          <a:xfrm>
            <a:off x="5917657" y="3860197"/>
            <a:ext cx="520319" cy="520320"/>
            <a:chOff x="3342651" y="3507082"/>
            <a:chExt cx="520319" cy="520319"/>
          </a:xfrm>
        </p:grpSpPr>
        <p:sp>
          <p:nvSpPr>
            <p:cNvPr id="29" name="矩形 28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30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139680" imgH="139680" progId="Equation.3">
                    <p:embed/>
                  </p:oleObj>
                </mc:Choice>
                <mc:Fallback>
                  <p:oleObj name="方程式" r:id="rId2" imgW="139680" imgH="139680" progId="Equation.3">
                    <p:embed/>
                    <p:pic>
                      <p:nvPicPr>
                        <p:cNvPr id="3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12"/>
          <p:cNvGraphicFramePr>
            <a:graphicFrameLocks noChangeAspect="1"/>
          </p:cNvGraphicFramePr>
          <p:nvPr/>
        </p:nvGraphicFramePr>
        <p:xfrm>
          <a:off x="6582632" y="3684778"/>
          <a:ext cx="35242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4" imgW="126720" imgH="126720" progId="Equation.3">
                  <p:embed/>
                </p:oleObj>
              </mc:Choice>
              <mc:Fallback>
                <p:oleObj name="方程式" r:id="rId14" imgW="126720" imgH="126720" progId="Equation.3">
                  <p:embed/>
                  <p:pic>
                    <p:nvPicPr>
                      <p:cNvPr id="3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2632" y="3684778"/>
                        <a:ext cx="352425" cy="350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線單箭頭接點 31"/>
          <p:cNvCxnSpPr/>
          <p:nvPr/>
        </p:nvCxnSpPr>
        <p:spPr>
          <a:xfrm flipV="1">
            <a:off x="6449671" y="4127857"/>
            <a:ext cx="618349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54" idx="3"/>
            <a:endCxn id="29" idx="1"/>
          </p:cNvCxnSpPr>
          <p:nvPr/>
        </p:nvCxnSpPr>
        <p:spPr>
          <a:xfrm>
            <a:off x="5233797" y="3311922"/>
            <a:ext cx="683860" cy="8084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手繪多邊形 54"/>
          <p:cNvSpPr/>
          <p:nvPr/>
        </p:nvSpPr>
        <p:spPr>
          <a:xfrm>
            <a:off x="3492363" y="3121860"/>
            <a:ext cx="534578" cy="385762"/>
          </a:xfrm>
          <a:custGeom>
            <a:avLst/>
            <a:gdLst>
              <a:gd name="connsiteX0" fmla="*/ 0 w 638175"/>
              <a:gd name="connsiteY0" fmla="*/ 409575 h 415258"/>
              <a:gd name="connsiteX1" fmla="*/ 304800 w 638175"/>
              <a:gd name="connsiteY1" fmla="*/ 371475 h 415258"/>
              <a:gd name="connsiteX2" fmla="*/ 409575 w 638175"/>
              <a:gd name="connsiteY2" fmla="*/ 85725 h 415258"/>
              <a:gd name="connsiteX3" fmla="*/ 638175 w 638175"/>
              <a:gd name="connsiteY3" fmla="*/ 0 h 4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175" h="415258">
                <a:moveTo>
                  <a:pt x="0" y="409575"/>
                </a:moveTo>
                <a:cubicBezTo>
                  <a:pt x="118269" y="417512"/>
                  <a:pt x="236538" y="425450"/>
                  <a:pt x="304800" y="371475"/>
                </a:cubicBezTo>
                <a:cubicBezTo>
                  <a:pt x="373062" y="317500"/>
                  <a:pt x="354013" y="147637"/>
                  <a:pt x="409575" y="85725"/>
                </a:cubicBezTo>
                <a:cubicBezTo>
                  <a:pt x="465138" y="23812"/>
                  <a:pt x="551656" y="11906"/>
                  <a:pt x="638175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55"/>
          <p:cNvSpPr/>
          <p:nvPr/>
        </p:nvSpPr>
        <p:spPr>
          <a:xfrm>
            <a:off x="3563512" y="4804313"/>
            <a:ext cx="534578" cy="385762"/>
          </a:xfrm>
          <a:custGeom>
            <a:avLst/>
            <a:gdLst>
              <a:gd name="connsiteX0" fmla="*/ 0 w 638175"/>
              <a:gd name="connsiteY0" fmla="*/ 409575 h 415258"/>
              <a:gd name="connsiteX1" fmla="*/ 304800 w 638175"/>
              <a:gd name="connsiteY1" fmla="*/ 371475 h 415258"/>
              <a:gd name="connsiteX2" fmla="*/ 409575 w 638175"/>
              <a:gd name="connsiteY2" fmla="*/ 85725 h 415258"/>
              <a:gd name="connsiteX3" fmla="*/ 638175 w 638175"/>
              <a:gd name="connsiteY3" fmla="*/ 0 h 4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175" h="415258">
                <a:moveTo>
                  <a:pt x="0" y="409575"/>
                </a:moveTo>
                <a:cubicBezTo>
                  <a:pt x="118269" y="417512"/>
                  <a:pt x="236538" y="425450"/>
                  <a:pt x="304800" y="371475"/>
                </a:cubicBezTo>
                <a:cubicBezTo>
                  <a:pt x="373062" y="317500"/>
                  <a:pt x="354013" y="147637"/>
                  <a:pt x="409575" y="85725"/>
                </a:cubicBezTo>
                <a:cubicBezTo>
                  <a:pt x="465138" y="23812"/>
                  <a:pt x="551656" y="11906"/>
                  <a:pt x="638175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單箭頭接點 47"/>
          <p:cNvCxnSpPr>
            <a:stCxn id="55" idx="3"/>
            <a:endCxn id="29" idx="1"/>
          </p:cNvCxnSpPr>
          <p:nvPr/>
        </p:nvCxnSpPr>
        <p:spPr>
          <a:xfrm flipV="1">
            <a:off x="5218336" y="4120357"/>
            <a:ext cx="699321" cy="8482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手繪多邊形 82"/>
          <p:cNvSpPr/>
          <p:nvPr/>
        </p:nvSpPr>
        <p:spPr>
          <a:xfrm>
            <a:off x="7154926" y="3888760"/>
            <a:ext cx="534578" cy="385762"/>
          </a:xfrm>
          <a:custGeom>
            <a:avLst/>
            <a:gdLst>
              <a:gd name="connsiteX0" fmla="*/ 0 w 638175"/>
              <a:gd name="connsiteY0" fmla="*/ 409575 h 415258"/>
              <a:gd name="connsiteX1" fmla="*/ 304800 w 638175"/>
              <a:gd name="connsiteY1" fmla="*/ 371475 h 415258"/>
              <a:gd name="connsiteX2" fmla="*/ 409575 w 638175"/>
              <a:gd name="connsiteY2" fmla="*/ 85725 h 415258"/>
              <a:gd name="connsiteX3" fmla="*/ 638175 w 638175"/>
              <a:gd name="connsiteY3" fmla="*/ 0 h 4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8175" h="415258">
                <a:moveTo>
                  <a:pt x="0" y="409575"/>
                </a:moveTo>
                <a:cubicBezTo>
                  <a:pt x="118269" y="417512"/>
                  <a:pt x="236538" y="425450"/>
                  <a:pt x="304800" y="371475"/>
                </a:cubicBezTo>
                <a:cubicBezTo>
                  <a:pt x="373062" y="317500"/>
                  <a:pt x="354013" y="147637"/>
                  <a:pt x="409575" y="85725"/>
                </a:cubicBezTo>
                <a:cubicBezTo>
                  <a:pt x="465138" y="23812"/>
                  <a:pt x="551656" y="11906"/>
                  <a:pt x="638175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6555289" y="6446703"/>
            <a:ext cx="258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(ignore bias in this figure)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4739249" y="3096478"/>
                <a:ext cx="4945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249" y="3096478"/>
                <a:ext cx="494548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4723788" y="4753193"/>
                <a:ext cx="494548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788" y="4753193"/>
                <a:ext cx="494548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矩形 63"/>
          <p:cNvSpPr/>
          <p:nvPr/>
        </p:nvSpPr>
        <p:spPr>
          <a:xfrm>
            <a:off x="1226618" y="2766955"/>
            <a:ext cx="3228623" cy="27956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5416903" y="2766955"/>
            <a:ext cx="2545998" cy="27956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文字方塊 65"/>
          <p:cNvSpPr txBox="1"/>
          <p:nvPr/>
        </p:nvSpPr>
        <p:spPr>
          <a:xfrm>
            <a:off x="1121513" y="5574727"/>
            <a:ext cx="346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Feature Transformation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4986523" y="5570864"/>
            <a:ext cx="346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Classification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7212-BA17-4827-9773-40972E0CDC4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60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4897340" y="294084"/>
            <a:ext cx="3854551" cy="2068497"/>
            <a:chOff x="4897340" y="294084"/>
            <a:chExt cx="3854551" cy="2068497"/>
          </a:xfrm>
        </p:grpSpPr>
        <p:pic>
          <p:nvPicPr>
            <p:cNvPr id="4" name="Picture 6" descr="http://bio1152.nicerweb.com/Locked/media/ch48/48_05NeuronStructur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7340" y="294084"/>
              <a:ext cx="3271985" cy="20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群組 4"/>
            <p:cNvGrpSpPr/>
            <p:nvPr/>
          </p:nvGrpSpPr>
          <p:grpSpPr>
            <a:xfrm>
              <a:off x="6464097" y="432086"/>
              <a:ext cx="2287794" cy="1038723"/>
              <a:chOff x="3202412" y="1600580"/>
              <a:chExt cx="3275013" cy="1486948"/>
            </a:xfrm>
          </p:grpSpPr>
          <p:pic>
            <p:nvPicPr>
              <p:cNvPr id="6" name="Picture 4" descr="http://cdn.zmescience.com/wp-content/uploads/2011/07/neural_network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40137" y="1600580"/>
                <a:ext cx="2478247" cy="14869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矩形 6"/>
              <p:cNvSpPr/>
              <p:nvPr/>
            </p:nvSpPr>
            <p:spPr>
              <a:xfrm>
                <a:off x="3202412" y="2732294"/>
                <a:ext cx="3275013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zh-TW" altLang="en-US" sz="1400" dirty="0"/>
              </a:p>
            </p:txBody>
          </p:sp>
        </p:grpSp>
      </p:grpSp>
      <p:grpSp>
        <p:nvGrpSpPr>
          <p:cNvPr id="39" name="群組 38"/>
          <p:cNvGrpSpPr/>
          <p:nvPr/>
        </p:nvGrpSpPr>
        <p:grpSpPr>
          <a:xfrm>
            <a:off x="3534928" y="2481260"/>
            <a:ext cx="2416814" cy="1897458"/>
            <a:chOff x="3223753" y="2941320"/>
            <a:chExt cx="2416814" cy="1897458"/>
          </a:xfrm>
        </p:grpSpPr>
        <p:grpSp>
          <p:nvGrpSpPr>
            <p:cNvPr id="38" name="群組 37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32" name="直線單箭頭接點 31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橢圓 21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23" name="直線單箭頭接點 22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9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317160" imgH="215640" progId="Equation.3">
                      <p:embed/>
                    </p:oleObj>
                  </mc:Choice>
                  <mc:Fallback>
                    <p:oleObj name="方程式" r:id="rId5" imgW="317160" imgH="215640" progId="Equation.3">
                      <p:embed/>
                      <p:pic>
                        <p:nvPicPr>
                          <p:cNvPr id="29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1" name="直線單箭頭接點 20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群組 24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27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139680" imgH="139680" progId="Equation.3">
                      <p:embed/>
                    </p:oleObj>
                  </mc:Choice>
                  <mc:Fallback>
                    <p:oleObj name="方程式" r:id="rId7" imgW="139680" imgH="139680" progId="Equation.3">
                      <p:embed/>
                      <p:pic>
                        <p:nvPicPr>
                          <p:cNvPr id="27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" name="群組 3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8" name="直線單箭頭接點 27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線單箭頭接點 32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群組 41"/>
          <p:cNvGrpSpPr/>
          <p:nvPr/>
        </p:nvGrpSpPr>
        <p:grpSpPr>
          <a:xfrm>
            <a:off x="1070220" y="1724155"/>
            <a:ext cx="2416814" cy="1897458"/>
            <a:chOff x="3223753" y="2941320"/>
            <a:chExt cx="2416814" cy="1897458"/>
          </a:xfrm>
        </p:grpSpPr>
        <p:grpSp>
          <p:nvGrpSpPr>
            <p:cNvPr id="43" name="群組 42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53" name="直線單箭頭接點 52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橢圓 53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55" name="直線單箭頭接點 54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6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317160" imgH="215640" progId="Equation.3">
                      <p:embed/>
                    </p:oleObj>
                  </mc:Choice>
                  <mc:Fallback>
                    <p:oleObj name="方程式" r:id="rId5" imgW="317160" imgH="215640" progId="Equation.3">
                      <p:embed/>
                      <p:pic>
                        <p:nvPicPr>
                          <p:cNvPr id="5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4" name="直線單箭頭接點 43"/>
            <p:cNvCxnSpPr/>
            <p:nvPr/>
          </p:nvCxnSpPr>
          <p:spPr>
            <a:xfrm flipV="1">
              <a:off x="3405107" y="3780105"/>
              <a:ext cx="503761" cy="6770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群組 45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52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139680" imgH="139680" progId="Equation.3">
                      <p:embed/>
                    </p:oleObj>
                  </mc:Choice>
                  <mc:Fallback>
                    <p:oleObj name="方程式" r:id="rId7" imgW="139680" imgH="139680" progId="Equation.3">
                      <p:embed/>
                      <p:pic>
                        <p:nvPicPr>
                          <p:cNvPr id="5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" name="群組 4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0" name="直線單箭頭接點 49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直線單箭頭接點 47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群組 56"/>
          <p:cNvGrpSpPr/>
          <p:nvPr/>
        </p:nvGrpSpPr>
        <p:grpSpPr>
          <a:xfrm>
            <a:off x="1099614" y="3584600"/>
            <a:ext cx="2405967" cy="1782000"/>
            <a:chOff x="3234600" y="3056778"/>
            <a:chExt cx="2405967" cy="1782000"/>
          </a:xfrm>
        </p:grpSpPr>
        <p:grpSp>
          <p:nvGrpSpPr>
            <p:cNvPr id="58" name="群組 57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68" name="直線單箭頭接點 67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橢圓 68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70" name="直線單箭頭接點 69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71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317160" imgH="215640" progId="Equation.3">
                      <p:embed/>
                    </p:oleObj>
                  </mc:Choice>
                  <mc:Fallback>
                    <p:oleObj name="方程式" r:id="rId5" imgW="317160" imgH="215640" progId="Equation.3">
                      <p:embed/>
                      <p:pic>
                        <p:nvPicPr>
                          <p:cNvPr id="71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9" name="直線單箭頭接點 58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3341416" y="3056778"/>
              <a:ext cx="586910" cy="57590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群組 60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67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139680" imgH="139680" progId="Equation.3">
                      <p:embed/>
                    </p:oleObj>
                  </mc:Choice>
                  <mc:Fallback>
                    <p:oleObj name="方程式" r:id="rId7" imgW="139680" imgH="139680" progId="Equation.3">
                      <p:embed/>
                      <p:pic>
                        <p:nvPicPr>
                          <p:cNvPr id="67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2" name="群組 61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5" name="直線單箭頭接點 64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直線單箭頭接點 62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044284" y="2469344"/>
            <a:ext cx="2416814" cy="1897458"/>
            <a:chOff x="3223753" y="2941320"/>
            <a:chExt cx="2416814" cy="1897458"/>
          </a:xfrm>
        </p:grpSpPr>
        <p:grpSp>
          <p:nvGrpSpPr>
            <p:cNvPr id="73" name="群組 72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83" name="直線單箭頭接點 82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橢圓 83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85" name="直線單箭頭接點 84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86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317160" imgH="215640" progId="Equation.3">
                      <p:embed/>
                    </p:oleObj>
                  </mc:Choice>
                  <mc:Fallback>
                    <p:oleObj name="方程式" r:id="rId5" imgW="317160" imgH="215640" progId="Equation.3">
                      <p:embed/>
                      <p:pic>
                        <p:nvPicPr>
                          <p:cNvPr id="8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74" name="直線單箭頭接點 73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群組 75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2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139680" imgH="139680" progId="Equation.3">
                      <p:embed/>
                    </p:oleObj>
                  </mc:Choice>
                  <mc:Fallback>
                    <p:oleObj name="方程式" r:id="rId7" imgW="139680" imgH="139680" progId="Equation.3">
                      <p:embed/>
                      <p:pic>
                        <p:nvPicPr>
                          <p:cNvPr id="8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7" name="群組 7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0" name="直線單箭頭接點 79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直線單箭頭接點 77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/>
          <p:cNvSpPr txBox="1"/>
          <p:nvPr/>
        </p:nvSpPr>
        <p:spPr>
          <a:xfrm>
            <a:off x="3729775" y="4347017"/>
            <a:ext cx="1949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“Neuron”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2575300" y="5320216"/>
            <a:ext cx="61765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2400" dirty="0"/>
              <a:t>Different connection leads to different network structures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3487034" y="2437267"/>
            <a:ext cx="2493685" cy="19295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/>
        </p:nvSpPr>
        <p:spPr>
          <a:xfrm>
            <a:off x="2575300" y="4836191"/>
            <a:ext cx="2884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2800" b="1" i="1" u="sng" dirty="0"/>
              <a:t>Neural Network</a:t>
            </a:r>
            <a:endParaRPr lang="zh-TW" altLang="en-US" sz="2800" b="1" i="1" u="sng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2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8" grpId="0" animBg="1"/>
      <p:bldP spid="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字方塊 63"/>
          <p:cNvSpPr txBox="1"/>
          <p:nvPr/>
        </p:nvSpPr>
        <p:spPr>
          <a:xfrm>
            <a:off x="5908610" y="5377569"/>
            <a:ext cx="1165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Output Layer</a:t>
            </a:r>
            <a:endParaRPr lang="zh-TW" altLang="en-US" sz="2400" b="1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2955356" y="5725149"/>
            <a:ext cx="206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Hidden Layers</a:t>
            </a:r>
            <a:endParaRPr lang="zh-TW" altLang="en-US" sz="2400" b="1" dirty="0"/>
          </a:p>
        </p:txBody>
      </p:sp>
      <p:sp>
        <p:nvSpPr>
          <p:cNvPr id="66" name="右大括弧 65"/>
          <p:cNvSpPr/>
          <p:nvPr/>
        </p:nvSpPr>
        <p:spPr>
          <a:xfrm rot="5400000">
            <a:off x="3916276" y="4077877"/>
            <a:ext cx="181728" cy="2939290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1392902" y="2805583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1192190" y="5382548"/>
            <a:ext cx="928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Input Layer</a:t>
            </a:r>
            <a:endParaRPr lang="zh-TW" altLang="en-US" sz="2400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65416" y="2323799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7209458" y="2323799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Output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505176" y="3826362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614492" y="5072252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481292" y="3047559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461290" y="352327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467108" y="295294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296658"/>
              </p:ext>
            </p:extLst>
          </p:nvPr>
        </p:nvGraphicFramePr>
        <p:xfrm>
          <a:off x="1479807" y="2857697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80" imgH="215640" progId="Equation.3">
                  <p:embed/>
                </p:oleObj>
              </mc:Choice>
              <mc:Fallback>
                <p:oleObj name="方程式" r:id="rId3" imgW="152280" imgH="215640" progId="Equation.3">
                  <p:embed/>
                  <p:pic>
                    <p:nvPicPr>
                      <p:cNvPr id="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807" y="2857697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921309"/>
              </p:ext>
            </p:extLst>
          </p:nvPr>
        </p:nvGraphicFramePr>
        <p:xfrm>
          <a:off x="1485103" y="344042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0" imgH="215640" progId="Equation.3">
                  <p:embed/>
                </p:oleObj>
              </mc:Choice>
              <mc:Fallback>
                <p:oleObj name="方程式" r:id="rId5" imgW="164880" imgH="215640" progId="Equation.3">
                  <p:embed/>
                  <p:pic>
                    <p:nvPicPr>
                      <p:cNvPr id="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103" y="344042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群組 77"/>
          <p:cNvGrpSpPr/>
          <p:nvPr/>
        </p:nvGrpSpPr>
        <p:grpSpPr>
          <a:xfrm>
            <a:off x="2403577" y="2323799"/>
            <a:ext cx="1134648" cy="3130011"/>
            <a:chOff x="2332137" y="1770729"/>
            <a:chExt cx="1134648" cy="3130011"/>
          </a:xfrm>
        </p:grpSpPr>
        <p:sp>
          <p:nvSpPr>
            <p:cNvPr id="61" name="矩形 60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2332137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1</a:t>
              </a:r>
              <a:endParaRPr lang="zh-TW" altLang="en-US" sz="2400" dirty="0"/>
            </a:p>
          </p:txBody>
        </p:sp>
        <p:sp>
          <p:nvSpPr>
            <p:cNvPr id="18" name="橢圓 17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1470815" y="492103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32797"/>
              </p:ext>
            </p:extLst>
          </p:nvPr>
        </p:nvGraphicFramePr>
        <p:xfrm>
          <a:off x="1467699" y="4824779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90440" imgH="228600" progId="Equation.3">
                  <p:embed/>
                </p:oleObj>
              </mc:Choice>
              <mc:Fallback>
                <p:oleObj name="方程式" r:id="rId7" imgW="190440" imgH="228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699" y="4824779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字方塊 23"/>
          <p:cNvSpPr txBox="1"/>
          <p:nvPr/>
        </p:nvSpPr>
        <p:spPr>
          <a:xfrm rot="5400000">
            <a:off x="1346747" y="420597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79" name="群組 78"/>
          <p:cNvGrpSpPr/>
          <p:nvPr/>
        </p:nvGrpSpPr>
        <p:grpSpPr>
          <a:xfrm>
            <a:off x="3728475" y="2323799"/>
            <a:ext cx="1134648" cy="3113664"/>
            <a:chOff x="3657035" y="1770729"/>
            <a:chExt cx="1134648" cy="3113664"/>
          </a:xfrm>
        </p:grpSpPr>
        <p:sp>
          <p:nvSpPr>
            <p:cNvPr id="62" name="矩形 61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3657035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2</a:t>
              </a:r>
              <a:endParaRPr lang="zh-TW" altLang="en-US" sz="2400" dirty="0"/>
            </a:p>
          </p:txBody>
        </p:sp>
        <p:sp>
          <p:nvSpPr>
            <p:cNvPr id="25" name="橢圓 24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5939821" y="2323799"/>
            <a:ext cx="1134648" cy="3130011"/>
            <a:chOff x="5868381" y="1770729"/>
            <a:chExt cx="1134648" cy="3130011"/>
          </a:xfrm>
        </p:grpSpPr>
        <p:sp>
          <p:nvSpPr>
            <p:cNvPr id="63" name="矩形 62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868381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L</a:t>
              </a:r>
              <a:endParaRPr lang="zh-TW" altLang="en-US" sz="2400" dirty="0"/>
            </a:p>
          </p:txBody>
        </p:sp>
        <p:sp>
          <p:nvSpPr>
            <p:cNvPr id="29" name="橢圓 28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/>
            <p:cNvSpPr txBox="1"/>
            <p:nvPr/>
          </p:nvSpPr>
          <p:spPr>
            <a:xfrm rot="5400000">
              <a:off x="6129396" y="364247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sp>
        <p:nvSpPr>
          <p:cNvPr id="33" name="文字方塊 32"/>
          <p:cNvSpPr txBox="1"/>
          <p:nvPr/>
        </p:nvSpPr>
        <p:spPr>
          <a:xfrm>
            <a:off x="4671563" y="274493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4678512" y="350591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4707528" y="472125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81" name="群組 80"/>
          <p:cNvGrpSpPr/>
          <p:nvPr/>
        </p:nvGrpSpPr>
        <p:grpSpPr>
          <a:xfrm>
            <a:off x="3237982" y="3061275"/>
            <a:ext cx="753037" cy="2028469"/>
            <a:chOff x="3166542" y="2508205"/>
            <a:chExt cx="753037" cy="2028469"/>
          </a:xfrm>
        </p:grpSpPr>
        <p:cxnSp>
          <p:nvCxnSpPr>
            <p:cNvPr id="36" name="直線單箭頭接點 35"/>
            <p:cNvCxnSpPr>
              <a:stCxn id="18" idx="6"/>
              <a:endCxn id="25" idx="2"/>
            </p:cNvCxnSpPr>
            <p:nvPr/>
          </p:nvCxnSpPr>
          <p:spPr>
            <a:xfrm>
              <a:off x="3175833" y="25082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3175833" y="33147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>
              <a:off x="3166542" y="453667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9" idx="6"/>
              <a:endCxn id="25" idx="2"/>
            </p:cNvCxnSpPr>
            <p:nvPr/>
          </p:nvCxnSpPr>
          <p:spPr>
            <a:xfrm flipV="1">
              <a:off x="3178175" y="2508205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18" idx="6"/>
              <a:endCxn id="26" idx="2"/>
            </p:cNvCxnSpPr>
            <p:nvPr/>
          </p:nvCxnSpPr>
          <p:spPr>
            <a:xfrm>
              <a:off x="3175833" y="2508205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8" idx="6"/>
              <a:endCxn id="27" idx="2"/>
            </p:cNvCxnSpPr>
            <p:nvPr/>
          </p:nvCxnSpPr>
          <p:spPr>
            <a:xfrm>
              <a:off x="3175833" y="2508205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>
              <a:stCxn id="19" idx="6"/>
              <a:endCxn id="27" idx="2"/>
            </p:cNvCxnSpPr>
            <p:nvPr/>
          </p:nvCxnSpPr>
          <p:spPr>
            <a:xfrm>
              <a:off x="3178175" y="3286775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0" idx="6"/>
              <a:endCxn id="25" idx="2"/>
            </p:cNvCxnSpPr>
            <p:nvPr/>
          </p:nvCxnSpPr>
          <p:spPr>
            <a:xfrm flipV="1">
              <a:off x="3166542" y="2508205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20" idx="6"/>
              <a:endCxn id="26" idx="2"/>
            </p:cNvCxnSpPr>
            <p:nvPr/>
          </p:nvCxnSpPr>
          <p:spPr>
            <a:xfrm flipV="1">
              <a:off x="3166542" y="3286775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單箭頭接點 44"/>
          <p:cNvCxnSpPr>
            <a:endCxn id="18" idx="2"/>
          </p:cNvCxnSpPr>
          <p:nvPr/>
        </p:nvCxnSpPr>
        <p:spPr>
          <a:xfrm flipV="1">
            <a:off x="1813715" y="3076023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5" idx="3"/>
            <a:endCxn id="19" idx="2"/>
          </p:cNvCxnSpPr>
          <p:nvPr/>
        </p:nvCxnSpPr>
        <p:spPr>
          <a:xfrm>
            <a:off x="1810008" y="3124397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5" idx="3"/>
            <a:endCxn id="20" idx="2"/>
          </p:cNvCxnSpPr>
          <p:nvPr/>
        </p:nvCxnSpPr>
        <p:spPr>
          <a:xfrm>
            <a:off x="1810008" y="3124397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7" idx="3"/>
            <a:endCxn id="18" idx="2"/>
          </p:cNvCxnSpPr>
          <p:nvPr/>
        </p:nvCxnSpPr>
        <p:spPr>
          <a:xfrm flipV="1">
            <a:off x="1837528" y="3076023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4" idx="3"/>
            <a:endCxn id="19" idx="2"/>
          </p:cNvCxnSpPr>
          <p:nvPr/>
        </p:nvCxnSpPr>
        <p:spPr>
          <a:xfrm>
            <a:off x="1804190" y="3694726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4" idx="3"/>
            <a:endCxn id="20" idx="2"/>
          </p:cNvCxnSpPr>
          <p:nvPr/>
        </p:nvCxnSpPr>
        <p:spPr>
          <a:xfrm>
            <a:off x="1804190" y="3694726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3" idx="3"/>
            <a:endCxn id="18" idx="2"/>
          </p:cNvCxnSpPr>
          <p:nvPr/>
        </p:nvCxnSpPr>
        <p:spPr>
          <a:xfrm flipV="1">
            <a:off x="1875687" y="3076023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3" idx="3"/>
            <a:endCxn id="19" idx="2"/>
          </p:cNvCxnSpPr>
          <p:nvPr/>
        </p:nvCxnSpPr>
        <p:spPr>
          <a:xfrm flipV="1">
            <a:off x="1849318" y="3854593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23" idx="3"/>
            <a:endCxn id="20" idx="2"/>
          </p:cNvCxnSpPr>
          <p:nvPr/>
        </p:nvCxnSpPr>
        <p:spPr>
          <a:xfrm>
            <a:off x="1849318" y="5069199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 rot="5400000">
            <a:off x="7473854" y="422652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7542947" y="270769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7531664" y="350591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531664" y="477215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grpSp>
        <p:nvGrpSpPr>
          <p:cNvPr id="82" name="群組 81"/>
          <p:cNvGrpSpPr/>
          <p:nvPr/>
        </p:nvGrpSpPr>
        <p:grpSpPr>
          <a:xfrm>
            <a:off x="5428534" y="3068884"/>
            <a:ext cx="753037" cy="2013721"/>
            <a:chOff x="5357094" y="2515814"/>
            <a:chExt cx="753037" cy="2013721"/>
          </a:xfrm>
        </p:grpSpPr>
        <p:cxnSp>
          <p:nvCxnSpPr>
            <p:cNvPr id="67" name="直線單箭頭接點 6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/>
          <p:cNvSpPr txBox="1"/>
          <p:nvPr/>
        </p:nvSpPr>
        <p:spPr>
          <a:xfrm>
            <a:off x="5056191" y="1718914"/>
            <a:ext cx="1181585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neuron</a:t>
            </a:r>
            <a:endParaRPr lang="zh-TW" altLang="en-US" sz="2400" dirty="0"/>
          </a:p>
        </p:txBody>
      </p:sp>
      <p:cxnSp>
        <p:nvCxnSpPr>
          <p:cNvPr id="10" name="直線單箭頭接點 9"/>
          <p:cNvCxnSpPr>
            <a:endCxn id="3" idx="2"/>
          </p:cNvCxnSpPr>
          <p:nvPr/>
        </p:nvCxnSpPr>
        <p:spPr>
          <a:xfrm flipV="1">
            <a:off x="4231064" y="2180579"/>
            <a:ext cx="1415920" cy="94381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08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 animBg="1"/>
      <p:bldP spid="59" grpId="0" animBg="1"/>
      <p:bldP spid="60" grpId="0"/>
      <p:bldP spid="7" grpId="0"/>
      <p:bldP spid="8" grpId="0"/>
      <p:bldP spid="14" grpId="0" animBg="1"/>
      <p:bldP spid="15" grpId="0" animBg="1"/>
      <p:bldP spid="22" grpId="0" animBg="1"/>
      <p:bldP spid="24" grpId="0"/>
      <p:bldP spid="33" grpId="0"/>
      <p:bldP spid="34" grpId="0"/>
      <p:bldP spid="35" grpId="0"/>
      <p:bldP spid="54" grpId="0"/>
      <p:bldP spid="55" grpId="0"/>
      <p:bldP spid="56" grpId="0"/>
      <p:bldP spid="57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026217" y="2617301"/>
            <a:ext cx="5940000" cy="143564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26468" y="4736078"/>
            <a:ext cx="2160000" cy="71105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4154004" y="1225508"/>
            <a:ext cx="951870" cy="513000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603224" y="3267468"/>
            <a:ext cx="1215431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8 layers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553549" y="2089406"/>
            <a:ext cx="1416156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19 layers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099194" y="1065629"/>
            <a:ext cx="1416156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22 layers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93548" y="6214211"/>
            <a:ext cx="2464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AlexNet</a:t>
            </a:r>
            <a:r>
              <a:rPr lang="en-US" altLang="zh-TW" sz="2400" dirty="0"/>
              <a:t> (2012)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647336" y="6260151"/>
            <a:ext cx="1870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VGG (2014)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953756" y="6228240"/>
            <a:ext cx="2450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GoogleNet</a:t>
            </a:r>
            <a:r>
              <a:rPr lang="en-US" altLang="zh-TW" sz="2400" dirty="0"/>
              <a:t> (2014)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89648" y="4571387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16.4%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053233" y="4016348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7.3%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527495" y="3790508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6.7%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4796" y="1853463"/>
            <a:ext cx="25038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http://cs231n.stanford.edu/slides/winter1516_lecture8.pdf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369439" y="258408"/>
            <a:ext cx="5325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Deep = Many hidden layers</a:t>
            </a:r>
            <a:endParaRPr lang="zh-TW" alt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25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3" grpId="0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29" y="-420596"/>
            <a:ext cx="454038" cy="64800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24994" y="5398387"/>
            <a:ext cx="932400" cy="22535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362159" y="5773421"/>
            <a:ext cx="255600" cy="8414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2876875" y="5136892"/>
            <a:ext cx="149627" cy="806400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737659" y="5927519"/>
            <a:ext cx="1449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AlexNet</a:t>
            </a:r>
            <a:r>
              <a:rPr lang="en-US" altLang="zh-TW" sz="2400" dirty="0"/>
              <a:t> (2012)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017258" y="5927518"/>
            <a:ext cx="1870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VGG </a:t>
            </a:r>
          </a:p>
          <a:p>
            <a:pPr algn="ctr"/>
            <a:r>
              <a:rPr lang="en-US" altLang="zh-TW" sz="2400" dirty="0"/>
              <a:t>(2014)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265704" y="5898489"/>
            <a:ext cx="2450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GoogleNet</a:t>
            </a:r>
            <a:r>
              <a:rPr lang="en-US" altLang="zh-TW" sz="2400" dirty="0"/>
              <a:t> </a:t>
            </a:r>
          </a:p>
          <a:p>
            <a:pPr algn="ctr"/>
            <a:r>
              <a:rPr lang="en-US" altLang="zh-TW" sz="2400" dirty="0"/>
              <a:t>(2014)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588821" y="1715553"/>
            <a:ext cx="1652144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152 layers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050100" y="4255315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3.57%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050100" y="5921899"/>
            <a:ext cx="2450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Residual Net </a:t>
            </a:r>
          </a:p>
          <a:p>
            <a:pPr algn="ctr"/>
            <a:r>
              <a:rPr lang="en-US" altLang="zh-TW" sz="2400" dirty="0"/>
              <a:t>(2015)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24124" y="5529771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16.4%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828754" y="5289959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7.3%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318821" y="5301372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6.7%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69439" y="258408"/>
            <a:ext cx="5325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Deep = Many hidden layers</a:t>
            </a:r>
            <a:endParaRPr lang="zh-TW" alt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E9445-DE70-47D8-9903-5CC480AEE4FE}"/>
              </a:ext>
            </a:extLst>
          </p:cNvPr>
          <p:cNvSpPr txBox="1"/>
          <p:nvPr/>
        </p:nvSpPr>
        <p:spPr>
          <a:xfrm>
            <a:off x="384351" y="1019077"/>
            <a:ext cx="5220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Deep neural network = a neural network with many hidden layers</a:t>
            </a:r>
          </a:p>
        </p:txBody>
      </p:sp>
    </p:spTree>
    <p:extLst>
      <p:ext uri="{BB962C8B-B14F-4D97-AF65-F5344CB8AC3E}">
        <p14:creationId xmlns:p14="http://schemas.microsoft.com/office/powerpoint/2010/main" val="173344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群組 128"/>
          <p:cNvGrpSpPr/>
          <p:nvPr/>
        </p:nvGrpSpPr>
        <p:grpSpPr>
          <a:xfrm>
            <a:off x="6906115" y="3813978"/>
            <a:ext cx="458287" cy="831947"/>
            <a:chOff x="10102194" y="1939763"/>
            <a:chExt cx="458287" cy="831947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群組 104"/>
          <p:cNvGrpSpPr/>
          <p:nvPr/>
        </p:nvGrpSpPr>
        <p:grpSpPr>
          <a:xfrm>
            <a:off x="4676173" y="3786657"/>
            <a:ext cx="458287" cy="831947"/>
            <a:chOff x="10102194" y="1939763"/>
            <a:chExt cx="458287" cy="831947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群組 2"/>
          <p:cNvGrpSpPr/>
          <p:nvPr/>
        </p:nvGrpSpPr>
        <p:grpSpPr>
          <a:xfrm>
            <a:off x="3615463" y="4585976"/>
            <a:ext cx="5297714" cy="2078894"/>
            <a:chOff x="3615463" y="4585976"/>
            <a:chExt cx="5297714" cy="2078894"/>
          </a:xfrm>
        </p:grpSpPr>
        <p:sp>
          <p:nvSpPr>
            <p:cNvPr id="137" name="圓角矩形圖說文字 136"/>
            <p:cNvSpPr/>
            <p:nvPr/>
          </p:nvSpPr>
          <p:spPr>
            <a:xfrm>
              <a:off x="3615463" y="4585976"/>
              <a:ext cx="5297714" cy="2078894"/>
            </a:xfrm>
            <a:prstGeom prst="wedgeRoundRectCallout">
              <a:avLst>
                <a:gd name="adj1" fmla="val -59656"/>
                <a:gd name="adj2" fmla="val -163051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5943645" y="4731685"/>
              <a:ext cx="2743688" cy="1838325"/>
              <a:chOff x="4096343" y="4657321"/>
              <a:chExt cx="2743688" cy="1838325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6343" y="4657321"/>
                <a:ext cx="2571750" cy="1838325"/>
              </a:xfrm>
              <a:prstGeom prst="rect">
                <a:avLst/>
              </a:prstGeom>
            </p:spPr>
          </p:pic>
          <p:graphicFrame>
            <p:nvGraphicFramePr>
              <p:cNvPr id="6" name="Object 12"/>
              <p:cNvGraphicFramePr>
                <a:graphicFrameLocks noChangeAspect="1"/>
              </p:cNvGraphicFramePr>
              <p:nvPr/>
            </p:nvGraphicFramePr>
            <p:xfrm>
              <a:off x="4474734" y="4768231"/>
              <a:ext cx="717072" cy="4897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4" imgW="317160" imgH="215640" progId="Equation.3">
                      <p:embed/>
                    </p:oleObj>
                  </mc:Choice>
                  <mc:Fallback>
                    <p:oleObj name="方程式" r:id="rId4" imgW="317160" imgH="215640" progId="Equation.3">
                      <p:embed/>
                      <p:pic>
                        <p:nvPicPr>
                          <p:cNvPr id="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4734" y="4768231"/>
                            <a:ext cx="717072" cy="48974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2"/>
              <p:cNvGraphicFramePr>
                <a:graphicFrameLocks noChangeAspect="1"/>
              </p:cNvGraphicFramePr>
              <p:nvPr/>
            </p:nvGraphicFramePr>
            <p:xfrm>
              <a:off x="6512897" y="6101982"/>
              <a:ext cx="327134" cy="325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6" imgW="126720" imgH="126720" progId="Equation.3">
                      <p:embed/>
                    </p:oleObj>
                  </mc:Choice>
                  <mc:Fallback>
                    <p:oleObj name="方程式" r:id="rId6" imgW="126720" imgH="126720" progId="Equation.3">
                      <p:embed/>
                      <p:pic>
                        <p:nvPicPr>
                          <p:cNvPr id="7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2897" y="6101982"/>
                            <a:ext cx="327134" cy="32566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9" name="Object 12"/>
            <p:cNvGraphicFramePr>
              <a:graphicFrameLocks noChangeAspect="1"/>
            </p:cNvGraphicFramePr>
            <p:nvPr/>
          </p:nvGraphicFramePr>
          <p:xfrm>
            <a:off x="3800520" y="5368768"/>
            <a:ext cx="2143125" cy="973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863280" imgH="393480" progId="Equation.3">
                    <p:embed/>
                  </p:oleObj>
                </mc:Choice>
                <mc:Fallback>
                  <p:oleObj name="方程式" r:id="rId8" imgW="863280" imgH="393480" progId="Equation.3">
                    <p:embed/>
                    <p:pic>
                      <p:nvPicPr>
                        <p:cNvPr id="7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520" y="5368768"/>
                          <a:ext cx="2143125" cy="973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文字方塊 102"/>
            <p:cNvSpPr txBox="1"/>
            <p:nvPr/>
          </p:nvSpPr>
          <p:spPr>
            <a:xfrm>
              <a:off x="3800520" y="4795570"/>
              <a:ext cx="246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Sigmoid Function</a:t>
              </a:r>
              <a:endParaRPr lang="zh-TW" altLang="en-US" sz="2400" dirty="0"/>
            </a:p>
          </p:txBody>
        </p:sp>
      </p:grpSp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655177" y="3577639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7" name="矩形 116"/>
          <p:cNvSpPr/>
          <p:nvPr/>
        </p:nvSpPr>
        <p:spPr>
          <a:xfrm>
            <a:off x="2471151" y="265764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2698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2493998" y="2644731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32" name="矩形 131"/>
          <p:cNvSpPr/>
          <p:nvPr/>
        </p:nvSpPr>
        <p:spPr>
          <a:xfrm>
            <a:off x="2480676" y="4206988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2707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2497284" y="420052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4673795" y="2262334"/>
            <a:ext cx="458287" cy="831947"/>
            <a:chOff x="10102194" y="1939763"/>
            <a:chExt cx="458287" cy="831947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6852035" y="2257142"/>
            <a:ext cx="458287" cy="831947"/>
            <a:chOff x="10102194" y="1939763"/>
            <a:chExt cx="458287" cy="831947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98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 animBg="1"/>
      <p:bldP spid="1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pSp>
        <p:nvGrpSpPr>
          <p:cNvPr id="123" name="群組 122"/>
          <p:cNvGrpSpPr/>
          <p:nvPr/>
        </p:nvGrpSpPr>
        <p:grpSpPr>
          <a:xfrm>
            <a:off x="2471151" y="2274449"/>
            <a:ext cx="458287" cy="838405"/>
            <a:chOff x="10102194" y="1939763"/>
            <a:chExt cx="458287" cy="838405"/>
          </a:xfrm>
        </p:grpSpPr>
        <p:sp>
          <p:nvSpPr>
            <p:cNvPr id="117" name="矩形 116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9" name="直線單箭頭接點 11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2480676" y="3823788"/>
            <a:ext cx="458287" cy="838405"/>
            <a:chOff x="10102194" y="1939763"/>
            <a:chExt cx="458287" cy="838405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3953237" y="1672423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4120328" y="2260740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3818032" y="3777870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3970311" y="3207558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6126016" y="167334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6293107" y="226165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5990811" y="377878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147" name="文字方塊 146"/>
          <p:cNvSpPr txBox="1"/>
          <p:nvPr/>
        </p:nvSpPr>
        <p:spPr>
          <a:xfrm>
            <a:off x="6143090" y="320847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5252837" y="166543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0.86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5275156" y="327096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7505772" y="162619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0.62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7528091" y="3231730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0.83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4673795" y="2262334"/>
            <a:ext cx="458287" cy="838405"/>
            <a:chOff x="10102194" y="1939763"/>
            <a:chExt cx="458287" cy="838405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4676173" y="3786657"/>
            <a:ext cx="458287" cy="838405"/>
            <a:chOff x="10102194" y="1939763"/>
            <a:chExt cx="458287" cy="838405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6852035" y="2257142"/>
            <a:ext cx="458287" cy="838405"/>
            <a:chOff x="10102194" y="1939763"/>
            <a:chExt cx="458287" cy="838405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字方塊 127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-2</a:t>
              </a:r>
              <a:endParaRPr lang="zh-TW" altLang="en-US" sz="2400" dirty="0"/>
            </a:p>
          </p:txBody>
        </p:sp>
      </p:grpSp>
      <p:grpSp>
        <p:nvGrpSpPr>
          <p:cNvPr id="129" name="群組 128"/>
          <p:cNvGrpSpPr/>
          <p:nvPr/>
        </p:nvGrpSpPr>
        <p:grpSpPr>
          <a:xfrm>
            <a:off x="6906115" y="3813978"/>
            <a:ext cx="458287" cy="838405"/>
            <a:chOff x="10102194" y="1939763"/>
            <a:chExt cx="458287" cy="838405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字方塊 148"/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2</a:t>
              </a:r>
              <a:endParaRPr lang="zh-TW" altLang="en-US" sz="2400" dirty="0"/>
            </a:p>
          </p:txBody>
        </p:sp>
      </p:grpSp>
      <p:sp>
        <p:nvSpPr>
          <p:cNvPr id="121" name="矩形 120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矩形 136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2" name="文字方塊 151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655177" y="3577639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78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  <p:bldP spid="154" grpId="0" animBg="1"/>
      <p:bldP spid="1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7" name="矩形 116"/>
          <p:cNvSpPr/>
          <p:nvPr/>
        </p:nvSpPr>
        <p:spPr>
          <a:xfrm>
            <a:off x="2471151" y="265764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2698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2487759" y="2651189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32" name="矩形 131"/>
          <p:cNvSpPr/>
          <p:nvPr/>
        </p:nvSpPr>
        <p:spPr>
          <a:xfrm>
            <a:off x="2480676" y="4206988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2707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2497284" y="420052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0.73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075361" y="320755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3953237" y="1672423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4120328" y="2260740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3818032" y="3777870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3970311" y="3207558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6126016" y="1673340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6293107" y="226165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5990811" y="3778787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147" name="文字方塊 146"/>
          <p:cNvSpPr txBox="1"/>
          <p:nvPr/>
        </p:nvSpPr>
        <p:spPr>
          <a:xfrm>
            <a:off x="6143090" y="3208475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5215605" y="1556516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0.72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5275156" y="3270969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7540144" y="1574623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0.51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7621461" y="3228414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0.85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673795" y="2645534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9" name="直線單箭頭接點 98"/>
          <p:cNvCxnSpPr/>
          <p:nvPr/>
        </p:nvCxnSpPr>
        <p:spPr>
          <a:xfrm flipV="1">
            <a:off x="4900697" y="2262334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字方塊 101"/>
          <p:cNvSpPr txBox="1"/>
          <p:nvPr/>
        </p:nvSpPr>
        <p:spPr>
          <a:xfrm>
            <a:off x="4690403" y="2639074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18" name="矩形 117"/>
          <p:cNvSpPr/>
          <p:nvPr/>
        </p:nvSpPr>
        <p:spPr>
          <a:xfrm>
            <a:off x="4676173" y="4169857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2" name="直線單箭頭接點 121"/>
          <p:cNvCxnSpPr/>
          <p:nvPr/>
        </p:nvCxnSpPr>
        <p:spPr>
          <a:xfrm flipV="1">
            <a:off x="4903075" y="3786657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4692781" y="4163397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26" name="矩形 125"/>
          <p:cNvSpPr/>
          <p:nvPr/>
        </p:nvSpPr>
        <p:spPr>
          <a:xfrm>
            <a:off x="6852035" y="2640342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7" name="直線單箭頭接點 126"/>
          <p:cNvCxnSpPr/>
          <p:nvPr/>
        </p:nvCxnSpPr>
        <p:spPr>
          <a:xfrm flipV="1">
            <a:off x="7078937" y="2257142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/>
          <p:cNvSpPr txBox="1"/>
          <p:nvPr/>
        </p:nvSpPr>
        <p:spPr>
          <a:xfrm>
            <a:off x="6868643" y="2633882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30" name="矩形 129"/>
          <p:cNvSpPr/>
          <p:nvPr/>
        </p:nvSpPr>
        <p:spPr>
          <a:xfrm>
            <a:off x="6906115" y="4197178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8" name="直線單箭頭接點 147"/>
          <p:cNvCxnSpPr/>
          <p:nvPr/>
        </p:nvCxnSpPr>
        <p:spPr>
          <a:xfrm flipV="1">
            <a:off x="7133017" y="381397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字方塊 148"/>
          <p:cNvSpPr txBox="1"/>
          <p:nvPr/>
        </p:nvSpPr>
        <p:spPr>
          <a:xfrm>
            <a:off x="6922723" y="419071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/>
              <p:cNvSpPr txBox="1"/>
              <p:nvPr/>
            </p:nvSpPr>
            <p:spPr>
              <a:xfrm>
                <a:off x="6601613" y="4767195"/>
                <a:ext cx="2192908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.51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3" name="文字方塊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613" y="4767195"/>
                <a:ext cx="2192908" cy="62331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/>
              <p:cNvSpPr txBox="1"/>
              <p:nvPr/>
            </p:nvSpPr>
            <p:spPr>
              <a:xfrm>
                <a:off x="4030674" y="4774697"/>
                <a:ext cx="2422137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.62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0.83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1" name="文字方塊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674" y="4774697"/>
                <a:ext cx="2422137" cy="6158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 134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矩形 135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2" name="文字方塊 151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655177" y="3577639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83075" y="4730802"/>
            <a:ext cx="3599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</a:t>
            </a:r>
            <a:r>
              <a:rPr lang="en-GB" altLang="zh-TW" sz="2400" dirty="0"/>
              <a:t>e neural network can be viewed as</a:t>
            </a:r>
            <a:r>
              <a:rPr lang="en-US" altLang="zh-TW" sz="2400" dirty="0"/>
              <a:t> a function f</a:t>
            </a:r>
            <a:endParaRPr lang="zh-TW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07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  <p:bldP spid="114" grpId="0"/>
      <p:bldP spid="115" grpId="0"/>
      <p:bldP spid="116" grpId="0"/>
      <p:bldP spid="120" grpId="0"/>
      <p:bldP spid="134" grpId="0"/>
      <p:bldP spid="138" grpId="0" animBg="1"/>
      <p:bldP spid="138" grpId="1" animBg="1"/>
      <p:bldP spid="139" grpId="0" animBg="1"/>
      <p:bldP spid="139" grpId="1" animBg="1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50" grpId="0" animBg="1"/>
      <p:bldP spid="150" grpId="1" animBg="1"/>
      <p:bldP spid="151" grpId="0" animBg="1"/>
      <p:bldP spid="151" grpId="1" animBg="1"/>
      <p:bldP spid="154" grpId="0" animBg="1"/>
      <p:bldP spid="154" grpId="1" animBg="1"/>
      <p:bldP spid="155" grpId="0" animBg="1"/>
      <p:bldP spid="155" grpId="1" animBg="1"/>
      <p:bldP spid="102" grpId="0"/>
      <p:bldP spid="124" grpId="0"/>
      <p:bldP spid="128" grpId="0"/>
      <p:bldP spid="149" grpId="0"/>
      <p:bldP spid="103" grpId="0"/>
      <p:bldP spid="121" grpId="0"/>
      <p:bldP spid="152" grpId="0"/>
      <p:bldP spid="152" grpId="1"/>
      <p:bldP spid="153" grpId="0"/>
      <p:bldP spid="153" grpId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218012" y="5073419"/>
                <a:ext cx="49186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2" y="5073419"/>
                <a:ext cx="4918654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Matrix Operation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0" name="Object 12"/>
          <p:cNvGraphicFramePr>
            <a:graphicFrameLocks noChangeAspect="1"/>
          </p:cNvGraphicFramePr>
          <p:nvPr/>
        </p:nvGraphicFramePr>
        <p:xfrm>
          <a:off x="8307921" y="3494488"/>
          <a:ext cx="3794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77480" imgH="215640" progId="Equation.3">
                  <p:embed/>
                </p:oleObj>
              </mc:Choice>
              <mc:Fallback>
                <p:oleObj name="方程式" r:id="rId5" imgW="177480" imgH="215640" progId="Equation.3">
                  <p:embed/>
                  <p:pic>
                    <p:nvPicPr>
                      <p:cNvPr id="1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7921" y="3494488"/>
                        <a:ext cx="379412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2"/>
          <p:cNvGraphicFramePr>
            <a:graphicFrameLocks noChangeAspect="1"/>
          </p:cNvGraphicFramePr>
          <p:nvPr/>
        </p:nvGraphicFramePr>
        <p:xfrm>
          <a:off x="8320088" y="1838346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64880" imgH="215640" progId="Equation.3">
                  <p:embed/>
                </p:oleObj>
              </mc:Choice>
              <mc:Fallback>
                <p:oleObj name="方程式" r:id="rId7" imgW="164880" imgH="215640" progId="Equation.3">
                  <p:embed/>
                  <p:pic>
                    <p:nvPicPr>
                      <p:cNvPr id="10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088" y="1838346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-2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-1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2471151" y="265764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2698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2487759" y="2651189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1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2480676" y="4206988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2707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2497284" y="420052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0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635333" y="4932535"/>
                <a:ext cx="810478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33" y="4932535"/>
                <a:ext cx="810478" cy="71564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1871121" y="4931041"/>
                <a:ext cx="1636025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121" y="4931041"/>
                <a:ext cx="1636025" cy="71564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4640994" y="5085249"/>
                <a:ext cx="3494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994" y="5085249"/>
                <a:ext cx="349455" cy="43088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/>
              <p:cNvSpPr txBox="1"/>
              <p:nvPr/>
            </p:nvSpPr>
            <p:spPr>
              <a:xfrm>
                <a:off x="5141874" y="4921977"/>
                <a:ext cx="54277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874" y="4921977"/>
                <a:ext cx="542776" cy="718466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6758905" y="4919562"/>
                <a:ext cx="1014059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905" y="4919562"/>
                <a:ext cx="1014059" cy="71846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90636" y="5017185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636" y="5017185"/>
                <a:ext cx="534121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文字方塊 80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64366" y="3567893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3478118" y="5992672"/>
                <a:ext cx="810478" cy="714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118" y="5992672"/>
                <a:ext cx="810478" cy="714106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右大括弧 8"/>
          <p:cNvSpPr/>
          <p:nvPr/>
        </p:nvSpPr>
        <p:spPr>
          <a:xfrm rot="5400000">
            <a:off x="3799148" y="3670894"/>
            <a:ext cx="151251" cy="4152171"/>
          </a:xfrm>
          <a:prstGeom prst="rightBrace">
            <a:avLst>
              <a:gd name="adj1" fmla="val 1153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19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/>
      <p:bldP spid="139" grpId="0"/>
      <p:bldP spid="3" grpId="0"/>
      <p:bldP spid="70" grpId="0"/>
      <p:bldP spid="71" grpId="0"/>
      <p:bldP spid="67" grpId="0"/>
      <p:bldP spid="68" grpId="0"/>
      <p:bldP spid="5" grpId="0"/>
      <p:bldP spid="81" grpId="0"/>
      <p:bldP spid="82" grpId="0"/>
      <p:bldP spid="97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7180166" y="155409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3029726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/>
        </p:nvSpPr>
        <p:spPr>
          <a:xfrm>
            <a:off x="4355312" y="159016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5766871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1846623" y="163415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6153678" y="265493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6262994" y="390082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6129794" y="187613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915011" y="235184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/>
        </p:nvSpPr>
        <p:spPr>
          <a:xfrm>
            <a:off x="1920829" y="17815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/>
        </p:nvGraphicFramePr>
        <p:xfrm>
          <a:off x="1933528" y="168626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80" imgH="215640" progId="Equation.3">
                  <p:embed/>
                </p:oleObj>
              </mc:Choice>
              <mc:Fallback>
                <p:oleObj name="方程式" r:id="rId3" imgW="152280" imgH="215640" progId="Equation.3">
                  <p:embed/>
                  <p:pic>
                    <p:nvPicPr>
                      <p:cNvPr id="9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28" y="168626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/>
        </p:nvGraphicFramePr>
        <p:xfrm>
          <a:off x="1938824" y="2268998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0" imgH="215640" progId="Equation.3">
                  <p:embed/>
                </p:oleObj>
              </mc:Choice>
              <mc:Fallback>
                <p:oleObj name="方程式" r:id="rId5" imgW="164880" imgH="215640" progId="Equation.3">
                  <p:embed/>
                  <p:pic>
                    <p:nvPicPr>
                      <p:cNvPr id="9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824" y="2268998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3126836" y="16175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3129178" y="239608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橢圓 101"/>
          <p:cNvSpPr/>
          <p:nvPr/>
        </p:nvSpPr>
        <p:spPr>
          <a:xfrm>
            <a:off x="3117545" y="362409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3114798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4" name="矩形 103"/>
          <p:cNvSpPr/>
          <p:nvPr/>
        </p:nvSpPr>
        <p:spPr>
          <a:xfrm>
            <a:off x="1924536" y="3749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/>
        </p:nvGraphicFramePr>
        <p:xfrm>
          <a:off x="1921420" y="365335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90440" imgH="228600" progId="Equation.3">
                  <p:embed/>
                </p:oleObj>
              </mc:Choice>
              <mc:Fallback>
                <p:oleObj name="方程式" r:id="rId7" imgW="190440" imgH="228600" progId="Equation.3">
                  <p:embed/>
                  <p:pic>
                    <p:nvPicPr>
                      <p:cNvPr id="10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420" y="365335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1800468" y="303454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7" name="橢圓 106"/>
          <p:cNvSpPr/>
          <p:nvPr/>
        </p:nvSpPr>
        <p:spPr>
          <a:xfrm>
            <a:off x="4442398" y="16175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/>
          <p:cNvSpPr/>
          <p:nvPr/>
        </p:nvSpPr>
        <p:spPr>
          <a:xfrm>
            <a:off x="4444740" y="239608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/>
          <p:cNvSpPr/>
          <p:nvPr/>
        </p:nvSpPr>
        <p:spPr>
          <a:xfrm>
            <a:off x="4433107" y="362409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4430360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1" name="橢圓 110"/>
          <p:cNvSpPr/>
          <p:nvPr/>
        </p:nvSpPr>
        <p:spPr>
          <a:xfrm>
            <a:off x="5842715" y="159840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/>
          <p:cNvSpPr/>
          <p:nvPr/>
        </p:nvSpPr>
        <p:spPr>
          <a:xfrm>
            <a:off x="5845057" y="235831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/>
          <p:cNvSpPr/>
          <p:nvPr/>
        </p:nvSpPr>
        <p:spPr>
          <a:xfrm>
            <a:off x="5852085" y="360499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5849338" y="302412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5014443" y="155893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032066" y="23444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5044246" y="36007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3700994" y="190459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3700994" y="269634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3691703" y="391831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3703336" y="190459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3700994" y="190459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3700994" y="190459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3703336" y="268316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3691703" y="190459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3691703" y="268316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2267436" y="1904595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2263729" y="195296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2263729" y="195296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2291249" y="190459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2257911" y="2523298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2257911" y="2523298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2329408" y="1904595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2303039" y="268316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2303039" y="389777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7122356" y="305509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7191449" y="153627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7180166" y="233449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7180166" y="360072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2318544" y="2185783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79" name="矩形 78"/>
          <p:cNvSpPr/>
          <p:nvPr/>
        </p:nvSpPr>
        <p:spPr>
          <a:xfrm>
            <a:off x="3706747" y="2193987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0" name="矩形 79"/>
          <p:cNvSpPr/>
          <p:nvPr/>
        </p:nvSpPr>
        <p:spPr>
          <a:xfrm>
            <a:off x="5172752" y="218708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L</a:t>
            </a:r>
            <a:endParaRPr lang="zh-TW" altLang="en-US" sz="2400" baseline="30000" dirty="0"/>
          </a:p>
        </p:txBody>
      </p:sp>
      <p:sp>
        <p:nvSpPr>
          <p:cNvPr id="82" name="矩形 81"/>
          <p:cNvSpPr/>
          <p:nvPr/>
        </p:nvSpPr>
        <p:spPr>
          <a:xfrm>
            <a:off x="4322227" y="2527382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3" name="矩形 82"/>
          <p:cNvSpPr/>
          <p:nvPr/>
        </p:nvSpPr>
        <p:spPr>
          <a:xfrm>
            <a:off x="5812126" y="2503875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b</a:t>
            </a:r>
            <a:r>
              <a:rPr lang="en-US" altLang="zh-TW" sz="2400" baseline="30000" dirty="0" err="1"/>
              <a:t>L</a:t>
            </a:r>
            <a:endParaRPr lang="zh-TW" altLang="en-US" sz="2400" baseline="30000" dirty="0"/>
          </a:p>
        </p:txBody>
      </p:sp>
      <p:sp>
        <p:nvSpPr>
          <p:cNvPr id="88" name="矩形 87"/>
          <p:cNvSpPr/>
          <p:nvPr/>
        </p:nvSpPr>
        <p:spPr>
          <a:xfrm>
            <a:off x="2230673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89" name="矩形 88"/>
          <p:cNvSpPr/>
          <p:nvPr/>
        </p:nvSpPr>
        <p:spPr>
          <a:xfrm>
            <a:off x="3540087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90" name="矩形 89"/>
          <p:cNvSpPr/>
          <p:nvPr/>
        </p:nvSpPr>
        <p:spPr>
          <a:xfrm>
            <a:off x="4875211" y="359476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92" name="矩形 91"/>
          <p:cNvSpPr/>
          <p:nvPr/>
        </p:nvSpPr>
        <p:spPr>
          <a:xfrm>
            <a:off x="6464825" y="35897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y</a:t>
            </a:r>
            <a:endParaRPr lang="zh-TW" altLang="en-US" sz="2400" baseline="30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162373" y="4820851"/>
            <a:ext cx="3002489" cy="877076"/>
            <a:chOff x="522337" y="4911258"/>
            <a:chExt cx="3002489" cy="877076"/>
          </a:xfrm>
        </p:grpSpPr>
        <p:sp>
          <p:nvSpPr>
            <p:cNvPr id="71" name="矩形 70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b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43" name="矩形 142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44" name="矩形 143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45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9" name="群組 158"/>
          <p:cNvGrpSpPr/>
          <p:nvPr/>
        </p:nvGrpSpPr>
        <p:grpSpPr>
          <a:xfrm>
            <a:off x="3164862" y="5192193"/>
            <a:ext cx="3002489" cy="877076"/>
            <a:chOff x="522337" y="4911258"/>
            <a:chExt cx="3002489" cy="877076"/>
          </a:xfrm>
        </p:grpSpPr>
        <p:sp>
          <p:nvSpPr>
            <p:cNvPr id="160" name="矩形 159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b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  <p:sp>
          <p:nvSpPr>
            <p:cNvPr id="161" name="矩形 160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a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163"/>
                <p:cNvSpPr txBox="1"/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64" name="文字方塊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3002489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群組 164"/>
          <p:cNvGrpSpPr/>
          <p:nvPr/>
        </p:nvGrpSpPr>
        <p:grpSpPr>
          <a:xfrm>
            <a:off x="6003379" y="5784539"/>
            <a:ext cx="2867836" cy="877076"/>
            <a:chOff x="522337" y="4911258"/>
            <a:chExt cx="2867836" cy="877076"/>
          </a:xfrm>
        </p:grpSpPr>
        <p:sp>
          <p:nvSpPr>
            <p:cNvPr id="166" name="矩形 165"/>
            <p:cNvSpPr/>
            <p:nvPr/>
          </p:nvSpPr>
          <p:spPr>
            <a:xfrm>
              <a:off x="274351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err="1"/>
                <a:t>b</a:t>
              </a:r>
              <a:r>
                <a:rPr lang="en-US" altLang="zh-TW" sz="2400" baseline="30000" dirty="0" err="1"/>
                <a:t>L</a:t>
              </a:r>
              <a:endParaRPr lang="zh-TW" altLang="en-US" sz="2400" baseline="30000" dirty="0"/>
            </a:p>
          </p:txBody>
        </p:sp>
        <p:sp>
          <p:nvSpPr>
            <p:cNvPr id="167" name="矩形 166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W</a:t>
              </a:r>
              <a:r>
                <a:rPr lang="en-US" altLang="zh-TW" sz="2400" baseline="30000" dirty="0"/>
                <a:t>L</a:t>
              </a:r>
              <a:endParaRPr lang="zh-TW" altLang="en-US" sz="2400" baseline="30000" dirty="0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2384389" y="5106861"/>
              <a:ext cx="3606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字方塊 169"/>
                <p:cNvSpPr txBox="1"/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70" name="文字方塊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37" y="5165130"/>
                  <a:ext cx="2867836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0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單箭頭接點 6"/>
          <p:cNvCxnSpPr>
            <a:stCxn id="145" idx="3"/>
            <a:endCxn id="89" idx="2"/>
          </p:cNvCxnSpPr>
          <p:nvPr/>
        </p:nvCxnSpPr>
        <p:spPr>
          <a:xfrm flipV="1">
            <a:off x="3164862" y="4458105"/>
            <a:ext cx="595905" cy="8012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306246" y="5985200"/>
            <a:ext cx="5854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L-1</a:t>
            </a:r>
            <a:endParaRPr lang="zh-TW" altLang="en-US" sz="2400" baseline="30000" dirty="0"/>
          </a:p>
        </p:txBody>
      </p:sp>
      <p:sp>
        <p:nvSpPr>
          <p:cNvPr id="173" name="矩形 172"/>
          <p:cNvSpPr/>
          <p:nvPr/>
        </p:nvSpPr>
        <p:spPr>
          <a:xfrm>
            <a:off x="2881004" y="2531687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24" name="手繪多邊形 23"/>
          <p:cNvSpPr/>
          <p:nvPr/>
        </p:nvSpPr>
        <p:spPr>
          <a:xfrm>
            <a:off x="5351489" y="4437089"/>
            <a:ext cx="882753" cy="1169232"/>
          </a:xfrm>
          <a:custGeom>
            <a:avLst/>
            <a:gdLst>
              <a:gd name="connsiteX0" fmla="*/ 749508 w 882753"/>
              <a:gd name="connsiteY0" fmla="*/ 1169232 h 1169232"/>
              <a:gd name="connsiteX1" fmla="*/ 824459 w 882753"/>
              <a:gd name="connsiteY1" fmla="*/ 779488 h 1169232"/>
              <a:gd name="connsiteX2" fmla="*/ 0 w 882753"/>
              <a:gd name="connsiteY2" fmla="*/ 0 h 116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753" h="1169232">
                <a:moveTo>
                  <a:pt x="749508" y="1169232"/>
                </a:moveTo>
                <a:cubicBezTo>
                  <a:pt x="849442" y="1071796"/>
                  <a:pt x="949377" y="974360"/>
                  <a:pt x="824459" y="779488"/>
                </a:cubicBezTo>
                <a:cubicBezTo>
                  <a:pt x="699541" y="584616"/>
                  <a:pt x="349770" y="292308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6925456" y="4407108"/>
            <a:ext cx="2027943" cy="1783830"/>
          </a:xfrm>
          <a:custGeom>
            <a:avLst/>
            <a:gdLst>
              <a:gd name="connsiteX0" fmla="*/ 1933731 w 2027943"/>
              <a:gd name="connsiteY0" fmla="*/ 1783830 h 1783830"/>
              <a:gd name="connsiteX1" fmla="*/ 1993692 w 2027943"/>
              <a:gd name="connsiteY1" fmla="*/ 1319135 h 1783830"/>
              <a:gd name="connsiteX2" fmla="*/ 1469036 w 2027943"/>
              <a:gd name="connsiteY2" fmla="*/ 449705 h 1783830"/>
              <a:gd name="connsiteX3" fmla="*/ 0 w 2027943"/>
              <a:gd name="connsiteY3" fmla="*/ 0 h 178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943" h="1783830">
                <a:moveTo>
                  <a:pt x="1933731" y="1783830"/>
                </a:moveTo>
                <a:cubicBezTo>
                  <a:pt x="2002436" y="1662659"/>
                  <a:pt x="2071141" y="1541489"/>
                  <a:pt x="1993692" y="1319135"/>
                </a:cubicBezTo>
                <a:cubicBezTo>
                  <a:pt x="1916243" y="1096781"/>
                  <a:pt x="1801318" y="669561"/>
                  <a:pt x="1469036" y="449705"/>
                </a:cubicBezTo>
                <a:cubicBezTo>
                  <a:pt x="1136754" y="229849"/>
                  <a:pt x="568377" y="11492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31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9" grpId="0" animBg="1"/>
      <p:bldP spid="80" grpId="0" animBg="1"/>
      <p:bldP spid="82" grpId="0" animBg="1"/>
      <p:bldP spid="83" grpId="0" animBg="1"/>
      <p:bldP spid="88" grpId="0" animBg="1"/>
      <p:bldP spid="89" grpId="0" animBg="1"/>
      <p:bldP spid="90" grpId="0" animBg="1"/>
      <p:bldP spid="92" grpId="0" animBg="1"/>
      <p:bldP spid="14" grpId="0"/>
      <p:bldP spid="17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/>
              <p:cNvSpPr txBox="1"/>
              <p:nvPr/>
            </p:nvSpPr>
            <p:spPr>
              <a:xfrm>
                <a:off x="177681" y="5714537"/>
                <a:ext cx="85013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3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81" y="5714537"/>
                <a:ext cx="85013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/>
              <p:cNvSpPr txBox="1"/>
              <p:nvPr/>
            </p:nvSpPr>
            <p:spPr>
              <a:xfrm>
                <a:off x="2255469" y="5719271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69" y="5719271"/>
                <a:ext cx="5156925" cy="369332"/>
              </a:xfrm>
              <a:prstGeom prst="rect">
                <a:avLst/>
              </a:prstGeom>
              <a:blipFill>
                <a:blip r:embed="rId5"/>
                <a:stretch>
                  <a:fillRect l="-3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7180166" y="155409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3029726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/>
        </p:nvSpPr>
        <p:spPr>
          <a:xfrm>
            <a:off x="4355312" y="159016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5766871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1846623" y="163415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6153678" y="265493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6262994" y="390082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6129794" y="187613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915011" y="235184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/>
        </p:nvSpPr>
        <p:spPr>
          <a:xfrm>
            <a:off x="1920829" y="17815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/>
        </p:nvGraphicFramePr>
        <p:xfrm>
          <a:off x="1933528" y="168626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52280" imgH="215640" progId="Equation.3">
                  <p:embed/>
                </p:oleObj>
              </mc:Choice>
              <mc:Fallback>
                <p:oleObj name="方程式" r:id="rId6" imgW="152280" imgH="215640" progId="Equation.3">
                  <p:embed/>
                  <p:pic>
                    <p:nvPicPr>
                      <p:cNvPr id="9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28" y="168626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/>
        </p:nvGraphicFramePr>
        <p:xfrm>
          <a:off x="1938824" y="2268998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64880" imgH="215640" progId="Equation.3">
                  <p:embed/>
                </p:oleObj>
              </mc:Choice>
              <mc:Fallback>
                <p:oleObj name="方程式" r:id="rId8" imgW="164880" imgH="215640" progId="Equation.3">
                  <p:embed/>
                  <p:pic>
                    <p:nvPicPr>
                      <p:cNvPr id="9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824" y="2268998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3126836" y="16175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3129178" y="239608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橢圓 101"/>
          <p:cNvSpPr/>
          <p:nvPr/>
        </p:nvSpPr>
        <p:spPr>
          <a:xfrm>
            <a:off x="3117545" y="362409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3114798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4" name="矩形 103"/>
          <p:cNvSpPr/>
          <p:nvPr/>
        </p:nvSpPr>
        <p:spPr>
          <a:xfrm>
            <a:off x="1924536" y="3749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/>
        </p:nvGraphicFramePr>
        <p:xfrm>
          <a:off x="1921420" y="365335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90440" imgH="228600" progId="Equation.3">
                  <p:embed/>
                </p:oleObj>
              </mc:Choice>
              <mc:Fallback>
                <p:oleObj name="方程式" r:id="rId10" imgW="190440" imgH="228600" progId="Equation.3">
                  <p:embed/>
                  <p:pic>
                    <p:nvPicPr>
                      <p:cNvPr id="10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420" y="365335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1800468" y="303454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07" name="橢圓 106"/>
          <p:cNvSpPr/>
          <p:nvPr/>
        </p:nvSpPr>
        <p:spPr>
          <a:xfrm>
            <a:off x="4442398" y="16175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/>
          <p:cNvSpPr/>
          <p:nvPr/>
        </p:nvSpPr>
        <p:spPr>
          <a:xfrm>
            <a:off x="4444740" y="239608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/>
          <p:cNvSpPr/>
          <p:nvPr/>
        </p:nvSpPr>
        <p:spPr>
          <a:xfrm>
            <a:off x="4433107" y="362409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4430360" y="304639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1" name="橢圓 110"/>
          <p:cNvSpPr/>
          <p:nvPr/>
        </p:nvSpPr>
        <p:spPr>
          <a:xfrm>
            <a:off x="5842715" y="159840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/>
          <p:cNvSpPr/>
          <p:nvPr/>
        </p:nvSpPr>
        <p:spPr>
          <a:xfrm>
            <a:off x="5845057" y="235831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/>
          <p:cNvSpPr/>
          <p:nvPr/>
        </p:nvSpPr>
        <p:spPr>
          <a:xfrm>
            <a:off x="5852085" y="360499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5849338" y="302412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5014443" y="155893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032066" y="2344431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5044246" y="36007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3700994" y="190459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3700994" y="269634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3691703" y="391831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3703336" y="190459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3700994" y="190459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3700994" y="190459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3703336" y="268316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3691703" y="190459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3691703" y="268316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2267436" y="1904595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2263729" y="195296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2263729" y="195296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2291249" y="190459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2257911" y="2523298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2257911" y="2523298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2329408" y="1904595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2303039" y="268316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2303039" y="389777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7122356" y="305509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7191449" y="153627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7180166" y="233449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7180166" y="360072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>
          <a:xfrm>
            <a:off x="2318544" y="2185783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79" name="矩形 78"/>
          <p:cNvSpPr/>
          <p:nvPr/>
        </p:nvSpPr>
        <p:spPr>
          <a:xfrm>
            <a:off x="3706747" y="2193987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0" name="矩形 79"/>
          <p:cNvSpPr/>
          <p:nvPr/>
        </p:nvSpPr>
        <p:spPr>
          <a:xfrm>
            <a:off x="5172752" y="218708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L</a:t>
            </a:r>
            <a:endParaRPr lang="zh-TW" altLang="en-US" sz="2400" baseline="30000" dirty="0"/>
          </a:p>
        </p:txBody>
      </p:sp>
      <p:sp>
        <p:nvSpPr>
          <p:cNvPr id="82" name="矩形 81"/>
          <p:cNvSpPr/>
          <p:nvPr/>
        </p:nvSpPr>
        <p:spPr>
          <a:xfrm>
            <a:off x="4322227" y="2527382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83" name="矩形 82"/>
          <p:cNvSpPr/>
          <p:nvPr/>
        </p:nvSpPr>
        <p:spPr>
          <a:xfrm>
            <a:off x="5812126" y="2503875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b</a:t>
            </a:r>
            <a:r>
              <a:rPr lang="en-US" altLang="zh-TW" sz="2400" baseline="30000" dirty="0" err="1"/>
              <a:t>L</a:t>
            </a:r>
            <a:endParaRPr lang="zh-TW" altLang="en-US" sz="2400" baseline="30000" dirty="0"/>
          </a:p>
        </p:txBody>
      </p:sp>
      <p:sp>
        <p:nvSpPr>
          <p:cNvPr id="88" name="矩形 87"/>
          <p:cNvSpPr/>
          <p:nvPr/>
        </p:nvSpPr>
        <p:spPr>
          <a:xfrm>
            <a:off x="2230673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89" name="矩形 88"/>
          <p:cNvSpPr/>
          <p:nvPr/>
        </p:nvSpPr>
        <p:spPr>
          <a:xfrm>
            <a:off x="3540087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90" name="矩形 89"/>
          <p:cNvSpPr/>
          <p:nvPr/>
        </p:nvSpPr>
        <p:spPr>
          <a:xfrm>
            <a:off x="4875211" y="359476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92" name="矩形 91"/>
          <p:cNvSpPr/>
          <p:nvPr/>
        </p:nvSpPr>
        <p:spPr>
          <a:xfrm>
            <a:off x="6464825" y="35897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y</a:t>
            </a:r>
            <a:endParaRPr lang="zh-TW" altLang="en-US" sz="2400" baseline="30000" dirty="0"/>
          </a:p>
        </p:txBody>
      </p:sp>
      <p:sp>
        <p:nvSpPr>
          <p:cNvPr id="85" name="矩形 84"/>
          <p:cNvSpPr/>
          <p:nvPr/>
        </p:nvSpPr>
        <p:spPr>
          <a:xfrm>
            <a:off x="377557" y="4346940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y</a:t>
            </a:r>
            <a:endParaRPr lang="zh-TW" altLang="en-US" sz="2400" baseline="30000" dirty="0"/>
          </a:p>
        </p:txBody>
      </p:sp>
      <p:grpSp>
        <p:nvGrpSpPr>
          <p:cNvPr id="6" name="群組 5"/>
          <p:cNvGrpSpPr/>
          <p:nvPr/>
        </p:nvGrpSpPr>
        <p:grpSpPr>
          <a:xfrm>
            <a:off x="879059" y="4336342"/>
            <a:ext cx="1423980" cy="877076"/>
            <a:chOff x="3047770" y="5664328"/>
            <a:chExt cx="1423980" cy="877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/>
                <p:cNvSpPr txBox="1"/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5" name="文字方塊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770" y="5918200"/>
                  <a:ext cx="1423980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717" b="-344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矩形 86"/>
            <p:cNvSpPr/>
            <p:nvPr/>
          </p:nvSpPr>
          <p:spPr>
            <a:xfrm>
              <a:off x="3778163" y="566432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</p:grpSp>
      <p:sp>
        <p:nvSpPr>
          <p:cNvPr id="140" name="矩形 139"/>
          <p:cNvSpPr/>
          <p:nvPr/>
        </p:nvSpPr>
        <p:spPr>
          <a:xfrm>
            <a:off x="5790778" y="5440739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141" name="矩形 140"/>
          <p:cNvSpPr/>
          <p:nvPr/>
        </p:nvSpPr>
        <p:spPr>
          <a:xfrm>
            <a:off x="3969293" y="5462891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142" name="矩形 141"/>
          <p:cNvSpPr/>
          <p:nvPr/>
        </p:nvSpPr>
        <p:spPr>
          <a:xfrm>
            <a:off x="4870235" y="5438936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5370875" y="5634539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/>
              <p:cNvSpPr txBox="1"/>
              <p:nvPr/>
            </p:nvSpPr>
            <p:spPr>
              <a:xfrm>
                <a:off x="3508823" y="5692808"/>
                <a:ext cx="30024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7" name="文字方塊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823" y="5692808"/>
                <a:ext cx="300248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矩形 148"/>
          <p:cNvSpPr/>
          <p:nvPr/>
        </p:nvSpPr>
        <p:spPr>
          <a:xfrm>
            <a:off x="6732741" y="5457383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150" name="矩形 149"/>
          <p:cNvSpPr/>
          <p:nvPr/>
        </p:nvSpPr>
        <p:spPr>
          <a:xfrm>
            <a:off x="2682038" y="5479535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152" name="文字方塊 151"/>
          <p:cNvSpPr txBox="1"/>
          <p:nvPr/>
        </p:nvSpPr>
        <p:spPr>
          <a:xfrm>
            <a:off x="6377551" y="5646127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155" name="矩形 154"/>
          <p:cNvSpPr/>
          <p:nvPr/>
        </p:nvSpPr>
        <p:spPr>
          <a:xfrm>
            <a:off x="7947782" y="5438936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b</a:t>
            </a:r>
            <a:r>
              <a:rPr lang="en-US" altLang="zh-TW" sz="2400" baseline="30000" dirty="0" err="1"/>
              <a:t>L</a:t>
            </a:r>
            <a:endParaRPr lang="zh-TW" altLang="en-US" sz="2400" baseline="30000" dirty="0"/>
          </a:p>
        </p:txBody>
      </p:sp>
      <p:sp>
        <p:nvSpPr>
          <p:cNvPr id="156" name="矩形 155"/>
          <p:cNvSpPr/>
          <p:nvPr/>
        </p:nvSpPr>
        <p:spPr>
          <a:xfrm>
            <a:off x="985739" y="5472301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W</a:t>
            </a:r>
            <a:r>
              <a:rPr lang="en-US" altLang="zh-TW" sz="2400" baseline="30000" dirty="0"/>
              <a:t>L</a:t>
            </a:r>
            <a:endParaRPr lang="zh-TW" altLang="en-US" sz="2400" baseline="30000" dirty="0"/>
          </a:p>
        </p:txBody>
      </p:sp>
      <p:sp>
        <p:nvSpPr>
          <p:cNvPr id="157" name="矩形 156"/>
          <p:cNvSpPr/>
          <p:nvPr/>
        </p:nvSpPr>
        <p:spPr>
          <a:xfrm>
            <a:off x="11333819" y="6349207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158" name="文字方塊 157"/>
          <p:cNvSpPr txBox="1"/>
          <p:nvPr/>
        </p:nvSpPr>
        <p:spPr>
          <a:xfrm>
            <a:off x="7637227" y="5638394"/>
            <a:ext cx="36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716410" y="5572984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174" name="矩形 173"/>
          <p:cNvSpPr/>
          <p:nvPr/>
        </p:nvSpPr>
        <p:spPr>
          <a:xfrm>
            <a:off x="2881004" y="2531687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175" name="文字方塊 174"/>
          <p:cNvSpPr txBox="1"/>
          <p:nvPr/>
        </p:nvSpPr>
        <p:spPr>
          <a:xfrm>
            <a:off x="7229267" y="5528364"/>
            <a:ext cx="719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314282" y="6110279"/>
            <a:ext cx="2057400" cy="365125"/>
          </a:xfrm>
        </p:spPr>
        <p:txBody>
          <a:bodyPr/>
          <a:lstStyle/>
          <a:p>
            <a:fld id="{DDFD11CF-6FB2-4FCE-A971-5E1D4AF62D71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">
                <a:extLst>
                  <a:ext uri="{FF2B5EF4-FFF2-40B4-BE49-F238E27FC236}">
                    <a16:creationId xmlns:a16="http://schemas.microsoft.com/office/drawing/2014/main" id="{E18C92E6-F639-45AA-8A2B-532BD0E80789}"/>
                  </a:ext>
                </a:extLst>
              </p:cNvPr>
              <p:cNvSpPr txBox="1"/>
              <p:nvPr/>
            </p:nvSpPr>
            <p:spPr>
              <a:xfrm>
                <a:off x="244824" y="6394406"/>
                <a:ext cx="86543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Network parameter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400" dirty="0"/>
                  <a:t>: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all the weights and biases in the “neurons”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1" name="文字方塊 9">
                <a:extLst>
                  <a:ext uri="{FF2B5EF4-FFF2-40B4-BE49-F238E27FC236}">
                    <a16:creationId xmlns:a16="http://schemas.microsoft.com/office/drawing/2014/main" id="{E18C92E6-F639-45AA-8A2B-532BD0E80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24" y="6394406"/>
                <a:ext cx="8654351" cy="461665"/>
              </a:xfrm>
              <a:prstGeom prst="rect">
                <a:avLst/>
              </a:prstGeom>
              <a:blipFill>
                <a:blip r:embed="rId1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71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53" grpId="0"/>
      <p:bldP spid="85" grpId="0" animBg="1"/>
      <p:bldP spid="140" grpId="0" animBg="1"/>
      <p:bldP spid="141" grpId="0" animBg="1"/>
      <p:bldP spid="142" grpId="0" animBg="1"/>
      <p:bldP spid="146" grpId="0"/>
      <p:bldP spid="147" grpId="0"/>
      <p:bldP spid="149" grpId="0" animBg="1"/>
      <p:bldP spid="150" grpId="0" animBg="1"/>
      <p:bldP spid="152" grpId="0"/>
      <p:bldP spid="155" grpId="0" animBg="1"/>
      <p:bldP spid="156" grpId="0" animBg="1"/>
      <p:bldP spid="158" grpId="0"/>
      <p:bldP spid="8" grpId="0"/>
      <p:bldP spid="175" grpId="0"/>
      <p:bldP spid="9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 Layer 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1234935" y="2674551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/>
          <p:nvPr/>
        </p:nvCxnSpPr>
        <p:spPr>
          <a:xfrm>
            <a:off x="6347209" y="3695330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6456525" y="4941220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323325" y="2916527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1303323" y="339224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1309141" y="282191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6" name="群組 65"/>
          <p:cNvGrpSpPr/>
          <p:nvPr/>
        </p:nvGrpSpPr>
        <p:grpSpPr>
          <a:xfrm>
            <a:off x="2418038" y="2646910"/>
            <a:ext cx="746342" cy="2675868"/>
            <a:chOff x="2504565" y="2224872"/>
            <a:chExt cx="746342" cy="2675868"/>
          </a:xfrm>
        </p:grpSpPr>
        <p:sp>
          <p:nvSpPr>
            <p:cNvPr id="67" name="矩形 66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橢圓 68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文字方塊 71"/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sp>
        <p:nvSpPr>
          <p:cNvPr id="73" name="矩形 72"/>
          <p:cNvSpPr/>
          <p:nvPr/>
        </p:nvSpPr>
        <p:spPr>
          <a:xfrm>
            <a:off x="1312848" y="4790001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/>
          <p:cNvSpPr txBox="1"/>
          <p:nvPr/>
        </p:nvSpPr>
        <p:spPr>
          <a:xfrm rot="5400000">
            <a:off x="1188780" y="407494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83" name="群組 82"/>
          <p:cNvGrpSpPr/>
          <p:nvPr/>
        </p:nvGrpSpPr>
        <p:grpSpPr>
          <a:xfrm>
            <a:off x="5960402" y="2638804"/>
            <a:ext cx="746342" cy="2683974"/>
            <a:chOff x="6046929" y="2216766"/>
            <a:chExt cx="746342" cy="2683974"/>
          </a:xfrm>
        </p:grpSpPr>
        <p:sp>
          <p:nvSpPr>
            <p:cNvPr id="84" name="矩形 83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橢圓 85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橢圓 86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橢圓 87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文字方塊 88"/>
            <p:cNvSpPr txBox="1"/>
            <p:nvPr/>
          </p:nvSpPr>
          <p:spPr>
            <a:xfrm rot="5400000">
              <a:off x="6129396" y="364247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sp>
        <p:nvSpPr>
          <p:cNvPr id="90" name="文字方塊 89"/>
          <p:cNvSpPr txBox="1"/>
          <p:nvPr/>
        </p:nvSpPr>
        <p:spPr>
          <a:xfrm>
            <a:off x="3106468" y="261390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3113417" y="337488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92" name="文字方塊 91"/>
          <p:cNvSpPr txBox="1"/>
          <p:nvPr/>
        </p:nvSpPr>
        <p:spPr>
          <a:xfrm>
            <a:off x="3142433" y="459022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127" name="群組 126"/>
          <p:cNvGrpSpPr/>
          <p:nvPr/>
        </p:nvGrpSpPr>
        <p:grpSpPr>
          <a:xfrm>
            <a:off x="3819494" y="2630101"/>
            <a:ext cx="1409951" cy="2675868"/>
            <a:chOff x="3237982" y="2761595"/>
            <a:chExt cx="1409951" cy="2675868"/>
          </a:xfrm>
        </p:grpSpPr>
        <p:grpSp>
          <p:nvGrpSpPr>
            <p:cNvPr id="76" name="群組 75"/>
            <p:cNvGrpSpPr/>
            <p:nvPr/>
          </p:nvGrpSpPr>
          <p:grpSpPr>
            <a:xfrm>
              <a:off x="3901591" y="2761595"/>
              <a:ext cx="746342" cy="2675868"/>
              <a:chOff x="3830151" y="2208525"/>
              <a:chExt cx="746342" cy="2675868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3830151" y="2208525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9" name="橢圓 78"/>
              <p:cNvSpPr/>
              <p:nvPr/>
            </p:nvSpPr>
            <p:spPr>
              <a:xfrm>
                <a:off x="3917237" y="22358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橢圓 79"/>
              <p:cNvSpPr/>
              <p:nvPr/>
            </p:nvSpPr>
            <p:spPr>
              <a:xfrm>
                <a:off x="3919579" y="301444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" name="橢圓 80"/>
              <p:cNvSpPr/>
              <p:nvPr/>
            </p:nvSpPr>
            <p:spPr>
              <a:xfrm>
                <a:off x="3907946" y="424245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2" name="文字方塊 81"/>
              <p:cNvSpPr txBox="1"/>
              <p:nvPr/>
            </p:nvSpPr>
            <p:spPr>
              <a:xfrm rot="5400000">
                <a:off x="3905199" y="3664749"/>
                <a:ext cx="7692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……</a:t>
                </a:r>
                <a:endParaRPr lang="zh-TW" altLang="en-US" sz="2800" dirty="0"/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3237982" y="3061275"/>
              <a:ext cx="753037" cy="2028469"/>
              <a:chOff x="3166542" y="2508205"/>
              <a:chExt cx="753037" cy="2028469"/>
            </a:xfrm>
          </p:grpSpPr>
          <p:cxnSp>
            <p:nvCxnSpPr>
              <p:cNvPr id="94" name="直線單箭頭接點 93"/>
              <p:cNvCxnSpPr>
                <a:stCxn id="69" idx="6"/>
                <a:endCxn id="79" idx="2"/>
              </p:cNvCxnSpPr>
              <p:nvPr/>
            </p:nvCxnSpPr>
            <p:spPr>
              <a:xfrm>
                <a:off x="3175833" y="2508205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>
                <a:off x="3175833" y="3314705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>
                <a:off x="3166542" y="4536674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單箭頭接點 96"/>
              <p:cNvCxnSpPr>
                <a:stCxn id="70" idx="6"/>
                <a:endCxn id="79" idx="2"/>
              </p:cNvCxnSpPr>
              <p:nvPr/>
            </p:nvCxnSpPr>
            <p:spPr>
              <a:xfrm flipV="1">
                <a:off x="3178175" y="2508205"/>
                <a:ext cx="739062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線單箭頭接點 97"/>
              <p:cNvCxnSpPr>
                <a:stCxn id="69" idx="6"/>
                <a:endCxn id="80" idx="2"/>
              </p:cNvCxnSpPr>
              <p:nvPr/>
            </p:nvCxnSpPr>
            <p:spPr>
              <a:xfrm>
                <a:off x="3175833" y="2508205"/>
                <a:ext cx="743746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69" idx="6"/>
                <a:endCxn id="81" idx="2"/>
              </p:cNvCxnSpPr>
              <p:nvPr/>
            </p:nvCxnSpPr>
            <p:spPr>
              <a:xfrm>
                <a:off x="3175833" y="2508205"/>
                <a:ext cx="732113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單箭頭接點 99"/>
              <p:cNvCxnSpPr>
                <a:stCxn id="70" idx="6"/>
                <a:endCxn id="81" idx="2"/>
              </p:cNvCxnSpPr>
              <p:nvPr/>
            </p:nvCxnSpPr>
            <p:spPr>
              <a:xfrm>
                <a:off x="3178175" y="3286775"/>
                <a:ext cx="729771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單箭頭接點 100"/>
              <p:cNvCxnSpPr>
                <a:stCxn id="71" idx="6"/>
                <a:endCxn id="79" idx="2"/>
              </p:cNvCxnSpPr>
              <p:nvPr/>
            </p:nvCxnSpPr>
            <p:spPr>
              <a:xfrm flipV="1">
                <a:off x="3166542" y="2508205"/>
                <a:ext cx="750695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71" idx="6"/>
                <a:endCxn id="80" idx="2"/>
              </p:cNvCxnSpPr>
              <p:nvPr/>
            </p:nvCxnSpPr>
            <p:spPr>
              <a:xfrm flipV="1">
                <a:off x="3166542" y="3286775"/>
                <a:ext cx="753037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3" name="直線單箭頭接點 102"/>
          <p:cNvCxnSpPr>
            <a:endCxn id="69" idx="2"/>
          </p:cNvCxnSpPr>
          <p:nvPr/>
        </p:nvCxnSpPr>
        <p:spPr>
          <a:xfrm flipV="1">
            <a:off x="1655748" y="2944991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63" idx="3"/>
            <a:endCxn id="70" idx="2"/>
          </p:cNvCxnSpPr>
          <p:nvPr/>
        </p:nvCxnSpPr>
        <p:spPr>
          <a:xfrm>
            <a:off x="1652041" y="2993365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>
            <a:stCxn id="63" idx="3"/>
            <a:endCxn id="71" idx="2"/>
          </p:cNvCxnSpPr>
          <p:nvPr/>
        </p:nvCxnSpPr>
        <p:spPr>
          <a:xfrm>
            <a:off x="1652041" y="2993365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endCxn id="69" idx="2"/>
          </p:cNvCxnSpPr>
          <p:nvPr/>
        </p:nvCxnSpPr>
        <p:spPr>
          <a:xfrm flipV="1">
            <a:off x="1679561" y="2944991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stCxn id="62" idx="3"/>
            <a:endCxn id="70" idx="2"/>
          </p:cNvCxnSpPr>
          <p:nvPr/>
        </p:nvCxnSpPr>
        <p:spPr>
          <a:xfrm>
            <a:off x="1646223" y="3563694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>
            <a:stCxn id="62" idx="3"/>
            <a:endCxn id="71" idx="2"/>
          </p:cNvCxnSpPr>
          <p:nvPr/>
        </p:nvCxnSpPr>
        <p:spPr>
          <a:xfrm>
            <a:off x="1646223" y="3563694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endCxn id="69" idx="2"/>
          </p:cNvCxnSpPr>
          <p:nvPr/>
        </p:nvCxnSpPr>
        <p:spPr>
          <a:xfrm flipV="1">
            <a:off x="1717720" y="2944991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endCxn id="70" idx="2"/>
          </p:cNvCxnSpPr>
          <p:nvPr/>
        </p:nvCxnSpPr>
        <p:spPr>
          <a:xfrm flipV="1">
            <a:off x="1691351" y="3723561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endCxn id="71" idx="2"/>
          </p:cNvCxnSpPr>
          <p:nvPr/>
        </p:nvCxnSpPr>
        <p:spPr>
          <a:xfrm>
            <a:off x="1691351" y="4938167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字方塊 111"/>
          <p:cNvSpPr txBox="1"/>
          <p:nvPr/>
        </p:nvSpPr>
        <p:spPr>
          <a:xfrm rot="5400000">
            <a:off x="7315887" y="409548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3" name="文字方塊 112"/>
          <p:cNvSpPr txBox="1"/>
          <p:nvPr/>
        </p:nvSpPr>
        <p:spPr>
          <a:xfrm>
            <a:off x="7384980" y="257666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7373697" y="337488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7373697" y="464111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y</a:t>
            </a:r>
            <a:r>
              <a:rPr lang="en-US" altLang="zh-TW" sz="2800" baseline="-25000" dirty="0" err="1"/>
              <a:t>M</a:t>
            </a:r>
            <a:endParaRPr lang="zh-TW" altLang="en-US" sz="2800" baseline="-25000" dirty="0"/>
          </a:p>
        </p:txBody>
      </p:sp>
      <p:grpSp>
        <p:nvGrpSpPr>
          <p:cNvPr id="116" name="群組 115"/>
          <p:cNvGrpSpPr/>
          <p:nvPr/>
        </p:nvGrpSpPr>
        <p:grpSpPr>
          <a:xfrm>
            <a:off x="5270567" y="2937852"/>
            <a:ext cx="753037" cy="2013721"/>
            <a:chOff x="5357094" y="2515814"/>
            <a:chExt cx="753037" cy="2013721"/>
          </a:xfrm>
        </p:grpSpPr>
        <p:cxnSp>
          <p:nvCxnSpPr>
            <p:cNvPr id="117" name="直線單箭頭接點 11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單箭頭接點 117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單箭頭接點 119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單箭頭接點 120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單箭頭接點 122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單箭頭接點 123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單箭頭接點 124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853429"/>
              </p:ext>
            </p:extLst>
          </p:nvPr>
        </p:nvGraphicFramePr>
        <p:xfrm>
          <a:off x="4964109" y="4410572"/>
          <a:ext cx="4333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03040" imgH="215640" progId="Equation.3">
                  <p:embed/>
                </p:oleObj>
              </mc:Choice>
              <mc:Fallback>
                <p:oleObj name="方程式" r:id="rId3" imgW="203040" imgH="215640" progId="Equation.3">
                  <p:embed/>
                  <p:pic>
                    <p:nvPicPr>
                      <p:cNvPr id="1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09" y="4410572"/>
                        <a:ext cx="433387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文字方塊 129"/>
          <p:cNvSpPr txBox="1"/>
          <p:nvPr/>
        </p:nvSpPr>
        <p:spPr>
          <a:xfrm>
            <a:off x="5764279" y="5348859"/>
            <a:ext cx="1165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Output Layer</a:t>
            </a:r>
            <a:endParaRPr lang="zh-TW" altLang="en-US" sz="2400" b="1" dirty="0"/>
          </a:p>
        </p:txBody>
      </p:sp>
      <p:sp>
        <p:nvSpPr>
          <p:cNvPr id="131" name="文字方塊 130"/>
          <p:cNvSpPr txBox="1"/>
          <p:nvPr/>
        </p:nvSpPr>
        <p:spPr>
          <a:xfrm>
            <a:off x="2786173" y="5661211"/>
            <a:ext cx="206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Hidden Layers</a:t>
            </a:r>
            <a:endParaRPr lang="zh-TW" altLang="en-US" sz="2400" b="1" dirty="0"/>
          </a:p>
        </p:txBody>
      </p:sp>
      <p:sp>
        <p:nvSpPr>
          <p:cNvPr id="132" name="右大括弧 131"/>
          <p:cNvSpPr/>
          <p:nvPr/>
        </p:nvSpPr>
        <p:spPr>
          <a:xfrm rot="5400000">
            <a:off x="3747093" y="4013939"/>
            <a:ext cx="181728" cy="2939290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文字方塊 132"/>
          <p:cNvSpPr txBox="1"/>
          <p:nvPr/>
        </p:nvSpPr>
        <p:spPr>
          <a:xfrm>
            <a:off x="1023007" y="5220333"/>
            <a:ext cx="928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Input Layer</a:t>
            </a:r>
            <a:endParaRPr lang="zh-TW" altLang="en-US" sz="2400" b="1" dirty="0"/>
          </a:p>
        </p:txBody>
      </p:sp>
      <p:graphicFrame>
        <p:nvGraphicFramePr>
          <p:cNvPr id="13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074045"/>
              </p:ext>
            </p:extLst>
          </p:nvPr>
        </p:nvGraphicFramePr>
        <p:xfrm>
          <a:off x="795350" y="3693983"/>
          <a:ext cx="434940" cy="478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26720" imgH="139680" progId="Equation.3">
                  <p:embed/>
                </p:oleObj>
              </mc:Choice>
              <mc:Fallback>
                <p:oleObj name="方程式" r:id="rId5" imgW="126720" imgH="139680" progId="Equation.3">
                  <p:embed/>
                  <p:pic>
                    <p:nvPicPr>
                      <p:cNvPr id="13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50" y="3693983"/>
                        <a:ext cx="434940" cy="478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11781"/>
              </p:ext>
            </p:extLst>
          </p:nvPr>
        </p:nvGraphicFramePr>
        <p:xfrm>
          <a:off x="5020102" y="247588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52280" imgH="215640" progId="Equation.3">
                  <p:embed/>
                </p:oleObj>
              </mc:Choice>
              <mc:Fallback>
                <p:oleObj name="方程式" r:id="rId7" imgW="152280" imgH="215640" progId="Equation.3">
                  <p:embed/>
                  <p:pic>
                    <p:nvPicPr>
                      <p:cNvPr id="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102" y="247588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878497"/>
              </p:ext>
            </p:extLst>
          </p:nvPr>
        </p:nvGraphicFramePr>
        <p:xfrm>
          <a:off x="4999640" y="3228795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15640" progId="Equation.3">
                  <p:embed/>
                </p:oleObj>
              </mc:Choice>
              <mc:Fallback>
                <p:oleObj name="方程式" r:id="rId9" imgW="164880" imgH="215640" progId="Equation.3">
                  <p:embed/>
                  <p:pic>
                    <p:nvPicPr>
                      <p:cNvPr id="1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640" y="3228795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矩形 134"/>
          <p:cNvSpPr/>
          <p:nvPr/>
        </p:nvSpPr>
        <p:spPr>
          <a:xfrm>
            <a:off x="2291950" y="2576666"/>
            <a:ext cx="2693027" cy="27461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文字方塊 135"/>
          <p:cNvSpPr txBox="1"/>
          <p:nvPr/>
        </p:nvSpPr>
        <p:spPr>
          <a:xfrm>
            <a:off x="2206736" y="1705203"/>
            <a:ext cx="2561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Automatic feature engineering</a:t>
            </a:r>
            <a:endParaRPr lang="zh-TW" altLang="en-US" sz="24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6909399" y="5344176"/>
            <a:ext cx="1765609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= Multi-class Classifier </a:t>
            </a:r>
            <a:endParaRPr lang="zh-TW" altLang="en-US" sz="2400" dirty="0"/>
          </a:p>
        </p:txBody>
      </p:sp>
      <p:sp>
        <p:nvSpPr>
          <p:cNvPr id="138" name="矩形 137"/>
          <p:cNvSpPr/>
          <p:nvPr/>
        </p:nvSpPr>
        <p:spPr>
          <a:xfrm>
            <a:off x="6038847" y="2610469"/>
            <a:ext cx="737236" cy="26839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9" name="文字方塊 138"/>
          <p:cNvSpPr txBox="1"/>
          <p:nvPr/>
        </p:nvSpPr>
        <p:spPr>
          <a:xfrm rot="5400000">
            <a:off x="5616881" y="3720140"/>
            <a:ext cx="1510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Softmax</a:t>
            </a:r>
            <a:endParaRPr lang="zh-TW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934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6" grpId="0"/>
      <p:bldP spid="137" grpId="0" animBg="1"/>
      <p:bldP spid="138" grpId="0" animBg="1"/>
      <p:bldP spid="1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6764" y="196334"/>
            <a:ext cx="56080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/>
              <a:t>Multi-class Classification: Recap</a:t>
            </a:r>
            <a:endParaRPr lang="zh-TW" altLang="en-US" sz="3200" b="1" i="1" u="sng" dirty="0"/>
          </a:p>
        </p:txBody>
      </p:sp>
      <p:sp>
        <p:nvSpPr>
          <p:cNvPr id="5" name="文字方塊 4"/>
          <p:cNvSpPr txBox="1"/>
          <p:nvPr/>
        </p:nvSpPr>
        <p:spPr>
          <a:xfrm>
            <a:off x="509337" y="998621"/>
            <a:ext cx="545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96636" y="1484396"/>
            <a:ext cx="545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7656" y="1962169"/>
            <a:ext cx="545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054766" y="1041386"/>
                <a:ext cx="8576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766" y="1041386"/>
                <a:ext cx="857607" cy="369332"/>
              </a:xfrm>
              <a:prstGeom prst="rect">
                <a:avLst/>
              </a:prstGeom>
              <a:blipFill>
                <a:blip r:embed="rId3"/>
                <a:stretch>
                  <a:fillRect l="-4255" r="-2128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042066" y="1527161"/>
                <a:ext cx="8713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66" y="1527161"/>
                <a:ext cx="871329" cy="369332"/>
              </a:xfrm>
              <a:prstGeom prst="rect">
                <a:avLst/>
              </a:prstGeom>
              <a:blipFill>
                <a:blip r:embed="rId4"/>
                <a:stretch>
                  <a:fillRect l="-4895" t="-1667" r="-2098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1029366" y="2003932"/>
                <a:ext cx="8713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366" y="2003932"/>
                <a:ext cx="871328" cy="369332"/>
              </a:xfrm>
              <a:prstGeom prst="rect">
                <a:avLst/>
              </a:prstGeom>
              <a:blipFill>
                <a:blip r:embed="rId5"/>
                <a:stretch>
                  <a:fillRect l="-4895" t="-1667" r="-2098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253615" y="1020699"/>
                <a:ext cx="22090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615" y="1020699"/>
                <a:ext cx="2209066" cy="369332"/>
              </a:xfrm>
              <a:prstGeom prst="rect">
                <a:avLst/>
              </a:prstGeom>
              <a:blipFill>
                <a:blip r:embed="rId6"/>
                <a:stretch>
                  <a:fillRect l="-1105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253615" y="1535196"/>
                <a:ext cx="22299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615" y="1535196"/>
                <a:ext cx="2229906" cy="369332"/>
              </a:xfrm>
              <a:prstGeom prst="rect">
                <a:avLst/>
              </a:prstGeom>
              <a:blipFill>
                <a:blip r:embed="rId7"/>
                <a:stretch>
                  <a:fillRect l="-1096" r="-274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2258784" y="2005653"/>
                <a:ext cx="22299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784" y="2005653"/>
                <a:ext cx="2229906" cy="369332"/>
              </a:xfrm>
              <a:prstGeom prst="rect">
                <a:avLst/>
              </a:prstGeom>
              <a:blipFill>
                <a:blip r:embed="rId8"/>
                <a:stretch>
                  <a:fillRect l="-1096" r="-274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996848" y="2705869"/>
            <a:ext cx="5556352" cy="38600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688760" y="4414080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688760" y="5300006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688760" y="3526101"/>
            <a:ext cx="63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1322853" y="3228558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1322853" y="4116537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>
            <a:off x="1322853" y="5002463"/>
            <a:ext cx="595086" cy="59508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363538" y="3267075"/>
          <a:ext cx="3524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64880" imgH="228600" progId="Equation.3">
                  <p:embed/>
                </p:oleObj>
              </mc:Choice>
              <mc:Fallback>
                <p:oleObj name="方程式" r:id="rId9" imgW="164880" imgH="228600" progId="Equation.3">
                  <p:embed/>
                  <p:pic>
                    <p:nvPicPr>
                      <p:cNvPr id="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3267075"/>
                        <a:ext cx="35242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/>
          <p:cNvGraphicFramePr>
            <a:graphicFrameLocks noChangeAspect="1"/>
          </p:cNvGraphicFramePr>
          <p:nvPr/>
        </p:nvGraphicFramePr>
        <p:xfrm>
          <a:off x="328613" y="4154488"/>
          <a:ext cx="3524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64880" imgH="228600" progId="Equation.3">
                  <p:embed/>
                </p:oleObj>
              </mc:Choice>
              <mc:Fallback>
                <p:oleObj name="方程式" r:id="rId11" imgW="164880" imgH="228600" progId="Equation.3">
                  <p:embed/>
                  <p:pic>
                    <p:nvPicPr>
                      <p:cNvPr id="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4154488"/>
                        <a:ext cx="352425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/>
          <p:cNvGraphicFramePr>
            <a:graphicFrameLocks noChangeAspect="1"/>
          </p:cNvGraphicFramePr>
          <p:nvPr/>
        </p:nvGraphicFramePr>
        <p:xfrm>
          <a:off x="361950" y="5002213"/>
          <a:ext cx="352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64880" imgH="241200" progId="Equation.3">
                  <p:embed/>
                </p:oleObj>
              </mc:Choice>
              <mc:Fallback>
                <p:oleObj name="方程式" r:id="rId13" imgW="164880" imgH="241200" progId="Equation.3">
                  <p:embed/>
                  <p:pic>
                    <p:nvPicPr>
                      <p:cNvPr id="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5002213"/>
                        <a:ext cx="352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字方塊 29"/>
          <p:cNvSpPr txBox="1"/>
          <p:nvPr/>
        </p:nvSpPr>
        <p:spPr>
          <a:xfrm>
            <a:off x="1750798" y="2629707"/>
            <a:ext cx="3614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i="1" u="sng" dirty="0" err="1"/>
              <a:t>Softmax</a:t>
            </a:r>
            <a:endParaRPr lang="zh-TW" altLang="en-US" sz="2400" b="1" i="1" u="sng" dirty="0"/>
          </a:p>
        </p:txBody>
      </p:sp>
      <p:graphicFrame>
        <p:nvGraphicFramePr>
          <p:cNvPr id="31" name="Object 12"/>
          <p:cNvGraphicFramePr>
            <a:graphicFrameLocks noChangeAspect="1"/>
          </p:cNvGraphicFramePr>
          <p:nvPr/>
        </p:nvGraphicFramePr>
        <p:xfrm>
          <a:off x="1507910" y="3395699"/>
          <a:ext cx="2428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14120" imgH="139680" progId="Equation.3">
                  <p:embed/>
                </p:oleObj>
              </mc:Choice>
              <mc:Fallback>
                <p:oleObj name="方程式" r:id="rId15" imgW="114120" imgH="139680" progId="Equation.3">
                  <p:embed/>
                  <p:pic>
                    <p:nvPicPr>
                      <p:cNvPr id="3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910" y="3395699"/>
                        <a:ext cx="242888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2"/>
          <p:cNvGraphicFramePr>
            <a:graphicFrameLocks noChangeAspect="1"/>
          </p:cNvGraphicFramePr>
          <p:nvPr/>
        </p:nvGraphicFramePr>
        <p:xfrm>
          <a:off x="1498385" y="4286286"/>
          <a:ext cx="2444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114120" imgH="139680" progId="Equation.3">
                  <p:embed/>
                </p:oleObj>
              </mc:Choice>
              <mc:Fallback>
                <p:oleObj name="方程式" r:id="rId17" imgW="114120" imgH="139680" progId="Equation.3">
                  <p:embed/>
                  <p:pic>
                    <p:nvPicPr>
                      <p:cNvPr id="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385" y="4286286"/>
                        <a:ext cx="24447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1530135" y="5159411"/>
          <a:ext cx="2444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114120" imgH="139680" progId="Equation.3">
                  <p:embed/>
                </p:oleObj>
              </mc:Choice>
              <mc:Fallback>
                <p:oleObj name="方程式" r:id="rId19" imgW="114120" imgH="139680" progId="Equation.3">
                  <p:embed/>
                  <p:pic>
                    <p:nvPicPr>
                      <p:cNvPr id="3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135" y="5159411"/>
                        <a:ext cx="24447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線單箭頭接點 33"/>
          <p:cNvCxnSpPr/>
          <p:nvPr/>
        </p:nvCxnSpPr>
        <p:spPr>
          <a:xfrm flipV="1">
            <a:off x="1917939" y="4414082"/>
            <a:ext cx="1182913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1917939" y="5300006"/>
            <a:ext cx="173536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1917939" y="3526101"/>
            <a:ext cx="50437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Object 12"/>
          <p:cNvGraphicFramePr>
            <a:graphicFrameLocks noChangeAspect="1"/>
          </p:cNvGraphicFramePr>
          <p:nvPr/>
        </p:nvGraphicFramePr>
        <p:xfrm>
          <a:off x="2487613" y="3186113"/>
          <a:ext cx="4333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1" imgW="203040" imgH="228600" progId="Equation.3">
                  <p:embed/>
                </p:oleObj>
              </mc:Choice>
              <mc:Fallback>
                <p:oleObj name="方程式" r:id="rId21" imgW="203040" imgH="228600" progId="Equation.3">
                  <p:embed/>
                  <p:pic>
                    <p:nvPicPr>
                      <p:cNvPr id="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3186113"/>
                        <a:ext cx="433387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2"/>
          <p:cNvGraphicFramePr>
            <a:graphicFrameLocks noChangeAspect="1"/>
          </p:cNvGraphicFramePr>
          <p:nvPr/>
        </p:nvGraphicFramePr>
        <p:xfrm>
          <a:off x="3205163" y="4127500"/>
          <a:ext cx="4333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3" imgW="203040" imgH="228600" progId="Equation.3">
                  <p:embed/>
                </p:oleObj>
              </mc:Choice>
              <mc:Fallback>
                <p:oleObj name="方程式" r:id="rId23" imgW="203040" imgH="228600" progId="Equation.3">
                  <p:embed/>
                  <p:pic>
                    <p:nvPicPr>
                      <p:cNvPr id="3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4127500"/>
                        <a:ext cx="433387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2"/>
          <p:cNvGraphicFramePr>
            <a:graphicFrameLocks noChangeAspect="1"/>
          </p:cNvGraphicFramePr>
          <p:nvPr/>
        </p:nvGraphicFramePr>
        <p:xfrm>
          <a:off x="3748088" y="5011738"/>
          <a:ext cx="4333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5" imgW="203040" imgH="228600" progId="Equation.3">
                  <p:embed/>
                </p:oleObj>
              </mc:Choice>
              <mc:Fallback>
                <p:oleObj name="方程式" r:id="rId25" imgW="203040" imgH="228600" progId="Equation.3">
                  <p:embed/>
                  <p:pic>
                    <p:nvPicPr>
                      <p:cNvPr id="3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88" y="5011738"/>
                        <a:ext cx="433387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群組 39"/>
          <p:cNvGrpSpPr/>
          <p:nvPr/>
        </p:nvGrpSpPr>
        <p:grpSpPr>
          <a:xfrm>
            <a:off x="3055803" y="5833131"/>
            <a:ext cx="520319" cy="520319"/>
            <a:chOff x="3342651" y="3507082"/>
            <a:chExt cx="520319" cy="520319"/>
          </a:xfrm>
        </p:grpSpPr>
        <p:sp>
          <p:nvSpPr>
            <p:cNvPr id="41" name="矩形 40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42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7" imgW="139680" imgH="139680" progId="Equation.3">
                    <p:embed/>
                  </p:oleObj>
                </mc:Choice>
                <mc:Fallback>
                  <p:oleObj name="方程式" r:id="rId27" imgW="139680" imgH="139680" progId="Equation.3">
                    <p:embed/>
                    <p:pic>
                      <p:nvPicPr>
                        <p:cNvPr id="4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12"/>
          <p:cNvGraphicFramePr>
            <a:graphicFrameLocks noChangeAspect="1"/>
          </p:cNvGraphicFramePr>
          <p:nvPr/>
        </p:nvGraphicFramePr>
        <p:xfrm>
          <a:off x="6986588" y="3065463"/>
          <a:ext cx="20320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9" imgW="952200" imgH="444240" progId="Equation.3">
                  <p:embed/>
                </p:oleObj>
              </mc:Choice>
              <mc:Fallback>
                <p:oleObj name="方程式" r:id="rId29" imgW="952200" imgH="444240" progId="Equation.3">
                  <p:embed/>
                  <p:pic>
                    <p:nvPicPr>
                      <p:cNvPr id="4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6588" y="3065463"/>
                        <a:ext cx="2032000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2"/>
          <p:cNvGraphicFramePr>
            <a:graphicFrameLocks noChangeAspect="1"/>
          </p:cNvGraphicFramePr>
          <p:nvPr/>
        </p:nvGraphicFramePr>
        <p:xfrm>
          <a:off x="3636963" y="5624513"/>
          <a:ext cx="86836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1" imgW="406080" imgH="444240" progId="Equation.3">
                  <p:embed/>
                </p:oleObj>
              </mc:Choice>
              <mc:Fallback>
                <p:oleObj name="方程式" r:id="rId31" imgW="406080" imgH="444240" progId="Equation.3">
                  <p:embed/>
                  <p:pic>
                    <p:nvPicPr>
                      <p:cNvPr id="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5624513"/>
                        <a:ext cx="868362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群組 44"/>
          <p:cNvGrpSpPr/>
          <p:nvPr/>
        </p:nvGrpSpPr>
        <p:grpSpPr>
          <a:xfrm>
            <a:off x="4604781" y="3290494"/>
            <a:ext cx="520319" cy="520319"/>
            <a:chOff x="3342651" y="3507082"/>
            <a:chExt cx="520319" cy="520319"/>
          </a:xfrm>
        </p:grpSpPr>
        <p:sp>
          <p:nvSpPr>
            <p:cNvPr id="46" name="矩形 45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47" name="Object 12"/>
            <p:cNvGraphicFramePr>
              <a:graphicFrameLocks noChangeAspect="1"/>
            </p:cNvGraphicFramePr>
            <p:nvPr/>
          </p:nvGraphicFramePr>
          <p:xfrm>
            <a:off x="3452214" y="3562455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3" imgW="126720" imgH="126720" progId="Equation.3">
                    <p:embed/>
                  </p:oleObj>
                </mc:Choice>
                <mc:Fallback>
                  <p:oleObj name="方程式" r:id="rId33" imgW="126720" imgH="126720" progId="Equation.3">
                    <p:embed/>
                    <p:pic>
                      <p:nvPicPr>
                        <p:cNvPr id="4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214" y="3562455"/>
                          <a:ext cx="350837" cy="352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群組 47"/>
          <p:cNvGrpSpPr/>
          <p:nvPr/>
        </p:nvGrpSpPr>
        <p:grpSpPr>
          <a:xfrm>
            <a:off x="5253394" y="4193274"/>
            <a:ext cx="520319" cy="520319"/>
            <a:chOff x="3342651" y="3507082"/>
            <a:chExt cx="520319" cy="520319"/>
          </a:xfrm>
        </p:grpSpPr>
        <p:sp>
          <p:nvSpPr>
            <p:cNvPr id="49" name="矩形 48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0" name="Object 12"/>
            <p:cNvGraphicFramePr>
              <a:graphicFrameLocks noChangeAspect="1"/>
            </p:cNvGraphicFramePr>
            <p:nvPr/>
          </p:nvGraphicFramePr>
          <p:xfrm>
            <a:off x="3452978" y="3563248"/>
            <a:ext cx="3492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5" imgW="126720" imgH="126720" progId="Equation.3">
                    <p:embed/>
                  </p:oleObj>
                </mc:Choice>
                <mc:Fallback>
                  <p:oleObj name="方程式" r:id="rId35" imgW="126720" imgH="126720" progId="Equation.3">
                    <p:embed/>
                    <p:pic>
                      <p:nvPicPr>
                        <p:cNvPr id="5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978" y="3563248"/>
                          <a:ext cx="349250" cy="352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群組 50"/>
          <p:cNvGrpSpPr/>
          <p:nvPr/>
        </p:nvGrpSpPr>
        <p:grpSpPr>
          <a:xfrm>
            <a:off x="5909505" y="5095715"/>
            <a:ext cx="520319" cy="520319"/>
            <a:chOff x="3342651" y="3507082"/>
            <a:chExt cx="520319" cy="520319"/>
          </a:xfrm>
        </p:grpSpPr>
        <p:sp>
          <p:nvSpPr>
            <p:cNvPr id="52" name="矩形 51"/>
            <p:cNvSpPr/>
            <p:nvPr/>
          </p:nvSpPr>
          <p:spPr>
            <a:xfrm>
              <a:off x="3342651" y="3507082"/>
              <a:ext cx="520319" cy="52031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3" name="Object 12"/>
            <p:cNvGraphicFramePr>
              <a:graphicFrameLocks noChangeAspect="1"/>
            </p:cNvGraphicFramePr>
            <p:nvPr/>
          </p:nvGraphicFramePr>
          <p:xfrm>
            <a:off x="3452002" y="3562263"/>
            <a:ext cx="3508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7" imgW="126720" imgH="126720" progId="Equation.3">
                    <p:embed/>
                  </p:oleObj>
                </mc:Choice>
                <mc:Fallback>
                  <p:oleObj name="方程式" r:id="rId37" imgW="126720" imgH="126720" progId="Equation.3">
                    <p:embed/>
                    <p:pic>
                      <p:nvPicPr>
                        <p:cNvPr id="5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002" y="3562263"/>
                          <a:ext cx="350837" cy="3524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4" name="直線單箭頭接點 53"/>
          <p:cNvCxnSpPr/>
          <p:nvPr/>
        </p:nvCxnSpPr>
        <p:spPr>
          <a:xfrm>
            <a:off x="2103903" y="3545151"/>
            <a:ext cx="0" cy="254814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2103903" y="6074241"/>
            <a:ext cx="91167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2422310" y="4435511"/>
            <a:ext cx="0" cy="1666105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2705558" y="5300006"/>
            <a:ext cx="0" cy="777875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2999138" y="3519094"/>
            <a:ext cx="160564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653302" y="4435511"/>
            <a:ext cx="160009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5135520" y="3525874"/>
            <a:ext cx="175588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5815740" y="4435511"/>
            <a:ext cx="10756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6410690" y="5288177"/>
            <a:ext cx="48071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4889762" y="3825244"/>
            <a:ext cx="0" cy="2239489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5513553" y="4687345"/>
            <a:ext cx="0" cy="1414271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6156090" y="5575575"/>
            <a:ext cx="0" cy="526041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4464197" y="6074241"/>
            <a:ext cx="1710943" cy="0"/>
          </a:xfrm>
          <a:prstGeom prst="straightConnector1">
            <a:avLst/>
          </a:prstGeom>
          <a:ln w="571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endCxn id="52" idx="1"/>
          </p:cNvCxnSpPr>
          <p:nvPr/>
        </p:nvCxnSpPr>
        <p:spPr>
          <a:xfrm>
            <a:off x="4158584" y="5336674"/>
            <a:ext cx="1750921" cy="192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683976" y="3083152"/>
            <a:ext cx="493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3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83703" y="4873349"/>
            <a:ext cx="4611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-3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67417" y="3999478"/>
            <a:ext cx="528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1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561227" y="4030727"/>
            <a:ext cx="665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+mj-lt"/>
              </a:rPr>
              <a:t>2.7</a:t>
            </a:r>
            <a:endParaRPr lang="zh-TW" alt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964737" y="309137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+mj-lt"/>
              </a:rPr>
              <a:t>20</a:t>
            </a:r>
            <a:endParaRPr lang="zh-TW" alt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104192" y="4844655"/>
            <a:ext cx="1036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+mj-lt"/>
              </a:rPr>
              <a:t>0.05</a:t>
            </a:r>
            <a:endParaRPr lang="zh-TW" alt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550146" y="3036238"/>
            <a:ext cx="723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0.88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573941" y="3922105"/>
            <a:ext cx="723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0.12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638581" y="475904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≈</a:t>
            </a:r>
            <a:r>
              <a:rPr lang="en-US" altLang="zh-TW" sz="2400" b="1" dirty="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77" name="Object 12"/>
          <p:cNvGraphicFramePr>
            <a:graphicFrameLocks noChangeAspect="1"/>
          </p:cNvGraphicFramePr>
          <p:nvPr/>
        </p:nvGraphicFramePr>
        <p:xfrm>
          <a:off x="6953250" y="3997325"/>
          <a:ext cx="20859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9" imgW="977760" imgH="444240" progId="Equation.3">
                  <p:embed/>
                </p:oleObj>
              </mc:Choice>
              <mc:Fallback>
                <p:oleObj name="方程式" r:id="rId39" imgW="977760" imgH="444240" progId="Equation.3">
                  <p:embed/>
                  <p:pic>
                    <p:nvPicPr>
                      <p:cNvPr id="7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997325"/>
                        <a:ext cx="2085975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2"/>
          <p:cNvGraphicFramePr>
            <a:graphicFrameLocks noChangeAspect="1"/>
          </p:cNvGraphicFramePr>
          <p:nvPr/>
        </p:nvGraphicFramePr>
        <p:xfrm>
          <a:off x="6943725" y="4926013"/>
          <a:ext cx="20605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1" imgW="965160" imgH="444240" progId="Equation.3">
                  <p:embed/>
                </p:oleObj>
              </mc:Choice>
              <mc:Fallback>
                <p:oleObj name="方程式" r:id="rId41" imgW="965160" imgH="444240" progId="Equation.3">
                  <p:embed/>
                  <p:pic>
                    <p:nvPicPr>
                      <p:cNvPr id="7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725" y="4926013"/>
                        <a:ext cx="2060575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4946886" y="893989"/>
                <a:ext cx="2221716" cy="12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i="1" u="sng" dirty="0"/>
                  <a:t>Probability</a:t>
                </a:r>
                <a:r>
                  <a:rPr lang="en-US" altLang="zh-TW" sz="2400" dirty="0"/>
                  <a:t>:</a:t>
                </a:r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1&gt;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TW" sz="2400" dirty="0"/>
              </a:p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886" y="893989"/>
                <a:ext cx="2221716" cy="1200650"/>
              </a:xfrm>
              <a:prstGeom prst="rect">
                <a:avLst/>
              </a:prstGeom>
              <a:blipFill>
                <a:blip r:embed="rId43"/>
                <a:stretch>
                  <a:fillRect l="-5753" t="-4061" b="-746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7212-BA17-4827-9773-40972E0CDC4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59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  <p:bldP spid="12" grpId="0"/>
      <p:bldP spid="13" grpId="0"/>
      <p:bldP spid="15" grpId="0"/>
      <p:bldP spid="16" grpId="0"/>
      <p:bldP spid="17" grpId="0"/>
      <p:bldP spid="20" grpId="0" animBg="1"/>
      <p:bldP spid="24" grpId="0" animBg="1"/>
      <p:bldP spid="25" grpId="0" animBg="1"/>
      <p:bldP spid="26" grpId="0" animBg="1"/>
      <p:bldP spid="30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8089947" y="1655543"/>
            <a:ext cx="445761" cy="24071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5067146" y="1690147"/>
            <a:ext cx="445761" cy="24071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226764" y="196334"/>
            <a:ext cx="43590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/>
              <a:t>Multi-class Classification</a:t>
            </a:r>
            <a:endParaRPr lang="zh-TW" altLang="en-US" sz="32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681533" y="5517210"/>
                <a:ext cx="5604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533" y="5517210"/>
                <a:ext cx="560410" cy="369332"/>
              </a:xfrm>
              <a:prstGeom prst="rect">
                <a:avLst/>
              </a:prstGeom>
              <a:blipFill>
                <a:blip r:embed="rId3"/>
                <a:stretch>
                  <a:fillRect l="-13043" t="-16393" r="-2500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487488" y="5132169"/>
                <a:ext cx="567015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488" y="5132169"/>
                <a:ext cx="567015" cy="11394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3784120" y="1655543"/>
            <a:ext cx="672857" cy="24417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>
            <a:off x="3165004" y="1937664"/>
            <a:ext cx="5438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165004" y="2876427"/>
            <a:ext cx="5438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165004" y="3784201"/>
            <a:ext cx="5438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 rot="5400000">
            <a:off x="3383125" y="2655232"/>
            <a:ext cx="1497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 err="1"/>
              <a:t>Softmax</a:t>
            </a:r>
            <a:endParaRPr lang="zh-TW" altLang="en-US" sz="2800" dirty="0"/>
          </a:p>
        </p:txBody>
      </p:sp>
      <p:graphicFrame>
        <p:nvGraphicFramePr>
          <p:cNvPr id="29" name="Object 12"/>
          <p:cNvGraphicFramePr>
            <a:graphicFrameLocks noChangeAspect="1"/>
          </p:cNvGraphicFramePr>
          <p:nvPr/>
        </p:nvGraphicFramePr>
        <p:xfrm>
          <a:off x="5133495" y="1680731"/>
          <a:ext cx="37941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77480" imgH="228600" progId="Equation.3">
                  <p:embed/>
                </p:oleObj>
              </mc:Choice>
              <mc:Fallback>
                <p:oleObj name="方程式" r:id="rId5" imgW="177480" imgH="228600" progId="Equation.3">
                  <p:embed/>
                  <p:pic>
                    <p:nvPicPr>
                      <p:cNvPr id="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495" y="1680731"/>
                        <a:ext cx="379412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5091463" y="2564183"/>
          <a:ext cx="3794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28600" progId="Equation.3">
                  <p:embed/>
                </p:oleObj>
              </mc:Choice>
              <mc:Fallback>
                <p:oleObj name="方程式" r:id="rId7" imgW="177480" imgH="228600" progId="Equation.3">
                  <p:embed/>
                  <p:pic>
                    <p:nvPicPr>
                      <p:cNvPr id="3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463" y="2564183"/>
                        <a:ext cx="379413" cy="487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/>
          <p:cNvGraphicFramePr>
            <a:graphicFrameLocks noChangeAspect="1"/>
          </p:cNvGraphicFramePr>
          <p:nvPr/>
        </p:nvGraphicFramePr>
        <p:xfrm>
          <a:off x="5089538" y="3476140"/>
          <a:ext cx="37941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77480" imgH="241200" progId="Equation.3">
                  <p:embed/>
                </p:oleObj>
              </mc:Choice>
              <mc:Fallback>
                <p:oleObj name="方程式" r:id="rId9" imgW="177480" imgH="241200" progId="Equation.3">
                  <p:embed/>
                  <p:pic>
                    <p:nvPicPr>
                      <p:cNvPr id="3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38" y="3476140"/>
                        <a:ext cx="379413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線單箭頭接點 31"/>
          <p:cNvCxnSpPr/>
          <p:nvPr/>
        </p:nvCxnSpPr>
        <p:spPr>
          <a:xfrm>
            <a:off x="4523326" y="1937664"/>
            <a:ext cx="5438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4523326" y="2876427"/>
            <a:ext cx="5438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4523326" y="3784201"/>
            <a:ext cx="5438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1045169" y="1690147"/>
                <a:ext cx="22090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169" y="1690147"/>
                <a:ext cx="2209066" cy="369332"/>
              </a:xfrm>
              <a:prstGeom prst="rect">
                <a:avLst/>
              </a:prstGeom>
              <a:blipFill>
                <a:blip r:embed="rId11"/>
                <a:stretch>
                  <a:fillRect l="-826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1075982" y="2600146"/>
                <a:ext cx="20817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982" y="2600146"/>
                <a:ext cx="2081724" cy="369332"/>
              </a:xfrm>
              <a:prstGeom prst="rect">
                <a:avLst/>
              </a:prstGeom>
              <a:blipFill>
                <a:blip r:embed="rId12"/>
                <a:stretch>
                  <a:fillRect l="-1466" t="-1667" r="-293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1093168" y="3548649"/>
                <a:ext cx="20817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68" y="3548649"/>
                <a:ext cx="2081724" cy="369332"/>
              </a:xfrm>
              <a:prstGeom prst="rect">
                <a:avLst/>
              </a:prstGeom>
              <a:blipFill>
                <a:blip r:embed="rId13"/>
                <a:stretch>
                  <a:fillRect l="-1170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287164" y="2590210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4" y="2590210"/>
                <a:ext cx="283411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單箭頭接點 39"/>
          <p:cNvCxnSpPr>
            <a:endCxn id="35" idx="1"/>
          </p:cNvCxnSpPr>
          <p:nvPr/>
        </p:nvCxnSpPr>
        <p:spPr>
          <a:xfrm flipV="1">
            <a:off x="570575" y="1874813"/>
            <a:ext cx="474594" cy="72533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V="1">
            <a:off x="555169" y="2807864"/>
            <a:ext cx="505407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55169" y="3015583"/>
            <a:ext cx="500201" cy="717732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Object 12"/>
          <p:cNvGraphicFramePr>
            <a:graphicFrameLocks noChangeAspect="1"/>
          </p:cNvGraphicFramePr>
          <p:nvPr/>
        </p:nvGraphicFramePr>
        <p:xfrm>
          <a:off x="5129322" y="1252127"/>
          <a:ext cx="2968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39680" imgH="164880" progId="Equation.3">
                  <p:embed/>
                </p:oleObj>
              </mc:Choice>
              <mc:Fallback>
                <p:oleObj name="方程式" r:id="rId15" imgW="139680" imgH="164880" progId="Equation.3">
                  <p:embed/>
                  <p:pic>
                    <p:nvPicPr>
                      <p:cNvPr id="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322" y="1252127"/>
                        <a:ext cx="296862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2"/>
          <p:cNvGraphicFramePr>
            <a:graphicFrameLocks noChangeAspect="1"/>
          </p:cNvGraphicFramePr>
          <p:nvPr/>
        </p:nvGraphicFramePr>
        <p:xfrm>
          <a:off x="8168387" y="1693983"/>
          <a:ext cx="37941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177480" imgH="228600" progId="Equation.3">
                  <p:embed/>
                </p:oleObj>
              </mc:Choice>
              <mc:Fallback>
                <p:oleObj name="方程式" r:id="rId17" imgW="177480" imgH="228600" progId="Equation.3">
                  <p:embed/>
                  <p:pic>
                    <p:nvPicPr>
                      <p:cNvPr id="4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8387" y="1693983"/>
                        <a:ext cx="379412" cy="48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2"/>
          <p:cNvGraphicFramePr>
            <a:graphicFrameLocks noChangeAspect="1"/>
          </p:cNvGraphicFramePr>
          <p:nvPr/>
        </p:nvGraphicFramePr>
        <p:xfrm>
          <a:off x="8168387" y="1193114"/>
          <a:ext cx="2984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139680" imgH="203040" progId="Equation.3">
                  <p:embed/>
                </p:oleObj>
              </mc:Choice>
              <mc:Fallback>
                <p:oleObj name="方程式" r:id="rId19" imgW="139680" imgH="203040" progId="Equation.3">
                  <p:embed/>
                  <p:pic>
                    <p:nvPicPr>
                      <p:cNvPr id="5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8387" y="1193114"/>
                        <a:ext cx="298450" cy="433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2"/>
          <p:cNvGraphicFramePr>
            <a:graphicFrameLocks noChangeAspect="1"/>
          </p:cNvGraphicFramePr>
          <p:nvPr/>
        </p:nvGraphicFramePr>
        <p:xfrm>
          <a:off x="8168387" y="2590210"/>
          <a:ext cx="37941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1" imgW="177480" imgH="228600" progId="Equation.3">
                  <p:embed/>
                </p:oleObj>
              </mc:Choice>
              <mc:Fallback>
                <p:oleObj name="方程式" r:id="rId21" imgW="177480" imgH="228600" progId="Equation.3">
                  <p:embed/>
                  <p:pic>
                    <p:nvPicPr>
                      <p:cNvPr id="5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8387" y="2590210"/>
                        <a:ext cx="379412" cy="48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/>
        </p:nvGraphicFramePr>
        <p:xfrm>
          <a:off x="8129174" y="3582961"/>
          <a:ext cx="37941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3" imgW="177480" imgH="241200" progId="Equation.3">
                  <p:embed/>
                </p:oleObj>
              </mc:Choice>
              <mc:Fallback>
                <p:oleObj name="方程式" r:id="rId23" imgW="177480" imgH="241200" progId="Equation.3">
                  <p:embed/>
                  <p:pic>
                    <p:nvPicPr>
                      <p:cNvPr id="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9174" y="3582961"/>
                        <a:ext cx="379413" cy="514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箭號: 左-右雙向 54"/>
          <p:cNvSpPr/>
          <p:nvPr/>
        </p:nvSpPr>
        <p:spPr>
          <a:xfrm>
            <a:off x="5650670" y="2346667"/>
            <a:ext cx="2301514" cy="4381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5880136" y="1885001"/>
            <a:ext cx="188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Cross Entropy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5896657" y="2795643"/>
                <a:ext cx="1881156" cy="1211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657" y="2795643"/>
                <a:ext cx="1881156" cy="121129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4039859" y="5516013"/>
                <a:ext cx="5604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59" y="5516013"/>
                <a:ext cx="560410" cy="369332"/>
              </a:xfrm>
              <a:prstGeom prst="rect">
                <a:avLst/>
              </a:prstGeom>
              <a:blipFill>
                <a:blip r:embed="rId26"/>
                <a:stretch>
                  <a:fillRect l="-13043" t="-18333" r="-25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4845814" y="5130972"/>
                <a:ext cx="567015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814" y="5130972"/>
                <a:ext cx="567015" cy="113941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6535338" y="5517210"/>
                <a:ext cx="5604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338" y="5517210"/>
                <a:ext cx="560410" cy="369332"/>
              </a:xfrm>
              <a:prstGeom prst="rect">
                <a:avLst/>
              </a:prstGeom>
              <a:blipFill>
                <a:blip r:embed="rId28"/>
                <a:stretch>
                  <a:fillRect l="-13043" t="-16393" r="-2608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7283652" y="5130972"/>
                <a:ext cx="567015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652" y="5130972"/>
                <a:ext cx="567015" cy="113941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897324" y="4485838"/>
                <a:ext cx="18736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If x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TW" sz="2400" dirty="0"/>
                  <a:t> class 1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24" y="4485838"/>
                <a:ext cx="1873671" cy="461665"/>
              </a:xfrm>
              <a:prstGeom prst="rect">
                <a:avLst/>
              </a:prstGeom>
              <a:blipFill>
                <a:blip r:embed="rId30"/>
                <a:stretch>
                  <a:fillRect l="-487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3383228" y="4521429"/>
                <a:ext cx="18736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If x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TW" sz="2400" dirty="0"/>
                  <a:t> class 2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28" y="4521429"/>
                <a:ext cx="1873671" cy="461665"/>
              </a:xfrm>
              <a:prstGeom prst="rect">
                <a:avLst/>
              </a:prstGeom>
              <a:blipFill>
                <a:blip r:embed="rId31"/>
                <a:stretch>
                  <a:fillRect l="-5212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5754844" y="4521429"/>
                <a:ext cx="18736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If x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TW" sz="2400" dirty="0"/>
                  <a:t> class 3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844" y="4521429"/>
                <a:ext cx="1873671" cy="461665"/>
              </a:xfrm>
              <a:prstGeom prst="rect">
                <a:avLst/>
              </a:prstGeom>
              <a:blipFill>
                <a:blip r:embed="rId32"/>
                <a:stretch>
                  <a:fillRect l="-4886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/>
          <p:cNvSpPr txBox="1"/>
          <p:nvPr/>
        </p:nvSpPr>
        <p:spPr>
          <a:xfrm>
            <a:off x="7870452" y="4059764"/>
            <a:ext cx="975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B050"/>
                </a:solidFill>
              </a:rPr>
              <a:t>target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57212-BA17-4827-9773-40972E0CDC4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67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3" grpId="0" animBg="1"/>
      <p:bldP spid="9" grpId="0"/>
      <p:bldP spid="15" grpId="0"/>
      <p:bldP spid="22" grpId="0" animBg="1"/>
      <p:bldP spid="28" grpId="0"/>
      <p:bldP spid="35" grpId="0"/>
      <p:bldP spid="36" grpId="0"/>
      <p:bldP spid="37" grpId="0"/>
      <p:bldP spid="38" grpId="0"/>
      <p:bldP spid="55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4" grpId="0"/>
      <p:bldP spid="65" grpId="0"/>
      <p:bldP spid="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Input</a:t>
            </a:r>
            <a:endParaRPr lang="zh-TW" altLang="en-US" sz="3200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Output</a:t>
            </a:r>
            <a:endParaRPr lang="zh-TW" altLang="en-US" sz="3200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33" y="3309806"/>
            <a:ext cx="2130022" cy="211645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336292" y="541328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16 x 16 = 256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448638" y="300672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517026" y="37244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522844" y="315409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535543" y="3058840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543" y="3058840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540839" y="3641569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839" y="3641569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3526551" y="512217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3454628" y="5025409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253800" imgH="228600" progId="Equation.3">
                  <p:embed/>
                </p:oleObj>
              </mc:Choice>
              <mc:Fallback>
                <p:oleObj name="方程式" r:id="rId8" imgW="253800" imgH="228600" progId="Equation.3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628" y="5025409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字方塊 15"/>
          <p:cNvSpPr txBox="1"/>
          <p:nvPr/>
        </p:nvSpPr>
        <p:spPr>
          <a:xfrm rot="5400000">
            <a:off x="3402483" y="440711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7" name="手繪多邊形 16"/>
          <p:cNvSpPr/>
          <p:nvPr/>
        </p:nvSpPr>
        <p:spPr>
          <a:xfrm>
            <a:off x="1214665" y="3068121"/>
            <a:ext cx="2305050" cy="363941"/>
          </a:xfrm>
          <a:custGeom>
            <a:avLst/>
            <a:gdLst>
              <a:gd name="connsiteX0" fmla="*/ 0 w 2305050"/>
              <a:gd name="connsiteY0" fmla="*/ 374550 h 374550"/>
              <a:gd name="connsiteX1" fmla="*/ 876300 w 2305050"/>
              <a:gd name="connsiteY1" fmla="*/ 6250 h 374550"/>
              <a:gd name="connsiteX2" fmla="*/ 2305050 w 2305050"/>
              <a:gd name="connsiteY2" fmla="*/ 177700 h 37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5050" h="374550">
                <a:moveTo>
                  <a:pt x="0" y="374550"/>
                </a:moveTo>
                <a:cubicBezTo>
                  <a:pt x="246062" y="206804"/>
                  <a:pt x="492125" y="39058"/>
                  <a:pt x="876300" y="6250"/>
                </a:cubicBezTo>
                <a:cubicBezTo>
                  <a:pt x="1260475" y="-26558"/>
                  <a:pt x="1782762" y="75571"/>
                  <a:pt x="2305050" y="1777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1348015" y="3241062"/>
            <a:ext cx="2171700" cy="646109"/>
          </a:xfrm>
          <a:custGeom>
            <a:avLst/>
            <a:gdLst>
              <a:gd name="connsiteX0" fmla="*/ 0 w 2171700"/>
              <a:gd name="connsiteY0" fmla="*/ 188909 h 646109"/>
              <a:gd name="connsiteX1" fmla="*/ 1073150 w 2171700"/>
              <a:gd name="connsiteY1" fmla="*/ 23809 h 646109"/>
              <a:gd name="connsiteX2" fmla="*/ 2171700 w 2171700"/>
              <a:gd name="connsiteY2" fmla="*/ 646109 h 64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646109">
                <a:moveTo>
                  <a:pt x="0" y="188909"/>
                </a:moveTo>
                <a:cubicBezTo>
                  <a:pt x="355600" y="68259"/>
                  <a:pt x="711200" y="-52391"/>
                  <a:pt x="1073150" y="23809"/>
                </a:cubicBezTo>
                <a:cubicBezTo>
                  <a:pt x="1435100" y="100009"/>
                  <a:pt x="1803400" y="373059"/>
                  <a:pt x="2171700" y="646109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>
            <a:off x="3081565" y="5284171"/>
            <a:ext cx="463550" cy="243308"/>
          </a:xfrm>
          <a:custGeom>
            <a:avLst/>
            <a:gdLst>
              <a:gd name="connsiteX0" fmla="*/ 0 w 463550"/>
              <a:gd name="connsiteY0" fmla="*/ 0 h 243308"/>
              <a:gd name="connsiteX1" fmla="*/ 101600 w 463550"/>
              <a:gd name="connsiteY1" fmla="*/ 241300 h 243308"/>
              <a:gd name="connsiteX2" fmla="*/ 463550 w 463550"/>
              <a:gd name="connsiteY2" fmla="*/ 95250 h 24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3550" h="243308">
                <a:moveTo>
                  <a:pt x="0" y="0"/>
                </a:moveTo>
                <a:cubicBezTo>
                  <a:pt x="12171" y="112712"/>
                  <a:pt x="24342" y="225425"/>
                  <a:pt x="101600" y="241300"/>
                </a:cubicBezTo>
                <a:cubicBezTo>
                  <a:pt x="178858" y="257175"/>
                  <a:pt x="321204" y="176212"/>
                  <a:pt x="463550" y="9525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371218" y="5765880"/>
            <a:ext cx="1661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Ink → 1</a:t>
            </a:r>
          </a:p>
          <a:p>
            <a:r>
              <a:rPr lang="en-US" altLang="zh-TW" sz="2400" dirty="0"/>
              <a:t>No ink → 0</a:t>
            </a:r>
            <a:endParaRPr lang="zh-TW" altLang="en-US" sz="2400" dirty="0"/>
          </a:p>
        </p:txBody>
      </p:sp>
      <p:grpSp>
        <p:nvGrpSpPr>
          <p:cNvPr id="26" name="群組 25"/>
          <p:cNvGrpSpPr/>
          <p:nvPr/>
        </p:nvGrpSpPr>
        <p:grpSpPr>
          <a:xfrm>
            <a:off x="5179092" y="2822199"/>
            <a:ext cx="642352" cy="2642877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50594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</a:t>
              </a:r>
              <a:endParaRPr lang="zh-TW" altLang="en-US" sz="2800" baseline="-250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2</a:t>
              </a:r>
              <a:endParaRPr lang="zh-TW" altLang="en-US" sz="2800" baseline="-250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10</a:t>
              </a:r>
              <a:endParaRPr lang="zh-TW" altLang="en-US" sz="2800" baseline="-25000" dirty="0"/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6048212" y="2883754"/>
            <a:ext cx="86163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1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055521" y="3665036"/>
            <a:ext cx="84701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2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055521" y="4939005"/>
            <a:ext cx="834766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0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6188216" y="432180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2" name="矩形 31"/>
          <p:cNvSpPr/>
          <p:nvPr/>
        </p:nvSpPr>
        <p:spPr>
          <a:xfrm>
            <a:off x="5115795" y="2944663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0.1</a:t>
            </a:r>
            <a:endParaRPr lang="zh-TW" altLang="en-US" sz="2400" dirty="0"/>
          </a:p>
        </p:txBody>
      </p:sp>
      <p:sp>
        <p:nvSpPr>
          <p:cNvPr id="33" name="矩形 32"/>
          <p:cNvSpPr/>
          <p:nvPr/>
        </p:nvSpPr>
        <p:spPr>
          <a:xfrm>
            <a:off x="5115795" y="3669068"/>
            <a:ext cx="619787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0.7</a:t>
            </a:r>
            <a:endParaRPr lang="zh-TW" altLang="en-US" sz="2400" dirty="0"/>
          </a:p>
        </p:txBody>
      </p:sp>
      <p:sp>
        <p:nvSpPr>
          <p:cNvPr id="34" name="矩形 33"/>
          <p:cNvSpPr/>
          <p:nvPr/>
        </p:nvSpPr>
        <p:spPr>
          <a:xfrm>
            <a:off x="5096948" y="4938330"/>
            <a:ext cx="656740" cy="4320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0.2</a:t>
            </a:r>
            <a:endParaRPr lang="zh-TW" altLang="en-US" sz="2400" dirty="0"/>
          </a:p>
        </p:txBody>
      </p:sp>
      <p:sp>
        <p:nvSpPr>
          <p:cNvPr id="35" name="矩形 34"/>
          <p:cNvSpPr/>
          <p:nvPr/>
        </p:nvSpPr>
        <p:spPr>
          <a:xfrm>
            <a:off x="5007951" y="3577013"/>
            <a:ext cx="1950970" cy="6409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7006627" y="3813785"/>
            <a:ext cx="1940923" cy="90335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The image is  “2”</a:t>
            </a:r>
            <a:endParaRPr lang="zh-TW" altLang="en-US" sz="2800" dirty="0"/>
          </a:p>
        </p:txBody>
      </p:sp>
      <p:pic>
        <p:nvPicPr>
          <p:cNvPr id="37" name="圖片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1726" y="529322"/>
            <a:ext cx="3355824" cy="887357"/>
          </a:xfrm>
          <a:prstGeom prst="rect">
            <a:avLst/>
          </a:prstGeom>
        </p:spPr>
      </p:pic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17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4" grpId="0" animBg="1"/>
      <p:bldP spid="16" grpId="0"/>
      <p:bldP spid="17" grpId="0" animBg="1"/>
      <p:bldP spid="18" grpId="0" animBg="1"/>
      <p:bldP spid="19" grpId="0" animBg="1"/>
      <p:bldP spid="20" grpId="0"/>
      <p:bldP spid="28" grpId="0" animBg="1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788413"/>
            <a:ext cx="7886700" cy="4351338"/>
          </a:xfrm>
        </p:spPr>
        <p:txBody>
          <a:bodyPr/>
          <a:lstStyle/>
          <a:p>
            <a:r>
              <a:rPr lang="en-US" altLang="zh-TW" dirty="0"/>
              <a:t>Handwriting Digit Recognition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933" y="3170126"/>
            <a:ext cx="1602442" cy="1592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825017" y="3184640"/>
            <a:ext cx="2034073" cy="15167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Machine</a:t>
            </a:r>
            <a:endParaRPr lang="zh-TW" altLang="en-US" sz="2800" dirty="0"/>
          </a:p>
        </p:txBody>
      </p:sp>
      <p:sp>
        <p:nvSpPr>
          <p:cNvPr id="8" name="向右箭號 7"/>
          <p:cNvSpPr/>
          <p:nvPr/>
        </p:nvSpPr>
        <p:spPr>
          <a:xfrm>
            <a:off x="3095815" y="3530444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5951758" y="3540310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666447" y="3671695"/>
            <a:ext cx="721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“2”</a:t>
            </a:r>
            <a:endParaRPr lang="zh-TW" altLang="en-US" sz="3200" dirty="0"/>
          </a:p>
        </p:txBody>
      </p:sp>
      <p:grpSp>
        <p:nvGrpSpPr>
          <p:cNvPr id="6" name="群組 5"/>
          <p:cNvGrpSpPr/>
          <p:nvPr/>
        </p:nvGrpSpPr>
        <p:grpSpPr>
          <a:xfrm>
            <a:off x="2462115" y="2538616"/>
            <a:ext cx="600084" cy="2625052"/>
            <a:chOff x="2462115" y="2538616"/>
            <a:chExt cx="600084" cy="2625052"/>
          </a:xfrm>
        </p:grpSpPr>
        <p:sp>
          <p:nvSpPr>
            <p:cNvPr id="12" name="矩形 11"/>
            <p:cNvSpPr/>
            <p:nvPr/>
          </p:nvSpPr>
          <p:spPr>
            <a:xfrm>
              <a:off x="2462115" y="253861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30503" y="325630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36321" y="268598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2549020" y="259073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152280" imgH="215640" progId="Equation.3">
                    <p:embed/>
                  </p:oleObj>
                </mc:Choice>
                <mc:Fallback>
                  <p:oleObj name="方程式" r:id="rId4" imgW="152280" imgH="215640" progId="Equation.3">
                    <p:embed/>
                    <p:pic>
                      <p:nvPicPr>
                        <p:cNvPr id="1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020" y="259073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2554316" y="317345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164880" imgH="215640" progId="Equation.3">
                    <p:embed/>
                  </p:oleObj>
                </mc:Choice>
                <mc:Fallback>
                  <p:oleObj name="方程式" r:id="rId6" imgW="164880" imgH="21564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316" y="317345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/>
            <p:nvPr/>
          </p:nvSpPr>
          <p:spPr>
            <a:xfrm>
              <a:off x="2540028" y="465406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18" name="Object 12"/>
            <p:cNvGraphicFramePr>
              <a:graphicFrameLocks noChangeAspect="1"/>
            </p:cNvGraphicFramePr>
            <p:nvPr/>
          </p:nvGraphicFramePr>
          <p:xfrm>
            <a:off x="2468105" y="4557299"/>
            <a:ext cx="544512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253800" imgH="228600" progId="Equation.3">
                    <p:embed/>
                  </p:oleObj>
                </mc:Choice>
                <mc:Fallback>
                  <p:oleObj name="方程式" r:id="rId8" imgW="253800" imgH="228600" progId="Equation.3">
                    <p:embed/>
                    <p:pic>
                      <p:nvPicPr>
                        <p:cNvPr id="1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8105" y="4557299"/>
                          <a:ext cx="544512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字方塊 18"/>
            <p:cNvSpPr txBox="1"/>
            <p:nvPr/>
          </p:nvSpPr>
          <p:spPr>
            <a:xfrm rot="5400000">
              <a:off x="2415960" y="393900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789662" y="2501358"/>
            <a:ext cx="642352" cy="2642877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50594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</a:t>
              </a:r>
              <a:endParaRPr lang="zh-TW" altLang="en-US" sz="2800" baseline="-250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2</a:t>
              </a:r>
              <a:endParaRPr lang="zh-TW" altLang="en-US" sz="2800" baseline="-250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y</a:t>
              </a:r>
              <a:r>
                <a:rPr lang="en-US" altLang="zh-TW" sz="2800" baseline="-25000" dirty="0"/>
                <a:t>10</a:t>
              </a:r>
              <a:endParaRPr lang="zh-TW" altLang="en-US" sz="2800" baseline="-25000" dirty="0"/>
            </a:p>
          </p:txBody>
        </p:sp>
      </p:grpSp>
      <p:sp>
        <p:nvSpPr>
          <p:cNvPr id="26" name="文字方塊 25"/>
          <p:cNvSpPr txBox="1"/>
          <p:nvPr/>
        </p:nvSpPr>
        <p:spPr>
          <a:xfrm>
            <a:off x="7460863" y="2572114"/>
            <a:ext cx="86163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1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7468172" y="3353396"/>
            <a:ext cx="847013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2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468172" y="4627365"/>
            <a:ext cx="834766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is 0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7600867" y="401016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408956" y="4728735"/>
            <a:ext cx="2932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What is needed is a function ……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1668125" y="5484126"/>
            <a:ext cx="208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Input: </a:t>
            </a:r>
          </a:p>
          <a:p>
            <a:pPr algn="ctr"/>
            <a:r>
              <a:rPr lang="en-US" altLang="zh-TW" sz="2400" dirty="0"/>
              <a:t>256-dim vector</a:t>
            </a:r>
            <a:endParaRPr lang="zh-TW" altLang="en-US" sz="2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962262" y="5494979"/>
            <a:ext cx="2153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output: </a:t>
            </a:r>
          </a:p>
          <a:p>
            <a:pPr algn="ctr"/>
            <a:r>
              <a:rPr lang="en-US" altLang="zh-TW" sz="2400" dirty="0"/>
              <a:t>10-dim vector</a:t>
            </a:r>
            <a:endParaRPr lang="zh-TW" altLang="en-US" sz="24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074432" y="3530444"/>
            <a:ext cx="1609082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Neural</a:t>
            </a:r>
          </a:p>
          <a:p>
            <a:pPr algn="ctr"/>
            <a:r>
              <a:rPr lang="en-US" altLang="zh-TW" sz="2800" dirty="0"/>
              <a:t>Network</a:t>
            </a:r>
            <a:endParaRPr lang="zh-TW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2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0" grpId="0"/>
      <p:bldP spid="11" grpId="0"/>
      <p:bldP spid="31" grpId="0"/>
      <p:bldP spid="33" grpId="0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Loss For One Data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5975178" y="2655050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2817906" y="2642789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1634803" y="2670430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5281458" y="3691209"/>
            <a:ext cx="6344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5390774" y="4937099"/>
            <a:ext cx="5251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5257574" y="2912406"/>
            <a:ext cx="65835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1703191" y="338812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1709009" y="281779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514708"/>
              </p:ext>
            </p:extLst>
          </p:nvPr>
        </p:nvGraphicFramePr>
        <p:xfrm>
          <a:off x="1721708" y="2722544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80" imgH="215640" progId="Equation.3">
                  <p:embed/>
                </p:oleObj>
              </mc:Choice>
              <mc:Fallback>
                <p:oleObj name="方程式" r:id="rId3" imgW="152280" imgH="215640" progId="Equation.3">
                  <p:embed/>
                  <p:pic>
                    <p:nvPicPr>
                      <p:cNvPr id="4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1708" y="2722544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02035"/>
              </p:ext>
            </p:extLst>
          </p:nvPr>
        </p:nvGraphicFramePr>
        <p:xfrm>
          <a:off x="1727004" y="3305273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0" imgH="215640" progId="Equation.3">
                  <p:embed/>
                </p:oleObj>
              </mc:Choice>
              <mc:Fallback>
                <p:oleObj name="方程式" r:id="rId5" imgW="164880" imgH="215640" progId="Equation.3">
                  <p:embed/>
                  <p:pic>
                    <p:nvPicPr>
                      <p:cNvPr id="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004" y="3305273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橢圓 52"/>
          <p:cNvSpPr/>
          <p:nvPr/>
        </p:nvSpPr>
        <p:spPr>
          <a:xfrm>
            <a:off x="2915016" y="2653791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/>
          <p:cNvSpPr/>
          <p:nvPr/>
        </p:nvSpPr>
        <p:spPr>
          <a:xfrm>
            <a:off x="2917358" y="3432361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>
            <a:off x="2905725" y="466037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 rot="5400000">
            <a:off x="2902978" y="408266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9" name="矩形 58"/>
          <p:cNvSpPr/>
          <p:nvPr/>
        </p:nvSpPr>
        <p:spPr>
          <a:xfrm>
            <a:off x="1712716" y="478588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891241"/>
              </p:ext>
            </p:extLst>
          </p:nvPr>
        </p:nvGraphicFramePr>
        <p:xfrm>
          <a:off x="1640793" y="4689113"/>
          <a:ext cx="5445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253800" imgH="228600" progId="Equation.3">
                  <p:embed/>
                </p:oleObj>
              </mc:Choice>
              <mc:Fallback>
                <p:oleObj name="方程式" r:id="rId7" imgW="253800" imgH="228600" progId="Equation.3">
                  <p:embed/>
                  <p:pic>
                    <p:nvPicPr>
                      <p:cNvPr id="6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793" y="4689113"/>
                        <a:ext cx="54451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字方塊 62"/>
          <p:cNvSpPr txBox="1"/>
          <p:nvPr/>
        </p:nvSpPr>
        <p:spPr>
          <a:xfrm rot="5400000">
            <a:off x="1588648" y="407082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4142223" y="259520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4159846" y="338070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4172026" y="463699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75" name="直線單箭頭接點 74"/>
          <p:cNvCxnSpPr>
            <a:stCxn id="53" idx="6"/>
          </p:cNvCxnSpPr>
          <p:nvPr/>
        </p:nvCxnSpPr>
        <p:spPr>
          <a:xfrm>
            <a:off x="3489174" y="2940870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3489174" y="3732622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3479883" y="4954591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54" idx="6"/>
          </p:cNvCxnSpPr>
          <p:nvPr/>
        </p:nvCxnSpPr>
        <p:spPr>
          <a:xfrm flipV="1">
            <a:off x="3491516" y="2940870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53" idx="6"/>
          </p:cNvCxnSpPr>
          <p:nvPr/>
        </p:nvCxnSpPr>
        <p:spPr>
          <a:xfrm>
            <a:off x="3489174" y="2940870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53" idx="6"/>
          </p:cNvCxnSpPr>
          <p:nvPr/>
        </p:nvCxnSpPr>
        <p:spPr>
          <a:xfrm>
            <a:off x="3489174" y="2940870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54" idx="6"/>
          </p:cNvCxnSpPr>
          <p:nvPr/>
        </p:nvCxnSpPr>
        <p:spPr>
          <a:xfrm>
            <a:off x="3491516" y="3719440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55" idx="6"/>
          </p:cNvCxnSpPr>
          <p:nvPr/>
        </p:nvCxnSpPr>
        <p:spPr>
          <a:xfrm flipV="1">
            <a:off x="3479883" y="2940870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55" idx="6"/>
          </p:cNvCxnSpPr>
          <p:nvPr/>
        </p:nvCxnSpPr>
        <p:spPr>
          <a:xfrm flipV="1">
            <a:off x="3479883" y="3719440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53" idx="2"/>
          </p:cNvCxnSpPr>
          <p:nvPr/>
        </p:nvCxnSpPr>
        <p:spPr>
          <a:xfrm flipV="1">
            <a:off x="2055616" y="2940870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47" idx="3"/>
            <a:endCxn id="54" idx="2"/>
          </p:cNvCxnSpPr>
          <p:nvPr/>
        </p:nvCxnSpPr>
        <p:spPr>
          <a:xfrm>
            <a:off x="2051909" y="2989244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47" idx="3"/>
            <a:endCxn id="55" idx="2"/>
          </p:cNvCxnSpPr>
          <p:nvPr/>
        </p:nvCxnSpPr>
        <p:spPr>
          <a:xfrm>
            <a:off x="2051909" y="2989244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52" idx="3"/>
            <a:endCxn id="53" idx="2"/>
          </p:cNvCxnSpPr>
          <p:nvPr/>
        </p:nvCxnSpPr>
        <p:spPr>
          <a:xfrm flipV="1">
            <a:off x="2079429" y="2940870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stCxn id="46" idx="3"/>
            <a:endCxn id="54" idx="2"/>
          </p:cNvCxnSpPr>
          <p:nvPr/>
        </p:nvCxnSpPr>
        <p:spPr>
          <a:xfrm>
            <a:off x="2046091" y="3559573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46" idx="3"/>
            <a:endCxn id="55" idx="2"/>
          </p:cNvCxnSpPr>
          <p:nvPr/>
        </p:nvCxnSpPr>
        <p:spPr>
          <a:xfrm>
            <a:off x="2046091" y="3559573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62" idx="3"/>
            <a:endCxn id="53" idx="2"/>
          </p:cNvCxnSpPr>
          <p:nvPr/>
        </p:nvCxnSpPr>
        <p:spPr>
          <a:xfrm flipV="1">
            <a:off x="2117588" y="2940870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stCxn id="62" idx="3"/>
            <a:endCxn id="54" idx="2"/>
          </p:cNvCxnSpPr>
          <p:nvPr/>
        </p:nvCxnSpPr>
        <p:spPr>
          <a:xfrm flipV="1">
            <a:off x="2091219" y="3719440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62" idx="3"/>
            <a:endCxn id="55" idx="2"/>
          </p:cNvCxnSpPr>
          <p:nvPr/>
        </p:nvCxnSpPr>
        <p:spPr>
          <a:xfrm>
            <a:off x="2091219" y="4934046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/>
          <p:cNvSpPr txBox="1"/>
          <p:nvPr/>
        </p:nvSpPr>
        <p:spPr>
          <a:xfrm rot="5400000">
            <a:off x="5917368" y="415604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5986461" y="2637225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95" name="文字方塊 94"/>
          <p:cNvSpPr txBox="1"/>
          <p:nvPr/>
        </p:nvSpPr>
        <p:spPr>
          <a:xfrm>
            <a:off x="6007559" y="3445534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5975178" y="470167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-25000" dirty="0"/>
              <a:t>10</a:t>
            </a:r>
            <a:endParaRPr lang="zh-TW" altLang="en-US" sz="28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237500" y="371746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6576550" y="4109752"/>
            <a:ext cx="1154637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Cross</a:t>
            </a:r>
          </a:p>
          <a:p>
            <a:pPr algn="ctr"/>
            <a:r>
              <a:rPr lang="en-US" altLang="zh-TW" sz="2400" dirty="0"/>
              <a:t>Entropy</a:t>
            </a:r>
          </a:p>
        </p:txBody>
      </p:sp>
      <p:pic>
        <p:nvPicPr>
          <p:cNvPr id="102" name="圖片 10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890841" y="1695524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3" name="文字方塊 102"/>
          <p:cNvSpPr txBox="1"/>
          <p:nvPr/>
        </p:nvSpPr>
        <p:spPr>
          <a:xfrm>
            <a:off x="4693567" y="1784585"/>
            <a:ext cx="65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“1”</a:t>
            </a:r>
            <a:endParaRPr lang="zh-TW" altLang="en-US" sz="2800" dirty="0"/>
          </a:p>
        </p:txBody>
      </p:sp>
      <p:pic>
        <p:nvPicPr>
          <p:cNvPr id="108" name="圖片 107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17004" y="3646519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0" name="矩形 109"/>
          <p:cNvSpPr/>
          <p:nvPr/>
        </p:nvSpPr>
        <p:spPr>
          <a:xfrm>
            <a:off x="7789244" y="2657294"/>
            <a:ext cx="498951" cy="262505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/>
          <p:cNvSpPr txBox="1"/>
          <p:nvPr/>
        </p:nvSpPr>
        <p:spPr>
          <a:xfrm rot="5400000">
            <a:off x="8237055" y="409177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2" name="文字方塊 111"/>
          <p:cNvSpPr txBox="1"/>
          <p:nvPr/>
        </p:nvSpPr>
        <p:spPr>
          <a:xfrm>
            <a:off x="8227210" y="2626237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1</a:t>
            </a:r>
            <a:endParaRPr lang="zh-TW" altLang="en-US" sz="2800" baseline="-25000" dirty="0"/>
          </a:p>
        </p:txBody>
      </p:sp>
      <p:sp>
        <p:nvSpPr>
          <p:cNvPr id="113" name="文字方塊 112"/>
          <p:cNvSpPr txBox="1"/>
          <p:nvPr/>
        </p:nvSpPr>
        <p:spPr>
          <a:xfrm>
            <a:off x="8227210" y="342636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0</a:t>
            </a:r>
            <a:endParaRPr lang="zh-TW" altLang="en-US" sz="2800" baseline="-250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8211604" y="4715769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0</a:t>
            </a:r>
            <a:endParaRPr lang="zh-TW" altLang="en-US" sz="2800" baseline="-25000" dirty="0"/>
          </a:p>
        </p:txBody>
      </p:sp>
      <p:sp>
        <p:nvSpPr>
          <p:cNvPr id="115" name="左-右雙向箭號 114"/>
          <p:cNvSpPr/>
          <p:nvPr/>
        </p:nvSpPr>
        <p:spPr>
          <a:xfrm>
            <a:off x="6547946" y="3719063"/>
            <a:ext cx="1187596" cy="33487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987423" y="2022925"/>
            <a:ext cx="272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 flipH="1">
            <a:off x="5348420" y="2046195"/>
            <a:ext cx="26824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977004" y="2055524"/>
            <a:ext cx="0" cy="1480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8045430" y="2074215"/>
            <a:ext cx="0" cy="5817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4816530" y="265321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橢圓 98"/>
          <p:cNvSpPr/>
          <p:nvPr/>
        </p:nvSpPr>
        <p:spPr>
          <a:xfrm>
            <a:off x="4892374" y="264511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橢圓 103"/>
          <p:cNvSpPr/>
          <p:nvPr/>
        </p:nvSpPr>
        <p:spPr>
          <a:xfrm>
            <a:off x="4894716" y="340502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橢圓 104"/>
          <p:cNvSpPr/>
          <p:nvPr/>
        </p:nvSpPr>
        <p:spPr>
          <a:xfrm>
            <a:off x="4901744" y="4651693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文字方塊 105"/>
          <p:cNvSpPr txBox="1"/>
          <p:nvPr/>
        </p:nvSpPr>
        <p:spPr>
          <a:xfrm rot="5400000">
            <a:off x="4898997" y="40708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7580110" y="1488616"/>
            <a:ext cx="9306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400" dirty="0"/>
              <a:t>target</a:t>
            </a:r>
            <a:endParaRPr lang="zh-TW" altLang="en-US" sz="2400" dirty="0"/>
          </a:p>
        </p:txBody>
      </p:sp>
      <p:sp>
        <p:nvSpPr>
          <p:cNvPr id="4" name="矩形 3"/>
          <p:cNvSpPr/>
          <p:nvPr/>
        </p:nvSpPr>
        <p:spPr>
          <a:xfrm rot="5400000">
            <a:off x="3852139" y="3617311"/>
            <a:ext cx="2691859" cy="7005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Softmax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/>
              <p:cNvSpPr txBox="1"/>
              <p:nvPr/>
            </p:nvSpPr>
            <p:spPr>
              <a:xfrm>
                <a:off x="1987182" y="4999461"/>
                <a:ext cx="3580980" cy="1211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TW" altLang="en-US" sz="2800" dirty="0"/>
                            <m:t> 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zh-TW" altLang="en-US" sz="2800" dirty="0"/>
                            <m:t>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1" name="文字方塊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182" y="4999461"/>
                <a:ext cx="3580980" cy="12112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893779" y="2708000"/>
                <a:ext cx="366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779" y="2708000"/>
                <a:ext cx="366639" cy="369332"/>
              </a:xfrm>
              <a:prstGeom prst="rect">
                <a:avLst/>
              </a:prstGeom>
              <a:blipFill>
                <a:blip r:embed="rId12"/>
                <a:stretch>
                  <a:fillRect l="-20000" t="-16393" r="-5166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7893421" y="3473498"/>
                <a:ext cx="373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421" y="3473498"/>
                <a:ext cx="373757" cy="369332"/>
              </a:xfrm>
              <a:prstGeom prst="rect">
                <a:avLst/>
              </a:prstGeom>
              <a:blipFill>
                <a:blip r:embed="rId13"/>
                <a:stretch>
                  <a:fillRect l="-19672" t="-18333" r="-5082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/>
              <p:cNvSpPr txBox="1"/>
              <p:nvPr/>
            </p:nvSpPr>
            <p:spPr>
              <a:xfrm>
                <a:off x="7878722" y="4795595"/>
                <a:ext cx="4964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9" name="文字方塊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722" y="4795595"/>
                <a:ext cx="496483" cy="369332"/>
              </a:xfrm>
              <a:prstGeom prst="rect">
                <a:avLst/>
              </a:prstGeom>
              <a:blipFill>
                <a:blip r:embed="rId14"/>
                <a:stretch>
                  <a:fillRect l="-14634" t="-18333" r="-37805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文字方塊 119"/>
          <p:cNvSpPr txBox="1"/>
          <p:nvPr/>
        </p:nvSpPr>
        <p:spPr>
          <a:xfrm rot="5400000">
            <a:off x="7791036" y="409177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2281800" y="3433484"/>
            <a:ext cx="2646238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Train a set of parameters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093037" y="5255491"/>
                <a:ext cx="288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037" y="5255491"/>
                <a:ext cx="28828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/>
              <p:cNvSpPr txBox="1"/>
              <p:nvPr/>
            </p:nvSpPr>
            <p:spPr>
              <a:xfrm>
                <a:off x="7908918" y="5247625"/>
                <a:ext cx="288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1" name="文字方塊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18" y="5247625"/>
                <a:ext cx="28828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>
            <a:stCxn id="71" idx="2"/>
          </p:cNvCxnSpPr>
          <p:nvPr/>
        </p:nvCxnSpPr>
        <p:spPr>
          <a:xfrm flipH="1">
            <a:off x="7141744" y="4940749"/>
            <a:ext cx="0" cy="11842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5314888" y="6125029"/>
            <a:ext cx="18445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02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1" grpId="0" animBg="1"/>
      <p:bldP spid="103" grpId="0"/>
      <p:bldP spid="110" grpId="0" animBg="1"/>
      <p:bldP spid="111" grpId="0"/>
      <p:bldP spid="112" grpId="0"/>
      <p:bldP spid="113" grpId="0"/>
      <p:bldP spid="114" grpId="0"/>
      <p:bldP spid="115" grpId="0" animBg="1"/>
      <p:bldP spid="3" grpId="0" animBg="1"/>
      <p:bldP spid="101" grpId="0"/>
      <p:bldP spid="5" grpId="0"/>
      <p:bldP spid="109" grpId="0"/>
      <p:bldP spid="119" grpId="0"/>
      <p:bldP spid="120" grpId="0"/>
      <p:bldP spid="8" grpId="0"/>
      <p:bldP spid="1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Total Loss</a:t>
            </a:r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1727768" y="2298174"/>
            <a:ext cx="421911" cy="671513"/>
            <a:chOff x="510563" y="3417283"/>
            <a:chExt cx="421911" cy="671513"/>
          </a:xfrm>
        </p:grpSpPr>
        <p:sp>
          <p:nvSpPr>
            <p:cNvPr id="19" name="矩形 1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510563" y="3522206"/>
              <a:ext cx="4219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1727768" y="3245279"/>
            <a:ext cx="421910" cy="671513"/>
            <a:chOff x="510564" y="3417283"/>
            <a:chExt cx="421910" cy="671513"/>
          </a:xfrm>
        </p:grpSpPr>
        <p:sp>
          <p:nvSpPr>
            <p:cNvPr id="22" name="矩形 2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1713340" y="5606623"/>
            <a:ext cx="450765" cy="671513"/>
            <a:chOff x="496136" y="3417283"/>
            <a:chExt cx="450765" cy="671513"/>
          </a:xfrm>
        </p:grpSpPr>
        <p:sp>
          <p:nvSpPr>
            <p:cNvPr id="25" name="矩形 2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496136" y="3522206"/>
              <a:ext cx="45076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 err="1"/>
                <a:t>x</a:t>
              </a:r>
              <a:r>
                <a:rPr lang="en-US" altLang="zh-TW" sz="2400" baseline="30000" dirty="0" err="1"/>
                <a:t>N</a:t>
              </a:r>
              <a:endParaRPr lang="zh-TW" altLang="en-US" sz="2400" baseline="30000" dirty="0"/>
            </a:p>
          </p:txBody>
        </p:sp>
      </p:grpSp>
      <p:sp>
        <p:nvSpPr>
          <p:cNvPr id="27" name="矩形 26"/>
          <p:cNvSpPr/>
          <p:nvPr/>
        </p:nvSpPr>
        <p:spPr>
          <a:xfrm>
            <a:off x="2527693" y="2300745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2527693" y="3239455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2527693" y="5594978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1585319" y="4930674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2658584" y="4919031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32" name="直線單箭頭接點 31"/>
          <p:cNvCxnSpPr/>
          <p:nvPr/>
        </p:nvCxnSpPr>
        <p:spPr>
          <a:xfrm flipV="1">
            <a:off x="2096310" y="2633929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2093349" y="3581034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V="1">
            <a:off x="2093348" y="5936557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3496559" y="2628722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3493598" y="3575827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3493597" y="5931350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3895074" y="2298174"/>
            <a:ext cx="428323" cy="671513"/>
            <a:chOff x="507357" y="3417283"/>
            <a:chExt cx="428323" cy="671513"/>
          </a:xfrm>
        </p:grpSpPr>
        <p:sp>
          <p:nvSpPr>
            <p:cNvPr id="39" name="矩形 3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507357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1</a:t>
              </a:r>
              <a:endParaRPr lang="zh-TW" altLang="en-US" sz="2400" baseline="30000" dirty="0"/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3895074" y="3245279"/>
            <a:ext cx="428323" cy="671513"/>
            <a:chOff x="507358" y="3417283"/>
            <a:chExt cx="428323" cy="671513"/>
          </a:xfrm>
        </p:grpSpPr>
        <p:sp>
          <p:nvSpPr>
            <p:cNvPr id="42" name="矩形 4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507358" y="3522206"/>
              <a:ext cx="428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2</a:t>
              </a:r>
              <a:endParaRPr lang="zh-TW" altLang="en-US" sz="2400" baseline="30000" dirty="0"/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3891065" y="5606623"/>
            <a:ext cx="436338" cy="671513"/>
            <a:chOff x="503349" y="3417283"/>
            <a:chExt cx="436338" cy="671513"/>
          </a:xfrm>
        </p:grpSpPr>
        <p:sp>
          <p:nvSpPr>
            <p:cNvPr id="45" name="矩形 4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503349" y="3522206"/>
              <a:ext cx="43633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 err="1"/>
                <a:t>y</a:t>
              </a:r>
              <a:r>
                <a:rPr lang="en-US" altLang="zh-TW" sz="2400" baseline="30000" dirty="0" err="1"/>
                <a:t>R</a:t>
              </a:r>
              <a:endParaRPr lang="zh-TW" altLang="en-US" sz="2400" baseline="30000" dirty="0"/>
            </a:p>
          </p:txBody>
        </p:sp>
      </p:grpSp>
      <p:sp>
        <p:nvSpPr>
          <p:cNvPr id="47" name="矩形 46"/>
          <p:cNvSpPr/>
          <p:nvPr/>
        </p:nvSpPr>
        <p:spPr>
          <a:xfrm>
            <a:off x="4913118" y="2298174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p:sp>
        <p:nvSpPr>
          <p:cNvPr id="48" name="矩形 47"/>
          <p:cNvSpPr/>
          <p:nvPr/>
        </p:nvSpPr>
        <p:spPr>
          <a:xfrm>
            <a:off x="4913117" y="3245279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p:sp>
        <p:nvSpPr>
          <p:cNvPr id="49" name="矩形 48"/>
          <p:cNvSpPr/>
          <p:nvPr/>
        </p:nvSpPr>
        <p:spPr>
          <a:xfrm>
            <a:off x="4913117" y="5606623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4902677" y="2471777"/>
                <a:ext cx="3914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677" y="2471777"/>
                <a:ext cx="39145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8750" t="-16393" r="-5000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4913117" y="3407287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17" y="3407287"/>
                <a:ext cx="39805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8462" t="-18033" r="-47692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4888687" y="5803879"/>
                <a:ext cx="4433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687" y="5803879"/>
                <a:ext cx="443390" cy="369332"/>
              </a:xfrm>
              <a:prstGeom prst="rect">
                <a:avLst/>
              </a:prstGeom>
              <a:blipFill>
                <a:blip r:embed="rId5"/>
                <a:stretch>
                  <a:fillRect l="-16438" t="-16393" r="-42466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左-右雙向箭號 52"/>
          <p:cNvSpPr/>
          <p:nvPr/>
        </p:nvSpPr>
        <p:spPr>
          <a:xfrm>
            <a:off x="4254704" y="2590148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左-右雙向箭號 53"/>
          <p:cNvSpPr/>
          <p:nvPr/>
        </p:nvSpPr>
        <p:spPr>
          <a:xfrm>
            <a:off x="4249342" y="3510848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左-右雙向箭號 54"/>
          <p:cNvSpPr/>
          <p:nvPr/>
        </p:nvSpPr>
        <p:spPr>
          <a:xfrm>
            <a:off x="4249276" y="5851855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4423381" y="2767534"/>
                <a:ext cx="4072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381" y="2767534"/>
                <a:ext cx="407291" cy="369332"/>
              </a:xfrm>
              <a:prstGeom prst="rect">
                <a:avLst/>
              </a:prstGeom>
              <a:blipFill>
                <a:blip r:embed="rId6"/>
                <a:stretch>
                  <a:fillRect l="-18182" r="-7576"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/>
          <p:cNvSpPr txBox="1"/>
          <p:nvPr/>
        </p:nvSpPr>
        <p:spPr>
          <a:xfrm rot="5400000">
            <a:off x="3746853" y="4967195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60" name="文字方塊 59"/>
          <p:cNvSpPr txBox="1"/>
          <p:nvPr/>
        </p:nvSpPr>
        <p:spPr>
          <a:xfrm rot="5400000">
            <a:off x="4749949" y="4954287"/>
            <a:ext cx="82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grpSp>
        <p:nvGrpSpPr>
          <p:cNvPr id="64" name="群組 63"/>
          <p:cNvGrpSpPr/>
          <p:nvPr/>
        </p:nvGrpSpPr>
        <p:grpSpPr>
          <a:xfrm>
            <a:off x="1724616" y="4152253"/>
            <a:ext cx="421910" cy="671513"/>
            <a:chOff x="510564" y="3417283"/>
            <a:chExt cx="421910" cy="671513"/>
          </a:xfrm>
        </p:grpSpPr>
        <p:sp>
          <p:nvSpPr>
            <p:cNvPr id="65" name="矩形 6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66" name="矩形 65"/>
            <p:cNvSpPr/>
            <p:nvPr/>
          </p:nvSpPr>
          <p:spPr>
            <a:xfrm>
              <a:off x="510564" y="3522206"/>
              <a:ext cx="4219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x</a:t>
              </a:r>
              <a:r>
                <a:rPr lang="en-US" altLang="zh-TW" sz="2400" baseline="30000" dirty="0"/>
                <a:t>3</a:t>
              </a:r>
              <a:endParaRPr lang="zh-TW" altLang="en-US" sz="2400" baseline="30000" dirty="0"/>
            </a:p>
          </p:txBody>
        </p:sp>
      </p:grpSp>
      <p:sp>
        <p:nvSpPr>
          <p:cNvPr id="67" name="矩形 66"/>
          <p:cNvSpPr/>
          <p:nvPr/>
        </p:nvSpPr>
        <p:spPr>
          <a:xfrm>
            <a:off x="2524541" y="4146429"/>
            <a:ext cx="965905" cy="6831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  <a:endParaRPr lang="zh-TW" altLang="en-US" sz="2400" dirty="0"/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2090197" y="4488008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V="1">
            <a:off x="3490446" y="4482801"/>
            <a:ext cx="4170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3891923" y="4152253"/>
            <a:ext cx="428322" cy="671513"/>
            <a:chOff x="507359" y="3417283"/>
            <a:chExt cx="428322" cy="671513"/>
          </a:xfrm>
        </p:grpSpPr>
        <p:sp>
          <p:nvSpPr>
            <p:cNvPr id="71" name="矩形 70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baseline="30000" dirty="0"/>
            </a:p>
          </p:txBody>
        </p:sp>
        <p:sp>
          <p:nvSpPr>
            <p:cNvPr id="72" name="矩形 71"/>
            <p:cNvSpPr/>
            <p:nvPr/>
          </p:nvSpPr>
          <p:spPr>
            <a:xfrm>
              <a:off x="507359" y="3522206"/>
              <a:ext cx="4283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dirty="0"/>
                <a:t>y</a:t>
              </a:r>
              <a:r>
                <a:rPr lang="en-US" altLang="zh-TW" sz="2400" baseline="30000" dirty="0"/>
                <a:t>3</a:t>
              </a:r>
              <a:endParaRPr lang="zh-TW" altLang="en-US" sz="2400" baseline="30000" dirty="0"/>
            </a:p>
          </p:txBody>
        </p:sp>
      </p:grpSp>
      <p:sp>
        <p:nvSpPr>
          <p:cNvPr id="73" name="矩形 72"/>
          <p:cNvSpPr/>
          <p:nvPr/>
        </p:nvSpPr>
        <p:spPr>
          <a:xfrm>
            <a:off x="4909965" y="4152253"/>
            <a:ext cx="271463" cy="6715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4909965" y="4314261"/>
                <a:ext cx="398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965" y="4314261"/>
                <a:ext cx="398058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8182" t="-18333" r="-4697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左-右雙向箭號 74"/>
          <p:cNvSpPr/>
          <p:nvPr/>
        </p:nvSpPr>
        <p:spPr>
          <a:xfrm>
            <a:off x="4246190" y="4417822"/>
            <a:ext cx="602650" cy="18104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08787" y="1640875"/>
            <a:ext cx="3580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For all training data …</a:t>
            </a:r>
            <a:endParaRPr lang="zh-TW" altLang="en-US" sz="2800" dirty="0"/>
          </a:p>
        </p:txBody>
      </p:sp>
      <p:pic>
        <p:nvPicPr>
          <p:cNvPr id="90" name="圖片 89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15322" y="2314599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2" name="圖片 91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94572" y="3258994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3" name="圖片 92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94572" y="4139587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4" name="圖片 93"/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94572" y="5594978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6563165" y="983675"/>
                <a:ext cx="1749517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165" y="983675"/>
                <a:ext cx="1749517" cy="12115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5487022" y="5159357"/>
                <a:ext cx="3318188" cy="1384995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Find </a:t>
                </a:r>
                <a:r>
                  <a:rPr lang="en-US" altLang="zh-TW" sz="2800" b="1" i="1" u="sng" dirty="0"/>
                  <a:t>the network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1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800" b="1" i="1" u="sng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TW" sz="2800" b="1" i="1" u="sng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800" dirty="0"/>
                  <a:t> that minimize total loss L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022" y="5159357"/>
                <a:ext cx="3318188" cy="13849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/>
          <p:cNvSpPr txBox="1"/>
          <p:nvPr/>
        </p:nvSpPr>
        <p:spPr>
          <a:xfrm>
            <a:off x="5467155" y="398990"/>
            <a:ext cx="1805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Total Loss: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4423381" y="3685525"/>
                <a:ext cx="4138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381" y="3685525"/>
                <a:ext cx="413895" cy="369332"/>
              </a:xfrm>
              <a:prstGeom prst="rect">
                <a:avLst/>
              </a:prstGeom>
              <a:blipFill>
                <a:blip r:embed="rId14"/>
                <a:stretch>
                  <a:fillRect l="-17647" t="-1667" r="-5882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4429885" y="4561823"/>
                <a:ext cx="4138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885" y="4561823"/>
                <a:ext cx="413895" cy="369332"/>
              </a:xfrm>
              <a:prstGeom prst="rect">
                <a:avLst/>
              </a:prstGeom>
              <a:blipFill>
                <a:blip r:embed="rId15"/>
                <a:stretch>
                  <a:fillRect l="-17647" r="-5882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4437895" y="6027539"/>
                <a:ext cx="4592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895" y="6027539"/>
                <a:ext cx="459228" cy="369332"/>
              </a:xfrm>
              <a:prstGeom prst="rect">
                <a:avLst/>
              </a:prstGeom>
              <a:blipFill>
                <a:blip r:embed="rId16"/>
                <a:stretch>
                  <a:fillRect l="-14667" r="-5333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6491961" y="958274"/>
            <a:ext cx="1850601" cy="1326605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文字方塊 80"/>
          <p:cNvSpPr txBox="1"/>
          <p:nvPr/>
        </p:nvSpPr>
        <p:spPr>
          <a:xfrm>
            <a:off x="5487022" y="3113965"/>
            <a:ext cx="3315102" cy="13849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Find </a:t>
            </a:r>
            <a:r>
              <a:rPr lang="en-US" altLang="zh-TW" sz="2800" b="1" i="1" u="sng" dirty="0"/>
              <a:t>a function in function set </a:t>
            </a:r>
            <a:r>
              <a:rPr lang="en-US" altLang="zh-TW" sz="2800" dirty="0"/>
              <a:t>that minimizes total loss L</a:t>
            </a:r>
            <a:endParaRPr lang="zh-TW" altLang="en-US" sz="2800" dirty="0"/>
          </a:p>
        </p:txBody>
      </p:sp>
      <p:sp>
        <p:nvSpPr>
          <p:cNvPr id="4" name="向下箭號 3"/>
          <p:cNvSpPr/>
          <p:nvPr/>
        </p:nvSpPr>
        <p:spPr>
          <a:xfrm>
            <a:off x="6749969" y="2552127"/>
            <a:ext cx="697424" cy="55427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向下箭號 81"/>
          <p:cNvSpPr/>
          <p:nvPr/>
        </p:nvSpPr>
        <p:spPr>
          <a:xfrm>
            <a:off x="6749969" y="4542207"/>
            <a:ext cx="697424" cy="53341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3" name="圖片 82"/>
          <p:cNvPicPr preferRelativeResize="0"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893866" y="4136973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4" name="圖片 83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93267" y="5606622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5" name="圖片 84"/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90958" y="5600800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475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/>
      <p:bldP spid="31" grpId="0"/>
      <p:bldP spid="47" grpId="0" animBg="1"/>
      <p:bldP spid="48" grpId="0" animBg="1"/>
      <p:bldP spid="49" grpId="0" animBg="1"/>
      <p:bldP spid="50" grpId="0"/>
      <p:bldP spid="51" grpId="0"/>
      <p:bldP spid="52" grpId="0"/>
      <p:bldP spid="53" grpId="0" animBg="1"/>
      <p:bldP spid="54" grpId="0" animBg="1"/>
      <p:bldP spid="55" grpId="0" animBg="1"/>
      <p:bldP spid="56" grpId="0"/>
      <p:bldP spid="59" grpId="0"/>
      <p:bldP spid="60" grpId="0"/>
      <p:bldP spid="67" grpId="0" animBg="1"/>
      <p:bldP spid="73" grpId="0" animBg="1"/>
      <p:bldP spid="74" grpId="0"/>
      <p:bldP spid="75" grpId="0" animBg="1"/>
      <p:bldP spid="7" grpId="0"/>
      <p:bldP spid="95" grpId="0" animBg="1"/>
      <p:bldP spid="77" grpId="0"/>
      <p:bldP spid="76" grpId="0"/>
      <p:bldP spid="78" grpId="0"/>
      <p:bldP spid="79" grpId="0"/>
      <p:bldP spid="9" grpId="0" animBg="1"/>
      <p:bldP spid="81" grpId="0" animBg="1"/>
      <p:bldP spid="4" grpId="0" animBg="1"/>
      <p:bldP spid="8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B28D-9B7A-96AF-2EA3-F8F41364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65644-F2E8-E18A-6335-129F4D33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26</a:t>
            </a:fld>
            <a:endParaRPr lang="zh-TW" altLang="en-US"/>
          </a:p>
        </p:txBody>
      </p:sp>
      <p:cxnSp>
        <p:nvCxnSpPr>
          <p:cNvPr id="6" name="直線單箭頭接點 4">
            <a:extLst>
              <a:ext uri="{FF2B5EF4-FFF2-40B4-BE49-F238E27FC236}">
                <a16:creationId xmlns:a16="http://schemas.microsoft.com/office/drawing/2014/main" id="{5F77101C-9B99-ABFF-8E9A-C3EAD41789E7}"/>
              </a:ext>
            </a:extLst>
          </p:cNvPr>
          <p:cNvCxnSpPr/>
          <p:nvPr/>
        </p:nvCxnSpPr>
        <p:spPr>
          <a:xfrm>
            <a:off x="3203261" y="2906553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橢圓 9">
            <a:extLst>
              <a:ext uri="{FF2B5EF4-FFF2-40B4-BE49-F238E27FC236}">
                <a16:creationId xmlns:a16="http://schemas.microsoft.com/office/drawing/2014/main" id="{C7CCC6B6-9D70-54F5-BC19-98724D40293B}"/>
              </a:ext>
            </a:extLst>
          </p:cNvPr>
          <p:cNvSpPr/>
          <p:nvPr/>
        </p:nvSpPr>
        <p:spPr>
          <a:xfrm>
            <a:off x="2664019" y="263775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單箭頭接點 28">
            <a:extLst>
              <a:ext uri="{FF2B5EF4-FFF2-40B4-BE49-F238E27FC236}">
                <a16:creationId xmlns:a16="http://schemas.microsoft.com/office/drawing/2014/main" id="{A24BBF84-CC8D-E188-315A-1C11014F1C47}"/>
              </a:ext>
            </a:extLst>
          </p:cNvPr>
          <p:cNvCxnSpPr/>
          <p:nvPr/>
        </p:nvCxnSpPr>
        <p:spPr>
          <a:xfrm flipV="1">
            <a:off x="1120980" y="2937304"/>
            <a:ext cx="15768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96">
                <a:extLst>
                  <a:ext uri="{FF2B5EF4-FFF2-40B4-BE49-F238E27FC236}">
                    <a16:creationId xmlns:a16="http://schemas.microsoft.com/office/drawing/2014/main" id="{231E889A-BE78-B86F-04CC-EFC11431E744}"/>
                  </a:ext>
                </a:extLst>
              </p:cNvPr>
              <p:cNvSpPr txBox="1"/>
              <p:nvPr/>
            </p:nvSpPr>
            <p:spPr>
              <a:xfrm>
                <a:off x="597409" y="2709387"/>
                <a:ext cx="427874" cy="43088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7" name="文字方塊 96">
                <a:extLst>
                  <a:ext uri="{FF2B5EF4-FFF2-40B4-BE49-F238E27FC236}">
                    <a16:creationId xmlns:a16="http://schemas.microsoft.com/office/drawing/2014/main" id="{231E889A-BE78-B86F-04CC-EFC11431E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9" y="2709387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445DCA74-FA24-2BB7-3B62-1952F21DC9CF}"/>
                  </a:ext>
                </a:extLst>
              </p:cNvPr>
              <p:cNvSpPr txBox="1"/>
              <p:nvPr/>
            </p:nvSpPr>
            <p:spPr>
              <a:xfrm>
                <a:off x="3926754" y="2642108"/>
                <a:ext cx="366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445DCA74-FA24-2BB7-3B62-1952F21DC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754" y="2642108"/>
                <a:ext cx="366639" cy="369332"/>
              </a:xfrm>
              <a:prstGeom prst="rect">
                <a:avLst/>
              </a:prstGeom>
              <a:blipFill>
                <a:blip r:embed="rId3"/>
                <a:stretch>
                  <a:fillRect l="-20690" r="-689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126">
            <a:extLst>
              <a:ext uri="{FF2B5EF4-FFF2-40B4-BE49-F238E27FC236}">
                <a16:creationId xmlns:a16="http://schemas.microsoft.com/office/drawing/2014/main" id="{F958A673-D330-7F52-C493-FF788DF4BB79}"/>
              </a:ext>
            </a:extLst>
          </p:cNvPr>
          <p:cNvGrpSpPr/>
          <p:nvPr/>
        </p:nvGrpSpPr>
        <p:grpSpPr>
          <a:xfrm>
            <a:off x="2465652" y="3092209"/>
            <a:ext cx="458287" cy="838405"/>
            <a:chOff x="10102194" y="1939763"/>
            <a:chExt cx="458287" cy="838405"/>
          </a:xfrm>
        </p:grpSpPr>
        <p:sp>
          <p:nvSpPr>
            <p:cNvPr id="58" name="矩形 127">
              <a:extLst>
                <a:ext uri="{FF2B5EF4-FFF2-40B4-BE49-F238E27FC236}">
                  <a16:creationId xmlns:a16="http://schemas.microsoft.com/office/drawing/2014/main" id="{786F26BB-790B-32D0-7801-7360A1F040A1}"/>
                </a:ext>
              </a:extLst>
            </p:cNvPr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9" name="直線單箭頭接點 128">
              <a:extLst>
                <a:ext uri="{FF2B5EF4-FFF2-40B4-BE49-F238E27FC236}">
                  <a16:creationId xmlns:a16="http://schemas.microsoft.com/office/drawing/2014/main" id="{7976CC15-AB34-58A5-3A3E-283A8EE605BE}"/>
                </a:ext>
              </a:extLst>
            </p:cNvPr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字方塊 129">
              <a:extLst>
                <a:ext uri="{FF2B5EF4-FFF2-40B4-BE49-F238E27FC236}">
                  <a16:creationId xmlns:a16="http://schemas.microsoft.com/office/drawing/2014/main" id="{FC118C77-AE3D-0E07-CD6F-D7A08B888E91}"/>
                </a:ext>
              </a:extLst>
            </p:cNvPr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171616-C057-D01B-0B3C-FFA68AA7B203}"/>
                  </a:ext>
                </a:extLst>
              </p:cNvPr>
              <p:cNvSpPr txBox="1"/>
              <p:nvPr/>
            </p:nvSpPr>
            <p:spPr>
              <a:xfrm>
                <a:off x="1657212" y="2503989"/>
                <a:ext cx="441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171616-C057-D01B-0B3C-FFA68AA7B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12" y="2503989"/>
                <a:ext cx="4416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17D83CF-D179-1B18-8FCA-DD83C0ECEED4}"/>
                  </a:ext>
                </a:extLst>
              </p:cNvPr>
              <p:cNvSpPr txBox="1"/>
              <p:nvPr/>
            </p:nvSpPr>
            <p:spPr>
              <a:xfrm>
                <a:off x="2443179" y="3509235"/>
                <a:ext cx="441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17D83CF-D179-1B18-8FCA-DD83C0ECE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179" y="3509235"/>
                <a:ext cx="4416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10E2FFA4-696E-AE2A-02E5-C908C85F0D49}"/>
              </a:ext>
            </a:extLst>
          </p:cNvPr>
          <p:cNvGrpSpPr/>
          <p:nvPr/>
        </p:nvGrpSpPr>
        <p:grpSpPr>
          <a:xfrm>
            <a:off x="2724166" y="2830353"/>
            <a:ext cx="460263" cy="152400"/>
            <a:chOff x="3247098" y="4406348"/>
            <a:chExt cx="460263" cy="152400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B1D907C-3963-24BB-9D8F-D75EC4973358}"/>
                </a:ext>
              </a:extLst>
            </p:cNvPr>
            <p:cNvCxnSpPr>
              <a:cxnSpLocks/>
            </p:cNvCxnSpPr>
            <p:nvPr/>
          </p:nvCxnSpPr>
          <p:spPr>
            <a:xfrm>
              <a:off x="3247098" y="4558748"/>
              <a:ext cx="25216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31FFF15-9631-7A96-DB09-DF8E8BB30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9261" y="4406348"/>
              <a:ext cx="208100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BBC53BA2-B399-29DF-8F74-E35D500870D8}"/>
              </a:ext>
            </a:extLst>
          </p:cNvPr>
          <p:cNvSpPr txBox="1"/>
          <p:nvPr/>
        </p:nvSpPr>
        <p:spPr>
          <a:xfrm>
            <a:off x="575020" y="1643326"/>
            <a:ext cx="291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= 2, Desired Output = 4</a:t>
            </a:r>
          </a:p>
        </p:txBody>
      </p:sp>
    </p:spTree>
    <p:extLst>
      <p:ext uri="{BB962C8B-B14F-4D97-AF65-F5344CB8AC3E}">
        <p14:creationId xmlns:p14="http://schemas.microsoft.com/office/powerpoint/2010/main" val="3223267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B28D-9B7A-96AF-2EA3-F8F41364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65644-F2E8-E18A-6335-129F4D33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27</a:t>
            </a:fld>
            <a:endParaRPr lang="zh-TW" altLang="en-US"/>
          </a:p>
        </p:txBody>
      </p:sp>
      <p:cxnSp>
        <p:nvCxnSpPr>
          <p:cNvPr id="6" name="直線單箭頭接點 4">
            <a:extLst>
              <a:ext uri="{FF2B5EF4-FFF2-40B4-BE49-F238E27FC236}">
                <a16:creationId xmlns:a16="http://schemas.microsoft.com/office/drawing/2014/main" id="{5F77101C-9B99-ABFF-8E9A-C3EAD41789E7}"/>
              </a:ext>
            </a:extLst>
          </p:cNvPr>
          <p:cNvCxnSpPr/>
          <p:nvPr/>
        </p:nvCxnSpPr>
        <p:spPr>
          <a:xfrm>
            <a:off x="3203261" y="2906553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橢圓 9">
            <a:extLst>
              <a:ext uri="{FF2B5EF4-FFF2-40B4-BE49-F238E27FC236}">
                <a16:creationId xmlns:a16="http://schemas.microsoft.com/office/drawing/2014/main" id="{C7CCC6B6-9D70-54F5-BC19-98724D40293B}"/>
              </a:ext>
            </a:extLst>
          </p:cNvPr>
          <p:cNvSpPr/>
          <p:nvPr/>
        </p:nvSpPr>
        <p:spPr>
          <a:xfrm>
            <a:off x="2664019" y="263775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單箭頭接點 28">
            <a:extLst>
              <a:ext uri="{FF2B5EF4-FFF2-40B4-BE49-F238E27FC236}">
                <a16:creationId xmlns:a16="http://schemas.microsoft.com/office/drawing/2014/main" id="{A24BBF84-CC8D-E188-315A-1C11014F1C47}"/>
              </a:ext>
            </a:extLst>
          </p:cNvPr>
          <p:cNvCxnSpPr/>
          <p:nvPr/>
        </p:nvCxnSpPr>
        <p:spPr>
          <a:xfrm flipV="1">
            <a:off x="1120980" y="2937304"/>
            <a:ext cx="15768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96">
                <a:extLst>
                  <a:ext uri="{FF2B5EF4-FFF2-40B4-BE49-F238E27FC236}">
                    <a16:creationId xmlns:a16="http://schemas.microsoft.com/office/drawing/2014/main" id="{231E889A-BE78-B86F-04CC-EFC11431E744}"/>
                  </a:ext>
                </a:extLst>
              </p:cNvPr>
              <p:cNvSpPr txBox="1"/>
              <p:nvPr/>
            </p:nvSpPr>
            <p:spPr>
              <a:xfrm>
                <a:off x="597409" y="2709387"/>
                <a:ext cx="427874" cy="43088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7" name="文字方塊 96">
                <a:extLst>
                  <a:ext uri="{FF2B5EF4-FFF2-40B4-BE49-F238E27FC236}">
                    <a16:creationId xmlns:a16="http://schemas.microsoft.com/office/drawing/2014/main" id="{231E889A-BE78-B86F-04CC-EFC11431E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9" y="2709387"/>
                <a:ext cx="427874" cy="430887"/>
              </a:xfrm>
              <a:prstGeom prst="rect">
                <a:avLst/>
              </a:prstGeom>
              <a:blipFill>
                <a:blip r:embed="rId3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445DCA74-FA24-2BB7-3B62-1952F21DC9CF}"/>
                  </a:ext>
                </a:extLst>
              </p:cNvPr>
              <p:cNvSpPr txBox="1"/>
              <p:nvPr/>
            </p:nvSpPr>
            <p:spPr>
              <a:xfrm>
                <a:off x="3926754" y="2642108"/>
                <a:ext cx="366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445DCA74-FA24-2BB7-3B62-1952F21DC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754" y="2642108"/>
                <a:ext cx="366639" cy="369332"/>
              </a:xfrm>
              <a:prstGeom prst="rect">
                <a:avLst/>
              </a:prstGeom>
              <a:blipFill>
                <a:blip r:embed="rId4"/>
                <a:stretch>
                  <a:fillRect l="-20690" r="-689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126">
            <a:extLst>
              <a:ext uri="{FF2B5EF4-FFF2-40B4-BE49-F238E27FC236}">
                <a16:creationId xmlns:a16="http://schemas.microsoft.com/office/drawing/2014/main" id="{F958A673-D330-7F52-C493-FF788DF4BB79}"/>
              </a:ext>
            </a:extLst>
          </p:cNvPr>
          <p:cNvGrpSpPr/>
          <p:nvPr/>
        </p:nvGrpSpPr>
        <p:grpSpPr>
          <a:xfrm>
            <a:off x="2465652" y="3092209"/>
            <a:ext cx="458287" cy="838405"/>
            <a:chOff x="10102194" y="1939763"/>
            <a:chExt cx="458287" cy="838405"/>
          </a:xfrm>
        </p:grpSpPr>
        <p:sp>
          <p:nvSpPr>
            <p:cNvPr id="58" name="矩形 127">
              <a:extLst>
                <a:ext uri="{FF2B5EF4-FFF2-40B4-BE49-F238E27FC236}">
                  <a16:creationId xmlns:a16="http://schemas.microsoft.com/office/drawing/2014/main" id="{786F26BB-790B-32D0-7801-7360A1F040A1}"/>
                </a:ext>
              </a:extLst>
            </p:cNvPr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9" name="直線單箭頭接點 128">
              <a:extLst>
                <a:ext uri="{FF2B5EF4-FFF2-40B4-BE49-F238E27FC236}">
                  <a16:creationId xmlns:a16="http://schemas.microsoft.com/office/drawing/2014/main" id="{7976CC15-AB34-58A5-3A3E-283A8EE605BE}"/>
                </a:ext>
              </a:extLst>
            </p:cNvPr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字方塊 129">
              <a:extLst>
                <a:ext uri="{FF2B5EF4-FFF2-40B4-BE49-F238E27FC236}">
                  <a16:creationId xmlns:a16="http://schemas.microsoft.com/office/drawing/2014/main" id="{FC118C77-AE3D-0E07-CD6F-D7A08B888E91}"/>
                </a:ext>
              </a:extLst>
            </p:cNvPr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/>
              <p:nvPr/>
            </p:nvSpPr>
            <p:spPr>
              <a:xfrm>
                <a:off x="2755038" y="5349172"/>
                <a:ext cx="2710069" cy="637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038" y="5349172"/>
                <a:ext cx="2710069" cy="637226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171616-C057-D01B-0B3C-FFA68AA7B203}"/>
                  </a:ext>
                </a:extLst>
              </p:cNvPr>
              <p:cNvSpPr txBox="1"/>
              <p:nvPr/>
            </p:nvSpPr>
            <p:spPr>
              <a:xfrm>
                <a:off x="1657212" y="2503989"/>
                <a:ext cx="441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171616-C057-D01B-0B3C-FFA68AA7B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12" y="2503989"/>
                <a:ext cx="44167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17D83CF-D179-1B18-8FCA-DD83C0ECEED4}"/>
                  </a:ext>
                </a:extLst>
              </p:cNvPr>
              <p:cNvSpPr txBox="1"/>
              <p:nvPr/>
            </p:nvSpPr>
            <p:spPr>
              <a:xfrm>
                <a:off x="2443179" y="3509235"/>
                <a:ext cx="441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17D83CF-D179-1B18-8FCA-DD83C0ECE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179" y="3509235"/>
                <a:ext cx="4416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10E2FFA4-696E-AE2A-02E5-C908C85F0D49}"/>
              </a:ext>
            </a:extLst>
          </p:cNvPr>
          <p:cNvGrpSpPr/>
          <p:nvPr/>
        </p:nvGrpSpPr>
        <p:grpSpPr>
          <a:xfrm>
            <a:off x="2724166" y="2830353"/>
            <a:ext cx="460263" cy="152400"/>
            <a:chOff x="3247098" y="4406348"/>
            <a:chExt cx="460263" cy="152400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B1D907C-3963-24BB-9D8F-D75EC4973358}"/>
                </a:ext>
              </a:extLst>
            </p:cNvPr>
            <p:cNvCxnSpPr>
              <a:cxnSpLocks/>
            </p:cNvCxnSpPr>
            <p:nvPr/>
          </p:nvCxnSpPr>
          <p:spPr>
            <a:xfrm>
              <a:off x="3247098" y="4558748"/>
              <a:ext cx="25216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31FFF15-9631-7A96-DB09-DF8E8BB30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9261" y="4406348"/>
              <a:ext cx="208100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/>
              <p:nvPr/>
            </p:nvSpPr>
            <p:spPr>
              <a:xfrm>
                <a:off x="4715224" y="2398216"/>
                <a:ext cx="457200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224" y="2398216"/>
                <a:ext cx="457200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/>
              <p:nvPr/>
            </p:nvSpPr>
            <p:spPr>
              <a:xfrm>
                <a:off x="4781216" y="321191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216" y="3211910"/>
                <a:ext cx="4572000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BBC53BA2-B399-29DF-8F74-E35D500870D8}"/>
              </a:ext>
            </a:extLst>
          </p:cNvPr>
          <p:cNvSpPr txBox="1"/>
          <p:nvPr/>
        </p:nvSpPr>
        <p:spPr>
          <a:xfrm>
            <a:off x="575020" y="1643326"/>
            <a:ext cx="291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= 2, Desired Output =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C9AB1B-5704-092E-F258-CA0251B9C3A1}"/>
                  </a:ext>
                </a:extLst>
              </p:cNvPr>
              <p:cNvSpPr txBox="1"/>
              <p:nvPr/>
            </p:nvSpPr>
            <p:spPr>
              <a:xfrm>
                <a:off x="2724166" y="4650183"/>
                <a:ext cx="2710069" cy="637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C9AB1B-5704-092E-F258-CA0251B9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66" y="4650183"/>
                <a:ext cx="2710069" cy="637226"/>
              </a:xfrm>
              <a:prstGeom prst="rect">
                <a:avLst/>
              </a:prstGeom>
              <a:blipFill>
                <a:blip r:embed="rId10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492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B28D-9B7A-96AF-2EA3-F8F41364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65644-F2E8-E18A-6335-129F4D33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28</a:t>
            </a:fld>
            <a:endParaRPr lang="zh-TW" altLang="en-US"/>
          </a:p>
        </p:txBody>
      </p:sp>
      <p:cxnSp>
        <p:nvCxnSpPr>
          <p:cNvPr id="6" name="直線單箭頭接點 4">
            <a:extLst>
              <a:ext uri="{FF2B5EF4-FFF2-40B4-BE49-F238E27FC236}">
                <a16:creationId xmlns:a16="http://schemas.microsoft.com/office/drawing/2014/main" id="{5F77101C-9B99-ABFF-8E9A-C3EAD41789E7}"/>
              </a:ext>
            </a:extLst>
          </p:cNvPr>
          <p:cNvCxnSpPr/>
          <p:nvPr/>
        </p:nvCxnSpPr>
        <p:spPr>
          <a:xfrm>
            <a:off x="3203261" y="2906553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橢圓 9">
            <a:extLst>
              <a:ext uri="{FF2B5EF4-FFF2-40B4-BE49-F238E27FC236}">
                <a16:creationId xmlns:a16="http://schemas.microsoft.com/office/drawing/2014/main" id="{C7CCC6B6-9D70-54F5-BC19-98724D40293B}"/>
              </a:ext>
            </a:extLst>
          </p:cNvPr>
          <p:cNvSpPr/>
          <p:nvPr/>
        </p:nvSpPr>
        <p:spPr>
          <a:xfrm>
            <a:off x="2664019" y="263775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單箭頭接點 28">
            <a:extLst>
              <a:ext uri="{FF2B5EF4-FFF2-40B4-BE49-F238E27FC236}">
                <a16:creationId xmlns:a16="http://schemas.microsoft.com/office/drawing/2014/main" id="{A24BBF84-CC8D-E188-315A-1C11014F1C47}"/>
              </a:ext>
            </a:extLst>
          </p:cNvPr>
          <p:cNvCxnSpPr/>
          <p:nvPr/>
        </p:nvCxnSpPr>
        <p:spPr>
          <a:xfrm flipV="1">
            <a:off x="1120980" y="2937304"/>
            <a:ext cx="15768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96">
                <a:extLst>
                  <a:ext uri="{FF2B5EF4-FFF2-40B4-BE49-F238E27FC236}">
                    <a16:creationId xmlns:a16="http://schemas.microsoft.com/office/drawing/2014/main" id="{231E889A-BE78-B86F-04CC-EFC11431E744}"/>
                  </a:ext>
                </a:extLst>
              </p:cNvPr>
              <p:cNvSpPr txBox="1"/>
              <p:nvPr/>
            </p:nvSpPr>
            <p:spPr>
              <a:xfrm>
                <a:off x="597409" y="2709387"/>
                <a:ext cx="427874" cy="43088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7" name="文字方塊 96">
                <a:extLst>
                  <a:ext uri="{FF2B5EF4-FFF2-40B4-BE49-F238E27FC236}">
                    <a16:creationId xmlns:a16="http://schemas.microsoft.com/office/drawing/2014/main" id="{231E889A-BE78-B86F-04CC-EFC11431E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9" y="2709387"/>
                <a:ext cx="427874" cy="430887"/>
              </a:xfrm>
              <a:prstGeom prst="rect">
                <a:avLst/>
              </a:prstGeom>
              <a:blipFill>
                <a:blip r:embed="rId2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445DCA74-FA24-2BB7-3B62-1952F21DC9CF}"/>
                  </a:ext>
                </a:extLst>
              </p:cNvPr>
              <p:cNvSpPr txBox="1"/>
              <p:nvPr/>
            </p:nvSpPr>
            <p:spPr>
              <a:xfrm>
                <a:off x="3926754" y="2642108"/>
                <a:ext cx="366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445DCA74-FA24-2BB7-3B62-1952F21DC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754" y="2642108"/>
                <a:ext cx="366639" cy="369332"/>
              </a:xfrm>
              <a:prstGeom prst="rect">
                <a:avLst/>
              </a:prstGeom>
              <a:blipFill>
                <a:blip r:embed="rId3"/>
                <a:stretch>
                  <a:fillRect l="-20690" r="-689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126">
            <a:extLst>
              <a:ext uri="{FF2B5EF4-FFF2-40B4-BE49-F238E27FC236}">
                <a16:creationId xmlns:a16="http://schemas.microsoft.com/office/drawing/2014/main" id="{F958A673-D330-7F52-C493-FF788DF4BB79}"/>
              </a:ext>
            </a:extLst>
          </p:cNvPr>
          <p:cNvGrpSpPr/>
          <p:nvPr/>
        </p:nvGrpSpPr>
        <p:grpSpPr>
          <a:xfrm>
            <a:off x="2465652" y="3092209"/>
            <a:ext cx="458287" cy="838405"/>
            <a:chOff x="10102194" y="1939763"/>
            <a:chExt cx="458287" cy="838405"/>
          </a:xfrm>
        </p:grpSpPr>
        <p:sp>
          <p:nvSpPr>
            <p:cNvPr id="58" name="矩形 127">
              <a:extLst>
                <a:ext uri="{FF2B5EF4-FFF2-40B4-BE49-F238E27FC236}">
                  <a16:creationId xmlns:a16="http://schemas.microsoft.com/office/drawing/2014/main" id="{786F26BB-790B-32D0-7801-7360A1F040A1}"/>
                </a:ext>
              </a:extLst>
            </p:cNvPr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9" name="直線單箭頭接點 128">
              <a:extLst>
                <a:ext uri="{FF2B5EF4-FFF2-40B4-BE49-F238E27FC236}">
                  <a16:creationId xmlns:a16="http://schemas.microsoft.com/office/drawing/2014/main" id="{7976CC15-AB34-58A5-3A3E-283A8EE605BE}"/>
                </a:ext>
              </a:extLst>
            </p:cNvPr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字方塊 129">
              <a:extLst>
                <a:ext uri="{FF2B5EF4-FFF2-40B4-BE49-F238E27FC236}">
                  <a16:creationId xmlns:a16="http://schemas.microsoft.com/office/drawing/2014/main" id="{FC118C77-AE3D-0E07-CD6F-D7A08B888E91}"/>
                </a:ext>
              </a:extLst>
            </p:cNvPr>
            <p:cNvSpPr txBox="1"/>
            <p:nvPr/>
          </p:nvSpPr>
          <p:spPr>
            <a:xfrm>
              <a:off x="10118802" y="2316503"/>
              <a:ext cx="441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/>
              <p:nvPr/>
            </p:nvSpPr>
            <p:spPr>
              <a:xfrm>
                <a:off x="5530114" y="1370521"/>
                <a:ext cx="2710069" cy="637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114" y="1370521"/>
                <a:ext cx="2710069" cy="637226"/>
              </a:xfrm>
              <a:prstGeom prst="rect">
                <a:avLst/>
              </a:prstGeom>
              <a:blipFill>
                <a:blip r:embed="rId4"/>
                <a:stretch>
                  <a:fillRect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171616-C057-D01B-0B3C-FFA68AA7B203}"/>
                  </a:ext>
                </a:extLst>
              </p:cNvPr>
              <p:cNvSpPr txBox="1"/>
              <p:nvPr/>
            </p:nvSpPr>
            <p:spPr>
              <a:xfrm>
                <a:off x="1657212" y="2503989"/>
                <a:ext cx="441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171616-C057-D01B-0B3C-FFA68AA7B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12" y="2503989"/>
                <a:ext cx="4416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17D83CF-D179-1B18-8FCA-DD83C0ECEED4}"/>
                  </a:ext>
                </a:extLst>
              </p:cNvPr>
              <p:cNvSpPr txBox="1"/>
              <p:nvPr/>
            </p:nvSpPr>
            <p:spPr>
              <a:xfrm>
                <a:off x="2443179" y="3509235"/>
                <a:ext cx="441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17D83CF-D179-1B18-8FCA-DD83C0ECE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179" y="3509235"/>
                <a:ext cx="44167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10E2FFA4-696E-AE2A-02E5-C908C85F0D49}"/>
              </a:ext>
            </a:extLst>
          </p:cNvPr>
          <p:cNvGrpSpPr/>
          <p:nvPr/>
        </p:nvGrpSpPr>
        <p:grpSpPr>
          <a:xfrm>
            <a:off x="2724166" y="2830353"/>
            <a:ext cx="460263" cy="152400"/>
            <a:chOff x="3247098" y="4406348"/>
            <a:chExt cx="460263" cy="152400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B1D907C-3963-24BB-9D8F-D75EC4973358}"/>
                </a:ext>
              </a:extLst>
            </p:cNvPr>
            <p:cNvCxnSpPr>
              <a:cxnSpLocks/>
            </p:cNvCxnSpPr>
            <p:nvPr/>
          </p:nvCxnSpPr>
          <p:spPr>
            <a:xfrm>
              <a:off x="3247098" y="4558748"/>
              <a:ext cx="25216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31FFF15-9631-7A96-DB09-DF8E8BB30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9261" y="4406348"/>
              <a:ext cx="208100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7" name="直線單箭頭接點 4">
            <a:extLst>
              <a:ext uri="{FF2B5EF4-FFF2-40B4-BE49-F238E27FC236}">
                <a16:creationId xmlns:a16="http://schemas.microsoft.com/office/drawing/2014/main" id="{CEBAE138-8D02-7D83-1DC5-0DBC8B6D72A3}"/>
              </a:ext>
            </a:extLst>
          </p:cNvPr>
          <p:cNvCxnSpPr/>
          <p:nvPr/>
        </p:nvCxnSpPr>
        <p:spPr>
          <a:xfrm>
            <a:off x="3519724" y="5118203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9">
            <a:extLst>
              <a:ext uri="{FF2B5EF4-FFF2-40B4-BE49-F238E27FC236}">
                <a16:creationId xmlns:a16="http://schemas.microsoft.com/office/drawing/2014/main" id="{C599F891-403B-5EF8-F99A-ED9AE629FAF6}"/>
              </a:ext>
            </a:extLst>
          </p:cNvPr>
          <p:cNvSpPr/>
          <p:nvPr/>
        </p:nvSpPr>
        <p:spPr>
          <a:xfrm>
            <a:off x="2980482" y="484940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9" name="直線單箭頭接點 28">
            <a:extLst>
              <a:ext uri="{FF2B5EF4-FFF2-40B4-BE49-F238E27FC236}">
                <a16:creationId xmlns:a16="http://schemas.microsoft.com/office/drawing/2014/main" id="{5CF273C2-17D5-749E-3C14-9FF20D7661F4}"/>
              </a:ext>
            </a:extLst>
          </p:cNvPr>
          <p:cNvCxnSpPr/>
          <p:nvPr/>
        </p:nvCxnSpPr>
        <p:spPr>
          <a:xfrm flipV="1">
            <a:off x="1437443" y="5148954"/>
            <a:ext cx="15768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96">
                <a:extLst>
                  <a:ext uri="{FF2B5EF4-FFF2-40B4-BE49-F238E27FC236}">
                    <a16:creationId xmlns:a16="http://schemas.microsoft.com/office/drawing/2014/main" id="{A8A9C41A-883B-2630-40CA-CD3A08E49A5D}"/>
                  </a:ext>
                </a:extLst>
              </p:cNvPr>
              <p:cNvSpPr txBox="1"/>
              <p:nvPr/>
            </p:nvSpPr>
            <p:spPr>
              <a:xfrm>
                <a:off x="628650" y="4902759"/>
                <a:ext cx="1093889" cy="43088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0" name="文字方塊 96">
                <a:extLst>
                  <a:ext uri="{FF2B5EF4-FFF2-40B4-BE49-F238E27FC236}">
                    <a16:creationId xmlns:a16="http://schemas.microsoft.com/office/drawing/2014/main" id="{A8A9C41A-883B-2630-40CA-CD3A08E49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902759"/>
                <a:ext cx="1093889" cy="430887"/>
              </a:xfrm>
              <a:prstGeom prst="rect">
                <a:avLst/>
              </a:prstGeom>
              <a:blipFill>
                <a:blip r:embed="rId7"/>
                <a:stretch>
                  <a:fillRect l="-3409" r="-568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線單箭頭接點 128">
            <a:extLst>
              <a:ext uri="{FF2B5EF4-FFF2-40B4-BE49-F238E27FC236}">
                <a16:creationId xmlns:a16="http://schemas.microsoft.com/office/drawing/2014/main" id="{51710F1A-5AC9-B24B-5973-D224A6227D6C}"/>
              </a:ext>
            </a:extLst>
          </p:cNvPr>
          <p:cNvCxnSpPr/>
          <p:nvPr/>
        </p:nvCxnSpPr>
        <p:spPr>
          <a:xfrm flipV="1">
            <a:off x="3009017" y="530385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B31144-B959-8676-FC0F-4B8F386DAFC5}"/>
                  </a:ext>
                </a:extLst>
              </p:cNvPr>
              <p:cNvSpPr txBox="1"/>
              <p:nvPr/>
            </p:nvSpPr>
            <p:spPr>
              <a:xfrm>
                <a:off x="1722539" y="4691867"/>
                <a:ext cx="12418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B31144-B959-8676-FC0F-4B8F386DA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539" y="4691867"/>
                <a:ext cx="124183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94AE47B-378B-1DFE-72D0-79119263D4A7}"/>
                  </a:ext>
                </a:extLst>
              </p:cNvPr>
              <p:cNvSpPr txBox="1"/>
              <p:nvPr/>
            </p:nvSpPr>
            <p:spPr>
              <a:xfrm>
                <a:off x="2594671" y="5678718"/>
                <a:ext cx="891915" cy="369332"/>
              </a:xfrm>
              <a:prstGeom prst="rect">
                <a:avLst/>
              </a:prstGeom>
              <a:solidFill>
                <a:srgbClr val="E3F0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94AE47B-378B-1DFE-72D0-79119263D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671" y="5678718"/>
                <a:ext cx="8919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BD329F87-EB2A-C068-263A-5501430DD204}"/>
              </a:ext>
            </a:extLst>
          </p:cNvPr>
          <p:cNvGrpSpPr/>
          <p:nvPr/>
        </p:nvGrpSpPr>
        <p:grpSpPr>
          <a:xfrm>
            <a:off x="3040629" y="5042003"/>
            <a:ext cx="460263" cy="152400"/>
            <a:chOff x="3247098" y="4406348"/>
            <a:chExt cx="460263" cy="15240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E772FC0-278C-B88B-BEFE-E894B4685A9A}"/>
                </a:ext>
              </a:extLst>
            </p:cNvPr>
            <p:cNvCxnSpPr>
              <a:cxnSpLocks/>
            </p:cNvCxnSpPr>
            <p:nvPr/>
          </p:nvCxnSpPr>
          <p:spPr>
            <a:xfrm>
              <a:off x="3247098" y="4558748"/>
              <a:ext cx="25216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2C64F55-21D0-536B-8B7C-AB335C7257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9261" y="4406348"/>
              <a:ext cx="208100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/>
              <p:nvPr/>
            </p:nvSpPr>
            <p:spPr>
              <a:xfrm>
                <a:off x="4715224" y="2398216"/>
                <a:ext cx="457200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224" y="2398216"/>
                <a:ext cx="4572000" cy="63478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/>
              <p:nvPr/>
            </p:nvSpPr>
            <p:spPr>
              <a:xfrm>
                <a:off x="4781216" y="321191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216" y="3211910"/>
                <a:ext cx="4572000" cy="3693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98">
                <a:extLst>
                  <a:ext uri="{FF2B5EF4-FFF2-40B4-BE49-F238E27FC236}">
                    <a16:creationId xmlns:a16="http://schemas.microsoft.com/office/drawing/2014/main" id="{E2EC12E1-427B-D089-EF8F-D357E4C06923}"/>
                  </a:ext>
                </a:extLst>
              </p:cNvPr>
              <p:cNvSpPr txBox="1"/>
              <p:nvPr/>
            </p:nvSpPr>
            <p:spPr>
              <a:xfrm>
                <a:off x="4528320" y="4876533"/>
                <a:ext cx="31782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=2,</m:t>
                            </m:r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=4,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=0.1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2" name="文字方塊 98">
                <a:extLst>
                  <a:ext uri="{FF2B5EF4-FFF2-40B4-BE49-F238E27FC236}">
                    <a16:creationId xmlns:a16="http://schemas.microsoft.com/office/drawing/2014/main" id="{E2EC12E1-427B-D089-EF8F-D357E4C06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320" y="4876533"/>
                <a:ext cx="3178237" cy="369332"/>
              </a:xfrm>
              <a:prstGeom prst="rect">
                <a:avLst/>
              </a:prstGeom>
              <a:blipFill>
                <a:blip r:embed="rId12"/>
                <a:stretch>
                  <a:fillRect l="-3187" t="-20000" r="-717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BBC53BA2-B399-29DF-8F74-E35D500870D8}"/>
              </a:ext>
            </a:extLst>
          </p:cNvPr>
          <p:cNvSpPr txBox="1"/>
          <p:nvPr/>
        </p:nvSpPr>
        <p:spPr>
          <a:xfrm>
            <a:off x="575020" y="1643326"/>
            <a:ext cx="291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= 2, Desired Output = 4</a:t>
            </a:r>
          </a:p>
        </p:txBody>
      </p:sp>
    </p:spTree>
    <p:extLst>
      <p:ext uri="{BB962C8B-B14F-4D97-AF65-F5344CB8AC3E}">
        <p14:creationId xmlns:p14="http://schemas.microsoft.com/office/powerpoint/2010/main" val="1560390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B28D-9B7A-96AF-2EA3-F8F41364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65644-F2E8-E18A-6335-129F4D33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29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/>
              <p:nvPr/>
            </p:nvSpPr>
            <p:spPr>
              <a:xfrm>
                <a:off x="5580264" y="207819"/>
                <a:ext cx="2710069" cy="637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64" y="207819"/>
                <a:ext cx="2710069" cy="637226"/>
              </a:xfrm>
              <a:prstGeom prst="rect">
                <a:avLst/>
              </a:prstGeom>
              <a:blipFill>
                <a:blip r:embed="rId3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單箭頭接點 4">
            <a:extLst>
              <a:ext uri="{FF2B5EF4-FFF2-40B4-BE49-F238E27FC236}">
                <a16:creationId xmlns:a16="http://schemas.microsoft.com/office/drawing/2014/main" id="{CEBAE138-8D02-7D83-1DC5-0DBC8B6D72A3}"/>
              </a:ext>
            </a:extLst>
          </p:cNvPr>
          <p:cNvCxnSpPr/>
          <p:nvPr/>
        </p:nvCxnSpPr>
        <p:spPr>
          <a:xfrm>
            <a:off x="3432730" y="2512416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9">
            <a:extLst>
              <a:ext uri="{FF2B5EF4-FFF2-40B4-BE49-F238E27FC236}">
                <a16:creationId xmlns:a16="http://schemas.microsoft.com/office/drawing/2014/main" id="{C599F891-403B-5EF8-F99A-ED9AE629FAF6}"/>
              </a:ext>
            </a:extLst>
          </p:cNvPr>
          <p:cNvSpPr/>
          <p:nvPr/>
        </p:nvSpPr>
        <p:spPr>
          <a:xfrm>
            <a:off x="2893488" y="2243615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9" name="直線單箭頭接點 28">
            <a:extLst>
              <a:ext uri="{FF2B5EF4-FFF2-40B4-BE49-F238E27FC236}">
                <a16:creationId xmlns:a16="http://schemas.microsoft.com/office/drawing/2014/main" id="{5CF273C2-17D5-749E-3C14-9FF20D7661F4}"/>
              </a:ext>
            </a:extLst>
          </p:cNvPr>
          <p:cNvCxnSpPr/>
          <p:nvPr/>
        </p:nvCxnSpPr>
        <p:spPr>
          <a:xfrm flipV="1">
            <a:off x="1350449" y="2543167"/>
            <a:ext cx="15768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96">
                <a:extLst>
                  <a:ext uri="{FF2B5EF4-FFF2-40B4-BE49-F238E27FC236}">
                    <a16:creationId xmlns:a16="http://schemas.microsoft.com/office/drawing/2014/main" id="{A8A9C41A-883B-2630-40CA-CD3A08E49A5D}"/>
                  </a:ext>
                </a:extLst>
              </p:cNvPr>
              <p:cNvSpPr txBox="1"/>
              <p:nvPr/>
            </p:nvSpPr>
            <p:spPr>
              <a:xfrm>
                <a:off x="541656" y="2296972"/>
                <a:ext cx="1093889" cy="43088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0" name="文字方塊 96">
                <a:extLst>
                  <a:ext uri="{FF2B5EF4-FFF2-40B4-BE49-F238E27FC236}">
                    <a16:creationId xmlns:a16="http://schemas.microsoft.com/office/drawing/2014/main" id="{A8A9C41A-883B-2630-40CA-CD3A08E49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6" y="2296972"/>
                <a:ext cx="1093889" cy="430887"/>
              </a:xfrm>
              <a:prstGeom prst="rect">
                <a:avLst/>
              </a:prstGeom>
              <a:blipFill>
                <a:blip r:embed="rId4"/>
                <a:stretch>
                  <a:fillRect l="-3409" r="-568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98">
                <a:extLst>
                  <a:ext uri="{FF2B5EF4-FFF2-40B4-BE49-F238E27FC236}">
                    <a16:creationId xmlns:a16="http://schemas.microsoft.com/office/drawing/2014/main" id="{08CF60B1-031B-CA6C-9E00-5E7EBD4E34DC}"/>
                  </a:ext>
                </a:extLst>
              </p:cNvPr>
              <p:cNvSpPr txBox="1"/>
              <p:nvPr/>
            </p:nvSpPr>
            <p:spPr>
              <a:xfrm>
                <a:off x="4406745" y="2293909"/>
                <a:ext cx="31782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=2,</m:t>
                            </m:r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=4,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=0.1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1" name="文字方塊 98">
                <a:extLst>
                  <a:ext uri="{FF2B5EF4-FFF2-40B4-BE49-F238E27FC236}">
                    <a16:creationId xmlns:a16="http://schemas.microsoft.com/office/drawing/2014/main" id="{08CF60B1-031B-CA6C-9E00-5E7EBD4E3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745" y="2293909"/>
                <a:ext cx="3178237" cy="369332"/>
              </a:xfrm>
              <a:prstGeom prst="rect">
                <a:avLst/>
              </a:prstGeom>
              <a:blipFill>
                <a:blip r:embed="rId5"/>
                <a:stretch>
                  <a:fillRect l="-3586" t="-16667" r="-677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線單箭頭接點 128">
            <a:extLst>
              <a:ext uri="{FF2B5EF4-FFF2-40B4-BE49-F238E27FC236}">
                <a16:creationId xmlns:a16="http://schemas.microsoft.com/office/drawing/2014/main" id="{51710F1A-5AC9-B24B-5973-D224A6227D6C}"/>
              </a:ext>
            </a:extLst>
          </p:cNvPr>
          <p:cNvCxnSpPr/>
          <p:nvPr/>
        </p:nvCxnSpPr>
        <p:spPr>
          <a:xfrm flipV="1">
            <a:off x="2922023" y="2698072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B31144-B959-8676-FC0F-4B8F386DAFC5}"/>
                  </a:ext>
                </a:extLst>
              </p:cNvPr>
              <p:cNvSpPr txBox="1"/>
              <p:nvPr/>
            </p:nvSpPr>
            <p:spPr>
              <a:xfrm>
                <a:off x="1601662" y="2068002"/>
                <a:ext cx="12418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B31144-B959-8676-FC0F-4B8F386DA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662" y="2068002"/>
                <a:ext cx="124183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94AE47B-378B-1DFE-72D0-79119263D4A7}"/>
                  </a:ext>
                </a:extLst>
              </p:cNvPr>
              <p:cNvSpPr txBox="1"/>
              <p:nvPr/>
            </p:nvSpPr>
            <p:spPr>
              <a:xfrm>
                <a:off x="2507677" y="3072931"/>
                <a:ext cx="891915" cy="369332"/>
              </a:xfrm>
              <a:prstGeom prst="rect">
                <a:avLst/>
              </a:prstGeom>
              <a:solidFill>
                <a:srgbClr val="E3F0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94AE47B-378B-1DFE-72D0-79119263D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77" y="3072931"/>
                <a:ext cx="89191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BD329F87-EB2A-C068-263A-5501430DD204}"/>
              </a:ext>
            </a:extLst>
          </p:cNvPr>
          <p:cNvGrpSpPr/>
          <p:nvPr/>
        </p:nvGrpSpPr>
        <p:grpSpPr>
          <a:xfrm>
            <a:off x="2953635" y="2436216"/>
            <a:ext cx="460263" cy="152400"/>
            <a:chOff x="3247098" y="4406348"/>
            <a:chExt cx="460263" cy="15240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E772FC0-278C-B88B-BEFE-E894B4685A9A}"/>
                </a:ext>
              </a:extLst>
            </p:cNvPr>
            <p:cNvCxnSpPr>
              <a:cxnSpLocks/>
            </p:cNvCxnSpPr>
            <p:nvPr/>
          </p:nvCxnSpPr>
          <p:spPr>
            <a:xfrm>
              <a:off x="3247098" y="4558748"/>
              <a:ext cx="25216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2C64F55-21D0-536B-8B7C-AB335C7257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9261" y="4406348"/>
              <a:ext cx="208100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F684FD1-705E-32CD-E1E6-180C006687DA}"/>
                  </a:ext>
                </a:extLst>
              </p:cNvPr>
              <p:cNvSpPr txBox="1"/>
              <p:nvPr/>
            </p:nvSpPr>
            <p:spPr>
              <a:xfrm>
                <a:off x="369370" y="3761328"/>
                <a:ext cx="8145980" cy="38147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F684FD1-705E-32CD-E1E6-180C00668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70" y="3761328"/>
                <a:ext cx="8145980" cy="3814762"/>
              </a:xfrm>
              <a:prstGeom prst="rect">
                <a:avLst/>
              </a:prstGeom>
              <a:blipFill>
                <a:blip r:embed="rId8"/>
                <a:stretch>
                  <a:fillRect l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/>
              <p:nvPr/>
            </p:nvSpPr>
            <p:spPr>
              <a:xfrm>
                <a:off x="4691119" y="905156"/>
                <a:ext cx="457200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19" y="905156"/>
                <a:ext cx="457200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/>
              <p:nvPr/>
            </p:nvSpPr>
            <p:spPr>
              <a:xfrm>
                <a:off x="4691119" y="1605512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19" y="1605512"/>
                <a:ext cx="4572000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915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B28D-9B7A-96AF-2EA3-F8F41364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65644-F2E8-E18A-6335-129F4D33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/>
              <p:nvPr/>
            </p:nvSpPr>
            <p:spPr>
              <a:xfrm>
                <a:off x="5580264" y="207819"/>
                <a:ext cx="2710069" cy="637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9BAB359-FC4D-70FA-7D60-D1EF2CCC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264" y="207819"/>
                <a:ext cx="2710069" cy="637226"/>
              </a:xfrm>
              <a:prstGeom prst="rect">
                <a:avLst/>
              </a:prstGeom>
              <a:blipFill>
                <a:blip r:embed="rId2"/>
                <a:stretch>
                  <a:fillRect t="-1961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單箭頭接點 4">
            <a:extLst>
              <a:ext uri="{FF2B5EF4-FFF2-40B4-BE49-F238E27FC236}">
                <a16:creationId xmlns:a16="http://schemas.microsoft.com/office/drawing/2014/main" id="{CEBAE138-8D02-7D83-1DC5-0DBC8B6D72A3}"/>
              </a:ext>
            </a:extLst>
          </p:cNvPr>
          <p:cNvCxnSpPr/>
          <p:nvPr/>
        </p:nvCxnSpPr>
        <p:spPr>
          <a:xfrm>
            <a:off x="3432730" y="2512416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9">
            <a:extLst>
              <a:ext uri="{FF2B5EF4-FFF2-40B4-BE49-F238E27FC236}">
                <a16:creationId xmlns:a16="http://schemas.microsoft.com/office/drawing/2014/main" id="{C599F891-403B-5EF8-F99A-ED9AE629FAF6}"/>
              </a:ext>
            </a:extLst>
          </p:cNvPr>
          <p:cNvSpPr/>
          <p:nvPr/>
        </p:nvSpPr>
        <p:spPr>
          <a:xfrm>
            <a:off x="2893488" y="2243615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9" name="直線單箭頭接點 28">
            <a:extLst>
              <a:ext uri="{FF2B5EF4-FFF2-40B4-BE49-F238E27FC236}">
                <a16:creationId xmlns:a16="http://schemas.microsoft.com/office/drawing/2014/main" id="{5CF273C2-17D5-749E-3C14-9FF20D7661F4}"/>
              </a:ext>
            </a:extLst>
          </p:cNvPr>
          <p:cNvCxnSpPr/>
          <p:nvPr/>
        </p:nvCxnSpPr>
        <p:spPr>
          <a:xfrm flipV="1">
            <a:off x="1350449" y="2543167"/>
            <a:ext cx="15768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96">
                <a:extLst>
                  <a:ext uri="{FF2B5EF4-FFF2-40B4-BE49-F238E27FC236}">
                    <a16:creationId xmlns:a16="http://schemas.microsoft.com/office/drawing/2014/main" id="{A8A9C41A-883B-2630-40CA-CD3A08E49A5D}"/>
                  </a:ext>
                </a:extLst>
              </p:cNvPr>
              <p:cNvSpPr txBox="1"/>
              <p:nvPr/>
            </p:nvSpPr>
            <p:spPr>
              <a:xfrm>
                <a:off x="541656" y="2296972"/>
                <a:ext cx="1093889" cy="43088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0" name="文字方塊 96">
                <a:extLst>
                  <a:ext uri="{FF2B5EF4-FFF2-40B4-BE49-F238E27FC236}">
                    <a16:creationId xmlns:a16="http://schemas.microsoft.com/office/drawing/2014/main" id="{A8A9C41A-883B-2630-40CA-CD3A08E49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6" y="2296972"/>
                <a:ext cx="1093889" cy="430887"/>
              </a:xfrm>
              <a:prstGeom prst="rect">
                <a:avLst/>
              </a:prstGeom>
              <a:blipFill>
                <a:blip r:embed="rId3"/>
                <a:stretch>
                  <a:fillRect l="-3409" r="-568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98">
                <a:extLst>
                  <a:ext uri="{FF2B5EF4-FFF2-40B4-BE49-F238E27FC236}">
                    <a16:creationId xmlns:a16="http://schemas.microsoft.com/office/drawing/2014/main" id="{08CF60B1-031B-CA6C-9E00-5E7EBD4E34DC}"/>
                  </a:ext>
                </a:extLst>
              </p:cNvPr>
              <p:cNvSpPr txBox="1"/>
              <p:nvPr/>
            </p:nvSpPr>
            <p:spPr>
              <a:xfrm>
                <a:off x="4406745" y="2293909"/>
                <a:ext cx="31782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=2,</m:t>
                            </m:r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=4,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=0.1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1" name="文字方塊 98">
                <a:extLst>
                  <a:ext uri="{FF2B5EF4-FFF2-40B4-BE49-F238E27FC236}">
                    <a16:creationId xmlns:a16="http://schemas.microsoft.com/office/drawing/2014/main" id="{08CF60B1-031B-CA6C-9E00-5E7EBD4E3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745" y="2293909"/>
                <a:ext cx="3178237" cy="369332"/>
              </a:xfrm>
              <a:prstGeom prst="rect">
                <a:avLst/>
              </a:prstGeom>
              <a:blipFill>
                <a:blip r:embed="rId4"/>
                <a:stretch>
                  <a:fillRect l="-3586" t="-16667" r="-677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線單箭頭接點 128">
            <a:extLst>
              <a:ext uri="{FF2B5EF4-FFF2-40B4-BE49-F238E27FC236}">
                <a16:creationId xmlns:a16="http://schemas.microsoft.com/office/drawing/2014/main" id="{51710F1A-5AC9-B24B-5973-D224A6227D6C}"/>
              </a:ext>
            </a:extLst>
          </p:cNvPr>
          <p:cNvCxnSpPr/>
          <p:nvPr/>
        </p:nvCxnSpPr>
        <p:spPr>
          <a:xfrm flipV="1">
            <a:off x="2922023" y="2698072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B31144-B959-8676-FC0F-4B8F386DAFC5}"/>
                  </a:ext>
                </a:extLst>
              </p:cNvPr>
              <p:cNvSpPr txBox="1"/>
              <p:nvPr/>
            </p:nvSpPr>
            <p:spPr>
              <a:xfrm>
                <a:off x="1601662" y="2068002"/>
                <a:ext cx="12418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B31144-B959-8676-FC0F-4B8F386DA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662" y="2068002"/>
                <a:ext cx="124183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94AE47B-378B-1DFE-72D0-79119263D4A7}"/>
                  </a:ext>
                </a:extLst>
              </p:cNvPr>
              <p:cNvSpPr txBox="1"/>
              <p:nvPr/>
            </p:nvSpPr>
            <p:spPr>
              <a:xfrm>
                <a:off x="2507677" y="3072931"/>
                <a:ext cx="891915" cy="369332"/>
              </a:xfrm>
              <a:prstGeom prst="rect">
                <a:avLst/>
              </a:prstGeom>
              <a:solidFill>
                <a:srgbClr val="E3F0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94AE47B-378B-1DFE-72D0-79119263D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77" y="3072931"/>
                <a:ext cx="8919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BD329F87-EB2A-C068-263A-5501430DD204}"/>
              </a:ext>
            </a:extLst>
          </p:cNvPr>
          <p:cNvGrpSpPr/>
          <p:nvPr/>
        </p:nvGrpSpPr>
        <p:grpSpPr>
          <a:xfrm>
            <a:off x="2953635" y="2436216"/>
            <a:ext cx="460263" cy="152400"/>
            <a:chOff x="3247098" y="4406348"/>
            <a:chExt cx="460263" cy="15240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E772FC0-278C-B88B-BEFE-E894B4685A9A}"/>
                </a:ext>
              </a:extLst>
            </p:cNvPr>
            <p:cNvCxnSpPr>
              <a:cxnSpLocks/>
            </p:cNvCxnSpPr>
            <p:nvPr/>
          </p:nvCxnSpPr>
          <p:spPr>
            <a:xfrm>
              <a:off x="3247098" y="4558748"/>
              <a:ext cx="25216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2C64F55-21D0-536B-8B7C-AB335C7257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9261" y="4406348"/>
              <a:ext cx="208100" cy="15240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F684FD1-705E-32CD-E1E6-180C006687DA}"/>
                  </a:ext>
                </a:extLst>
              </p:cNvPr>
              <p:cNvSpPr txBox="1"/>
              <p:nvPr/>
            </p:nvSpPr>
            <p:spPr>
              <a:xfrm>
                <a:off x="369370" y="3761328"/>
                <a:ext cx="8145980" cy="3462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2 −4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×2=−4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=0.5 −0.1 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2 −4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=1 −0.1 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4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F684FD1-705E-32CD-E1E6-180C00668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70" y="3761328"/>
                <a:ext cx="8145980" cy="3462999"/>
              </a:xfrm>
              <a:prstGeom prst="rect">
                <a:avLst/>
              </a:prstGeom>
              <a:blipFill>
                <a:blip r:embed="rId7"/>
                <a:stretch>
                  <a:fillRect l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/>
              <p:nvPr/>
            </p:nvSpPr>
            <p:spPr>
              <a:xfrm>
                <a:off x="4691119" y="905156"/>
                <a:ext cx="4572000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3000AAA-ED42-AB3E-2AA0-9A5E7D7B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19" y="905156"/>
                <a:ext cx="457200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/>
              <p:nvPr/>
            </p:nvSpPr>
            <p:spPr>
              <a:xfrm>
                <a:off x="4691119" y="1605512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4946B8-09B8-10D8-435E-B333A8B70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19" y="1605512"/>
                <a:ext cx="4572000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760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C78A5-C1A0-0B86-1919-469AFE557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234C6-EFA1-A87E-53ED-1DD328E1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EEF2E3-A563-C258-6849-D52E4C9A22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058381"/>
                  </p:ext>
                </p:extLst>
              </p:nvPr>
            </p:nvGraphicFramePr>
            <p:xfrm>
              <a:off x="628650" y="2332991"/>
              <a:ext cx="7886700" cy="4023360"/>
            </p:xfrm>
            <a:graphic>
              <a:graphicData uri="http://schemas.openxmlformats.org/drawingml/2006/table">
                <a:tbl>
                  <a:tblPr/>
                  <a:tblGrid>
                    <a:gridCol w="1971675">
                      <a:extLst>
                        <a:ext uri="{9D8B030D-6E8A-4147-A177-3AD203B41FA5}">
                          <a16:colId xmlns:a16="http://schemas.microsoft.com/office/drawing/2014/main" val="957605333"/>
                        </a:ext>
                      </a:extLst>
                    </a:gridCol>
                    <a:gridCol w="1971675">
                      <a:extLst>
                        <a:ext uri="{9D8B030D-6E8A-4147-A177-3AD203B41FA5}">
                          <a16:colId xmlns:a16="http://schemas.microsoft.com/office/drawing/2014/main" val="930658294"/>
                        </a:ext>
                      </a:extLst>
                    </a:gridCol>
                    <a:gridCol w="1971675">
                      <a:extLst>
                        <a:ext uri="{9D8B030D-6E8A-4147-A177-3AD203B41FA5}">
                          <a16:colId xmlns:a16="http://schemas.microsoft.com/office/drawing/2014/main" val="3602056559"/>
                        </a:ext>
                      </a:extLst>
                    </a:gridCol>
                    <a:gridCol w="1971675">
                      <a:extLst>
                        <a:ext uri="{9D8B030D-6E8A-4147-A177-3AD203B41FA5}">
                          <a16:colId xmlns:a16="http://schemas.microsoft.com/office/drawing/2014/main" val="30561225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Epoch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GB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92057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0.500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0.000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1.000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33812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1.100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0.300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2.500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13751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1.400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0.450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3.250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4431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1.550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3.625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437191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0.563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3.813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08363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1.663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0.581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3.906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0855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1.681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0.591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3.953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57712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1.691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3.977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21228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0.598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3.988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884499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1.697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0.599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3.994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0197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6EEF2E3-A563-C258-6849-D52E4C9A22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058381"/>
                  </p:ext>
                </p:extLst>
              </p:nvPr>
            </p:nvGraphicFramePr>
            <p:xfrm>
              <a:off x="628650" y="2332991"/>
              <a:ext cx="7886700" cy="4023360"/>
            </p:xfrm>
            <a:graphic>
              <a:graphicData uri="http://schemas.openxmlformats.org/drawingml/2006/table">
                <a:tbl>
                  <a:tblPr/>
                  <a:tblGrid>
                    <a:gridCol w="1971675">
                      <a:extLst>
                        <a:ext uri="{9D8B030D-6E8A-4147-A177-3AD203B41FA5}">
                          <a16:colId xmlns:a16="http://schemas.microsoft.com/office/drawing/2014/main" val="957605333"/>
                        </a:ext>
                      </a:extLst>
                    </a:gridCol>
                    <a:gridCol w="1971675">
                      <a:extLst>
                        <a:ext uri="{9D8B030D-6E8A-4147-A177-3AD203B41FA5}">
                          <a16:colId xmlns:a16="http://schemas.microsoft.com/office/drawing/2014/main" val="930658294"/>
                        </a:ext>
                      </a:extLst>
                    </a:gridCol>
                    <a:gridCol w="1971675">
                      <a:extLst>
                        <a:ext uri="{9D8B030D-6E8A-4147-A177-3AD203B41FA5}">
                          <a16:colId xmlns:a16="http://schemas.microsoft.com/office/drawing/2014/main" val="3602056559"/>
                        </a:ext>
                      </a:extLst>
                    </a:gridCol>
                    <a:gridCol w="1971675">
                      <a:extLst>
                        <a:ext uri="{9D8B030D-6E8A-4147-A177-3AD203B41FA5}">
                          <a16:colId xmlns:a16="http://schemas.microsoft.com/office/drawing/2014/main" val="30561225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Epoch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01290" t="-6897" b="-1024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92057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0.500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0.000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1.000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33812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1.100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0.300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2.500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137514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1.400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0.450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3.250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443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1.550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3.625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43719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0.563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3.813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08363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1.663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0.581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3.906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008558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1.681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0.591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3.953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557712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1.691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3.977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212287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0.598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3.988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884499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1.697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0.599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3.994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01975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A9F9AA5-D4E5-0A74-E471-5C7A0F377F70}"/>
              </a:ext>
            </a:extLst>
          </p:cNvPr>
          <p:cNvSpPr txBox="1"/>
          <p:nvPr/>
        </p:nvSpPr>
        <p:spPr>
          <a:xfrm>
            <a:off x="628650" y="1688586"/>
            <a:ext cx="297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x = 2, y = 4, w = 0.5, b = 0: </a:t>
            </a:r>
          </a:p>
        </p:txBody>
      </p:sp>
    </p:spTree>
    <p:extLst>
      <p:ext uri="{BB962C8B-B14F-4D97-AF65-F5344CB8AC3E}">
        <p14:creationId xmlns:p14="http://schemas.microsoft.com/office/powerpoint/2010/main" val="4256394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Deep?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 rot="5400000">
            <a:off x="6149823" y="4483524"/>
            <a:ext cx="714976" cy="2524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rot="5400000">
            <a:off x="6147437" y="3651090"/>
            <a:ext cx="714976" cy="19678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 rot="5400000">
            <a:off x="6155580" y="2541201"/>
            <a:ext cx="714976" cy="19841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6113134" y="1393429"/>
            <a:ext cx="714976" cy="17696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5" name="群組 44"/>
          <p:cNvGrpSpPr/>
          <p:nvPr/>
        </p:nvGrpSpPr>
        <p:grpSpPr>
          <a:xfrm>
            <a:off x="5414826" y="5343054"/>
            <a:ext cx="2283266" cy="556872"/>
            <a:chOff x="755858" y="5735182"/>
            <a:chExt cx="2283266" cy="556872"/>
          </a:xfrm>
        </p:grpSpPr>
        <p:grpSp>
          <p:nvGrpSpPr>
            <p:cNvPr id="77" name="群組 76"/>
            <p:cNvGrpSpPr/>
            <p:nvPr/>
          </p:nvGrpSpPr>
          <p:grpSpPr>
            <a:xfrm>
              <a:off x="755858" y="5895047"/>
              <a:ext cx="289125" cy="383103"/>
              <a:chOff x="2268775" y="3538012"/>
              <a:chExt cx="289125" cy="383103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2268775" y="3617002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6" name="Object 12"/>
              <p:cNvGraphicFramePr>
                <a:graphicFrameLocks noChangeAspect="1"/>
              </p:cNvGraphicFramePr>
              <p:nvPr/>
            </p:nvGraphicFramePr>
            <p:xfrm>
              <a:off x="2279483" y="3538012"/>
              <a:ext cx="274401" cy="383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3" imgW="152280" imgH="215640" progId="Equation.3">
                      <p:embed/>
                    </p:oleObj>
                  </mc:Choice>
                  <mc:Fallback>
                    <p:oleObj name="方程式" r:id="rId3" imgW="152280" imgH="215640" progId="Equation.3">
                      <p:embed/>
                      <p:pic>
                        <p:nvPicPr>
                          <p:cNvPr id="8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79483" y="3538012"/>
                            <a:ext cx="274401" cy="383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8" name="群組 77"/>
            <p:cNvGrpSpPr/>
            <p:nvPr/>
          </p:nvGrpSpPr>
          <p:grpSpPr>
            <a:xfrm>
              <a:off x="1456763" y="5895047"/>
              <a:ext cx="317234" cy="383104"/>
              <a:chOff x="2263870" y="4021266"/>
              <a:chExt cx="317234" cy="383104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2263870" y="4089974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4" name="Object 12"/>
              <p:cNvGraphicFramePr>
                <a:graphicFrameLocks noChangeAspect="1"/>
              </p:cNvGraphicFramePr>
              <p:nvPr/>
            </p:nvGraphicFramePr>
            <p:xfrm>
              <a:off x="2283948" y="4021266"/>
              <a:ext cx="297156" cy="383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164880" imgH="215640" progId="Equation.3">
                      <p:embed/>
                    </p:oleObj>
                  </mc:Choice>
                  <mc:Fallback>
                    <p:oleObj name="方程式" r:id="rId5" imgW="164880" imgH="215640" progId="Equation.3">
                      <p:embed/>
                      <p:pic>
                        <p:nvPicPr>
                          <p:cNvPr id="84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3948" y="4021266"/>
                            <a:ext cx="297156" cy="3831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9" name="文字方塊 78"/>
            <p:cNvSpPr txBox="1"/>
            <p:nvPr/>
          </p:nvSpPr>
          <p:spPr>
            <a:xfrm>
              <a:off x="1728860" y="5735182"/>
              <a:ext cx="10613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grpSp>
          <p:nvGrpSpPr>
            <p:cNvPr id="80" name="群組 79"/>
            <p:cNvGrpSpPr/>
            <p:nvPr/>
          </p:nvGrpSpPr>
          <p:grpSpPr>
            <a:xfrm>
              <a:off x="2687405" y="5886570"/>
              <a:ext cx="351719" cy="405484"/>
              <a:chOff x="2257778" y="5192060"/>
              <a:chExt cx="351719" cy="405484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2257778" y="5273306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2" name="Object 12"/>
              <p:cNvGraphicFramePr>
                <a:graphicFrameLocks noChangeAspect="1"/>
              </p:cNvGraphicFramePr>
              <p:nvPr/>
            </p:nvGraphicFramePr>
            <p:xfrm>
              <a:off x="2266830" y="5192060"/>
              <a:ext cx="342667" cy="4054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190440" imgH="228600" progId="Equation.3">
                      <p:embed/>
                    </p:oleObj>
                  </mc:Choice>
                  <mc:Fallback>
                    <p:oleObj name="方程式" r:id="rId7" imgW="190440" imgH="228600" progId="Equation.3">
                      <p:embed/>
                      <p:pic>
                        <p:nvPicPr>
                          <p:cNvPr id="8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6830" y="5192060"/>
                            <a:ext cx="342667" cy="4054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6" name="橢圓 45"/>
          <p:cNvSpPr/>
          <p:nvPr/>
        </p:nvSpPr>
        <p:spPr>
          <a:xfrm>
            <a:off x="5713181" y="4418969"/>
            <a:ext cx="484116" cy="47614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6828491" y="4386146"/>
            <a:ext cx="484116" cy="47614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0" name="直線單箭頭接點 49"/>
          <p:cNvCxnSpPr/>
          <p:nvPr/>
        </p:nvCxnSpPr>
        <p:spPr>
          <a:xfrm flipH="1" flipV="1">
            <a:off x="5941237" y="4921949"/>
            <a:ext cx="341060" cy="6496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47" idx="4"/>
          </p:cNvCxnSpPr>
          <p:nvPr/>
        </p:nvCxnSpPr>
        <p:spPr>
          <a:xfrm flipH="1" flipV="1">
            <a:off x="7070549" y="4862293"/>
            <a:ext cx="437011" cy="7257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endCxn id="46" idx="4"/>
          </p:cNvCxnSpPr>
          <p:nvPr/>
        </p:nvCxnSpPr>
        <p:spPr>
          <a:xfrm flipH="1" flipV="1">
            <a:off x="5955239" y="4895116"/>
            <a:ext cx="1571012" cy="7452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86" idx="0"/>
            <a:endCxn id="46" idx="4"/>
          </p:cNvCxnSpPr>
          <p:nvPr/>
        </p:nvCxnSpPr>
        <p:spPr>
          <a:xfrm flipV="1">
            <a:off x="5562734" y="4895116"/>
            <a:ext cx="392505" cy="6078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84" idx="0"/>
            <a:endCxn id="47" idx="4"/>
          </p:cNvCxnSpPr>
          <p:nvPr/>
        </p:nvCxnSpPr>
        <p:spPr>
          <a:xfrm flipV="1">
            <a:off x="6284387" y="4862293"/>
            <a:ext cx="786162" cy="6406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5692478" y="3257555"/>
            <a:ext cx="484116" cy="4761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6817987" y="3275939"/>
            <a:ext cx="484116" cy="4761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5694883" y="2005207"/>
            <a:ext cx="484116" cy="4761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6808838" y="1990978"/>
            <a:ext cx="484116" cy="4761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/>
          <p:cNvCxnSpPr>
            <a:stCxn id="57" idx="0"/>
            <a:endCxn id="61" idx="4"/>
          </p:cNvCxnSpPr>
          <p:nvPr/>
        </p:nvCxnSpPr>
        <p:spPr>
          <a:xfrm flipV="1">
            <a:off x="5934536" y="2481354"/>
            <a:ext cx="2405" cy="776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58" idx="0"/>
            <a:endCxn id="61" idx="4"/>
          </p:cNvCxnSpPr>
          <p:nvPr/>
        </p:nvCxnSpPr>
        <p:spPr>
          <a:xfrm flipH="1" flipV="1">
            <a:off x="5936941" y="2481354"/>
            <a:ext cx="1123104" cy="794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8" idx="0"/>
            <a:endCxn id="62" idx="4"/>
          </p:cNvCxnSpPr>
          <p:nvPr/>
        </p:nvCxnSpPr>
        <p:spPr>
          <a:xfrm flipH="1" flipV="1">
            <a:off x="7050896" y="2467125"/>
            <a:ext cx="9149" cy="808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57" idx="0"/>
            <a:endCxn id="62" idx="4"/>
          </p:cNvCxnSpPr>
          <p:nvPr/>
        </p:nvCxnSpPr>
        <p:spPr>
          <a:xfrm flipV="1">
            <a:off x="5934536" y="2467125"/>
            <a:ext cx="1116360" cy="790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5263063" y="6119354"/>
            <a:ext cx="2477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Deep</a:t>
            </a:r>
            <a:endParaRPr lang="zh-TW" altLang="en-US" sz="2800" dirty="0"/>
          </a:p>
        </p:txBody>
      </p:sp>
      <p:cxnSp>
        <p:nvCxnSpPr>
          <p:cNvPr id="91" name="直線單箭頭接點 90"/>
          <p:cNvCxnSpPr/>
          <p:nvPr/>
        </p:nvCxnSpPr>
        <p:spPr>
          <a:xfrm flipV="1">
            <a:off x="5936941" y="1606868"/>
            <a:ext cx="8602" cy="397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7060045" y="1592639"/>
            <a:ext cx="8602" cy="397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群組 127"/>
          <p:cNvGrpSpPr/>
          <p:nvPr/>
        </p:nvGrpSpPr>
        <p:grpSpPr>
          <a:xfrm>
            <a:off x="361950" y="2795203"/>
            <a:ext cx="4495802" cy="3854835"/>
            <a:chOff x="361950" y="2795203"/>
            <a:chExt cx="4495802" cy="3854835"/>
          </a:xfrm>
        </p:grpSpPr>
        <p:sp>
          <p:nvSpPr>
            <p:cNvPr id="4" name="矩形 3"/>
            <p:cNvSpPr/>
            <p:nvPr/>
          </p:nvSpPr>
          <p:spPr>
            <a:xfrm rot="5400000">
              <a:off x="2252363" y="2404343"/>
              <a:ext cx="714976" cy="4495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 rot="5400000">
              <a:off x="2195397" y="2432167"/>
              <a:ext cx="714976" cy="20171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 rot="5400000">
              <a:off x="2331114" y="4469637"/>
              <a:ext cx="491526" cy="25647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1" name="群組 10"/>
            <p:cNvGrpSpPr/>
            <p:nvPr/>
          </p:nvGrpSpPr>
          <p:grpSpPr>
            <a:xfrm>
              <a:off x="1351533" y="3162509"/>
              <a:ext cx="2474555" cy="2765327"/>
              <a:chOff x="1091509" y="3383234"/>
              <a:chExt cx="2474555" cy="2765327"/>
            </a:xfrm>
          </p:grpSpPr>
          <p:sp>
            <p:nvSpPr>
              <p:cNvPr id="12" name="橢圓 11"/>
              <p:cNvSpPr/>
              <p:nvPr/>
            </p:nvSpPr>
            <p:spPr>
              <a:xfrm>
                <a:off x="1091509" y="4646168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3" name="群組 12"/>
              <p:cNvGrpSpPr/>
              <p:nvPr/>
            </p:nvGrpSpPr>
            <p:grpSpPr>
              <a:xfrm>
                <a:off x="1211127" y="5591689"/>
                <a:ext cx="2283266" cy="556872"/>
                <a:chOff x="755858" y="5735182"/>
                <a:chExt cx="2283266" cy="556872"/>
              </a:xfrm>
            </p:grpSpPr>
            <p:grpSp>
              <p:nvGrpSpPr>
                <p:cNvPr id="33" name="群組 32"/>
                <p:cNvGrpSpPr/>
                <p:nvPr/>
              </p:nvGrpSpPr>
              <p:grpSpPr>
                <a:xfrm>
                  <a:off x="755858" y="5895047"/>
                  <a:ext cx="289125" cy="383103"/>
                  <a:chOff x="2268775" y="3538012"/>
                  <a:chExt cx="289125" cy="383103"/>
                </a:xfrm>
              </p:grpSpPr>
              <p:sp>
                <p:nvSpPr>
                  <p:cNvPr id="41" name="矩形 40"/>
                  <p:cNvSpPr/>
                  <p:nvPr/>
                </p:nvSpPr>
                <p:spPr>
                  <a:xfrm>
                    <a:off x="2268775" y="3617002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4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279483" y="3538012"/>
                  <a:ext cx="274401" cy="38310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方程式" r:id="rId3" imgW="152280" imgH="215640" progId="Equation.3">
                          <p:embed/>
                        </p:oleObj>
                      </mc:Choice>
                      <mc:Fallback>
                        <p:oleObj name="方程式" r:id="rId3" imgW="152280" imgH="215640" progId="Equation.3">
                          <p:embed/>
                          <p:pic>
                            <p:nvPicPr>
                              <p:cNvPr id="4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79483" y="3538012"/>
                                <a:ext cx="274401" cy="38310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4" name="群組 33"/>
                <p:cNvGrpSpPr/>
                <p:nvPr/>
              </p:nvGrpSpPr>
              <p:grpSpPr>
                <a:xfrm>
                  <a:off x="1456763" y="5895047"/>
                  <a:ext cx="317234" cy="383104"/>
                  <a:chOff x="2263870" y="4021266"/>
                  <a:chExt cx="317234" cy="383104"/>
                </a:xfrm>
              </p:grpSpPr>
              <p:sp>
                <p:nvSpPr>
                  <p:cNvPr id="39" name="矩形 38"/>
                  <p:cNvSpPr/>
                  <p:nvPr/>
                </p:nvSpPr>
                <p:spPr>
                  <a:xfrm>
                    <a:off x="2263870" y="4089974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40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283948" y="4021266"/>
                  <a:ext cx="297156" cy="3831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方程式" r:id="rId5" imgW="164880" imgH="215640" progId="Equation.3">
                          <p:embed/>
                        </p:oleObj>
                      </mc:Choice>
                      <mc:Fallback>
                        <p:oleObj name="方程式" r:id="rId5" imgW="164880" imgH="215640" progId="Equation.3">
                          <p:embed/>
                          <p:pic>
                            <p:nvPicPr>
                              <p:cNvPr id="4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83948" y="4021266"/>
                                <a:ext cx="297156" cy="38310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35" name="文字方塊 34"/>
                <p:cNvSpPr txBox="1"/>
                <p:nvPr/>
              </p:nvSpPr>
              <p:spPr>
                <a:xfrm>
                  <a:off x="1728860" y="5735182"/>
                  <a:ext cx="106139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800" dirty="0"/>
                    <a:t>……</a:t>
                  </a:r>
                  <a:endParaRPr lang="zh-TW" altLang="en-US" sz="2800" dirty="0"/>
                </a:p>
              </p:txBody>
            </p:sp>
            <p:grpSp>
              <p:nvGrpSpPr>
                <p:cNvPr id="36" name="群組 35"/>
                <p:cNvGrpSpPr/>
                <p:nvPr/>
              </p:nvGrpSpPr>
              <p:grpSpPr>
                <a:xfrm>
                  <a:off x="2687405" y="5886570"/>
                  <a:ext cx="351719" cy="405484"/>
                  <a:chOff x="2257778" y="5192060"/>
                  <a:chExt cx="351719" cy="405484"/>
                </a:xfrm>
              </p:grpSpPr>
              <p:sp>
                <p:nvSpPr>
                  <p:cNvPr id="37" name="矩形 36"/>
                  <p:cNvSpPr/>
                  <p:nvPr/>
                </p:nvSpPr>
                <p:spPr>
                  <a:xfrm>
                    <a:off x="2257778" y="5273306"/>
                    <a:ext cx="289125" cy="284365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graphicFrame>
                <p:nvGraphicFramePr>
                  <p:cNvPr id="38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266830" y="5192060"/>
                  <a:ext cx="342667" cy="4054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方程式" r:id="rId7" imgW="190440" imgH="228600" progId="Equation.3">
                          <p:embed/>
                        </p:oleObj>
                      </mc:Choice>
                      <mc:Fallback>
                        <p:oleObj name="方程式" r:id="rId7" imgW="190440" imgH="228600" progId="Equation.3">
                          <p:embed/>
                          <p:pic>
                            <p:nvPicPr>
                              <p:cNvPr id="38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266830" y="5192060"/>
                                <a:ext cx="342667" cy="40548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14" name="橢圓 13"/>
              <p:cNvSpPr/>
              <p:nvPr/>
            </p:nvSpPr>
            <p:spPr>
              <a:xfrm>
                <a:off x="1836539" y="466652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3081948" y="4653966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186531" y="4544968"/>
                <a:ext cx="10613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/>
                  <a:t>……</a:t>
                </a:r>
                <a:endParaRPr lang="zh-TW" altLang="en-US" sz="2800" dirty="0"/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1513734" y="3397463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2627689" y="3383234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9" name="直線單箭頭接點 18"/>
              <p:cNvCxnSpPr>
                <a:endCxn id="12" idx="4"/>
              </p:cNvCxnSpPr>
              <p:nvPr/>
            </p:nvCxnSpPr>
            <p:spPr>
              <a:xfrm flipV="1">
                <a:off x="1333567" y="5122315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/>
              <p:nvPr/>
            </p:nvCxnSpPr>
            <p:spPr>
              <a:xfrm flipV="1">
                <a:off x="2078597" y="5112033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/>
              <p:cNvCxnSpPr/>
              <p:nvPr/>
            </p:nvCxnSpPr>
            <p:spPr>
              <a:xfrm flipV="1">
                <a:off x="3303861" y="5128445"/>
                <a:ext cx="0" cy="7082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>
                <a:endCxn id="14" idx="4"/>
              </p:cNvCxnSpPr>
              <p:nvPr/>
            </p:nvCxnSpPr>
            <p:spPr>
              <a:xfrm flipH="1" flipV="1">
                <a:off x="2078597" y="5142674"/>
                <a:ext cx="1164518" cy="6878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H="1" flipV="1">
                <a:off x="1349851" y="5128445"/>
                <a:ext cx="1951605" cy="7327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單箭頭接點 23"/>
              <p:cNvCxnSpPr>
                <a:endCxn id="14" idx="4"/>
              </p:cNvCxnSpPr>
              <p:nvPr/>
            </p:nvCxnSpPr>
            <p:spPr>
              <a:xfrm flipV="1">
                <a:off x="1337430" y="5142674"/>
                <a:ext cx="741167" cy="73107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單箭頭接點 24"/>
              <p:cNvCxnSpPr>
                <a:endCxn id="15" idx="4"/>
              </p:cNvCxnSpPr>
              <p:nvPr/>
            </p:nvCxnSpPr>
            <p:spPr>
              <a:xfrm flipV="1">
                <a:off x="2071100" y="5130113"/>
                <a:ext cx="1252906" cy="7133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單箭頭接點 25"/>
              <p:cNvCxnSpPr>
                <a:endCxn id="12" idx="4"/>
              </p:cNvCxnSpPr>
              <p:nvPr/>
            </p:nvCxnSpPr>
            <p:spPr>
              <a:xfrm flipH="1" flipV="1">
                <a:off x="1333567" y="5122315"/>
                <a:ext cx="664283" cy="72117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單箭頭接點 26"/>
              <p:cNvCxnSpPr>
                <a:stCxn id="12" idx="0"/>
                <a:endCxn id="17" idx="4"/>
              </p:cNvCxnSpPr>
              <p:nvPr/>
            </p:nvCxnSpPr>
            <p:spPr>
              <a:xfrm flipV="1">
                <a:off x="1333567" y="3873610"/>
                <a:ext cx="422225" cy="77255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/>
              <p:cNvCxnSpPr>
                <a:stCxn id="14" idx="0"/>
                <a:endCxn id="17" idx="4"/>
              </p:cNvCxnSpPr>
              <p:nvPr/>
            </p:nvCxnSpPr>
            <p:spPr>
              <a:xfrm flipH="1" flipV="1">
                <a:off x="1755792" y="3873610"/>
                <a:ext cx="322805" cy="7929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/>
              <p:cNvCxnSpPr>
                <a:stCxn id="15" idx="0"/>
                <a:endCxn id="17" idx="4"/>
              </p:cNvCxnSpPr>
              <p:nvPr/>
            </p:nvCxnSpPr>
            <p:spPr>
              <a:xfrm flipH="1" flipV="1">
                <a:off x="1755792" y="3873610"/>
                <a:ext cx="1568214" cy="7803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單箭頭接點 29"/>
              <p:cNvCxnSpPr>
                <a:stCxn id="15" idx="0"/>
                <a:endCxn id="18" idx="4"/>
              </p:cNvCxnSpPr>
              <p:nvPr/>
            </p:nvCxnSpPr>
            <p:spPr>
              <a:xfrm flipH="1" flipV="1">
                <a:off x="2869747" y="3859381"/>
                <a:ext cx="454259" cy="7945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/>
              <p:cNvCxnSpPr>
                <a:stCxn id="14" idx="0"/>
                <a:endCxn id="18" idx="4"/>
              </p:cNvCxnSpPr>
              <p:nvPr/>
            </p:nvCxnSpPr>
            <p:spPr>
              <a:xfrm flipV="1">
                <a:off x="2078597" y="3859381"/>
                <a:ext cx="791150" cy="80714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單箭頭接點 31"/>
              <p:cNvCxnSpPr>
                <a:stCxn id="12" idx="0"/>
                <a:endCxn id="18" idx="4"/>
              </p:cNvCxnSpPr>
              <p:nvPr/>
            </p:nvCxnSpPr>
            <p:spPr>
              <a:xfrm flipV="1">
                <a:off x="1333567" y="3859381"/>
                <a:ext cx="1536180" cy="7867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文字方塊 86"/>
            <p:cNvSpPr txBox="1"/>
            <p:nvPr/>
          </p:nvSpPr>
          <p:spPr>
            <a:xfrm>
              <a:off x="1276935" y="6126818"/>
              <a:ext cx="24774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Shallow</a:t>
              </a:r>
              <a:endParaRPr lang="zh-TW" altLang="en-US" sz="2800" dirty="0"/>
            </a:p>
          </p:txBody>
        </p:sp>
        <p:cxnSp>
          <p:nvCxnSpPr>
            <p:cNvPr id="89" name="直線單箭頭接點 88"/>
            <p:cNvCxnSpPr/>
            <p:nvPr/>
          </p:nvCxnSpPr>
          <p:spPr>
            <a:xfrm flipV="1">
              <a:off x="2022770" y="2826808"/>
              <a:ext cx="8602" cy="3972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/>
            <p:nvPr/>
          </p:nvCxnSpPr>
          <p:spPr>
            <a:xfrm flipV="1">
              <a:off x="3151277" y="2795203"/>
              <a:ext cx="8602" cy="3972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橢圓 92"/>
            <p:cNvSpPr/>
            <p:nvPr/>
          </p:nvSpPr>
          <p:spPr>
            <a:xfrm>
              <a:off x="533220" y="4405331"/>
              <a:ext cx="484116" cy="47614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/>
            <p:cNvSpPr/>
            <p:nvPr/>
          </p:nvSpPr>
          <p:spPr>
            <a:xfrm>
              <a:off x="4195437" y="4450170"/>
              <a:ext cx="484116" cy="47614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5" name="直線單箭頭接點 94"/>
            <p:cNvCxnSpPr>
              <a:endCxn id="94" idx="3"/>
            </p:cNvCxnSpPr>
            <p:nvPr/>
          </p:nvCxnSpPr>
          <p:spPr>
            <a:xfrm flipV="1">
              <a:off x="3541139" y="4856587"/>
              <a:ext cx="725195" cy="8310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單箭頭接點 98"/>
            <p:cNvCxnSpPr>
              <a:endCxn id="93" idx="4"/>
            </p:cNvCxnSpPr>
            <p:nvPr/>
          </p:nvCxnSpPr>
          <p:spPr>
            <a:xfrm flipH="1" flipV="1">
              <a:off x="775278" y="4881478"/>
              <a:ext cx="2819573" cy="80620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>
              <a:endCxn id="94" idx="3"/>
            </p:cNvCxnSpPr>
            <p:nvPr/>
          </p:nvCxnSpPr>
          <p:spPr>
            <a:xfrm flipV="1">
              <a:off x="2346118" y="4856587"/>
              <a:ext cx="1920216" cy="7950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/>
            <p:cNvCxnSpPr>
              <a:endCxn id="93" idx="4"/>
            </p:cNvCxnSpPr>
            <p:nvPr/>
          </p:nvCxnSpPr>
          <p:spPr>
            <a:xfrm flipH="1" flipV="1">
              <a:off x="775278" y="4881478"/>
              <a:ext cx="1565332" cy="7947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>
              <a:endCxn id="94" idx="3"/>
            </p:cNvCxnSpPr>
            <p:nvPr/>
          </p:nvCxnSpPr>
          <p:spPr>
            <a:xfrm flipV="1">
              <a:off x="1577134" y="4856587"/>
              <a:ext cx="2689200" cy="7950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/>
            <p:cNvCxnSpPr>
              <a:endCxn id="93" idx="4"/>
            </p:cNvCxnSpPr>
            <p:nvPr/>
          </p:nvCxnSpPr>
          <p:spPr>
            <a:xfrm flipH="1" flipV="1">
              <a:off x="775278" y="4881478"/>
              <a:ext cx="803632" cy="7589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單箭頭接點 115"/>
            <p:cNvCxnSpPr>
              <a:stCxn id="94" idx="0"/>
            </p:cNvCxnSpPr>
            <p:nvPr/>
          </p:nvCxnSpPr>
          <p:spPr>
            <a:xfrm flipH="1" flipV="1">
              <a:off x="3222223" y="3701326"/>
              <a:ext cx="1215272" cy="7488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單箭頭接點 118"/>
            <p:cNvCxnSpPr>
              <a:stCxn id="94" idx="0"/>
            </p:cNvCxnSpPr>
            <p:nvPr/>
          </p:nvCxnSpPr>
          <p:spPr>
            <a:xfrm flipH="1" flipV="1">
              <a:off x="2117281" y="3675932"/>
              <a:ext cx="2320214" cy="7742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單箭頭接點 121"/>
            <p:cNvCxnSpPr>
              <a:endCxn id="18" idx="4"/>
            </p:cNvCxnSpPr>
            <p:nvPr/>
          </p:nvCxnSpPr>
          <p:spPr>
            <a:xfrm flipV="1">
              <a:off x="856319" y="3638656"/>
              <a:ext cx="2273452" cy="8115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單箭頭接點 123"/>
            <p:cNvCxnSpPr>
              <a:stCxn id="93" idx="0"/>
            </p:cNvCxnSpPr>
            <p:nvPr/>
          </p:nvCxnSpPr>
          <p:spPr>
            <a:xfrm flipV="1">
              <a:off x="775278" y="3679127"/>
              <a:ext cx="1189281" cy="7262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直線單箭頭接點 136"/>
          <p:cNvCxnSpPr/>
          <p:nvPr/>
        </p:nvCxnSpPr>
        <p:spPr>
          <a:xfrm flipV="1">
            <a:off x="5934536" y="3661383"/>
            <a:ext cx="2405" cy="7762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 flipH="1" flipV="1">
            <a:off x="5936941" y="3661383"/>
            <a:ext cx="1123104" cy="7945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38"/>
          <p:cNvCxnSpPr/>
          <p:nvPr/>
        </p:nvCxnSpPr>
        <p:spPr>
          <a:xfrm flipH="1" flipV="1">
            <a:off x="7050896" y="3647154"/>
            <a:ext cx="9149" cy="808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V="1">
            <a:off x="5934536" y="3647154"/>
            <a:ext cx="1116360" cy="790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字方塊 146"/>
          <p:cNvSpPr txBox="1"/>
          <p:nvPr/>
        </p:nvSpPr>
        <p:spPr>
          <a:xfrm>
            <a:off x="2126391" y="4096121"/>
            <a:ext cx="5209843" cy="64633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bg1"/>
                </a:solidFill>
              </a:rPr>
              <a:t>Which one is better?</a:t>
            </a:r>
            <a:endParaRPr lang="zh-TW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718059" y="1641206"/>
            <a:ext cx="2969919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The same number of parameters</a:t>
            </a:r>
            <a:endParaRPr lang="zh-TW" altLang="en-US" sz="2800" dirty="0"/>
          </a:p>
        </p:txBody>
      </p:sp>
      <p:sp>
        <p:nvSpPr>
          <p:cNvPr id="43" name="左-右雙向箭號 42"/>
          <p:cNvSpPr/>
          <p:nvPr/>
        </p:nvSpPr>
        <p:spPr>
          <a:xfrm rot="20486886">
            <a:off x="3826753" y="2839509"/>
            <a:ext cx="1533838" cy="672579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92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  <p:bldP spid="3" grpId="0" animBg="1"/>
      <p:bldP spid="4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3BADC-ADED-5B60-1A78-032F651C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vs Shallow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29FA4-4CFB-0226-98B6-7603F7C17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Compared to shallow networks, deep learning has :</a:t>
            </a:r>
          </a:p>
          <a:p>
            <a:pPr>
              <a:lnSpc>
                <a:spcPct val="200000"/>
              </a:lnSpc>
            </a:pPr>
            <a:r>
              <a:rPr lang="en-US" dirty="0"/>
              <a:t>Less Parameters </a:t>
            </a:r>
          </a:p>
          <a:p>
            <a:pPr>
              <a:lnSpc>
                <a:spcPct val="200000"/>
              </a:lnSpc>
            </a:pPr>
            <a:r>
              <a:rPr lang="en-US" dirty="0"/>
              <a:t>Various levels of abstraction</a:t>
            </a:r>
          </a:p>
          <a:p>
            <a:pPr lvl="1">
              <a:lnSpc>
                <a:spcPct val="200000"/>
              </a:lnSpc>
            </a:pPr>
            <a:r>
              <a:rPr lang="en-GB" b="1" i="0" dirty="0">
                <a:solidFill>
                  <a:srgbClr val="0C0D0E"/>
                </a:solidFill>
                <a:effectLst/>
                <a:latin typeface="-apple-system"/>
              </a:rPr>
              <a:t>better at generalization</a:t>
            </a:r>
          </a:p>
          <a:p>
            <a:pPr lvl="1">
              <a:lnSpc>
                <a:spcPct val="200000"/>
              </a:lnSpc>
            </a:pPr>
            <a:r>
              <a:rPr lang="en-US" b="1" i="0" dirty="0">
                <a:solidFill>
                  <a:srgbClr val="0C0D0E"/>
                </a:solidFill>
                <a:effectLst/>
                <a:latin typeface="-apple-system"/>
              </a:rPr>
              <a:t>nested hierarchy of concepts</a:t>
            </a:r>
          </a:p>
          <a:p>
            <a:pPr lvl="1"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17A10-BC8B-8A51-23D3-E268CE5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4254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 descr="Deep program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80" y="2337547"/>
            <a:ext cx="5854120" cy="41950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241880" y="6380153"/>
            <a:ext cx="88582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http://rinuboney.github.io/2015/10/18/theoretical-motivations-deep-learning.html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819150" y="3435257"/>
            <a:ext cx="266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Don’t put everything in your main function.</a:t>
            </a:r>
            <a:endParaRPr lang="zh-TW" alt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31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917282" y="2361386"/>
            <a:ext cx="1602014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Dogs with </a:t>
            </a:r>
          </a:p>
          <a:p>
            <a:pPr algn="ctr"/>
            <a:r>
              <a:rPr lang="en-US" altLang="zh-TW" sz="2400" dirty="0"/>
              <a:t>long hair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920457" y="5554640"/>
            <a:ext cx="1621064" cy="8309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Cats with short hair 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929982" y="3425257"/>
            <a:ext cx="1602014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Cats with </a:t>
            </a:r>
          </a:p>
          <a:p>
            <a:pPr algn="ctr"/>
            <a:r>
              <a:rPr lang="en-US" altLang="zh-TW" sz="2400" dirty="0"/>
              <a:t>long hair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76250" y="3659095"/>
            <a:ext cx="1333500" cy="13888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Image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762250" y="2370038"/>
            <a:ext cx="1447800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1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2755276" y="3425257"/>
            <a:ext cx="1447800" cy="8309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2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2752272" y="4501304"/>
            <a:ext cx="1447800" cy="8309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3</a:t>
            </a:r>
            <a:endParaRPr lang="zh-TW" altLang="en-US" sz="2400" dirty="0"/>
          </a:p>
        </p:txBody>
      </p:sp>
      <p:cxnSp>
        <p:nvCxnSpPr>
          <p:cNvPr id="12" name="直線單箭頭接點 11"/>
          <p:cNvCxnSpPr>
            <a:stCxn id="7" idx="3"/>
            <a:endCxn id="8" idx="1"/>
          </p:cNvCxnSpPr>
          <p:nvPr/>
        </p:nvCxnSpPr>
        <p:spPr>
          <a:xfrm flipV="1">
            <a:off x="1809750" y="2785537"/>
            <a:ext cx="952500" cy="15679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cxnSpLocks/>
            <a:stCxn id="7" idx="3"/>
            <a:endCxn id="9" idx="1"/>
          </p:cNvCxnSpPr>
          <p:nvPr/>
        </p:nvCxnSpPr>
        <p:spPr>
          <a:xfrm flipV="1">
            <a:off x="1809750" y="3840756"/>
            <a:ext cx="945526" cy="5127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7" idx="3"/>
            <a:endCxn id="10" idx="1"/>
          </p:cNvCxnSpPr>
          <p:nvPr/>
        </p:nvCxnSpPr>
        <p:spPr>
          <a:xfrm>
            <a:off x="1809750" y="4353535"/>
            <a:ext cx="942522" cy="5632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4257675" y="2785536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4248150" y="3833304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V="1">
            <a:off x="4248150" y="4935780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4914107" y="4489128"/>
            <a:ext cx="1602014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Dogs with </a:t>
            </a:r>
          </a:p>
          <a:p>
            <a:pPr algn="ctr"/>
            <a:r>
              <a:rPr lang="en-US" altLang="zh-TW" sz="2400" dirty="0"/>
              <a:t>short hair</a:t>
            </a:r>
            <a:endParaRPr lang="zh-TW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2752272" y="5554640"/>
            <a:ext cx="1447800" cy="8309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4</a:t>
            </a:r>
            <a:endParaRPr lang="zh-TW" altLang="en-US" sz="2400" dirty="0"/>
          </a:p>
        </p:txBody>
      </p:sp>
      <p:cxnSp>
        <p:nvCxnSpPr>
          <p:cNvPr id="41" name="直線單箭頭接點 40"/>
          <p:cNvCxnSpPr/>
          <p:nvPr/>
        </p:nvCxnSpPr>
        <p:spPr>
          <a:xfrm flipV="1">
            <a:off x="4257675" y="5978318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7" idx="3"/>
            <a:endCxn id="40" idx="1"/>
          </p:cNvCxnSpPr>
          <p:nvPr/>
        </p:nvCxnSpPr>
        <p:spPr>
          <a:xfrm>
            <a:off x="1809750" y="4353535"/>
            <a:ext cx="942522" cy="1616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9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88724"/>
            <a:ext cx="7886700" cy="1325563"/>
          </a:xfrm>
        </p:spPr>
        <p:txBody>
          <a:bodyPr/>
          <a:lstStyle/>
          <a:p>
            <a:r>
              <a:rPr lang="en-US" altLang="zh-TW" dirty="0"/>
              <a:t>Modularization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36992" y="3384615"/>
            <a:ext cx="1123950" cy="13888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Image</a:t>
            </a:r>
            <a:endParaRPr lang="zh-TW" altLang="en-US" sz="2400" dirty="0"/>
          </a:p>
        </p:txBody>
      </p:sp>
      <p:cxnSp>
        <p:nvCxnSpPr>
          <p:cNvPr id="11" name="直線單箭頭接點 10"/>
          <p:cNvCxnSpPr>
            <a:stCxn id="7" idx="3"/>
            <a:endCxn id="22" idx="1"/>
          </p:cNvCxnSpPr>
          <p:nvPr/>
        </p:nvCxnSpPr>
        <p:spPr>
          <a:xfrm flipV="1">
            <a:off x="1260942" y="3286042"/>
            <a:ext cx="559595" cy="7930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7" idx="3"/>
            <a:endCxn id="20" idx="1"/>
          </p:cNvCxnSpPr>
          <p:nvPr/>
        </p:nvCxnSpPr>
        <p:spPr>
          <a:xfrm>
            <a:off x="1260942" y="4079055"/>
            <a:ext cx="559595" cy="952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820537" y="4615765"/>
            <a:ext cx="1581229" cy="8309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Long or short?</a:t>
            </a:r>
            <a:endParaRPr lang="zh-TW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1820537" y="2870543"/>
            <a:ext cx="1626471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Cat or Dog?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1367833" y="5628619"/>
            <a:ext cx="2392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Classifiers for the attributes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257968" y="3601052"/>
            <a:ext cx="4594665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Each basic classifier can have sufficient training examples.</a:t>
            </a:r>
            <a:endParaRPr lang="zh-TW" altLang="en-US" sz="2800" dirty="0"/>
          </a:p>
        </p:txBody>
      </p:sp>
      <p:sp>
        <p:nvSpPr>
          <p:cNvPr id="60" name="矩形 59"/>
          <p:cNvSpPr/>
          <p:nvPr/>
        </p:nvSpPr>
        <p:spPr>
          <a:xfrm>
            <a:off x="1689032" y="2696616"/>
            <a:ext cx="1867479" cy="284364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/>
          <p:cNvSpPr txBox="1"/>
          <p:nvPr/>
        </p:nvSpPr>
        <p:spPr>
          <a:xfrm>
            <a:off x="1974430" y="3740680"/>
            <a:ext cx="1292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Basic </a:t>
            </a:r>
          </a:p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Classifier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01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88724"/>
            <a:ext cx="7886700" cy="1325563"/>
          </a:xfrm>
        </p:spPr>
        <p:txBody>
          <a:bodyPr/>
          <a:lstStyle/>
          <a:p>
            <a:r>
              <a:rPr lang="en-US" altLang="zh-TW" dirty="0"/>
              <a:t>Modularization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36992" y="3384615"/>
            <a:ext cx="1123950" cy="13888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Image</a:t>
            </a:r>
            <a:endParaRPr lang="zh-TW" altLang="en-US" sz="2400" dirty="0"/>
          </a:p>
        </p:txBody>
      </p:sp>
      <p:cxnSp>
        <p:nvCxnSpPr>
          <p:cNvPr id="11" name="直線單箭頭接點 10"/>
          <p:cNvCxnSpPr>
            <a:stCxn id="7" idx="3"/>
            <a:endCxn id="22" idx="1"/>
          </p:cNvCxnSpPr>
          <p:nvPr/>
        </p:nvCxnSpPr>
        <p:spPr>
          <a:xfrm flipV="1">
            <a:off x="1260942" y="3286042"/>
            <a:ext cx="559595" cy="7930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7" idx="3"/>
            <a:endCxn id="20" idx="1"/>
          </p:cNvCxnSpPr>
          <p:nvPr/>
        </p:nvCxnSpPr>
        <p:spPr>
          <a:xfrm>
            <a:off x="1260942" y="4079055"/>
            <a:ext cx="559595" cy="952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820537" y="4615765"/>
            <a:ext cx="1581229" cy="8309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Long or short?</a:t>
            </a:r>
            <a:endParaRPr lang="zh-TW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1820537" y="2870543"/>
            <a:ext cx="1626471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Dog or Cat?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1319269" y="5594778"/>
            <a:ext cx="2629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Sharing by the following classifiers </a:t>
            </a:r>
            <a:r>
              <a:rPr lang="en-US" altLang="zh-TW" sz="2400" dirty="0">
                <a:solidFill>
                  <a:srgbClr val="FF0000"/>
                </a:solidFill>
              </a:rPr>
              <a:t>as module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891111" y="2086160"/>
            <a:ext cx="1602014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Dogs with </a:t>
            </a:r>
          </a:p>
          <a:p>
            <a:pPr algn="ctr"/>
            <a:r>
              <a:rPr lang="en-US" altLang="zh-TW" sz="2400" dirty="0"/>
              <a:t>long hair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6894286" y="5279414"/>
            <a:ext cx="1621064" cy="8309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Cats with short hair </a:t>
            </a:r>
            <a:endParaRPr lang="zh-TW" altLang="en-US" sz="24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6903811" y="3150031"/>
            <a:ext cx="1602014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Cats with </a:t>
            </a:r>
          </a:p>
          <a:p>
            <a:pPr algn="ctr"/>
            <a:r>
              <a:rPr lang="en-US" altLang="zh-TW" sz="2400" dirty="0"/>
              <a:t>long hair</a:t>
            </a:r>
            <a:endParaRPr lang="zh-TW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4736079" y="2094812"/>
            <a:ext cx="1447800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1</a:t>
            </a:r>
            <a:endParaRPr lang="zh-TW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4729105" y="3150031"/>
            <a:ext cx="1447800" cy="8309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2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4726101" y="4226078"/>
            <a:ext cx="1447800" cy="8309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3</a:t>
            </a:r>
            <a:endParaRPr lang="zh-TW" altLang="en-US" sz="2400" dirty="0"/>
          </a:p>
        </p:txBody>
      </p:sp>
      <p:cxnSp>
        <p:nvCxnSpPr>
          <p:cNvPr id="61" name="直線單箭頭接點 60"/>
          <p:cNvCxnSpPr/>
          <p:nvPr/>
        </p:nvCxnSpPr>
        <p:spPr>
          <a:xfrm flipV="1">
            <a:off x="6231504" y="2510310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6221979" y="3558078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6221979" y="4660554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6887936" y="4213902"/>
            <a:ext cx="1602014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Dogs with </a:t>
            </a:r>
          </a:p>
          <a:p>
            <a:pPr algn="ctr"/>
            <a:r>
              <a:rPr lang="en-US" altLang="zh-TW" sz="2400" dirty="0"/>
              <a:t>short hair</a:t>
            </a:r>
            <a:endParaRPr lang="zh-TW" altLang="en-US" sz="2400" dirty="0"/>
          </a:p>
        </p:txBody>
      </p:sp>
      <p:sp>
        <p:nvSpPr>
          <p:cNvPr id="65" name="矩形 64"/>
          <p:cNvSpPr/>
          <p:nvPr/>
        </p:nvSpPr>
        <p:spPr>
          <a:xfrm>
            <a:off x="4726101" y="5279414"/>
            <a:ext cx="1447800" cy="8309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Classifier 4</a:t>
            </a:r>
            <a:endParaRPr lang="zh-TW" altLang="en-US" sz="2400" dirty="0"/>
          </a:p>
        </p:txBody>
      </p:sp>
      <p:cxnSp>
        <p:nvCxnSpPr>
          <p:cNvPr id="66" name="直線單箭頭接點 65"/>
          <p:cNvCxnSpPr/>
          <p:nvPr/>
        </p:nvCxnSpPr>
        <p:spPr>
          <a:xfrm flipV="1">
            <a:off x="6231504" y="5703092"/>
            <a:ext cx="628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43" idx="1"/>
          </p:cNvCxnSpPr>
          <p:nvPr/>
        </p:nvCxnSpPr>
        <p:spPr>
          <a:xfrm flipV="1">
            <a:off x="3442604" y="2510311"/>
            <a:ext cx="1293475" cy="7567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4" idx="1"/>
          </p:cNvCxnSpPr>
          <p:nvPr/>
        </p:nvCxnSpPr>
        <p:spPr>
          <a:xfrm>
            <a:off x="3449897" y="3277050"/>
            <a:ext cx="1279208" cy="2884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22" idx="3"/>
            <a:endCxn id="60" idx="1"/>
          </p:cNvCxnSpPr>
          <p:nvPr/>
        </p:nvCxnSpPr>
        <p:spPr>
          <a:xfrm>
            <a:off x="3447008" y="3286042"/>
            <a:ext cx="1279093" cy="1355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3389405" y="3267050"/>
            <a:ext cx="1346674" cy="24264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endCxn id="43" idx="1"/>
          </p:cNvCxnSpPr>
          <p:nvPr/>
        </p:nvCxnSpPr>
        <p:spPr>
          <a:xfrm flipV="1">
            <a:off x="3378348" y="2510311"/>
            <a:ext cx="1357731" cy="2585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20" idx="3"/>
            <a:endCxn id="44" idx="1"/>
          </p:cNvCxnSpPr>
          <p:nvPr/>
        </p:nvCxnSpPr>
        <p:spPr>
          <a:xfrm flipV="1">
            <a:off x="3401766" y="3565530"/>
            <a:ext cx="1327339" cy="1465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20" idx="3"/>
            <a:endCxn id="60" idx="1"/>
          </p:cNvCxnSpPr>
          <p:nvPr/>
        </p:nvCxnSpPr>
        <p:spPr>
          <a:xfrm flipV="1">
            <a:off x="3401766" y="4641577"/>
            <a:ext cx="1324335" cy="3896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stCxn id="20" idx="3"/>
            <a:endCxn id="65" idx="1"/>
          </p:cNvCxnSpPr>
          <p:nvPr/>
        </p:nvCxnSpPr>
        <p:spPr>
          <a:xfrm>
            <a:off x="3401766" y="5031264"/>
            <a:ext cx="1324335" cy="6636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612381" y="1946313"/>
            <a:ext cx="1692566" cy="42306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1689032" y="2696616"/>
            <a:ext cx="1867479" cy="284364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文字方塊 80"/>
          <p:cNvSpPr txBox="1"/>
          <p:nvPr/>
        </p:nvSpPr>
        <p:spPr>
          <a:xfrm>
            <a:off x="1974430" y="3740680"/>
            <a:ext cx="1292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Basic </a:t>
            </a:r>
          </a:p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Classifier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35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40" grpId="0" animBg="1"/>
      <p:bldP spid="41" grpId="0" animBg="1"/>
      <p:bldP spid="42" grpId="0" animBg="1"/>
      <p:bldP spid="43" grpId="0" animBg="1"/>
      <p:bldP spid="44" grpId="0" animBg="1"/>
      <p:bldP spid="60" grpId="0" animBg="1"/>
      <p:bldP spid="64" grpId="0" animBg="1"/>
      <p:bldP spid="65" grpId="0" animBg="1"/>
      <p:bldP spid="7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88724"/>
            <a:ext cx="7886700" cy="1325563"/>
          </a:xfrm>
        </p:spPr>
        <p:txBody>
          <a:bodyPr/>
          <a:lstStyle/>
          <a:p>
            <a:r>
              <a:rPr lang="en-US" altLang="zh-TW" dirty="0"/>
              <a:t>Modularization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652026" y="2399574"/>
            <a:ext cx="5983918" cy="2720549"/>
            <a:chOff x="1260141" y="2780968"/>
            <a:chExt cx="5983918" cy="2720549"/>
          </a:xfrm>
        </p:grpSpPr>
        <p:sp>
          <p:nvSpPr>
            <p:cNvPr id="37" name="矩形 36"/>
            <p:cNvSpPr/>
            <p:nvPr/>
          </p:nvSpPr>
          <p:spPr>
            <a:xfrm>
              <a:off x="1260141" y="2853290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/>
            <p:cNvCxnSpPr/>
            <p:nvPr/>
          </p:nvCxnSpPr>
          <p:spPr>
            <a:xfrm>
              <a:off x="5531732" y="3891561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5641048" y="5137451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5507848" y="3112758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1328529" y="3570983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1334347" y="3000654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49" name="Object 12"/>
            <p:cNvGraphicFramePr>
              <a:graphicFrameLocks noChangeAspect="1"/>
            </p:cNvGraphicFramePr>
            <p:nvPr/>
          </p:nvGraphicFramePr>
          <p:xfrm>
            <a:off x="1347046" y="2905404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4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7046" y="2905404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2"/>
            <p:cNvGraphicFramePr>
              <a:graphicFrameLocks noChangeAspect="1"/>
            </p:cNvGraphicFramePr>
            <p:nvPr/>
          </p:nvGraphicFramePr>
          <p:xfrm>
            <a:off x="1352342" y="3488133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5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2342" y="3488133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矩形 51"/>
            <p:cNvSpPr/>
            <p:nvPr/>
          </p:nvSpPr>
          <p:spPr>
            <a:xfrm>
              <a:off x="2443244" y="2825649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2540354" y="2836651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2542696" y="3615221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橢圓 55"/>
            <p:cNvSpPr/>
            <p:nvPr/>
          </p:nvSpPr>
          <p:spPr>
            <a:xfrm>
              <a:off x="2531063" y="4843233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 rot="5400000">
              <a:off x="2528316" y="4265526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1338054" y="496874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9" name="Object 12"/>
            <p:cNvGraphicFramePr>
              <a:graphicFrameLocks noChangeAspect="1"/>
            </p:cNvGraphicFramePr>
            <p:nvPr/>
          </p:nvGraphicFramePr>
          <p:xfrm>
            <a:off x="1334938" y="4872486"/>
            <a:ext cx="407988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7" imgW="190440" imgH="228600" progId="Equation.3">
                    <p:embed/>
                  </p:oleObj>
                </mc:Choice>
                <mc:Fallback>
                  <p:oleObj name="方程式" r:id="rId7" imgW="190440" imgH="228600" progId="Equation.3">
                    <p:embed/>
                    <p:pic>
                      <p:nvPicPr>
                        <p:cNvPr id="5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938" y="4872486"/>
                          <a:ext cx="407988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文字方塊 59"/>
            <p:cNvSpPr txBox="1"/>
            <p:nvPr/>
          </p:nvSpPr>
          <p:spPr>
            <a:xfrm rot="5400000">
              <a:off x="1213986" y="425368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768830" y="280930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3855916" y="2836651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3858258" y="3615221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3846625" y="4843233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文字方塊 66"/>
            <p:cNvSpPr txBox="1"/>
            <p:nvPr/>
          </p:nvSpPr>
          <p:spPr>
            <a:xfrm rot="5400000">
              <a:off x="3843878" y="4265526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5144925" y="278508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220769" y="283503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223111" y="3594944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230139" y="4841617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/>
            <p:cNvSpPr txBox="1"/>
            <p:nvPr/>
          </p:nvSpPr>
          <p:spPr>
            <a:xfrm rot="5400000">
              <a:off x="5227392" y="426074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6467853" y="278096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6474802" y="3570983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6474790" y="478631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cxnSp>
          <p:nvCxnSpPr>
            <p:cNvPr id="79" name="直線單箭頭接點 78"/>
            <p:cNvCxnSpPr>
              <a:stCxn id="54" idx="6"/>
              <a:endCxn id="64" idx="2"/>
            </p:cNvCxnSpPr>
            <p:nvPr/>
          </p:nvCxnSpPr>
          <p:spPr>
            <a:xfrm>
              <a:off x="3114512" y="3123730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/>
            <p:nvPr/>
          </p:nvCxnSpPr>
          <p:spPr>
            <a:xfrm>
              <a:off x="3114512" y="3915482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>
              <a:off x="3105221" y="5137451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55" idx="6"/>
              <a:endCxn id="64" idx="2"/>
            </p:cNvCxnSpPr>
            <p:nvPr/>
          </p:nvCxnSpPr>
          <p:spPr>
            <a:xfrm flipV="1">
              <a:off x="3116854" y="3123730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>
              <a:stCxn id="54" idx="6"/>
              <a:endCxn id="65" idx="2"/>
            </p:cNvCxnSpPr>
            <p:nvPr/>
          </p:nvCxnSpPr>
          <p:spPr>
            <a:xfrm>
              <a:off x="3114512" y="3123730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>
              <a:stCxn id="54" idx="6"/>
              <a:endCxn id="66" idx="2"/>
            </p:cNvCxnSpPr>
            <p:nvPr/>
          </p:nvCxnSpPr>
          <p:spPr>
            <a:xfrm>
              <a:off x="3114512" y="3123730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55" idx="6"/>
              <a:endCxn id="66" idx="2"/>
            </p:cNvCxnSpPr>
            <p:nvPr/>
          </p:nvCxnSpPr>
          <p:spPr>
            <a:xfrm>
              <a:off x="3116854" y="3902300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>
              <a:stCxn id="56" idx="6"/>
              <a:endCxn id="64" idx="2"/>
            </p:cNvCxnSpPr>
            <p:nvPr/>
          </p:nvCxnSpPr>
          <p:spPr>
            <a:xfrm flipV="1">
              <a:off x="3105221" y="3123730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>
              <a:stCxn id="56" idx="6"/>
              <a:endCxn id="65" idx="2"/>
            </p:cNvCxnSpPr>
            <p:nvPr/>
          </p:nvCxnSpPr>
          <p:spPr>
            <a:xfrm flipV="1">
              <a:off x="3105221" y="3902300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endCxn id="54" idx="2"/>
            </p:cNvCxnSpPr>
            <p:nvPr/>
          </p:nvCxnSpPr>
          <p:spPr>
            <a:xfrm flipV="1">
              <a:off x="1680954" y="3123730"/>
              <a:ext cx="859400" cy="299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>
              <a:stCxn id="48" idx="3"/>
              <a:endCxn id="55" idx="2"/>
            </p:cNvCxnSpPr>
            <p:nvPr/>
          </p:nvCxnSpPr>
          <p:spPr>
            <a:xfrm>
              <a:off x="1677247" y="3172104"/>
              <a:ext cx="865449" cy="7301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>
              <a:stCxn id="48" idx="3"/>
              <a:endCxn id="56" idx="2"/>
            </p:cNvCxnSpPr>
            <p:nvPr/>
          </p:nvCxnSpPr>
          <p:spPr>
            <a:xfrm>
              <a:off x="1677247" y="3172104"/>
              <a:ext cx="853816" cy="19582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50" idx="3"/>
              <a:endCxn id="54" idx="2"/>
            </p:cNvCxnSpPr>
            <p:nvPr/>
          </p:nvCxnSpPr>
          <p:spPr>
            <a:xfrm flipV="1">
              <a:off x="1704767" y="3123730"/>
              <a:ext cx="835587" cy="595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單箭頭接點 91"/>
            <p:cNvCxnSpPr>
              <a:stCxn id="47" idx="3"/>
              <a:endCxn id="55" idx="2"/>
            </p:cNvCxnSpPr>
            <p:nvPr/>
          </p:nvCxnSpPr>
          <p:spPr>
            <a:xfrm>
              <a:off x="1671429" y="3742433"/>
              <a:ext cx="871267" cy="1598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/>
            <p:cNvCxnSpPr>
              <a:stCxn id="47" idx="3"/>
              <a:endCxn id="56" idx="2"/>
            </p:cNvCxnSpPr>
            <p:nvPr/>
          </p:nvCxnSpPr>
          <p:spPr>
            <a:xfrm>
              <a:off x="1671429" y="3742433"/>
              <a:ext cx="859634" cy="1387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93"/>
            <p:cNvCxnSpPr>
              <a:stCxn id="59" idx="3"/>
              <a:endCxn id="54" idx="2"/>
            </p:cNvCxnSpPr>
            <p:nvPr/>
          </p:nvCxnSpPr>
          <p:spPr>
            <a:xfrm flipV="1">
              <a:off x="1742926" y="3123730"/>
              <a:ext cx="797428" cy="19932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/>
            <p:cNvCxnSpPr>
              <a:stCxn id="59" idx="3"/>
              <a:endCxn id="55" idx="2"/>
            </p:cNvCxnSpPr>
            <p:nvPr/>
          </p:nvCxnSpPr>
          <p:spPr>
            <a:xfrm flipV="1">
              <a:off x="1716557" y="3902300"/>
              <a:ext cx="826139" cy="121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/>
            <p:cNvCxnSpPr>
              <a:stCxn id="59" idx="3"/>
              <a:endCxn id="56" idx="2"/>
            </p:cNvCxnSpPr>
            <p:nvPr/>
          </p:nvCxnSpPr>
          <p:spPr>
            <a:xfrm>
              <a:off x="1716557" y="5116906"/>
              <a:ext cx="814506" cy="134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>
              <a:off x="4464381" y="3134083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>
              <a:off x="4464381" y="39258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單箭頭接點 103"/>
            <p:cNvCxnSpPr/>
            <p:nvPr/>
          </p:nvCxnSpPr>
          <p:spPr>
            <a:xfrm>
              <a:off x="4455090" y="514780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V="1">
              <a:off x="4466723" y="3134083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單箭頭接點 105"/>
            <p:cNvCxnSpPr/>
            <p:nvPr/>
          </p:nvCxnSpPr>
          <p:spPr>
            <a:xfrm>
              <a:off x="4464381" y="3134083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/>
            <p:cNvCxnSpPr/>
            <p:nvPr/>
          </p:nvCxnSpPr>
          <p:spPr>
            <a:xfrm>
              <a:off x="4464381" y="3134083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>
              <a:off x="4466723" y="3912653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單箭頭接點 108"/>
            <p:cNvCxnSpPr/>
            <p:nvPr/>
          </p:nvCxnSpPr>
          <p:spPr>
            <a:xfrm flipV="1">
              <a:off x="4455090" y="3134083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V="1">
              <a:off x="4455090" y="3912653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圖說文字 5"/>
          <p:cNvSpPr/>
          <p:nvPr/>
        </p:nvSpPr>
        <p:spPr>
          <a:xfrm>
            <a:off x="375384" y="5453983"/>
            <a:ext cx="2367361" cy="838175"/>
          </a:xfrm>
          <a:prstGeom prst="wedgeRectCallout">
            <a:avLst>
              <a:gd name="adj1" fmla="val 69906"/>
              <a:gd name="adj2" fmla="val -130639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The most basic classifiers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14" name="矩形圖說文字 113"/>
          <p:cNvSpPr/>
          <p:nvPr/>
        </p:nvSpPr>
        <p:spPr>
          <a:xfrm>
            <a:off x="2956956" y="5463160"/>
            <a:ext cx="3239225" cy="886505"/>
          </a:xfrm>
          <a:prstGeom prst="wedgeRectCallout">
            <a:avLst>
              <a:gd name="adj1" fmla="val 640"/>
              <a:gd name="adj2" fmla="val -1065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Use 1</a:t>
            </a:r>
            <a:r>
              <a:rPr lang="en-US" altLang="zh-TW" sz="2400" baseline="30000" dirty="0">
                <a:solidFill>
                  <a:schemeClr val="bg1"/>
                </a:solidFill>
              </a:rPr>
              <a:t>st</a:t>
            </a:r>
            <a:r>
              <a:rPr lang="en-US" altLang="zh-TW" sz="2400" dirty="0">
                <a:solidFill>
                  <a:schemeClr val="bg1"/>
                </a:solidFill>
              </a:rPr>
              <a:t> layer as module to build classifiers 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15" name="矩形圖說文字 114"/>
          <p:cNvSpPr/>
          <p:nvPr/>
        </p:nvSpPr>
        <p:spPr>
          <a:xfrm>
            <a:off x="6401255" y="5461871"/>
            <a:ext cx="2367361" cy="838175"/>
          </a:xfrm>
          <a:prstGeom prst="wedgeRectCallout">
            <a:avLst>
              <a:gd name="adj1" fmla="val -71106"/>
              <a:gd name="adj2" fmla="val -132371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Use 2</a:t>
            </a:r>
            <a:r>
              <a:rPr lang="en-US" altLang="zh-TW" sz="2400" baseline="30000" dirty="0">
                <a:solidFill>
                  <a:schemeClr val="bg1"/>
                </a:solidFill>
              </a:rPr>
              <a:t>nd</a:t>
            </a:r>
            <a:r>
              <a:rPr lang="en-US" altLang="zh-TW" sz="2400" dirty="0">
                <a:solidFill>
                  <a:schemeClr val="bg1"/>
                </a:solidFill>
              </a:rPr>
              <a:t> layer as module ……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344311" y="3191157"/>
            <a:ext cx="4865842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The modularization is automatically learned from data.</a:t>
            </a:r>
            <a:endParaRPr lang="zh-TW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0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4" grpId="0" animBg="1"/>
      <p:bldP spid="11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88724"/>
            <a:ext cx="7886700" cy="1325563"/>
          </a:xfrm>
        </p:spPr>
        <p:txBody>
          <a:bodyPr/>
          <a:lstStyle/>
          <a:p>
            <a:r>
              <a:rPr lang="en-US" altLang="zh-TW" dirty="0"/>
              <a:t>Modularization -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Deep → Modularization</a:t>
            </a:r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652026" y="2333314"/>
            <a:ext cx="5983918" cy="2720549"/>
            <a:chOff x="1260141" y="2780968"/>
            <a:chExt cx="5983918" cy="2720549"/>
          </a:xfrm>
        </p:grpSpPr>
        <p:sp>
          <p:nvSpPr>
            <p:cNvPr id="37" name="矩形 36"/>
            <p:cNvSpPr/>
            <p:nvPr/>
          </p:nvSpPr>
          <p:spPr>
            <a:xfrm>
              <a:off x="1260141" y="2853290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/>
            <p:cNvCxnSpPr/>
            <p:nvPr/>
          </p:nvCxnSpPr>
          <p:spPr>
            <a:xfrm>
              <a:off x="5531732" y="3891561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5641048" y="5137451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/>
            <p:nvPr/>
          </p:nvCxnSpPr>
          <p:spPr>
            <a:xfrm>
              <a:off x="5507848" y="3112758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1328529" y="3570983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1334347" y="3000654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49" name="Object 12"/>
            <p:cNvGraphicFramePr>
              <a:graphicFrameLocks noChangeAspect="1"/>
            </p:cNvGraphicFramePr>
            <p:nvPr/>
          </p:nvGraphicFramePr>
          <p:xfrm>
            <a:off x="1347046" y="2905404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52280" imgH="215640" progId="Equation.3">
                    <p:embed/>
                  </p:oleObj>
                </mc:Choice>
                <mc:Fallback>
                  <p:oleObj name="方程式" r:id="rId3" imgW="152280" imgH="215640" progId="Equation.3">
                    <p:embed/>
                    <p:pic>
                      <p:nvPicPr>
                        <p:cNvPr id="4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7046" y="2905404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2"/>
            <p:cNvGraphicFramePr>
              <a:graphicFrameLocks noChangeAspect="1"/>
            </p:cNvGraphicFramePr>
            <p:nvPr/>
          </p:nvGraphicFramePr>
          <p:xfrm>
            <a:off x="1352342" y="3488133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64880" imgH="215640" progId="Equation.3">
                    <p:embed/>
                  </p:oleObj>
                </mc:Choice>
                <mc:Fallback>
                  <p:oleObj name="方程式" r:id="rId5" imgW="164880" imgH="215640" progId="Equation.3">
                    <p:embed/>
                    <p:pic>
                      <p:nvPicPr>
                        <p:cNvPr id="5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2342" y="3488133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矩形 51"/>
            <p:cNvSpPr/>
            <p:nvPr/>
          </p:nvSpPr>
          <p:spPr>
            <a:xfrm>
              <a:off x="2443244" y="2825649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2540354" y="2836651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2542696" y="3615221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橢圓 55"/>
            <p:cNvSpPr/>
            <p:nvPr/>
          </p:nvSpPr>
          <p:spPr>
            <a:xfrm>
              <a:off x="2531063" y="4843233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 rot="5400000">
              <a:off x="2528316" y="4265526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1338054" y="496874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aphicFrame>
          <p:nvGraphicFramePr>
            <p:cNvPr id="59" name="Object 12"/>
            <p:cNvGraphicFramePr>
              <a:graphicFrameLocks noChangeAspect="1"/>
            </p:cNvGraphicFramePr>
            <p:nvPr/>
          </p:nvGraphicFramePr>
          <p:xfrm>
            <a:off x="1334938" y="4872486"/>
            <a:ext cx="407988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7" imgW="190440" imgH="228600" progId="Equation.3">
                    <p:embed/>
                  </p:oleObj>
                </mc:Choice>
                <mc:Fallback>
                  <p:oleObj name="方程式" r:id="rId7" imgW="190440" imgH="228600" progId="Equation.3">
                    <p:embed/>
                    <p:pic>
                      <p:nvPicPr>
                        <p:cNvPr id="5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938" y="4872486"/>
                          <a:ext cx="407988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文字方塊 59"/>
            <p:cNvSpPr txBox="1"/>
            <p:nvPr/>
          </p:nvSpPr>
          <p:spPr>
            <a:xfrm rot="5400000">
              <a:off x="1213986" y="4253682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768830" y="280930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3855916" y="2836651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3858258" y="3615221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3846625" y="4843233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文字方塊 66"/>
            <p:cNvSpPr txBox="1"/>
            <p:nvPr/>
          </p:nvSpPr>
          <p:spPr>
            <a:xfrm rot="5400000">
              <a:off x="3843878" y="4265526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5144925" y="278508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橢圓 70"/>
            <p:cNvSpPr/>
            <p:nvPr/>
          </p:nvSpPr>
          <p:spPr>
            <a:xfrm>
              <a:off x="5220769" y="283503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5223111" y="3594944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5230139" y="4841617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文字方塊 73"/>
            <p:cNvSpPr txBox="1"/>
            <p:nvPr/>
          </p:nvSpPr>
          <p:spPr>
            <a:xfrm rot="5400000">
              <a:off x="5227392" y="4260747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6467853" y="278096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6474802" y="3570983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6474790" y="478631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  <p:cxnSp>
          <p:nvCxnSpPr>
            <p:cNvPr id="79" name="直線單箭頭接點 78"/>
            <p:cNvCxnSpPr>
              <a:stCxn id="54" idx="6"/>
              <a:endCxn id="64" idx="2"/>
            </p:cNvCxnSpPr>
            <p:nvPr/>
          </p:nvCxnSpPr>
          <p:spPr>
            <a:xfrm>
              <a:off x="3114512" y="3123730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/>
            <p:nvPr/>
          </p:nvCxnSpPr>
          <p:spPr>
            <a:xfrm>
              <a:off x="3114512" y="3915482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/>
            <p:cNvCxnSpPr/>
            <p:nvPr/>
          </p:nvCxnSpPr>
          <p:spPr>
            <a:xfrm>
              <a:off x="3105221" y="5137451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55" idx="6"/>
              <a:endCxn id="64" idx="2"/>
            </p:cNvCxnSpPr>
            <p:nvPr/>
          </p:nvCxnSpPr>
          <p:spPr>
            <a:xfrm flipV="1">
              <a:off x="3116854" y="3123730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>
              <a:stCxn id="54" idx="6"/>
              <a:endCxn id="65" idx="2"/>
            </p:cNvCxnSpPr>
            <p:nvPr/>
          </p:nvCxnSpPr>
          <p:spPr>
            <a:xfrm>
              <a:off x="3114512" y="3123730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>
              <a:stCxn id="54" idx="6"/>
              <a:endCxn id="66" idx="2"/>
            </p:cNvCxnSpPr>
            <p:nvPr/>
          </p:nvCxnSpPr>
          <p:spPr>
            <a:xfrm>
              <a:off x="3114512" y="3123730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55" idx="6"/>
              <a:endCxn id="66" idx="2"/>
            </p:cNvCxnSpPr>
            <p:nvPr/>
          </p:nvCxnSpPr>
          <p:spPr>
            <a:xfrm>
              <a:off x="3116854" y="3902300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>
              <a:stCxn id="56" idx="6"/>
              <a:endCxn id="64" idx="2"/>
            </p:cNvCxnSpPr>
            <p:nvPr/>
          </p:nvCxnSpPr>
          <p:spPr>
            <a:xfrm flipV="1">
              <a:off x="3105221" y="3123730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>
              <a:stCxn id="56" idx="6"/>
              <a:endCxn id="65" idx="2"/>
            </p:cNvCxnSpPr>
            <p:nvPr/>
          </p:nvCxnSpPr>
          <p:spPr>
            <a:xfrm flipV="1">
              <a:off x="3105221" y="3902300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endCxn id="54" idx="2"/>
            </p:cNvCxnSpPr>
            <p:nvPr/>
          </p:nvCxnSpPr>
          <p:spPr>
            <a:xfrm flipV="1">
              <a:off x="1680954" y="3123730"/>
              <a:ext cx="859400" cy="299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>
              <a:stCxn id="48" idx="3"/>
              <a:endCxn id="55" idx="2"/>
            </p:cNvCxnSpPr>
            <p:nvPr/>
          </p:nvCxnSpPr>
          <p:spPr>
            <a:xfrm>
              <a:off x="1677247" y="3172104"/>
              <a:ext cx="865449" cy="7301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單箭頭接點 89"/>
            <p:cNvCxnSpPr>
              <a:stCxn id="48" idx="3"/>
              <a:endCxn id="56" idx="2"/>
            </p:cNvCxnSpPr>
            <p:nvPr/>
          </p:nvCxnSpPr>
          <p:spPr>
            <a:xfrm>
              <a:off x="1677247" y="3172104"/>
              <a:ext cx="853816" cy="19582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50" idx="3"/>
              <a:endCxn id="54" idx="2"/>
            </p:cNvCxnSpPr>
            <p:nvPr/>
          </p:nvCxnSpPr>
          <p:spPr>
            <a:xfrm flipV="1">
              <a:off x="1704767" y="3123730"/>
              <a:ext cx="835587" cy="595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單箭頭接點 91"/>
            <p:cNvCxnSpPr>
              <a:stCxn id="47" idx="3"/>
              <a:endCxn id="55" idx="2"/>
            </p:cNvCxnSpPr>
            <p:nvPr/>
          </p:nvCxnSpPr>
          <p:spPr>
            <a:xfrm>
              <a:off x="1671429" y="3742433"/>
              <a:ext cx="871267" cy="1598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單箭頭接點 92"/>
            <p:cNvCxnSpPr>
              <a:stCxn id="47" idx="3"/>
              <a:endCxn id="56" idx="2"/>
            </p:cNvCxnSpPr>
            <p:nvPr/>
          </p:nvCxnSpPr>
          <p:spPr>
            <a:xfrm>
              <a:off x="1671429" y="3742433"/>
              <a:ext cx="859634" cy="1387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單箭頭接點 93"/>
            <p:cNvCxnSpPr>
              <a:stCxn id="59" idx="3"/>
              <a:endCxn id="54" idx="2"/>
            </p:cNvCxnSpPr>
            <p:nvPr/>
          </p:nvCxnSpPr>
          <p:spPr>
            <a:xfrm flipV="1">
              <a:off x="1742926" y="3123730"/>
              <a:ext cx="797428" cy="19932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單箭頭接點 94"/>
            <p:cNvCxnSpPr>
              <a:stCxn id="59" idx="3"/>
              <a:endCxn id="55" idx="2"/>
            </p:cNvCxnSpPr>
            <p:nvPr/>
          </p:nvCxnSpPr>
          <p:spPr>
            <a:xfrm flipV="1">
              <a:off x="1716557" y="3902300"/>
              <a:ext cx="826139" cy="121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單箭頭接點 95"/>
            <p:cNvCxnSpPr>
              <a:stCxn id="59" idx="3"/>
              <a:endCxn id="56" idx="2"/>
            </p:cNvCxnSpPr>
            <p:nvPr/>
          </p:nvCxnSpPr>
          <p:spPr>
            <a:xfrm>
              <a:off x="1716557" y="5116906"/>
              <a:ext cx="814506" cy="134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/>
            <p:nvPr/>
          </p:nvCxnSpPr>
          <p:spPr>
            <a:xfrm>
              <a:off x="4464381" y="3134083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>
              <a:off x="4464381" y="39258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單箭頭接點 103"/>
            <p:cNvCxnSpPr/>
            <p:nvPr/>
          </p:nvCxnSpPr>
          <p:spPr>
            <a:xfrm>
              <a:off x="4455090" y="514780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單箭頭接點 104"/>
            <p:cNvCxnSpPr/>
            <p:nvPr/>
          </p:nvCxnSpPr>
          <p:spPr>
            <a:xfrm flipV="1">
              <a:off x="4466723" y="3134083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單箭頭接點 105"/>
            <p:cNvCxnSpPr/>
            <p:nvPr/>
          </p:nvCxnSpPr>
          <p:spPr>
            <a:xfrm>
              <a:off x="4464381" y="3134083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單箭頭接點 106"/>
            <p:cNvCxnSpPr/>
            <p:nvPr/>
          </p:nvCxnSpPr>
          <p:spPr>
            <a:xfrm>
              <a:off x="4464381" y="3134083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單箭頭接點 107"/>
            <p:cNvCxnSpPr/>
            <p:nvPr/>
          </p:nvCxnSpPr>
          <p:spPr>
            <a:xfrm>
              <a:off x="4466723" y="3912653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單箭頭接點 108"/>
            <p:cNvCxnSpPr/>
            <p:nvPr/>
          </p:nvCxnSpPr>
          <p:spPr>
            <a:xfrm flipV="1">
              <a:off x="4455090" y="3134083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單箭頭接點 109"/>
            <p:cNvCxnSpPr/>
            <p:nvPr/>
          </p:nvCxnSpPr>
          <p:spPr>
            <a:xfrm flipV="1">
              <a:off x="4455090" y="3912653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圖說文字 5"/>
          <p:cNvSpPr/>
          <p:nvPr/>
        </p:nvSpPr>
        <p:spPr>
          <a:xfrm>
            <a:off x="444160" y="5213403"/>
            <a:ext cx="2367361" cy="838175"/>
          </a:xfrm>
          <a:prstGeom prst="wedgeRectCallout">
            <a:avLst>
              <a:gd name="adj1" fmla="val 64868"/>
              <a:gd name="adj2" fmla="val -114828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The most basic classifiers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14" name="矩形圖說文字 113"/>
          <p:cNvSpPr/>
          <p:nvPr/>
        </p:nvSpPr>
        <p:spPr>
          <a:xfrm>
            <a:off x="2959473" y="5224198"/>
            <a:ext cx="3239225" cy="816587"/>
          </a:xfrm>
          <a:prstGeom prst="wedgeRectCallout">
            <a:avLst>
              <a:gd name="adj1" fmla="val -587"/>
              <a:gd name="adj2" fmla="val -10821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Use 1</a:t>
            </a:r>
            <a:r>
              <a:rPr lang="en-US" altLang="zh-TW" sz="2400" baseline="30000" dirty="0">
                <a:solidFill>
                  <a:schemeClr val="bg1"/>
                </a:solidFill>
              </a:rPr>
              <a:t>st</a:t>
            </a:r>
            <a:r>
              <a:rPr lang="en-US" altLang="zh-TW" sz="2400" dirty="0">
                <a:solidFill>
                  <a:schemeClr val="bg1"/>
                </a:solidFill>
              </a:rPr>
              <a:t> layer as module to build classifiers 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15" name="矩形圖說文字 114"/>
          <p:cNvSpPr/>
          <p:nvPr/>
        </p:nvSpPr>
        <p:spPr>
          <a:xfrm>
            <a:off x="6391097" y="5202610"/>
            <a:ext cx="2367361" cy="838175"/>
          </a:xfrm>
          <a:prstGeom prst="wedgeRectCallout">
            <a:avLst>
              <a:gd name="adj1" fmla="val -69427"/>
              <a:gd name="adj2" fmla="val -107074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bg1"/>
                </a:solidFill>
              </a:rPr>
              <a:t>Use 2</a:t>
            </a:r>
            <a:r>
              <a:rPr lang="en-US" altLang="zh-TW" sz="2400" baseline="30000" dirty="0">
                <a:solidFill>
                  <a:schemeClr val="bg1"/>
                </a:solidFill>
              </a:rPr>
              <a:t>nd</a:t>
            </a:r>
            <a:r>
              <a:rPr lang="en-US" altLang="zh-TW" sz="2400" dirty="0">
                <a:solidFill>
                  <a:schemeClr val="bg1"/>
                </a:solidFill>
              </a:rPr>
              <a:t> layer as module ……</a:t>
            </a:r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63886" y="6121705"/>
            <a:ext cx="79091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Reference: </a:t>
            </a:r>
            <a:r>
              <a:rPr lang="en-US" altLang="zh-TW" dirty="0" err="1">
                <a:solidFill>
                  <a:srgbClr val="222222"/>
                </a:solidFill>
                <a:latin typeface="Arial" panose="020B0604020202020204" pitchFamily="34" charset="0"/>
              </a:rPr>
              <a:t>Zeiler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, M. D., &amp; Fergus, R. (2014). Visualizing and understanding convolutional networks. In </a:t>
            </a:r>
            <a:r>
              <a:rPr lang="en-US" altLang="zh-TW" i="1" dirty="0">
                <a:solidFill>
                  <a:srgbClr val="222222"/>
                </a:solidFill>
                <a:latin typeface="Arial" panose="020B0604020202020204" pitchFamily="34" charset="0"/>
              </a:rPr>
              <a:t>Computer Vision–ECCV 2014</a:t>
            </a:r>
            <a:r>
              <a:rPr lang="en-US" altLang="zh-TW" dirty="0">
                <a:solidFill>
                  <a:srgbClr val="222222"/>
                </a:solidFill>
                <a:latin typeface="Arial" panose="020B0604020202020204" pitchFamily="34" charset="0"/>
              </a:rPr>
              <a:t> (pp. 818-833)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8752" y="2474287"/>
            <a:ext cx="444581" cy="44458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4612" y="3224244"/>
            <a:ext cx="443374" cy="443374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2656" y="4435948"/>
            <a:ext cx="460064" cy="452761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7140" y="2339244"/>
            <a:ext cx="599559" cy="599559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8452" y="4313255"/>
            <a:ext cx="616933" cy="651527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9788" y="3171732"/>
            <a:ext cx="600812" cy="600812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5488" y="2243575"/>
            <a:ext cx="790575" cy="762000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15012" y="3114746"/>
            <a:ext cx="771525" cy="723900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15012" y="4173512"/>
            <a:ext cx="752170" cy="77277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66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644327" y="1485274"/>
            <a:ext cx="2689840" cy="280912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Universal Approximation Theorem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584683" y="4191416"/>
            <a:ext cx="29306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Reference</a:t>
            </a:r>
            <a:r>
              <a:rPr lang="zh-TW" altLang="en-US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for the reason: </a:t>
            </a:r>
            <a:r>
              <a:rPr lang="zh-TW" altLang="en-US" u="sng" dirty="0"/>
              <a:t>http://neuralnetworksanddeeplearning.com/chap4.html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59927" y="1975659"/>
            <a:ext cx="4390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Any continuous function f</a:t>
            </a:r>
            <a:endParaRPr lang="zh-TW" altLang="en-US" sz="2800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1684327" y="2712244"/>
          <a:ext cx="2342046" cy="63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850680" imgH="228600" progId="Equation.3">
                  <p:embed/>
                </p:oleObj>
              </mc:Choice>
              <mc:Fallback>
                <p:oleObj name="方程式" r:id="rId4" imgW="850680" imgH="228600" progId="Equation.3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27" y="2712244"/>
                        <a:ext cx="2342046" cy="63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9927" y="3413903"/>
            <a:ext cx="43908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Can be realized by a network with one hidden layer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28650" y="4391471"/>
            <a:ext cx="4848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(given </a:t>
            </a:r>
            <a:r>
              <a:rPr lang="en-US" altLang="zh-TW" sz="2800" b="1" dirty="0"/>
              <a:t>enough</a:t>
            </a:r>
            <a:r>
              <a:rPr lang="en-US" altLang="zh-TW" sz="2800" dirty="0"/>
              <a:t> neurons)</a:t>
            </a:r>
            <a:endParaRPr lang="zh-TW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394884" y="5363091"/>
            <a:ext cx="7477369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solidFill>
                  <a:schemeClr val="bg1"/>
                </a:solidFill>
              </a:rPr>
              <a:t>Yes, shallow network can represent any function.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12089" y="6043026"/>
            <a:ext cx="7477369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solidFill>
                  <a:schemeClr val="bg1"/>
                </a:solidFill>
              </a:rPr>
              <a:t>However, using deep structure is more effective.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18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  <p:bldP spid="11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Analogy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  <a:p>
            <a:r>
              <a:rPr lang="en-US" altLang="zh-TW" sz="2400" dirty="0"/>
              <a:t>Logic circuits consists of </a:t>
            </a:r>
            <a:r>
              <a:rPr lang="en-US" altLang="zh-TW" sz="2400" b="1" dirty="0">
                <a:solidFill>
                  <a:srgbClr val="0000FF"/>
                </a:solidFill>
              </a:rPr>
              <a:t>gates</a:t>
            </a:r>
          </a:p>
          <a:p>
            <a:r>
              <a:rPr lang="en-US" altLang="zh-TW" sz="2400" b="1" dirty="0">
                <a:solidFill>
                  <a:srgbClr val="00B050"/>
                </a:solidFill>
              </a:rPr>
              <a:t>A two layers of logic gates </a:t>
            </a:r>
            <a:r>
              <a:rPr lang="en-US" altLang="zh-TW" sz="2400" dirty="0"/>
              <a:t>can represent </a:t>
            </a:r>
            <a:r>
              <a:rPr lang="en-US" altLang="zh-TW" sz="2400" b="1" dirty="0"/>
              <a:t>any Boolean function.</a:t>
            </a:r>
          </a:p>
          <a:p>
            <a:r>
              <a:rPr lang="en-US" altLang="zh-TW" sz="2400" dirty="0"/>
              <a:t>Using multiple layers of logic gates to build some functions is much simpler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  <a:p>
            <a:r>
              <a:rPr lang="en-US" altLang="zh-TW" sz="2400" dirty="0"/>
              <a:t>Neural network consists of </a:t>
            </a:r>
            <a:r>
              <a:rPr lang="en-US" altLang="zh-TW" sz="2400" b="1" dirty="0">
                <a:solidFill>
                  <a:srgbClr val="0000FF"/>
                </a:solidFill>
              </a:rPr>
              <a:t>neurons</a:t>
            </a:r>
          </a:p>
          <a:p>
            <a:r>
              <a:rPr lang="en-US" altLang="zh-TW" sz="2400" b="1" dirty="0">
                <a:solidFill>
                  <a:srgbClr val="00B050"/>
                </a:solidFill>
              </a:rPr>
              <a:t>A hidden layer network </a:t>
            </a:r>
            <a:r>
              <a:rPr lang="en-US" altLang="zh-TW" sz="2400" dirty="0"/>
              <a:t>can represent </a:t>
            </a:r>
            <a:r>
              <a:rPr lang="en-US" altLang="zh-TW" sz="2400" b="1" dirty="0"/>
              <a:t>any continuous function.</a:t>
            </a:r>
          </a:p>
          <a:p>
            <a:r>
              <a:rPr lang="en-US" altLang="zh-TW" sz="2400" dirty="0"/>
              <a:t>Using multiple layers of neurons to represent some functions is much simpler</a:t>
            </a:r>
          </a:p>
          <a:p>
            <a:endParaRPr lang="en-US" altLang="zh-TW" sz="2400" dirty="0"/>
          </a:p>
          <a:p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941580" y="5382552"/>
            <a:ext cx="3260339" cy="461665"/>
            <a:chOff x="1074058" y="5946129"/>
            <a:chExt cx="3260339" cy="461665"/>
          </a:xfrm>
        </p:grpSpPr>
        <p:sp>
          <p:nvSpPr>
            <p:cNvPr id="6" name="矩形 5"/>
            <p:cNvSpPr/>
            <p:nvPr/>
          </p:nvSpPr>
          <p:spPr>
            <a:xfrm>
              <a:off x="1943101" y="5946129"/>
              <a:ext cx="2391296" cy="461665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2400" dirty="0"/>
                <a:t>less gates needed</a:t>
              </a:r>
              <a:endParaRPr lang="zh-TW" altLang="en-US" sz="2400" dirty="0"/>
            </a:p>
          </p:txBody>
        </p:sp>
        <p:sp>
          <p:nvSpPr>
            <p:cNvPr id="7" name="向右箭號 6"/>
            <p:cNvSpPr/>
            <p:nvPr/>
          </p:nvSpPr>
          <p:spPr>
            <a:xfrm>
              <a:off x="1074058" y="5999293"/>
              <a:ext cx="754743" cy="355338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1507420" y="1690689"/>
            <a:ext cx="212866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800" dirty="0"/>
              <a:t>Logic circuits </a:t>
            </a:r>
            <a:endParaRPr lang="zh-TW" altLang="en-US" sz="2800" dirty="0"/>
          </a:p>
        </p:txBody>
      </p:sp>
      <p:pic>
        <p:nvPicPr>
          <p:cNvPr id="78850" name="Picture 2" descr="http://www.labri.fr/perso/strandh/Teaching/AMP/Common/Strandh-Tutorial/exp-circuit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282" y="153241"/>
            <a:ext cx="39433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5450403" y="1668760"/>
            <a:ext cx="2453107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800" dirty="0"/>
              <a:t>Neural network</a:t>
            </a:r>
            <a:endParaRPr lang="zh-TW" altLang="en-US" sz="2800" dirty="0"/>
          </a:p>
        </p:txBody>
      </p:sp>
      <p:sp>
        <p:nvSpPr>
          <p:cNvPr id="10" name="向右箭號 9"/>
          <p:cNvSpPr/>
          <p:nvPr/>
        </p:nvSpPr>
        <p:spPr>
          <a:xfrm>
            <a:off x="4264444" y="4354287"/>
            <a:ext cx="427231" cy="68217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/>
        </p:nvGrpSpPr>
        <p:grpSpPr>
          <a:xfrm>
            <a:off x="4963110" y="5238245"/>
            <a:ext cx="2303734" cy="830997"/>
            <a:chOff x="927211" y="5784436"/>
            <a:chExt cx="2303734" cy="830997"/>
          </a:xfrm>
        </p:grpSpPr>
        <p:sp>
          <p:nvSpPr>
            <p:cNvPr id="14" name="矩形 13"/>
            <p:cNvSpPr/>
            <p:nvPr/>
          </p:nvSpPr>
          <p:spPr>
            <a:xfrm>
              <a:off x="1372536" y="5784436"/>
              <a:ext cx="1858409" cy="830997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altLang="zh-TW" sz="2400" dirty="0"/>
                <a:t>less parameters</a:t>
              </a:r>
              <a:endParaRPr lang="zh-TW" altLang="en-US" sz="2400" dirty="0"/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927211" y="6022265"/>
              <a:ext cx="403617" cy="355338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9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9" grpId="0" animBg="1"/>
      <p:bldP spid="11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i="1" u="sng" dirty="0"/>
              <a:t>parity check</a:t>
            </a:r>
          </a:p>
          <a:p>
            <a:pPr lvl="1"/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2670412" y="2380129"/>
            <a:ext cx="1203960" cy="7969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Circuit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670412" y="3364565"/>
            <a:ext cx="1203960" cy="7969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Circuit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336580" y="2517909"/>
            <a:ext cx="127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1 (even)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349637" y="3513948"/>
            <a:ext cx="1272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0 (odd)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03106" y="2300897"/>
            <a:ext cx="2710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For input sequence with d bits, 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803106" y="3228561"/>
            <a:ext cx="2710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Two-layer circuit need O(2</a:t>
            </a:r>
            <a:r>
              <a:rPr lang="en-US" altLang="zh-TW" sz="2400" baseline="30000" dirty="0"/>
              <a:t>d</a:t>
            </a:r>
            <a:r>
              <a:rPr lang="en-US" altLang="zh-TW" sz="2400" dirty="0"/>
              <a:t>) gates.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19527" y="2530744"/>
            <a:ext cx="1556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1   0   1   0  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62793" y="3513948"/>
            <a:ext cx="1569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0   0   0   1  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向右箭號 14"/>
          <p:cNvSpPr/>
          <p:nvPr/>
        </p:nvSpPr>
        <p:spPr>
          <a:xfrm>
            <a:off x="2178235" y="2639374"/>
            <a:ext cx="478971" cy="26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右箭號 15"/>
          <p:cNvSpPr/>
          <p:nvPr/>
        </p:nvSpPr>
        <p:spPr>
          <a:xfrm>
            <a:off x="3870319" y="2618391"/>
            <a:ext cx="478971" cy="26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右箭號 16"/>
          <p:cNvSpPr/>
          <p:nvPr/>
        </p:nvSpPr>
        <p:spPr>
          <a:xfrm>
            <a:off x="2179359" y="3635413"/>
            <a:ext cx="478971" cy="26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右箭號 17"/>
          <p:cNvSpPr/>
          <p:nvPr/>
        </p:nvSpPr>
        <p:spPr>
          <a:xfrm>
            <a:off x="3871443" y="3614430"/>
            <a:ext cx="478971" cy="260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9" name="物件 18"/>
          <p:cNvGraphicFramePr>
            <a:graphicFrameLocks noChangeAspect="1"/>
          </p:cNvGraphicFramePr>
          <p:nvPr/>
        </p:nvGraphicFramePr>
        <p:xfrm>
          <a:off x="1732581" y="4858166"/>
          <a:ext cx="5726336" cy="1289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點陣圖影像" r:id="rId3" imgW="4229280" imgH="952560" progId="Paint.Picture">
                  <p:embed/>
                </p:oleObj>
              </mc:Choice>
              <mc:Fallback>
                <p:oleObj name="點陣圖影像" r:id="rId3" imgW="4229280" imgH="952560" progId="Paint.Picture">
                  <p:embed/>
                  <p:pic>
                    <p:nvPicPr>
                      <p:cNvPr id="19" name="物件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2581" y="4858166"/>
                        <a:ext cx="5726336" cy="1289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2729067" y="4456102"/>
            <a:ext cx="995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XNOR</a:t>
            </a:r>
            <a:endParaRPr lang="zh-TW" altLang="en-US" sz="24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325764" y="6125614"/>
            <a:ext cx="6539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With multiple layers, we need only O(d) gates.</a:t>
            </a:r>
            <a:endParaRPr lang="zh-TW" altLang="en-US" sz="2400" dirty="0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2069358" y="4814623"/>
            <a:ext cx="66765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3760272" y="5000569"/>
            <a:ext cx="66765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5349586" y="5269083"/>
            <a:ext cx="66765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6791260" y="5523083"/>
            <a:ext cx="66765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242685" y="4765552"/>
            <a:ext cx="641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10721" y="5141398"/>
            <a:ext cx="50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305417" y="5387244"/>
            <a:ext cx="51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294617" y="5624834"/>
            <a:ext cx="555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800738" y="5112560"/>
            <a:ext cx="50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0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386727" y="5343392"/>
            <a:ext cx="50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0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349429" y="5474986"/>
            <a:ext cx="50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pic>
        <p:nvPicPr>
          <p:cNvPr id="5143" name="Picture 23" descr="「XNOR」的圖片搜尋結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684" y="137199"/>
            <a:ext cx="39814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橢圓 3"/>
          <p:cNvSpPr/>
          <p:nvPr/>
        </p:nvSpPr>
        <p:spPr>
          <a:xfrm>
            <a:off x="3656503" y="5142487"/>
            <a:ext cx="152400" cy="152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5282458" y="5347315"/>
            <a:ext cx="152400" cy="152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6900802" y="5601313"/>
            <a:ext cx="152400" cy="152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1CF-6FB2-4FCE-A971-5E1D4AF62D71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0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20" grpId="0"/>
      <p:bldP spid="21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4" grpId="0" animBg="1"/>
      <p:bldP spid="33" grpId="0" animBg="1"/>
      <p:bldP spid="34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2488</TotalTime>
  <Words>1935</Words>
  <Application>Microsoft Macintosh PowerPoint</Application>
  <PresentationFormat>On-screen Show (4:3)</PresentationFormat>
  <Paragraphs>760</Paragraphs>
  <Slides>42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-apple-system</vt:lpstr>
      <vt:lpstr>Arial</vt:lpstr>
      <vt:lpstr>Calibri</vt:lpstr>
      <vt:lpstr>Calibri Light</vt:lpstr>
      <vt:lpstr>Cambria Math</vt:lpstr>
      <vt:lpstr>Roboto</vt:lpstr>
      <vt:lpstr>Times</vt:lpstr>
      <vt:lpstr>Wingdings</vt:lpstr>
      <vt:lpstr>Office 佈景主題</vt:lpstr>
      <vt:lpstr>方程式</vt:lpstr>
      <vt:lpstr>點陣圖影像</vt:lpstr>
      <vt:lpstr>COMP 6246  Machine Learning Technologies</vt:lpstr>
      <vt:lpstr>Deep learning</vt:lpstr>
      <vt:lpstr>Logistic Regression</vt:lpstr>
      <vt:lpstr>Activation Functions </vt:lpstr>
      <vt:lpstr>Limitation of Logistic Regression</vt:lpstr>
      <vt:lpstr>Limitation of Logistic Regression</vt:lpstr>
      <vt:lpstr>Feature Transformation</vt:lpstr>
      <vt:lpstr>Limitation of Logistic Regression</vt:lpstr>
      <vt:lpstr>Neural Network </vt:lpstr>
      <vt:lpstr>Fully Connect Feedforward Network</vt:lpstr>
      <vt:lpstr>PowerPoint Presentation</vt:lpstr>
      <vt:lpstr>PowerPoint Presentation</vt:lpstr>
      <vt:lpstr>Fully Connect Feedforward Network</vt:lpstr>
      <vt:lpstr>Fully Connect Feedforward Network</vt:lpstr>
      <vt:lpstr>Fully Connect Feedforward Network</vt:lpstr>
      <vt:lpstr>Matrix Operation</vt:lpstr>
      <vt:lpstr>Neural Network </vt:lpstr>
      <vt:lpstr>Neural Network </vt:lpstr>
      <vt:lpstr>Output Layer </vt:lpstr>
      <vt:lpstr>PowerPoint Presentation</vt:lpstr>
      <vt:lpstr>PowerPoint Presentation</vt:lpstr>
      <vt:lpstr>Example Application</vt:lpstr>
      <vt:lpstr>Example Application</vt:lpstr>
      <vt:lpstr>Loss For One Data</vt:lpstr>
      <vt:lpstr>Total Loss</vt:lpstr>
      <vt:lpstr>Training Parameters</vt:lpstr>
      <vt:lpstr>Backpropagation</vt:lpstr>
      <vt:lpstr>Backpropagation</vt:lpstr>
      <vt:lpstr>Backpropagation</vt:lpstr>
      <vt:lpstr>Backpropagation</vt:lpstr>
      <vt:lpstr>Backpropagation</vt:lpstr>
      <vt:lpstr>Why Deep?</vt:lpstr>
      <vt:lpstr>Deep vs Shallow</vt:lpstr>
      <vt:lpstr>Modularization</vt:lpstr>
      <vt:lpstr>Modularization</vt:lpstr>
      <vt:lpstr>Modularization</vt:lpstr>
      <vt:lpstr>Modularization</vt:lpstr>
      <vt:lpstr>Modularization</vt:lpstr>
      <vt:lpstr>Modularization - Image</vt:lpstr>
      <vt:lpstr>Universal Approximation Theorem</vt:lpstr>
      <vt:lpstr>Analogy</vt:lpstr>
      <vt:lpstr>An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cp:lastModifiedBy>adeeba rafi</cp:lastModifiedBy>
  <cp:revision>135</cp:revision>
  <dcterms:created xsi:type="dcterms:W3CDTF">2016-10-09T14:12:16Z</dcterms:created>
  <dcterms:modified xsi:type="dcterms:W3CDTF">2026-10-08T14:44:23Z</dcterms:modified>
</cp:coreProperties>
</file>