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5"/>
  </p:notesMasterIdLst>
  <p:sldIdLst>
    <p:sldId id="418" r:id="rId5"/>
    <p:sldId id="419" r:id="rId6"/>
    <p:sldId id="420" r:id="rId7"/>
    <p:sldId id="296" r:id="rId8"/>
    <p:sldId id="297" r:id="rId9"/>
    <p:sldId id="262" r:id="rId10"/>
    <p:sldId id="364" r:id="rId11"/>
    <p:sldId id="421" r:id="rId12"/>
    <p:sldId id="298" r:id="rId13"/>
    <p:sldId id="299" r:id="rId14"/>
    <p:sldId id="422" r:id="rId15"/>
    <p:sldId id="423" r:id="rId16"/>
    <p:sldId id="287" r:id="rId17"/>
    <p:sldId id="424" r:id="rId18"/>
    <p:sldId id="289" r:id="rId19"/>
    <p:sldId id="291" r:id="rId20"/>
    <p:sldId id="292" r:id="rId21"/>
    <p:sldId id="365" r:id="rId22"/>
    <p:sldId id="425" r:id="rId23"/>
    <p:sldId id="426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C615"/>
    <a:srgbClr val="00FA00"/>
    <a:srgbClr val="FCD005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77045D-405B-F99B-056A-C6CB3F026BFF}" v="7" dt="2025-10-09T09:42:00.784"/>
    <p1510:client id="{72137A64-D8B9-95B3-ED81-4CCDF5107E16}" v="158" dt="2025-10-08T22:54:26.375"/>
    <p1510:client id="{E6BF54E3-8D93-ED31-4869-BD0E0A6B1196}" v="1" dt="2025-10-08T16:44:00.6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20" autoAdjust="0"/>
    <p:restoredTop sz="88810" autoAdjust="0"/>
  </p:normalViewPr>
  <p:slideViewPr>
    <p:cSldViewPr snapToGrid="0">
      <p:cViewPr varScale="1">
        <p:scale>
          <a:sx n="85" d="100"/>
          <a:sy n="85" d="100"/>
        </p:scale>
        <p:origin x="20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0:36:51.6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1327 0 24575,'-9'0'0,"-7"0"0,-8 0 0,-8 0 0,-14 0 0,-4 0 0,-4 0 0,1 0 0,4 6 0,0 6 0,-3 8 0,-2 4 0,4-1 0,3 0 0,3-2 0,4-1 0,2-2 0,6-4 0,6-1 0,0 0 0,-1 1 0,0 2 0,-4 3 0,-5 3 0,-2 1 0,0-1 0,1 0 0,2-3 0,2 3 0,5-2 0,5-4 0,1 2 0,1-1 0,-6 2 0,12-6 0,-4 1 0,12-5 0,-2 3 0,0 1 0,-1 5 0,1 3 0,0 2 0,1 4 0,1 0 0,0 0 0,4 4 0,2 7 0,1 6 0,0 9 0,0 2 0,0 1 0,0 0 0,0 0 0,0 1 0,2 4 0,5 6 0,5-5 0,5 1 0,6-6 0,2-6 0,4-1 0,-3-1 0,-1-6 0,-1-5 0,0-6 0,2-5 0,3 0 0,4 1 0,12 2 0,20 5 0,22 3 0,-32-17 0,4 0 0,7 1 0,3 1 0,3 1 0,2-1 0,3-1 0,3-2 0,3-1 0,4-2 0,-23-7 0,3-2 0,0-1-172,7 1 0,1-2 1,0 0 171,0 0 0,0-2 0,-2 1 0,27-1 0,-5 0 0,-17-1 0,-6 0 0,-14-3 0,-4 0 0,28 0 0,-14-1 0,-8-11 0,-5-12 515,-4-15-515,-1-16 0,-5-12 0,-22 20 0,-1-6 0,3-13 0,-1-7 0,-1-13 0,-2-6 0,-8 25 0,-1-3 0,-2-1-198,-2-4 1,-1-2 0,-1 0 197,-3 1 0,-1 1 0,0 1 0,-2 5 0,0 1 0,0 2 0,0-18 0,0 5 0,1 20 0,-2 4 0,-2-27 0,-8 25 0,-12 12 0,-12 13 592,-9 5-592,-3 3 0,-1 4 0,-1 4 0,-5 3 0,-2 4 0,2 3 0,0 2 0,-1 4 0,-6 0 0,0 0 0,-5 0 0,0 0 0,2 0 0,3 0 0,3 0 0,5 0 0,0 0 0,2 0 0,7 0 0,6 0 0,6 0 0,8-3 0,1 0 0,-5-7 0,12 4 0,-8-3 0,11 5 0,-4-1 0,0 0 0,4-1 0,4 0 0,3 2 0,-3 0 0,4 1 0,-4 0 0,4 3 0,-2 0 0,-1 0 0,-1 0 0,-6 0 0,7 0 0,-10 0 0,2 0 0,4 0 0,-5 0 0,10 0 0,-1 0 0,1 0 0,2 0 0,2 0 0,1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0:36:53.2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24575,'13'0'0,"11"0"0,18 0 0,5 0 0,10 0 0,-23 0 0,6 0 0,-18 0 0,3 0 0,-7 0 0,-8 0 0,-6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0:36:54.7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24575,'5'0'0,"5"0"0,13 0 0,4 0 0,10 0 0,-2 0 0,-4 0 0,-1 0 0,-13 0 0,-1 0 0,-10 0 0,2 0 0,0 0 0,0 0 0,0 0 0,-1 0 0,-1 0 0,-1 0 0,-3 0 0,0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0:36:57.1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1267 1 24575,'-5'4'0,"-2"8"0,-13 24 0,-5 4 0,-4 5 0,-12 12 0,-4 3 0,-6 6 0,-1 1 0,0-2 0,1-4 0,7-12 0,2-4 0,4-4 0,0-4 0,-31 26 0,3-13 0,4-4 0,4-5 0,0-5 0,0-5 0,2-13 0,-1-7 0,3-7 0,9-4 0,6 0 0,8-1 0,10-5 0,4-14 0,6-14 0,2-17 0,0-9 0,5-9 0,1-16 0,3-7 0,0-6 0,7 8 0,8 20 0,7 20 0,6 22 0,-2 17 0,1 8 0,-2 2 0,-3 1 0,1 0 0,0 0 0,4 0 0,5 0 0,5 0 0,9 0 0,10 7 0,3 7 0,1 10 0,-3 8 0,-11-2 0,-2 1 0,-1-1 0,1 4 0,6 7 0,0 2 0,-4 2 0,-5-5 0,-1-5 0,-1-1 0,0-5 0,-4-1 0,-5-5 0,-6-5 0,-1-5 0,0-5 0,5 2 0,5-4 0,0-2 0,-5-1 0,-8-3 0,-6 0 0,-6 0 0,-2 0 0,-1 0 0,0 0 0,0 0 0,0 0 0,1-4 0,3-5 0,1-4 0,2-1 0,0 3 0,-1 0 0,-3 0 0,3-3 0,-7 5 0,2-2 0,-4 9 0,1-6 0,-1 5 0,1-2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0:37:01.6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549 968 24575,'-32'2'0,"15"11"0,2 18 0,14 30 0,-4-13 0,-3 4 0,-4 7 0,-2 2 0,-3 5 0,-3-1 0,-1-4 0,-1-2 0,2-12 0,1-1 0,-14 33 0,7-14 0,1 2 0,-2 3 0,-2 3 0,-4 6 0,4 3 0,0 6 0,-1 7 0,16-47 0,1 1 0,-8 49 0,10-3 0,6-5 0,5-2 0,0 0 0,1-8 0,12-3 0,25-2 0,-8-36 0,5-1 0,11 1 0,4-1 0,8 1 0,2-2 0,6 1 0,4-2 0,15 0 0,6-3-388,-19-9 1,3-1-1,3-2 388,11 0 0,3-1 0,3-2 0,-16-4 0,2-2 0,2 0 0,0-2-387,1 0 0,2-2 0,0-1 0,-1 0 387,-2-2 0,-1-1 0,0 0 0,0-2 0,0 1 0,-1-1 0,0-1 0,-1 0 0,-3 0 0,0-1 0,0 0 0,-1-1 0,24-2 0,-1 0 0,-1-3-273,-3-3 0,0-2 0,-3-3 273,-9-3 0,-1-2 0,-2-3 0,-6-2 0,-3-3 0,-1-2-70,-5-2 1,-3-1-1,-1-2 70,21-14 0,-2-3 0,-3-4 0,-3-4 0,-8-3 0,-2-2 0,-1-2 0,-3-2 0,-2-4 0,-4-2 0,-5 0 0,-3-3 0,-2-3 0,-2-1 0,-6-3 0,-3-1 0,0-4 0,-4 0 0,-5 5 0,-5 0 504,-5 5 0,-4 1-504,-3 4 0,-4 1 773,-2 4 1,-5 1-774,-5-1 0,-7-1 0,-11-1 0,-9-1 0,-13-9 0,-9 1 44,11 24 1,-4 2 0,-3-1-45,-5-1 0,-3 0 0,-2 1 0,-3 2 0,-1 2 0,-3 3 0,-1 2 0,-1 3 0,-2 2 0,-3 0 0,-2 2 0,0 3 0,1 1 0,0 3 0,0 1 0,0 1 0,0 2 0,0 1 0,2 4 0,-1 2 0,1 1 0,3 2 0,0 0 0,1 2 0,2 2 0,2 1 0,0 2 105,-28-4 1,3 4-106,5 1 0,3 3 0,6 3 0,1 3 0,0 0 0,1 2 0,0-1 0,2 0 0,5 0 0,2 0 0,8-1 0,1 2 403,6 1 0,2 4-403,-46 13 33,6 14-33,44-10 0,1 2 0,2 0 0,1 0 0,-37 27 0,8-6 0,18-9 0,8 1 0,9-4 0,0 4 0,0 2 0,4 1 0,-2 10 0,-1 4 0,1 4 0,4-2 0,7-5 0,8-7 0,0 3 0,1 1 0,0 1 0,0-1 0,5-11 0,-1-3 0,7-16 0,0 2 0,5-13 0,0 3 0,0-1 0,0-1 0,0-1 0,0-4 0,0-2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0:37:04.2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684 806 24575,'-9'0'0,"-10"0"0,-13 0 0,-11 0 0,-6 0 0,0 0 0,-1 0 0,-4 4 0,-2 10 0,0 11 0,-3 14 0,5 3 0,5-3 0,8-5 0,12-7 0,11 0 0,7-1 0,6 1 0,4 0 0,1-1 0,0 1 0,0 5 0,1 6 0,6 7 0,14 9 0,14-2 0,14-1 0,3-7 0,-2-11 0,-6-11 0,-8-11 0,-5-8 0,-4-3 0,0 0 0,-1 0 0,-2-5 0,-4-8 0,-6-7 0,-4-12 0,-1-1 0,-2-6 0,-1-6 0,-3-6 0,-3-17 0,0-11 0,0-17 0,0 45 0,0 1 0,0-1 0,0 0 0,0-2 0,0 0 0,0-44 0,0-1 0,0 8 0,0 12 0,0 5 0,0 11 0,0 6 0,0 0 0,0 8 0,0-9 0,0 26 0,0-3 0,0 30 0,0 3 0,0 10 0,0 9 0,0 5 0,0 9 0,1 7 0,7 11 0,7 12 0,5 13 0,7 6 0,-6 0 0,-3-6 0,-4-13 0,-3-6 0,1-7 0,1-4 0,1 0 0,0-5 0,-2-8 0,-1-6 0,-1-3 0,-2-11 0,0 4 0,-1-6 0,5 3 0,4 1 0,-4-5 0,4 1 0,-5-2 0,6 3 0,0 1 0,2 0 0,3 4 0,6 4 0,4 5 0,6 0 0,0-2 0,-5-3 0,-2-5 0,-6-3 0,-5-6 0,-5-2 0,-5-2 0,-6-2 0,-1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0:37:09.8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24575,'52'0'0,"6"0"0,5 0 0,-12 0 0,5 0 0,10 0 0,9 0 0,-2 0 0,-7 0 0,0 0 0,3 0-925,18 0 0,6 0 1,2 0 924,-15 0 0,3 0 0,0 0 0,2 0-351,3 0 0,2 0 0,0 0 0,-1 0 351,0 0 0,1 0 0,-1 0 0,-1 0 0,-4 0 0,0 0 0,-1 0 0,-3 0 216,12 0 0,-4 0 0,-5 0-216,19 0 0,-8 0 0,-23 0 0,-7 0 0,27 0 1280,-27 0-1280,-19 0 1884,-7 0-1884,-7 0 366,-4 0-366,-3 0 0,-3 0 0,-5 0 0,-4 0 0,-1 0 0,-1 0 0,-5 0 0,-2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0:37:26.7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 24575,'22'0'0,"28"0"0,37 0 0,-37 0 0,0 0 0,46 0 0,-18-2 0,-18-1 0,-15-1 0,-12 1 0,-12 2 0,-7 1 0,-8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0:37:24.0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91 24575,'9'0'0,"21"0"0,2 0 0,42 0 0,11 0 0,-30-1 0,3 0 0,4 0 0,1-1 0,-3-3 0,-2-2 0,-6-1 0,-3-1 0,28-10 0,-25 3 0,-10 8 0,-26 3 0,5 2 0,-20 0 0,2 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0:37:25.5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24575,'0'28'0,"0"32"0,0-19 0,0 37 0,0-32 0,0 13 0,0-1 0,0-11 0,0-9 0,0-7 0,0-4 0,0-2 0,0-2 0,0-3 0,0-1 0,0 7 0,0-11 0,0 6 0,0-12 0,0 1 0,0 0 0,0-1 0,0-2 0,0 1 0,0-3 0,0 1 0,0-2 0,0-1 0,0-1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0:37:28.3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24575,'9'0'0,"3"0"0,28 0 0,-20 0 0,22 0 0,-25 0 0,7 0 0,3 0 0,-1 0 0,1 0 0,-3 0 0,-3 0 0,-3 0 0,-4 0 0,0 0 0,2 0 0,2 0 0,0 0 0,-1 0 0,-4 0 0,5 0 0,-9 0 0,4 0 0,-11 0 0,1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0:37:29.4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24575,'26'0'0,"24"0"0,19 0 0,1 0 0,-15 0 0,-21 0 0,-13 0 0,-9 0 0,-5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0:37:32.1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19 236 24575,'0'-11'0,"0"-9"0,0 4 0,0-7 0,0 9 0,0-4 0,3 0 0,0 0 0,3 2 0,0 1 0,-2 3 0,-1 2 0,3 5 0,-4 0 0,4 0 0,-6 0 0,2 1 0,1-1 0,0 0 0,-1 0 0,4 0 0,-5 4 0,5 4 0,-6 10 0,0 8 0,0 11 0,0 7 0,0 5 0,0 2 0,0 0 0,0 2 0,4 5 0,0 2 0,1 6 0,-1-1 0,1 1 0,0-1 0,-1-4 0,0-2 0,0-6 0,1-5 0,0-6 0,-1-6 0,-4-5 0,0-5 0,0-5 0,0-7 0,0-2 0,-2-1 0,-3 0 0,-4 1 0,-4-1 0,3 0 0,-3-1 0,5-2 0,-2 2 0,0-2 0,0 0 0,0 5 0,1-6 0,3 3 0,2-5 0,-1 0 0,0 0 0,1 0 0,4 0 0,7 0 0,13-5 0,-3 3 0,13-8 0,-6 6 0,7-1 0,5 1 0,2 4 0,6 0 0,8 0 0,2 0 0,-4 0 0,-2 0 0,-9 0 0,-1 0 0,0 0 0,-5 0 0,-6 0 0,-8 0 0,-10 0 0,-4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1F07EA-88EC-4767-BB4F-E1CC25BC4348}" type="datetimeFigureOut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5B0D6-157A-40CD-94B8-01C032586C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8796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5B0D6-157A-40CD-94B8-01C032586C1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1467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5B0D6-157A-40CD-94B8-01C032586C1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20103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TW" sz="1200" dirty="0"/>
                  <a:t>We use an ML algorithm to obtain a function </a:t>
                </a:r>
                <a:r>
                  <a:rPr lang="en-US" altLang="zh-TW" sz="1200" b="0" i="0">
                    <a:latin typeface="Cambria Math" panose="02040503050406030204" pitchFamily="18" charset="0"/>
                  </a:rPr>
                  <a:t>𝑓_1 </a:t>
                </a:r>
                <a:r>
                  <a:rPr lang="en-US" altLang="zh-TW" sz="1200" i="0">
                    <a:latin typeface="Cambria Math" panose="02040503050406030204" pitchFamily="18" charset="0"/>
                  </a:rPr>
                  <a:t>(</a:t>
                </a:r>
                <a:r>
                  <a:rPr lang="en-US" altLang="zh-TW" sz="1200" b="0" i="0">
                    <a:latin typeface="Cambria Math" panose="02040503050406030204" pitchFamily="18" charset="0"/>
                  </a:rPr>
                  <a:t>𝑥)</a:t>
                </a:r>
                <a:endParaRPr lang="en-US" altLang="zh-TW" sz="1200" dirty="0"/>
              </a:p>
              <a:p>
                <a:r>
                  <a:rPr lang="en-US" altLang="zh-TW" sz="1200" dirty="0"/>
                  <a:t>If </a:t>
                </a:r>
                <a:r>
                  <a:rPr lang="en-US" altLang="zh-TW" sz="1200" b="0" i="0">
                    <a:latin typeface="Cambria Math" panose="02040503050406030204" pitchFamily="18" charset="0"/>
                  </a:rPr>
                  <a:t>𝑓_</a:t>
                </a:r>
                <a:r>
                  <a:rPr lang="en-US" altLang="zh-TW" sz="1200" i="0">
                    <a:latin typeface="Cambria Math" panose="02040503050406030204" pitchFamily="18" charset="0"/>
                  </a:rPr>
                  <a:t>1 (𝑥)</a:t>
                </a:r>
                <a:r>
                  <a:rPr lang="zh-TW" altLang="en-US" sz="1200" dirty="0"/>
                  <a:t> </a:t>
                </a:r>
                <a:r>
                  <a:rPr lang="en-US" altLang="zh-TW" sz="1200" dirty="0"/>
                  <a:t>is weak, i.e.</a:t>
                </a:r>
                <a:r>
                  <a:rPr lang="zh-TW" altLang="en-US" sz="1200" dirty="0"/>
                  <a:t> </a:t>
                </a:r>
                <a:r>
                  <a:rPr lang="en-US" altLang="zh-TW" sz="1200" dirty="0"/>
                  <a:t>bad performance on training data, what can we do?</a:t>
                </a:r>
              </a:p>
              <a:p>
                <a:endParaRPr lang="zh-TW" altLang="en-US" dirty="0"/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A5B0D6-157A-40CD-94B8-01C032586C1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71990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A5B0D6-157A-40CD-94B8-01C032586C1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47442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sz="1200" i="0">
                    <a:latin typeface="Cambria Math" panose="02040503050406030204" pitchFamily="18" charset="0"/>
                  </a:rPr>
                  <a:t>𝜖</a:t>
                </a:r>
                <a:r>
                  <a:rPr lang="en-US" altLang="zh-TW" sz="1200" i="0">
                    <a:latin typeface="Cambria Math" panose="02040503050406030204" pitchFamily="18" charset="0"/>
                  </a:rPr>
                  <a:t>^</a:t>
                </a:r>
                <a:r>
                  <a:rPr lang="en-US" altLang="zh-TW" sz="1200" b="0" i="0">
                    <a:latin typeface="Cambria Math" panose="02040503050406030204" pitchFamily="18" charset="0"/>
                  </a:rPr>
                  <a:t>1&gt;0.5</a:t>
                </a:r>
                <a:endParaRPr lang="zh-TW" altLang="en-US" sz="1200" dirty="0"/>
              </a:p>
              <a:p>
                <a:endParaRPr lang="zh-TW" altLang="en-US" dirty="0"/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A5B0D6-157A-40CD-94B8-01C032586C1E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34250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5B0D6-157A-40CD-94B8-01C032586C1E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43825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A5B0D6-157A-40CD-94B8-01C032586C1E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1182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A5B0D6-157A-40CD-94B8-01C032586C1E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96965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/>
              <a:t>Decison</a:t>
            </a:r>
            <a:r>
              <a:rPr lang="en-US" altLang="zh-TW" dirty="0"/>
              <a:t> is +-1 </a:t>
            </a:r>
            <a:br>
              <a:rPr lang="en-US" altLang="zh-TW" dirty="0"/>
            </a:br>
            <a:r>
              <a:rPr lang="en-US" altLang="zh-TW" dirty="0"/>
              <a:t>if wrong sign is -1</a:t>
            </a:r>
            <a:br>
              <a:rPr lang="en-US" altLang="zh-TW" dirty="0"/>
            </a:br>
            <a:r>
              <a:rPr lang="en-US" altLang="zh-TW" dirty="0"/>
              <a:t>if correct +1 </a:t>
            </a:r>
          </a:p>
          <a:p>
            <a:r>
              <a:rPr lang="en-US" altLang="zh-TW" dirty="0"/>
              <a:t>That’s why – sign is correct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A5B0D6-157A-40CD-94B8-01C032586C1E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30197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A5B0D6-157A-40CD-94B8-01C032586C1E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6206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1991C-E7AC-4A20-BF0A-40F43E995C0C}" type="datetime1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1706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574F9-66C0-424A-A9DE-897F6FEBE4C8}" type="datetime1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4913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9D2A9-45E3-47A9-802E-30698E62949C}" type="datetime1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5234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5F4CA-0920-40B7-AFEA-3E6597BF8CF3}" type="datetime1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6944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B8AEE-3FF3-4926-A6C0-AFFAB37FCFB8}" type="datetime1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9461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2962B-1796-4DAC-A8CE-9FACAE48E4E4}" type="datetime1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524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6B920-C118-43AD-B327-BC98780E34F0}" type="datetime1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9531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B0F9F-71EE-4556-94E7-0E549194A16C}" type="datetime1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4689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162F9-A2E0-48EC-9580-747BCAE24B01}" type="datetime1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2920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5819-F02A-4B71-B7FC-F38CE20252F5}" type="datetime1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5343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19BD0-7FCE-4070-9C31-20FB5A17E6D9}" type="datetime1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5572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F14C2A-1593-4510-BEEF-46DD827598B5}" type="datetime1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D349C-D663-4592-A09C-DDAEC02164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7646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0.png"/><Relationship Id="rId3" Type="http://schemas.openxmlformats.org/officeDocument/2006/relationships/image" Target="../media/image410.png"/><Relationship Id="rId7" Type="http://schemas.openxmlformats.org/officeDocument/2006/relationships/image" Target="../media/image8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0.png"/><Relationship Id="rId5" Type="http://schemas.openxmlformats.org/officeDocument/2006/relationships/image" Target="../media/image611.png"/><Relationship Id="rId10" Type="http://schemas.openxmlformats.org/officeDocument/2006/relationships/image" Target="../media/image1110.png"/><Relationship Id="rId4" Type="http://schemas.openxmlformats.org/officeDocument/2006/relationships/image" Target="../media/image511.png"/><Relationship Id="rId9" Type="http://schemas.openxmlformats.org/officeDocument/2006/relationships/image" Target="../media/image10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0" Type="http://schemas.openxmlformats.org/officeDocument/2006/relationships/image" Target="../media/image1.jp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5.png"/><Relationship Id="rId3" Type="http://schemas.openxmlformats.org/officeDocument/2006/relationships/image" Target="../media/image9.png"/><Relationship Id="rId21" Type="http://schemas.openxmlformats.org/officeDocument/2006/relationships/image" Target="../media/image28.png"/><Relationship Id="rId7" Type="http://schemas.openxmlformats.org/officeDocument/2006/relationships/image" Target="../media/image13.png"/><Relationship Id="rId12" Type="http://schemas.openxmlformats.org/officeDocument/2006/relationships/image" Target="../media/image17.pn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.jpg"/><Relationship Id="rId5" Type="http://schemas.openxmlformats.org/officeDocument/2006/relationships/image" Target="../media/image11.png"/><Relationship Id="rId15" Type="http://schemas.openxmlformats.org/officeDocument/2006/relationships/image" Target="../media/image22.png"/><Relationship Id="rId10" Type="http://schemas.openxmlformats.org/officeDocument/2006/relationships/image" Target="../media/image16.png"/><Relationship Id="rId19" Type="http://schemas.openxmlformats.org/officeDocument/2006/relationships/image" Target="../media/image2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1.png"/><Relationship Id="rId22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.xml"/><Relationship Id="rId18" Type="http://schemas.openxmlformats.org/officeDocument/2006/relationships/image" Target="../media/image44.png"/><Relationship Id="rId26" Type="http://schemas.openxmlformats.org/officeDocument/2006/relationships/image" Target="../media/image48.png"/><Relationship Id="rId3" Type="http://schemas.openxmlformats.org/officeDocument/2006/relationships/image" Target="../media/image36.png"/><Relationship Id="rId21" Type="http://schemas.openxmlformats.org/officeDocument/2006/relationships/customXml" Target="../ink/ink6.xml"/><Relationship Id="rId34" Type="http://schemas.openxmlformats.org/officeDocument/2006/relationships/image" Target="../media/image52.png"/><Relationship Id="rId7" Type="http://schemas.openxmlformats.org/officeDocument/2006/relationships/image" Target="../media/image40.png"/><Relationship Id="rId12" Type="http://schemas.openxmlformats.org/officeDocument/2006/relationships/image" Target="../media/image35.png"/><Relationship Id="rId17" Type="http://schemas.openxmlformats.org/officeDocument/2006/relationships/customXml" Target="../ink/ink4.xml"/><Relationship Id="rId25" Type="http://schemas.openxmlformats.org/officeDocument/2006/relationships/customXml" Target="../ink/ink8.xml"/><Relationship Id="rId33" Type="http://schemas.openxmlformats.org/officeDocument/2006/relationships/customXml" Target="../ink/ink12.xml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38.png"/><Relationship Id="rId20" Type="http://schemas.openxmlformats.org/officeDocument/2006/relationships/image" Target="../media/image45.png"/><Relationship Id="rId29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customXml" Target="../ink/ink1.xml"/><Relationship Id="rId24" Type="http://schemas.openxmlformats.org/officeDocument/2006/relationships/image" Target="../media/image47.png"/><Relationship Id="rId32" Type="http://schemas.openxmlformats.org/officeDocument/2006/relationships/image" Target="../media/image51.png"/><Relationship Id="rId15" Type="http://schemas.openxmlformats.org/officeDocument/2006/relationships/customXml" Target="../ink/ink3.xml"/><Relationship Id="rId23" Type="http://schemas.openxmlformats.org/officeDocument/2006/relationships/customXml" Target="../ink/ink7.xml"/><Relationship Id="rId28" Type="http://schemas.openxmlformats.org/officeDocument/2006/relationships/image" Target="../media/image49.png"/><Relationship Id="rId36" Type="http://schemas.openxmlformats.org/officeDocument/2006/relationships/image" Target="../media/image53.png"/><Relationship Id="rId10" Type="http://schemas.openxmlformats.org/officeDocument/2006/relationships/image" Target="../media/image43.png"/><Relationship Id="rId19" Type="http://schemas.openxmlformats.org/officeDocument/2006/relationships/customXml" Target="../ink/ink5.xml"/><Relationship Id="rId31" Type="http://schemas.openxmlformats.org/officeDocument/2006/relationships/customXml" Target="../ink/ink11.xml"/><Relationship Id="rId9" Type="http://schemas.openxmlformats.org/officeDocument/2006/relationships/image" Target="../media/image42.png"/><Relationship Id="rId14" Type="http://schemas.openxmlformats.org/officeDocument/2006/relationships/image" Target="../media/image37.png"/><Relationship Id="rId22" Type="http://schemas.openxmlformats.org/officeDocument/2006/relationships/image" Target="../media/image46.png"/><Relationship Id="rId27" Type="http://schemas.openxmlformats.org/officeDocument/2006/relationships/customXml" Target="../ink/ink9.xml"/><Relationship Id="rId30" Type="http://schemas.openxmlformats.org/officeDocument/2006/relationships/image" Target="../media/image50.png"/><Relationship Id="rId35" Type="http://schemas.openxmlformats.org/officeDocument/2006/relationships/customXml" Target="../ink/ink13.xml"/><Relationship Id="rId8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0.png"/><Relationship Id="rId3" Type="http://schemas.openxmlformats.org/officeDocument/2006/relationships/image" Target="../media/image440.png"/><Relationship Id="rId7" Type="http://schemas.openxmlformats.org/officeDocument/2006/relationships/image" Target="../media/image46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0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8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0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0.png"/><Relationship Id="rId10" Type="http://schemas.openxmlformats.org/officeDocument/2006/relationships/image" Target="../media/image58.png"/><Relationship Id="rId4" Type="http://schemas.openxmlformats.org/officeDocument/2006/relationships/image" Target="../media/image520.png"/><Relationship Id="rId9" Type="http://schemas.openxmlformats.org/officeDocument/2006/relationships/image" Target="../media/image5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1.png"/><Relationship Id="rId2" Type="http://schemas.openxmlformats.org/officeDocument/2006/relationships/image" Target="../media/image5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0.png"/><Relationship Id="rId4" Type="http://schemas.openxmlformats.org/officeDocument/2006/relationships/image" Target="../media/image60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630.png"/><Relationship Id="rId7" Type="http://schemas.openxmlformats.org/officeDocument/2006/relationships/image" Target="../media/image670.png"/><Relationship Id="rId2" Type="http://schemas.openxmlformats.org/officeDocument/2006/relationships/image" Target="../media/image6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0.png"/><Relationship Id="rId5" Type="http://schemas.openxmlformats.org/officeDocument/2006/relationships/image" Target="../media/image650.png"/><Relationship Id="rId4" Type="http://schemas.openxmlformats.org/officeDocument/2006/relationships/image" Target="../media/image64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0.png"/><Relationship Id="rId13" Type="http://schemas.openxmlformats.org/officeDocument/2006/relationships/image" Target="../media/image790.png"/><Relationship Id="rId3" Type="http://schemas.openxmlformats.org/officeDocument/2006/relationships/image" Target="../media/image700.png"/><Relationship Id="rId7" Type="http://schemas.openxmlformats.org/officeDocument/2006/relationships/image" Target="../media/image62.png"/><Relationship Id="rId12" Type="http://schemas.openxmlformats.org/officeDocument/2006/relationships/image" Target="../media/image780.png"/><Relationship Id="rId2" Type="http://schemas.openxmlformats.org/officeDocument/2006/relationships/image" Target="../media/image6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0.png"/><Relationship Id="rId11" Type="http://schemas.openxmlformats.org/officeDocument/2006/relationships/image" Target="../media/image770.png"/><Relationship Id="rId5" Type="http://schemas.openxmlformats.org/officeDocument/2006/relationships/image" Target="../media/image711.png"/><Relationship Id="rId10" Type="http://schemas.openxmlformats.org/officeDocument/2006/relationships/image" Target="../media/image760.png"/><Relationship Id="rId4" Type="http://schemas.openxmlformats.org/officeDocument/2006/relationships/image" Target="../media/image61.png"/><Relationship Id="rId9" Type="http://schemas.openxmlformats.org/officeDocument/2006/relationships/image" Target="../media/image750.png"/><Relationship Id="rId14" Type="http://schemas.openxmlformats.org/officeDocument/2006/relationships/image" Target="../media/image6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7" Type="http://schemas.openxmlformats.org/officeDocument/2006/relationships/image" Target="../media/image840.png"/><Relationship Id="rId12" Type="http://schemas.openxmlformats.org/officeDocument/2006/relationships/image" Target="../media/image63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62.png"/><Relationship Id="rId5" Type="http://schemas.openxmlformats.org/officeDocument/2006/relationships/image" Target="../media/image83.png"/><Relationship Id="rId10" Type="http://schemas.openxmlformats.org/officeDocument/2006/relationships/image" Target="../media/image86.png"/><Relationship Id="rId4" Type="http://schemas.openxmlformats.org/officeDocument/2006/relationships/image" Target="../media/image61.png"/><Relationship Id="rId9" Type="http://schemas.openxmlformats.org/officeDocument/2006/relationships/image" Target="../media/image85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84034"/>
            <a:ext cx="7772400" cy="1470025"/>
          </a:xfrm>
        </p:spPr>
        <p:txBody>
          <a:bodyPr>
            <a:normAutofit/>
          </a:bodyPr>
          <a:lstStyle/>
          <a:p>
            <a:r>
              <a:rPr lang="en-US" sz="3500" dirty="0">
                <a:latin typeface="Apple Braille"/>
              </a:rPr>
              <a:t>COMP6246 Machine Learning Technologies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1580" y="3862535"/>
            <a:ext cx="7016620" cy="1752600"/>
          </a:xfrm>
        </p:spPr>
        <p:txBody>
          <a:bodyPr>
            <a:normAutofit/>
          </a:bodyPr>
          <a:lstStyle/>
          <a:p>
            <a:r>
              <a:rPr lang="en-US" dirty="0">
                <a:latin typeface="Apple Braille" pitchFamily="2" charset="0"/>
              </a:rPr>
              <a:t>Dr Mohammad Soorati</a:t>
            </a:r>
          </a:p>
          <a:p>
            <a:r>
              <a:rPr lang="en-US" dirty="0">
                <a:latin typeface="Apple Braille" pitchFamily="2" charset="0"/>
              </a:rPr>
              <a:t>School of Electronics and Computer Science</a:t>
            </a:r>
          </a:p>
          <a:p>
            <a:r>
              <a:rPr lang="en-US" dirty="0">
                <a:latin typeface="Apple Braille" pitchFamily="2" charset="0"/>
              </a:rPr>
              <a:t>University of Southampton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788437" y="2159373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>
                <a:latin typeface="Apple Braille" pitchFamily="2" charset="0"/>
              </a:rPr>
              <a:t>Ensemble Learning:</a:t>
            </a:r>
          </a:p>
          <a:p>
            <a:r>
              <a:rPr lang="en-US" sz="3500" dirty="0">
                <a:latin typeface="Apple Braille" pitchFamily="2" charset="0"/>
              </a:rPr>
              <a:t>Boosting</a:t>
            </a:r>
          </a:p>
        </p:txBody>
      </p:sp>
    </p:spTree>
    <p:extLst>
      <p:ext uri="{BB962C8B-B14F-4D97-AF65-F5344CB8AC3E}">
        <p14:creationId xmlns:p14="http://schemas.microsoft.com/office/powerpoint/2010/main" val="330319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FFCBB-447B-3CCB-5304-66BD842C1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 vs Boosting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9A42C1D-645F-EF41-AE5A-A4C02501BD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6607948"/>
              </p:ext>
            </p:extLst>
          </p:nvPr>
        </p:nvGraphicFramePr>
        <p:xfrm>
          <a:off x="628650" y="1839506"/>
          <a:ext cx="7886700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3350">
                  <a:extLst>
                    <a:ext uri="{9D8B030D-6E8A-4147-A177-3AD203B41FA5}">
                      <a16:colId xmlns:a16="http://schemas.microsoft.com/office/drawing/2014/main" val="2275627027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1527048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Random Forest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Boosting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2936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Random tree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Stumps (one root, two leaves)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0086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Each tree usually has equal vote in aggregated decision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Different stumps have different significance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8919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Each tree is made independently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Order is important, error of one stump influences the next stump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069894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1A1AB4-B7A8-E796-BD43-219E117EF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2</a:t>
            </a:fld>
            <a:endParaRPr lang="zh-TW" alt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090BFC7-39BC-45A4-38E2-06327AF9EC70}"/>
              </a:ext>
            </a:extLst>
          </p:cNvPr>
          <p:cNvGrpSpPr/>
          <p:nvPr/>
        </p:nvGrpSpPr>
        <p:grpSpPr>
          <a:xfrm>
            <a:off x="248668" y="4211948"/>
            <a:ext cx="1174348" cy="935967"/>
            <a:chOff x="1638300" y="5139159"/>
            <a:chExt cx="1174348" cy="935967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7BA09BAF-7AF4-D382-74C9-46581B23027D}"/>
                </a:ext>
              </a:extLst>
            </p:cNvPr>
            <p:cNvSpPr/>
            <p:nvPr/>
          </p:nvSpPr>
          <p:spPr>
            <a:xfrm>
              <a:off x="2152891" y="5139159"/>
              <a:ext cx="509286" cy="277793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85A97D1-0DCD-58B1-FDE8-4A25152E3A3C}"/>
                </a:ext>
              </a:extLst>
            </p:cNvPr>
            <p:cNvCxnSpPr/>
            <p:nvPr/>
          </p:nvCxnSpPr>
          <p:spPr>
            <a:xfrm flipH="1">
              <a:off x="2002420" y="5450092"/>
              <a:ext cx="300942" cy="347241"/>
            </a:xfrm>
            <a:prstGeom prst="straightConnector1">
              <a:avLst/>
            </a:prstGeom>
            <a:ln w="50800">
              <a:headEnd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4F79F81-6B8D-3749-455E-8E898FBF31C6}"/>
                </a:ext>
              </a:extLst>
            </p:cNvPr>
            <p:cNvCxnSpPr>
              <a:cxnSpLocks/>
            </p:cNvCxnSpPr>
            <p:nvPr/>
          </p:nvCxnSpPr>
          <p:spPr>
            <a:xfrm>
              <a:off x="2501096" y="5450092"/>
              <a:ext cx="311552" cy="347241"/>
            </a:xfrm>
            <a:prstGeom prst="straightConnector1">
              <a:avLst/>
            </a:prstGeom>
            <a:ln w="50800">
              <a:headEnd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7E78E8C3-321F-1E91-B81E-AD0D2039A059}"/>
                </a:ext>
              </a:extLst>
            </p:cNvPr>
            <p:cNvSpPr/>
            <p:nvPr/>
          </p:nvSpPr>
          <p:spPr>
            <a:xfrm>
              <a:off x="1638300" y="5797333"/>
              <a:ext cx="509286" cy="277793"/>
            </a:xfrm>
            <a:prstGeom prst="roundRect">
              <a:avLst/>
            </a:prstGeom>
            <a:solidFill>
              <a:srgbClr val="00FA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CDBC1F17-8749-8410-8F62-8080CC734B2E}"/>
              </a:ext>
            </a:extLst>
          </p:cNvPr>
          <p:cNvGrpSpPr/>
          <p:nvPr/>
        </p:nvGrpSpPr>
        <p:grpSpPr>
          <a:xfrm>
            <a:off x="2030204" y="4159253"/>
            <a:ext cx="2337121" cy="1623688"/>
            <a:chOff x="1602611" y="4984003"/>
            <a:chExt cx="2337121" cy="1623688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DB20CC-B8B3-0FA1-011A-C6A3CE4E50C3}"/>
                </a:ext>
              </a:extLst>
            </p:cNvPr>
            <p:cNvGrpSpPr/>
            <p:nvPr/>
          </p:nvGrpSpPr>
          <p:grpSpPr>
            <a:xfrm>
              <a:off x="2465407" y="4984003"/>
              <a:ext cx="810228" cy="658174"/>
              <a:chOff x="2002420" y="5139159"/>
              <a:chExt cx="810228" cy="658174"/>
            </a:xfrm>
          </p:grpSpPr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06FD94CC-3EAB-6A6E-2951-AA3C90907301}"/>
                  </a:ext>
                </a:extLst>
              </p:cNvPr>
              <p:cNvSpPr/>
              <p:nvPr/>
            </p:nvSpPr>
            <p:spPr>
              <a:xfrm>
                <a:off x="2152891" y="5139159"/>
                <a:ext cx="509286" cy="277793"/>
              </a:xfrm>
              <a:prstGeom prst="round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093062F6-062D-8C61-393A-35F9E03C660E}"/>
                  </a:ext>
                </a:extLst>
              </p:cNvPr>
              <p:cNvCxnSpPr/>
              <p:nvPr/>
            </p:nvCxnSpPr>
            <p:spPr>
              <a:xfrm flipH="1">
                <a:off x="2002420" y="5450092"/>
                <a:ext cx="300942" cy="347241"/>
              </a:xfrm>
              <a:prstGeom prst="straightConnector1">
                <a:avLst/>
              </a:prstGeom>
              <a:ln w="50800">
                <a:headEnd w="lg" len="lg"/>
                <a:tailEnd type="stealth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547F77F5-B377-114E-9216-2CEEA4E872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01096" y="5450092"/>
                <a:ext cx="311552" cy="347241"/>
              </a:xfrm>
              <a:prstGeom prst="straightConnector1">
                <a:avLst/>
              </a:prstGeom>
              <a:ln w="50800">
                <a:headEnd w="lg" len="lg"/>
                <a:tailEnd type="stealth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42BE7FC-2529-1832-7222-0B9DC49B983E}"/>
                </a:ext>
              </a:extLst>
            </p:cNvPr>
            <p:cNvGrpSpPr/>
            <p:nvPr/>
          </p:nvGrpSpPr>
          <p:grpSpPr>
            <a:xfrm>
              <a:off x="1602611" y="5949183"/>
              <a:ext cx="1428991" cy="635026"/>
              <a:chOff x="1638300" y="5450092"/>
              <a:chExt cx="1428991" cy="635026"/>
            </a:xfrm>
          </p:grpSpPr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C6FD0E08-D112-2120-3184-016152424CF2}"/>
                  </a:ext>
                </a:extLst>
              </p:cNvPr>
              <p:cNvCxnSpPr/>
              <p:nvPr/>
            </p:nvCxnSpPr>
            <p:spPr>
              <a:xfrm flipH="1">
                <a:off x="2002420" y="5450092"/>
                <a:ext cx="300942" cy="347241"/>
              </a:xfrm>
              <a:prstGeom prst="straightConnector1">
                <a:avLst/>
              </a:prstGeom>
              <a:ln w="50800">
                <a:headEnd w="lg" len="lg"/>
                <a:tailEnd type="stealth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D3F3BF9A-12B6-F729-FE33-34818F715EB6}"/>
                  </a:ext>
                </a:extLst>
              </p:cNvPr>
              <p:cNvSpPr/>
              <p:nvPr/>
            </p:nvSpPr>
            <p:spPr>
              <a:xfrm>
                <a:off x="1638300" y="5797333"/>
                <a:ext cx="509286" cy="277793"/>
              </a:xfrm>
              <a:prstGeom prst="roundRect">
                <a:avLst/>
              </a:prstGeom>
              <a:solidFill>
                <a:srgbClr val="00FA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ounded Rectangle 30">
                <a:extLst>
                  <a:ext uri="{FF2B5EF4-FFF2-40B4-BE49-F238E27FC236}">
                    <a16:creationId xmlns:a16="http://schemas.microsoft.com/office/drawing/2014/main" id="{6143D0CB-04B0-702E-BD50-8C22573420B8}"/>
                  </a:ext>
                </a:extLst>
              </p:cNvPr>
              <p:cNvSpPr/>
              <p:nvPr/>
            </p:nvSpPr>
            <p:spPr>
              <a:xfrm>
                <a:off x="2558005" y="5807325"/>
                <a:ext cx="509286" cy="277793"/>
              </a:xfrm>
              <a:prstGeom prst="roundRect">
                <a:avLst/>
              </a:prstGeom>
              <a:solidFill>
                <a:srgbClr val="00FA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C2FBC6C-1D99-FC15-F5FC-33D1175C3004}"/>
                </a:ext>
              </a:extLst>
            </p:cNvPr>
            <p:cNvGrpSpPr/>
            <p:nvPr/>
          </p:nvGrpSpPr>
          <p:grpSpPr>
            <a:xfrm>
              <a:off x="2874861" y="5972665"/>
              <a:ext cx="1064871" cy="635026"/>
              <a:chOff x="2002420" y="5450092"/>
              <a:chExt cx="1064871" cy="635026"/>
            </a:xfrm>
          </p:grpSpPr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D0C32FB2-9892-A7BF-9A2F-27CA3F0B9903}"/>
                  </a:ext>
                </a:extLst>
              </p:cNvPr>
              <p:cNvCxnSpPr/>
              <p:nvPr/>
            </p:nvCxnSpPr>
            <p:spPr>
              <a:xfrm flipH="1">
                <a:off x="2002420" y="5450092"/>
                <a:ext cx="300942" cy="347241"/>
              </a:xfrm>
              <a:prstGeom prst="straightConnector1">
                <a:avLst/>
              </a:prstGeom>
              <a:ln w="50800">
                <a:headEnd w="lg" len="lg"/>
                <a:tailEnd type="stealth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19AFE738-6B66-8FBF-29CF-C6E1F989FF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01096" y="5450092"/>
                <a:ext cx="311552" cy="347241"/>
              </a:xfrm>
              <a:prstGeom prst="straightConnector1">
                <a:avLst/>
              </a:prstGeom>
              <a:ln w="50800">
                <a:headEnd w="lg" len="lg"/>
                <a:tailEnd type="stealth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7" name="Rounded Rectangle 36">
                <a:extLst>
                  <a:ext uri="{FF2B5EF4-FFF2-40B4-BE49-F238E27FC236}">
                    <a16:creationId xmlns:a16="http://schemas.microsoft.com/office/drawing/2014/main" id="{9E2A3D10-D8AB-DB3B-F54A-5DD4E021D3EB}"/>
                  </a:ext>
                </a:extLst>
              </p:cNvPr>
              <p:cNvSpPr/>
              <p:nvPr/>
            </p:nvSpPr>
            <p:spPr>
              <a:xfrm>
                <a:off x="2558005" y="5807325"/>
                <a:ext cx="509286" cy="277793"/>
              </a:xfrm>
              <a:prstGeom prst="roundRect">
                <a:avLst/>
              </a:prstGeom>
              <a:solidFill>
                <a:srgbClr val="00FA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418C7B05-F5D3-8D10-B8C2-1769284E806C}"/>
                </a:ext>
              </a:extLst>
            </p:cNvPr>
            <p:cNvSpPr/>
            <p:nvPr/>
          </p:nvSpPr>
          <p:spPr>
            <a:xfrm>
              <a:off x="2117202" y="5638250"/>
              <a:ext cx="509286" cy="277793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7A3E3057-2C57-EC8A-DB62-09BE7DA080AE}"/>
                </a:ext>
              </a:extLst>
            </p:cNvPr>
            <p:cNvSpPr/>
            <p:nvPr/>
          </p:nvSpPr>
          <p:spPr>
            <a:xfrm>
              <a:off x="3025332" y="5661732"/>
              <a:ext cx="509286" cy="277793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B88C29F-B7C7-BE59-7C96-F917C367F719}"/>
              </a:ext>
            </a:extLst>
          </p:cNvPr>
          <p:cNvCxnSpPr/>
          <p:nvPr/>
        </p:nvCxnSpPr>
        <p:spPr>
          <a:xfrm flipH="1">
            <a:off x="1024895" y="5184492"/>
            <a:ext cx="300942" cy="347241"/>
          </a:xfrm>
          <a:prstGeom prst="straightConnector1">
            <a:avLst/>
          </a:prstGeom>
          <a:ln w="50800">
            <a:headEnd w="lg" len="lg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1F73A4BD-6C8B-1795-B139-3FDBB53855AD}"/>
              </a:ext>
            </a:extLst>
          </p:cNvPr>
          <p:cNvSpPr/>
          <p:nvPr/>
        </p:nvSpPr>
        <p:spPr>
          <a:xfrm>
            <a:off x="660775" y="5531733"/>
            <a:ext cx="509286" cy="277793"/>
          </a:xfrm>
          <a:prstGeom prst="roundRect">
            <a:avLst/>
          </a:prstGeom>
          <a:solidFill>
            <a:srgbClr val="00FA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1BAED5A2-0530-8BB1-BA5C-57340C53BF75}"/>
              </a:ext>
            </a:extLst>
          </p:cNvPr>
          <p:cNvSpPr/>
          <p:nvPr/>
        </p:nvSpPr>
        <p:spPr>
          <a:xfrm>
            <a:off x="1123038" y="4870122"/>
            <a:ext cx="509286" cy="277793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AF0F4D7-7644-BDFD-366B-1D2F7A3787D3}"/>
              </a:ext>
            </a:extLst>
          </p:cNvPr>
          <p:cNvGrpSpPr/>
          <p:nvPr/>
        </p:nvGrpSpPr>
        <p:grpSpPr>
          <a:xfrm>
            <a:off x="7338896" y="4298149"/>
            <a:ext cx="659493" cy="406491"/>
            <a:chOff x="4694019" y="4891074"/>
            <a:chExt cx="1428991" cy="935967"/>
          </a:xfrm>
        </p:grpSpPr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7266948D-3ABC-CDED-2723-6C8F48157CAB}"/>
                </a:ext>
              </a:extLst>
            </p:cNvPr>
            <p:cNvSpPr/>
            <p:nvPr/>
          </p:nvSpPr>
          <p:spPr>
            <a:xfrm>
              <a:off x="5208610" y="4891074"/>
              <a:ext cx="509286" cy="277793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4C0B7EFD-5B80-69FB-9D2F-D8CE81E99AD1}"/>
                </a:ext>
              </a:extLst>
            </p:cNvPr>
            <p:cNvCxnSpPr/>
            <p:nvPr/>
          </p:nvCxnSpPr>
          <p:spPr>
            <a:xfrm flipH="1">
              <a:off x="5058139" y="5202007"/>
              <a:ext cx="300942" cy="347241"/>
            </a:xfrm>
            <a:prstGeom prst="straightConnector1">
              <a:avLst/>
            </a:prstGeom>
            <a:ln w="28575">
              <a:headEnd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E6FA26C0-646C-C9B2-6EDA-F86FAFC65DD0}"/>
                </a:ext>
              </a:extLst>
            </p:cNvPr>
            <p:cNvCxnSpPr>
              <a:cxnSpLocks/>
            </p:cNvCxnSpPr>
            <p:nvPr/>
          </p:nvCxnSpPr>
          <p:spPr>
            <a:xfrm>
              <a:off x="5556815" y="5202007"/>
              <a:ext cx="311552" cy="347241"/>
            </a:xfrm>
            <a:prstGeom prst="straightConnector1">
              <a:avLst/>
            </a:prstGeom>
            <a:ln w="28575">
              <a:headEnd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3037227B-B24F-C3F2-052E-1A8FF8086964}"/>
                </a:ext>
              </a:extLst>
            </p:cNvPr>
            <p:cNvSpPr/>
            <p:nvPr/>
          </p:nvSpPr>
          <p:spPr>
            <a:xfrm>
              <a:off x="4694019" y="5549248"/>
              <a:ext cx="509286" cy="277793"/>
            </a:xfrm>
            <a:prstGeom prst="roundRect">
              <a:avLst/>
            </a:prstGeom>
            <a:solidFill>
              <a:srgbClr val="00FA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73029515-502E-21BC-8FA4-C78B65E1667E}"/>
                </a:ext>
              </a:extLst>
            </p:cNvPr>
            <p:cNvSpPr/>
            <p:nvPr/>
          </p:nvSpPr>
          <p:spPr>
            <a:xfrm>
              <a:off x="5613724" y="5537801"/>
              <a:ext cx="509286" cy="277793"/>
            </a:xfrm>
            <a:prstGeom prst="roundRect">
              <a:avLst/>
            </a:prstGeom>
            <a:solidFill>
              <a:srgbClr val="00FA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3906391-F451-6AE9-B500-BD6F690FDD45}"/>
              </a:ext>
            </a:extLst>
          </p:cNvPr>
          <p:cNvGrpSpPr/>
          <p:nvPr/>
        </p:nvGrpSpPr>
        <p:grpSpPr>
          <a:xfrm>
            <a:off x="5835338" y="5222827"/>
            <a:ext cx="1274664" cy="859852"/>
            <a:chOff x="4694019" y="4891074"/>
            <a:chExt cx="1428991" cy="935967"/>
          </a:xfrm>
        </p:grpSpPr>
        <p:sp>
          <p:nvSpPr>
            <p:cNvPr id="57" name="Rounded Rectangle 56">
              <a:extLst>
                <a:ext uri="{FF2B5EF4-FFF2-40B4-BE49-F238E27FC236}">
                  <a16:creationId xmlns:a16="http://schemas.microsoft.com/office/drawing/2014/main" id="{DDA001C7-0A2B-D559-7157-C199EC8B066C}"/>
                </a:ext>
              </a:extLst>
            </p:cNvPr>
            <p:cNvSpPr/>
            <p:nvPr/>
          </p:nvSpPr>
          <p:spPr>
            <a:xfrm>
              <a:off x="5208610" y="4891074"/>
              <a:ext cx="509286" cy="277793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1D3E3BB1-99CF-0375-C641-18ACF4A050EE}"/>
                </a:ext>
              </a:extLst>
            </p:cNvPr>
            <p:cNvCxnSpPr/>
            <p:nvPr/>
          </p:nvCxnSpPr>
          <p:spPr>
            <a:xfrm flipH="1">
              <a:off x="5058139" y="5202007"/>
              <a:ext cx="300942" cy="347241"/>
            </a:xfrm>
            <a:prstGeom prst="straightConnector1">
              <a:avLst/>
            </a:prstGeom>
            <a:ln w="28575">
              <a:headEnd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29A98CDB-FBD8-4F37-9309-A7455C0F7DB3}"/>
                </a:ext>
              </a:extLst>
            </p:cNvPr>
            <p:cNvCxnSpPr>
              <a:cxnSpLocks/>
            </p:cNvCxnSpPr>
            <p:nvPr/>
          </p:nvCxnSpPr>
          <p:spPr>
            <a:xfrm>
              <a:off x="5556815" y="5202007"/>
              <a:ext cx="311552" cy="347241"/>
            </a:xfrm>
            <a:prstGeom prst="straightConnector1">
              <a:avLst/>
            </a:prstGeom>
            <a:ln w="28575">
              <a:headEnd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A411E76A-A99F-EDA7-4251-F1356BD7BCF9}"/>
                </a:ext>
              </a:extLst>
            </p:cNvPr>
            <p:cNvSpPr/>
            <p:nvPr/>
          </p:nvSpPr>
          <p:spPr>
            <a:xfrm>
              <a:off x="4694019" y="5549248"/>
              <a:ext cx="509286" cy="277793"/>
            </a:xfrm>
            <a:prstGeom prst="roundRect">
              <a:avLst/>
            </a:prstGeom>
            <a:solidFill>
              <a:srgbClr val="00FA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C30E2F60-8862-A8E4-4AF3-8AE3BF5E4B01}"/>
                </a:ext>
              </a:extLst>
            </p:cNvPr>
            <p:cNvSpPr/>
            <p:nvPr/>
          </p:nvSpPr>
          <p:spPr>
            <a:xfrm>
              <a:off x="5613724" y="5537801"/>
              <a:ext cx="509286" cy="277793"/>
            </a:xfrm>
            <a:prstGeom prst="roundRect">
              <a:avLst/>
            </a:prstGeom>
            <a:solidFill>
              <a:srgbClr val="00FA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CCA751F-4437-BAE6-A3F8-972A539B9A6A}"/>
              </a:ext>
            </a:extLst>
          </p:cNvPr>
          <p:cNvGrpSpPr/>
          <p:nvPr/>
        </p:nvGrpSpPr>
        <p:grpSpPr>
          <a:xfrm>
            <a:off x="5290646" y="4392290"/>
            <a:ext cx="915452" cy="578807"/>
            <a:chOff x="4694019" y="4891074"/>
            <a:chExt cx="1428991" cy="935967"/>
          </a:xfrm>
        </p:grpSpPr>
        <p:sp>
          <p:nvSpPr>
            <p:cNvPr id="63" name="Rounded Rectangle 62">
              <a:extLst>
                <a:ext uri="{FF2B5EF4-FFF2-40B4-BE49-F238E27FC236}">
                  <a16:creationId xmlns:a16="http://schemas.microsoft.com/office/drawing/2014/main" id="{5688C412-0BB0-8504-CF42-071BD812327E}"/>
                </a:ext>
              </a:extLst>
            </p:cNvPr>
            <p:cNvSpPr/>
            <p:nvPr/>
          </p:nvSpPr>
          <p:spPr>
            <a:xfrm>
              <a:off x="5208610" y="4891074"/>
              <a:ext cx="509286" cy="277793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4BF6BC1E-8FB0-A4AD-53A1-5ED2726AF506}"/>
                </a:ext>
              </a:extLst>
            </p:cNvPr>
            <p:cNvCxnSpPr/>
            <p:nvPr/>
          </p:nvCxnSpPr>
          <p:spPr>
            <a:xfrm flipH="1">
              <a:off x="5058139" y="5202007"/>
              <a:ext cx="300942" cy="347241"/>
            </a:xfrm>
            <a:prstGeom prst="straightConnector1">
              <a:avLst/>
            </a:prstGeom>
            <a:ln w="28575">
              <a:headEnd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B273E0F8-B56B-1E65-0098-D9A167A95367}"/>
                </a:ext>
              </a:extLst>
            </p:cNvPr>
            <p:cNvCxnSpPr>
              <a:cxnSpLocks/>
            </p:cNvCxnSpPr>
            <p:nvPr/>
          </p:nvCxnSpPr>
          <p:spPr>
            <a:xfrm>
              <a:off x="5556815" y="5202007"/>
              <a:ext cx="311552" cy="347241"/>
            </a:xfrm>
            <a:prstGeom prst="straightConnector1">
              <a:avLst/>
            </a:prstGeom>
            <a:ln w="28575">
              <a:headEnd w="lg" len="lg"/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6" name="Rounded Rectangle 65">
              <a:extLst>
                <a:ext uri="{FF2B5EF4-FFF2-40B4-BE49-F238E27FC236}">
                  <a16:creationId xmlns:a16="http://schemas.microsoft.com/office/drawing/2014/main" id="{895A1162-7FE6-A6B1-3EBD-FEF551D6828F}"/>
                </a:ext>
              </a:extLst>
            </p:cNvPr>
            <p:cNvSpPr/>
            <p:nvPr/>
          </p:nvSpPr>
          <p:spPr>
            <a:xfrm>
              <a:off x="4694019" y="5549248"/>
              <a:ext cx="509286" cy="277793"/>
            </a:xfrm>
            <a:prstGeom prst="roundRect">
              <a:avLst/>
            </a:prstGeom>
            <a:solidFill>
              <a:srgbClr val="00FA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ounded Rectangle 66">
              <a:extLst>
                <a:ext uri="{FF2B5EF4-FFF2-40B4-BE49-F238E27FC236}">
                  <a16:creationId xmlns:a16="http://schemas.microsoft.com/office/drawing/2014/main" id="{5D2D5F1D-1D74-1FFC-8346-BE5C10200D80}"/>
                </a:ext>
              </a:extLst>
            </p:cNvPr>
            <p:cNvSpPr/>
            <p:nvPr/>
          </p:nvSpPr>
          <p:spPr>
            <a:xfrm>
              <a:off x="5613724" y="5537801"/>
              <a:ext cx="509286" cy="277793"/>
            </a:xfrm>
            <a:prstGeom prst="roundRect">
              <a:avLst/>
            </a:prstGeom>
            <a:solidFill>
              <a:srgbClr val="00FA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E48AB26-D66A-BFA2-1961-7C8A0024F5B1}"/>
              </a:ext>
            </a:extLst>
          </p:cNvPr>
          <p:cNvCxnSpPr>
            <a:cxnSpLocks/>
          </p:cNvCxnSpPr>
          <p:nvPr/>
        </p:nvCxnSpPr>
        <p:spPr>
          <a:xfrm flipV="1">
            <a:off x="6379108" y="4455746"/>
            <a:ext cx="680920" cy="1149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DAB9D826-144F-FFF6-A4F4-6239931B30F7}"/>
              </a:ext>
            </a:extLst>
          </p:cNvPr>
          <p:cNvCxnSpPr>
            <a:cxnSpLocks/>
          </p:cNvCxnSpPr>
          <p:nvPr/>
        </p:nvCxnSpPr>
        <p:spPr>
          <a:xfrm flipH="1">
            <a:off x="6944518" y="4878123"/>
            <a:ext cx="535369" cy="472305"/>
          </a:xfrm>
          <a:prstGeom prst="straightConnector1">
            <a:avLst/>
          </a:prstGeom>
          <a:ln w="44450">
            <a:solidFill>
              <a:srgbClr val="FF0000"/>
            </a:solidFill>
            <a:headEnd w="lg" len="lg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C0200E49-A179-1385-AE9B-40A5A93B20B8}"/>
              </a:ext>
            </a:extLst>
          </p:cNvPr>
          <p:cNvCxnSpPr>
            <a:cxnSpLocks/>
          </p:cNvCxnSpPr>
          <p:nvPr/>
        </p:nvCxnSpPr>
        <p:spPr>
          <a:xfrm>
            <a:off x="4572000" y="4364314"/>
            <a:ext cx="0" cy="18471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9487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26F16-A7E2-76D4-65AB-20DB80447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err="1"/>
              <a:t>Adaboost</a:t>
            </a:r>
            <a:r>
              <a:rPr lang="en-US" altLang="zh-TW" b="1" dirty="0"/>
              <a:t> (</a:t>
            </a:r>
            <a:r>
              <a:rPr lang="en-US" altLang="zh-TW" b="1" dirty="0">
                <a:solidFill>
                  <a:srgbClr val="FF0000"/>
                </a:solidFill>
              </a:rPr>
              <a:t>Ada</a:t>
            </a:r>
            <a:r>
              <a:rPr lang="en-US" altLang="zh-TW" dirty="0"/>
              <a:t>ptive </a:t>
            </a:r>
            <a:r>
              <a:rPr lang="en-US" altLang="zh-TW" b="1" dirty="0">
                <a:solidFill>
                  <a:srgbClr val="FF0000"/>
                </a:solidFill>
              </a:rPr>
              <a:t>Boost</a:t>
            </a:r>
            <a:r>
              <a:rPr lang="en-US" altLang="zh-TW" dirty="0"/>
              <a:t>ing)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00B94-4019-D572-C8D6-71353E6B5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8133385" cy="4351338"/>
          </a:xfrm>
        </p:spPr>
        <p:txBody>
          <a:bodyPr>
            <a:normAutofit fontScale="85000" lnSpcReduction="20000"/>
          </a:bodyPr>
          <a:lstStyle/>
          <a:p>
            <a:endParaRPr lang="en-US" dirty="0"/>
          </a:p>
          <a:p>
            <a:r>
              <a:rPr lang="en-US" b="1" dirty="0"/>
              <a:t>Rule 1:</a:t>
            </a:r>
            <a:r>
              <a:rPr lang="en-US" dirty="0"/>
              <a:t> Combing Stumps (i.e., Weak Learners)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Rule 2:</a:t>
            </a:r>
            <a:r>
              <a:rPr lang="en-US" dirty="0"/>
              <a:t> Some Stumps influence the classification more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Rule 3: </a:t>
            </a:r>
            <a:r>
              <a:rPr lang="en-US" dirty="0"/>
              <a:t>Each Stumps is built based on the error in the previous stumps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is the accuracy of random guessing? </a:t>
            </a:r>
          </a:p>
          <a:p>
            <a:pPr marL="0" indent="0">
              <a:buNone/>
            </a:pPr>
            <a:endParaRPr lang="en-US" altLang="zh-TW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altLang="zh-TW" dirty="0">
                <a:solidFill>
                  <a:srgbClr val="C00000"/>
                </a:solidFill>
              </a:rPr>
              <a:t>If algorithm produces classifier with error rate &lt; 50%, boosting gives ~0% error rate classifier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EDC275-5ABE-EF06-1A34-DB99AF940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3543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Adaboost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49855"/>
                <a:ext cx="7886700" cy="5032375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2400" dirty="0"/>
                  <a:t>Framework of boosting</a:t>
                </a:r>
              </a:p>
              <a:p>
                <a:pPr lvl="1"/>
                <a:r>
                  <a:rPr lang="en-US" altLang="zh-TW" dirty="0"/>
                  <a:t>Obtain the first classifier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TW" dirty="0"/>
              </a:p>
              <a:p>
                <a:pPr lvl="1"/>
                <a:r>
                  <a:rPr lang="en-US" altLang="zh-TW" dirty="0"/>
                  <a:t>Find the other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dirty="0"/>
                  <a:t> to help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TW" dirty="0"/>
              </a:p>
              <a:p>
                <a:pPr lvl="2"/>
                <a:r>
                  <a:rPr lang="en-US" altLang="zh-TW" sz="2400" dirty="0"/>
                  <a:t>However,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sz="2400" dirty="0"/>
                  <a:t> is similar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sz="2400" dirty="0"/>
                  <a:t>, it will not help a lot.</a:t>
                </a:r>
              </a:p>
              <a:p>
                <a:pPr lvl="2"/>
                <a:r>
                  <a:rPr lang="en-US" altLang="zh-TW" sz="2400" dirty="0"/>
                  <a:t>We want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sz="2400" dirty="0"/>
                  <a:t> to be complementary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sz="2400" dirty="0"/>
                  <a:t> (How?)</a:t>
                </a:r>
              </a:p>
              <a:p>
                <a:pPr lvl="1"/>
                <a:r>
                  <a:rPr lang="en-US" altLang="zh-TW" dirty="0"/>
                  <a:t>Obtain the second classifier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TW" altLang="en-US" dirty="0"/>
                  <a:t> </a:t>
                </a:r>
                <a:endParaRPr lang="en-US" altLang="zh-TW" dirty="0"/>
              </a:p>
              <a:p>
                <a:pPr lvl="1"/>
                <a:r>
                  <a:rPr lang="en-US" altLang="zh-TW" dirty="0"/>
                  <a:t>…… Finally, combining all the classifiers</a:t>
                </a:r>
              </a:p>
              <a:p>
                <a:r>
                  <a:rPr lang="en-US" altLang="zh-TW" sz="2400" dirty="0">
                    <a:solidFill>
                      <a:srgbClr val="0000FF"/>
                    </a:solidFill>
                  </a:rPr>
                  <a:t>The classifiers are learned sequentially. </a:t>
                </a:r>
                <a:endParaRPr lang="zh-TW" altLang="en-US" sz="2400" dirty="0">
                  <a:solidFill>
                    <a:srgbClr val="0000FF"/>
                  </a:solidFill>
                </a:endParaRPr>
              </a:p>
              <a:p>
                <a:pPr lvl="1"/>
                <a:endParaRPr lang="zh-TW" altLang="en-US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49855"/>
                <a:ext cx="7886700" cy="5032375"/>
              </a:xfrm>
              <a:blipFill>
                <a:blip r:embed="rId3"/>
                <a:stretch>
                  <a:fillRect l="-965" t="-1256" r="-1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3753090" y="234497"/>
                <a:ext cx="5177064" cy="120032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Training data: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</m:s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en-US" altLang="zh-TW" sz="24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±1</m:t>
                    </m:r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(binary classification)</a:t>
                </a: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3090" y="234497"/>
                <a:ext cx="5177064" cy="1200329"/>
              </a:xfrm>
              <a:prstGeom prst="rect">
                <a:avLst/>
              </a:prstGeom>
              <a:blipFill>
                <a:blip r:embed="rId4"/>
                <a:stretch>
                  <a:fillRect l="-1882" t="-4040" b="-101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465E45-BB10-41A1-A0F1-4898B7857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1411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Different classifiers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Training on different training data sets</a:t>
            </a:r>
          </a:p>
          <a:p>
            <a:r>
              <a:rPr lang="en-US" altLang="zh-TW" dirty="0"/>
              <a:t>How to have different training data sets</a:t>
            </a:r>
          </a:p>
          <a:p>
            <a:pPr lvl="1"/>
            <a:r>
              <a:rPr lang="en-US" altLang="zh-TW" dirty="0"/>
              <a:t>Re-sampling your training data to form a new set</a:t>
            </a:r>
          </a:p>
          <a:p>
            <a:pPr lvl="1"/>
            <a:r>
              <a:rPr lang="en-US" altLang="zh-TW" dirty="0"/>
              <a:t>Re-weighting your training data to form a new set</a:t>
            </a:r>
          </a:p>
          <a:p>
            <a:pPr lvl="2"/>
            <a:r>
              <a:rPr lang="en-US" altLang="zh-TW" dirty="0"/>
              <a:t>E.g., [a, b, c, d] -&gt; [a, a]</a:t>
            </a:r>
          </a:p>
          <a:p>
            <a:pPr lvl="1"/>
            <a:r>
              <a:rPr lang="en-US" altLang="zh-TW" dirty="0"/>
              <a:t>In the implementation, just change the weights in the cost/objective function</a:t>
            </a:r>
            <a:endParaRPr lang="zh-TW" altLang="en-US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982785" y="4607556"/>
                <a:ext cx="151099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785" y="4607556"/>
                <a:ext cx="1510991" cy="369332"/>
              </a:xfrm>
              <a:prstGeom prst="rect">
                <a:avLst/>
              </a:prstGeom>
              <a:blipFill>
                <a:blip r:embed="rId3"/>
                <a:stretch>
                  <a:fillRect t="-18333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959643" y="5273933"/>
                <a:ext cx="15308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643" y="5273933"/>
                <a:ext cx="1530804" cy="369332"/>
              </a:xfrm>
              <a:prstGeom prst="rect">
                <a:avLst/>
              </a:prstGeom>
              <a:blipFill>
                <a:blip r:embed="rId4"/>
                <a:stretch>
                  <a:fillRect t="-16393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982785" y="5942715"/>
                <a:ext cx="15308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785" y="5942715"/>
                <a:ext cx="1530804" cy="369332"/>
              </a:xfrm>
              <a:prstGeom prst="rect">
                <a:avLst/>
              </a:prstGeom>
              <a:blipFill>
                <a:blip r:embed="rId5"/>
                <a:stretch>
                  <a:fillRect t="-18333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2667000" y="4607556"/>
                <a:ext cx="95917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4607556"/>
                <a:ext cx="959173" cy="369332"/>
              </a:xfrm>
              <a:prstGeom prst="rect">
                <a:avLst/>
              </a:prstGeom>
              <a:blipFill>
                <a:blip r:embed="rId6"/>
                <a:stretch>
                  <a:fillRect l="-4459" r="-7006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2666999" y="5255838"/>
                <a:ext cx="95917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999" y="5255838"/>
                <a:ext cx="959173" cy="369332"/>
              </a:xfrm>
              <a:prstGeom prst="rect">
                <a:avLst/>
              </a:prstGeom>
              <a:blipFill>
                <a:blip r:embed="rId7"/>
                <a:stretch>
                  <a:fillRect l="-3797" r="-7595"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2667000" y="5947356"/>
                <a:ext cx="95917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5947356"/>
                <a:ext cx="959173" cy="369332"/>
              </a:xfrm>
              <a:prstGeom prst="rect">
                <a:avLst/>
              </a:prstGeom>
              <a:blipFill>
                <a:blip r:embed="rId8"/>
                <a:stretch>
                  <a:fillRect l="-4459" t="-1667" r="-7643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"/>
          <p:cNvSpPr txBox="1"/>
          <p:nvPr/>
        </p:nvSpPr>
        <p:spPr>
          <a:xfrm>
            <a:off x="3771900" y="4561389"/>
            <a:ext cx="800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0.4</a:t>
            </a:r>
            <a:endParaRPr lang="zh-TW" altLang="en-US" sz="24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3771900" y="5209671"/>
            <a:ext cx="800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2.1</a:t>
            </a:r>
            <a:endParaRPr lang="zh-TW" altLang="en-US" sz="24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3771900" y="5896548"/>
            <a:ext cx="800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0.7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5178182" y="4380121"/>
                <a:ext cx="3250313" cy="896207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8182" y="4380121"/>
                <a:ext cx="3250313" cy="89620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5178182" y="5523838"/>
                <a:ext cx="3482235" cy="896207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8182" y="5523838"/>
                <a:ext cx="3482235" cy="89620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箭號: 向下 14"/>
          <p:cNvSpPr/>
          <p:nvPr/>
        </p:nvSpPr>
        <p:spPr>
          <a:xfrm>
            <a:off x="4793648" y="5138863"/>
            <a:ext cx="520700" cy="510947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接點 16"/>
          <p:cNvCxnSpPr/>
          <p:nvPr/>
        </p:nvCxnSpPr>
        <p:spPr>
          <a:xfrm>
            <a:off x="3269610" y="4628448"/>
            <a:ext cx="449179" cy="36884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>
            <a:off x="3268954" y="5276684"/>
            <a:ext cx="449179" cy="36884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3268954" y="6012277"/>
            <a:ext cx="449179" cy="36884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4530221-EDFD-449C-B610-B203532B6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476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 animBg="1"/>
      <p:bldP spid="14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Adaboost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617956" y="2694097"/>
                <a:ext cx="4145045" cy="9074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sz="2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28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≠</m:t>
                                  </m:r>
                                  <m:sSup>
                                    <m:sSupPr>
                                      <m:ctrlP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8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</m:num>
                        <m:den>
                          <m:sSub>
                            <m:sSub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956" y="2694097"/>
                <a:ext cx="4145045" cy="907428"/>
              </a:xfrm>
              <a:prstGeom prst="rect">
                <a:avLst/>
              </a:prstGeom>
              <a:blipFill>
                <a:blip r:embed="rId3"/>
                <a:stretch>
                  <a:fillRect l="-306" t="-81944" b="-6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5114369" y="2694097"/>
                <a:ext cx="1851597" cy="10455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4369" y="2694097"/>
                <a:ext cx="1851597" cy="1045543"/>
              </a:xfrm>
              <a:prstGeom prst="rect">
                <a:avLst/>
              </a:prstGeom>
              <a:blipFill>
                <a:blip r:embed="rId4"/>
                <a:stretch>
                  <a:fillRect l="-25850" t="-146988" r="-19728" b="-202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605256" y="2131983"/>
                <a:ext cx="75057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/>
                  <a:t>: the error rate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sz="2400" dirty="0"/>
                  <a:t> on its training data  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256" y="2131983"/>
                <a:ext cx="7505700" cy="461665"/>
              </a:xfrm>
              <a:prstGeom prst="rect">
                <a:avLst/>
              </a:prstGeom>
              <a:blipFill>
                <a:blip r:embed="rId5"/>
                <a:stretch>
                  <a:fillRect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617956" y="3879339"/>
                <a:ext cx="7886700" cy="471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Changing the example weights from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TW" sz="2400" dirty="0"/>
                  <a:t> to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TW" sz="2400" dirty="0"/>
                  <a:t> such that    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956" y="3879339"/>
                <a:ext cx="7886700" cy="471283"/>
              </a:xfrm>
              <a:prstGeom prst="rect">
                <a:avLst/>
              </a:prstGeom>
              <a:blipFill>
                <a:blip r:embed="rId6"/>
                <a:stretch>
                  <a:fillRect l="-1125" t="-7895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617956" y="4546793"/>
                <a:ext cx="4290726" cy="9078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sz="2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28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≠</m:t>
                                  </m:r>
                                  <m:sSup>
                                    <m:sSupPr>
                                      <m:ctrlP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8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</m:num>
                        <m:den>
                          <m:sSub>
                            <m:sSub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956" y="4546793"/>
                <a:ext cx="4290726" cy="907877"/>
              </a:xfrm>
              <a:prstGeom prst="rect">
                <a:avLst/>
              </a:prstGeom>
              <a:blipFill>
                <a:blip r:embed="rId7"/>
                <a:stretch>
                  <a:fillRect l="-13274" t="-81944" r="-1475" b="-6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7317334" y="2932367"/>
                <a:ext cx="133799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&lt;0.5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7334" y="2932367"/>
                <a:ext cx="1337994" cy="430887"/>
              </a:xfrm>
              <a:prstGeom prst="rect">
                <a:avLst/>
              </a:prstGeom>
              <a:blipFill>
                <a:blip r:embed="rId8"/>
                <a:stretch>
                  <a:fillRect l="-2830" r="-5660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605256" y="5603507"/>
                <a:ext cx="6216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Training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sz="2400" dirty="0"/>
                  <a:t> based on the new weights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256" y="5603507"/>
                <a:ext cx="6216650" cy="461665"/>
              </a:xfrm>
              <a:prstGeom prst="rect">
                <a:avLst/>
              </a:prstGeom>
              <a:blipFill>
                <a:blip r:embed="rId9"/>
                <a:stretch>
                  <a:fillRect l="-1426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A517E5-FB8B-4CF6-B613-2F56CDE80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6995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Re-weighting Training Data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151341" y="3069181"/>
                <a:ext cx="151099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341" y="3069181"/>
                <a:ext cx="1510991" cy="369332"/>
              </a:xfrm>
              <a:prstGeom prst="rect">
                <a:avLst/>
              </a:prstGeom>
              <a:blipFill>
                <a:blip r:embed="rId2"/>
                <a:stretch>
                  <a:fillRect t="-1333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151341" y="3619467"/>
                <a:ext cx="15308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341" y="3619467"/>
                <a:ext cx="1530804" cy="369332"/>
              </a:xfrm>
              <a:prstGeom prst="rect">
                <a:avLst/>
              </a:prstGeom>
              <a:blipFill>
                <a:blip r:embed="rId3"/>
                <a:stretch>
                  <a:fillRect t="-17241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151341" y="4256043"/>
                <a:ext cx="15308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341" y="4256043"/>
                <a:ext cx="1530804" cy="369332"/>
              </a:xfrm>
              <a:prstGeom prst="rect">
                <a:avLst/>
              </a:prstGeom>
              <a:blipFill>
                <a:blip r:embed="rId4"/>
                <a:stretch>
                  <a:fillRect t="-1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1918875" y="3057843"/>
                <a:ext cx="95917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8875" y="3057843"/>
                <a:ext cx="959173" cy="369332"/>
              </a:xfrm>
              <a:prstGeom prst="rect">
                <a:avLst/>
              </a:prstGeom>
              <a:blipFill>
                <a:blip r:embed="rId5"/>
                <a:stretch>
                  <a:fillRect l="-3947" r="-6579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1918875" y="3574356"/>
                <a:ext cx="95917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8875" y="3574356"/>
                <a:ext cx="959173" cy="369332"/>
              </a:xfrm>
              <a:prstGeom prst="rect">
                <a:avLst/>
              </a:prstGeom>
              <a:blipFill>
                <a:blip r:embed="rId6"/>
                <a:stretch>
                  <a:fillRect l="-3947" r="-6579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1918875" y="4201560"/>
                <a:ext cx="95917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8875" y="4201560"/>
                <a:ext cx="959173" cy="369332"/>
              </a:xfrm>
              <a:prstGeom prst="rect">
                <a:avLst/>
              </a:prstGeom>
              <a:blipFill>
                <a:blip r:embed="rId7"/>
                <a:stretch>
                  <a:fillRect l="-3947" r="-6579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131528" y="4840102"/>
                <a:ext cx="15308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528" y="4840102"/>
                <a:ext cx="1530804" cy="369332"/>
              </a:xfrm>
              <a:prstGeom prst="rect">
                <a:avLst/>
              </a:prstGeom>
              <a:blipFill>
                <a:blip r:embed="rId8"/>
                <a:stretch>
                  <a:fillRect t="-1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1918875" y="4828764"/>
                <a:ext cx="95917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8875" y="4828764"/>
                <a:ext cx="959173" cy="369332"/>
              </a:xfrm>
              <a:prstGeom prst="rect">
                <a:avLst/>
              </a:prstGeom>
              <a:blipFill>
                <a:blip r:embed="rId9"/>
                <a:stretch>
                  <a:fillRect l="-3947" r="-6579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圖片 1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3595" y="3587898"/>
            <a:ext cx="485690" cy="485690"/>
          </a:xfrm>
          <a:prstGeom prst="rect">
            <a:avLst/>
          </a:prstGeom>
        </p:spPr>
      </p:pic>
      <p:pic>
        <p:nvPicPr>
          <p:cNvPr id="18" name="圖片 1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8919" y="2936355"/>
            <a:ext cx="549535" cy="549535"/>
          </a:xfrm>
          <a:prstGeom prst="rect">
            <a:avLst/>
          </a:prstGeom>
        </p:spPr>
      </p:pic>
      <p:pic>
        <p:nvPicPr>
          <p:cNvPr id="19" name="圖片 1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4857" y="4111458"/>
            <a:ext cx="549535" cy="549535"/>
          </a:xfrm>
          <a:prstGeom prst="rect">
            <a:avLst/>
          </a:prstGeom>
        </p:spPr>
      </p:pic>
      <p:pic>
        <p:nvPicPr>
          <p:cNvPr id="20" name="圖片 1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8919" y="4698863"/>
            <a:ext cx="549535" cy="5495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/>
              <p:cNvSpPr txBox="1"/>
              <p:nvPr/>
            </p:nvSpPr>
            <p:spPr>
              <a:xfrm>
                <a:off x="1815758" y="5544325"/>
                <a:ext cx="1378263" cy="461665"/>
              </a:xfrm>
              <a:prstGeom prst="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sz="2400" dirty="0"/>
                  <a:t>0.25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5758" y="5544325"/>
                <a:ext cx="1378263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直線單箭頭接點 35"/>
          <p:cNvCxnSpPr>
            <a:cxnSpLocks/>
          </p:cNvCxnSpPr>
          <p:nvPr/>
        </p:nvCxnSpPr>
        <p:spPr>
          <a:xfrm>
            <a:off x="3931266" y="5775157"/>
            <a:ext cx="81856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1E3FBEE-0972-4A4C-85E2-E049F29F5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D4FFAC-5CDB-4D44-F2CF-B6350905A2FE}"/>
              </a:ext>
            </a:extLst>
          </p:cNvPr>
          <p:cNvSpPr txBox="1"/>
          <p:nvPr/>
        </p:nvSpPr>
        <p:spPr>
          <a:xfrm>
            <a:off x="2791836" y="2447722"/>
            <a:ext cx="984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Correct?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28867EB-BFB6-6A50-28A2-DED54EA842A0}"/>
                  </a:ext>
                </a:extLst>
              </p:cNvPr>
              <p:cNvSpPr txBox="1"/>
              <p:nvPr/>
            </p:nvSpPr>
            <p:spPr>
              <a:xfrm>
                <a:off x="4189498" y="3759022"/>
                <a:ext cx="534005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Find a weight for correct &amp; incorrect classifications such that to make</a:t>
                </a:r>
                <a:r>
                  <a:rPr lang="en-US" altLang="zh-TW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18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0.5 </a:t>
                </a: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28867EB-BFB6-6A50-28A2-DED54EA84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9498" y="3759022"/>
                <a:ext cx="5340055" cy="646331"/>
              </a:xfrm>
              <a:prstGeom prst="rect">
                <a:avLst/>
              </a:prstGeom>
              <a:blipFill>
                <a:blip r:embed="rId13"/>
                <a:stretch>
                  <a:fillRect l="-948" t="-5769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8699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Re-weighting Training Data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151341" y="3069181"/>
                <a:ext cx="151099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341" y="3069181"/>
                <a:ext cx="1510991" cy="369332"/>
              </a:xfrm>
              <a:prstGeom prst="rect">
                <a:avLst/>
              </a:prstGeom>
              <a:blipFill>
                <a:blip r:embed="rId3"/>
                <a:stretch>
                  <a:fillRect t="-1333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151341" y="3619467"/>
                <a:ext cx="15308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341" y="3619467"/>
                <a:ext cx="1530804" cy="369332"/>
              </a:xfrm>
              <a:prstGeom prst="rect">
                <a:avLst/>
              </a:prstGeom>
              <a:blipFill>
                <a:blip r:embed="rId4"/>
                <a:stretch>
                  <a:fillRect t="-17241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151341" y="4256043"/>
                <a:ext cx="15308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341" y="4256043"/>
                <a:ext cx="1530804" cy="369332"/>
              </a:xfrm>
              <a:prstGeom prst="rect">
                <a:avLst/>
              </a:prstGeom>
              <a:blipFill>
                <a:blip r:embed="rId5"/>
                <a:stretch>
                  <a:fillRect t="-1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1918875" y="3057843"/>
                <a:ext cx="95917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8875" y="3057843"/>
                <a:ext cx="959173" cy="369332"/>
              </a:xfrm>
              <a:prstGeom prst="rect">
                <a:avLst/>
              </a:prstGeom>
              <a:blipFill>
                <a:blip r:embed="rId6"/>
                <a:stretch>
                  <a:fillRect l="-3947" r="-6579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1918875" y="3574356"/>
                <a:ext cx="95917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8875" y="3574356"/>
                <a:ext cx="959173" cy="369332"/>
              </a:xfrm>
              <a:prstGeom prst="rect">
                <a:avLst/>
              </a:prstGeom>
              <a:blipFill>
                <a:blip r:embed="rId7"/>
                <a:stretch>
                  <a:fillRect l="-3947" r="-6579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1918875" y="4201560"/>
                <a:ext cx="95917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8875" y="4201560"/>
                <a:ext cx="959173" cy="369332"/>
              </a:xfrm>
              <a:prstGeom prst="rect">
                <a:avLst/>
              </a:prstGeom>
              <a:blipFill>
                <a:blip r:embed="rId8"/>
                <a:stretch>
                  <a:fillRect l="-3947" r="-6579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131528" y="4840102"/>
                <a:ext cx="15308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528" y="4840102"/>
                <a:ext cx="1530804" cy="369332"/>
              </a:xfrm>
              <a:prstGeom prst="rect">
                <a:avLst/>
              </a:prstGeom>
              <a:blipFill>
                <a:blip r:embed="rId9"/>
                <a:stretch>
                  <a:fillRect t="-1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1918875" y="4828764"/>
                <a:ext cx="95917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8875" y="4828764"/>
                <a:ext cx="959173" cy="369332"/>
              </a:xfrm>
              <a:prstGeom prst="rect">
                <a:avLst/>
              </a:prstGeom>
              <a:blipFill>
                <a:blip r:embed="rId10"/>
                <a:stretch>
                  <a:fillRect l="-3947" r="-6579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圖片 1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3595" y="3587898"/>
            <a:ext cx="485690" cy="485690"/>
          </a:xfrm>
          <a:prstGeom prst="rect">
            <a:avLst/>
          </a:prstGeom>
        </p:spPr>
      </p:pic>
      <p:pic>
        <p:nvPicPr>
          <p:cNvPr id="18" name="圖片 1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8919" y="2936355"/>
            <a:ext cx="549535" cy="549535"/>
          </a:xfrm>
          <a:prstGeom prst="rect">
            <a:avLst/>
          </a:prstGeom>
        </p:spPr>
      </p:pic>
      <p:pic>
        <p:nvPicPr>
          <p:cNvPr id="19" name="圖片 1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4857" y="4111458"/>
            <a:ext cx="549535" cy="549535"/>
          </a:xfrm>
          <a:prstGeom prst="rect">
            <a:avLst/>
          </a:prstGeom>
        </p:spPr>
      </p:pic>
      <p:pic>
        <p:nvPicPr>
          <p:cNvPr id="20" name="圖片 19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8919" y="4698863"/>
            <a:ext cx="549535" cy="5495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/>
              <p:cNvSpPr txBox="1"/>
              <p:nvPr/>
            </p:nvSpPr>
            <p:spPr>
              <a:xfrm>
                <a:off x="1815758" y="5544325"/>
                <a:ext cx="1378263" cy="461665"/>
              </a:xfrm>
              <a:prstGeom prst="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sz="2400" dirty="0"/>
                  <a:t>0.25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5758" y="5544325"/>
                <a:ext cx="1378263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/>
              <p:cNvSpPr txBox="1"/>
              <p:nvPr/>
            </p:nvSpPr>
            <p:spPr>
              <a:xfrm>
                <a:off x="6571960" y="5504052"/>
                <a:ext cx="1378263" cy="461665"/>
              </a:xfrm>
              <a:prstGeom prst="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altLang="zh-TW" sz="2400" dirty="0"/>
                  <a:t>0.5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1960" y="5504052"/>
                <a:ext cx="1378263" cy="4616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/>
              <p:cNvSpPr txBox="1"/>
              <p:nvPr/>
            </p:nvSpPr>
            <p:spPr>
              <a:xfrm>
                <a:off x="6082820" y="3025643"/>
                <a:ext cx="1481881" cy="4128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=1/</m:t>
                      </m:r>
                      <m:rad>
                        <m:radPr>
                          <m:degHide m:val="on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2820" y="3025643"/>
                <a:ext cx="1481881" cy="412870"/>
              </a:xfrm>
              <a:prstGeom prst="rect">
                <a:avLst/>
              </a:prstGeom>
              <a:blipFill>
                <a:blip r:embed="rId15"/>
                <a:stretch>
                  <a:fillRect l="-2564" r="-4274" b="-30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/>
              <p:cNvSpPr txBox="1"/>
              <p:nvPr/>
            </p:nvSpPr>
            <p:spPr>
              <a:xfrm>
                <a:off x="6093208" y="3551774"/>
                <a:ext cx="1167884" cy="4128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3208" y="3551774"/>
                <a:ext cx="1167884" cy="412870"/>
              </a:xfrm>
              <a:prstGeom prst="rect">
                <a:avLst/>
              </a:prstGeom>
              <a:blipFill>
                <a:blip r:embed="rId16"/>
                <a:stretch>
                  <a:fillRect l="-3261" r="-5435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6079518" y="4122159"/>
                <a:ext cx="1488484" cy="4128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9518" y="4122159"/>
                <a:ext cx="1488484" cy="412870"/>
              </a:xfrm>
              <a:prstGeom prst="rect">
                <a:avLst/>
              </a:prstGeom>
              <a:blipFill>
                <a:blip r:embed="rId17"/>
                <a:stretch>
                  <a:fillRect l="-1695" r="-4237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6067087" y="4732672"/>
                <a:ext cx="1488484" cy="4128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7087" y="4732672"/>
                <a:ext cx="1488484" cy="412870"/>
              </a:xfrm>
              <a:prstGeom prst="rect">
                <a:avLst/>
              </a:prstGeom>
              <a:blipFill>
                <a:blip r:embed="rId18"/>
                <a:stretch>
                  <a:fillRect l="-1695" r="-4237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直線單箭頭接點 35"/>
          <p:cNvCxnSpPr>
            <a:cxnSpLocks/>
          </p:cNvCxnSpPr>
          <p:nvPr/>
        </p:nvCxnSpPr>
        <p:spPr>
          <a:xfrm>
            <a:off x="3928484" y="5775157"/>
            <a:ext cx="81856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1E3FBEE-0972-4A4C-85E2-E049F29F5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D4FFAC-5CDB-4D44-F2CF-B6350905A2FE}"/>
              </a:ext>
            </a:extLst>
          </p:cNvPr>
          <p:cNvSpPr txBox="1"/>
          <p:nvPr/>
        </p:nvSpPr>
        <p:spPr>
          <a:xfrm>
            <a:off x="2791836" y="2447722"/>
            <a:ext cx="984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Correct?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2B058D7-CC0B-FE5B-6E42-7B2E5BE2C0A6}"/>
                  </a:ext>
                </a:extLst>
              </p:cNvPr>
              <p:cNvSpPr txBox="1"/>
              <p:nvPr/>
            </p:nvSpPr>
            <p:spPr>
              <a:xfrm>
                <a:off x="4000714" y="3013407"/>
                <a:ext cx="660052" cy="3954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/</a:t>
                </a:r>
                <a:r>
                  <a:rPr lang="en-US" altLang="zh-TW" sz="1800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2B058D7-CC0B-FE5B-6E42-7B2E5BE2C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714" y="3013407"/>
                <a:ext cx="660052" cy="395429"/>
              </a:xfrm>
              <a:prstGeom prst="rect">
                <a:avLst/>
              </a:prstGeom>
              <a:blipFill>
                <a:blip r:embed="rId19"/>
                <a:stretch>
                  <a:fillRect l="-5556" b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128C176-8747-3E77-8749-6134EC1E255B}"/>
                  </a:ext>
                </a:extLst>
              </p:cNvPr>
              <p:cNvSpPr txBox="1"/>
              <p:nvPr/>
            </p:nvSpPr>
            <p:spPr>
              <a:xfrm>
                <a:off x="3994915" y="3587898"/>
                <a:ext cx="685701" cy="3954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*</a:t>
                </a:r>
                <a:r>
                  <a:rPr lang="en-US" altLang="zh-TW" sz="1800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128C176-8747-3E77-8749-6134EC1E2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4915" y="3587898"/>
                <a:ext cx="685701" cy="395429"/>
              </a:xfrm>
              <a:prstGeom prst="rect">
                <a:avLst/>
              </a:prstGeom>
              <a:blipFill>
                <a:blip r:embed="rId20"/>
                <a:stretch>
                  <a:fillRect l="-727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99E206A-8CBC-6091-8644-274C176F1198}"/>
                  </a:ext>
                </a:extLst>
              </p:cNvPr>
              <p:cNvSpPr txBox="1"/>
              <p:nvPr/>
            </p:nvSpPr>
            <p:spPr>
              <a:xfrm>
                <a:off x="4000714" y="4172326"/>
                <a:ext cx="660052" cy="3954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/</a:t>
                </a:r>
                <a:r>
                  <a:rPr lang="en-US" altLang="zh-TW" sz="1800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99E206A-8CBC-6091-8644-274C176F11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714" y="4172326"/>
                <a:ext cx="660052" cy="395429"/>
              </a:xfrm>
              <a:prstGeom prst="rect">
                <a:avLst/>
              </a:prstGeom>
              <a:blipFill>
                <a:blip r:embed="rId21"/>
                <a:stretch>
                  <a:fillRect l="-555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3A1A430-3708-4B1B-0AE2-B2546283890A}"/>
                  </a:ext>
                </a:extLst>
              </p:cNvPr>
              <p:cNvSpPr txBox="1"/>
              <p:nvPr/>
            </p:nvSpPr>
            <p:spPr>
              <a:xfrm>
                <a:off x="3985126" y="4820626"/>
                <a:ext cx="660052" cy="3954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/</a:t>
                </a:r>
                <a:r>
                  <a:rPr lang="en-US" altLang="zh-TW" sz="1800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3A1A430-3708-4B1B-0AE2-B254628389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5126" y="4820626"/>
                <a:ext cx="660052" cy="395429"/>
              </a:xfrm>
              <a:prstGeom prst="rect">
                <a:avLst/>
              </a:prstGeom>
              <a:blipFill>
                <a:blip r:embed="rId22"/>
                <a:stretch>
                  <a:fillRect l="-754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9" name="圖片 16">
            <a:extLst>
              <a:ext uri="{FF2B5EF4-FFF2-40B4-BE49-F238E27FC236}">
                <a16:creationId xmlns:a16="http://schemas.microsoft.com/office/drawing/2014/main" id="{0598D508-BE88-5692-CB84-A7397B9828C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869" y="3587898"/>
            <a:ext cx="485690" cy="485690"/>
          </a:xfrm>
          <a:prstGeom prst="rect">
            <a:avLst/>
          </a:prstGeom>
        </p:spPr>
      </p:pic>
      <p:pic>
        <p:nvPicPr>
          <p:cNvPr id="42" name="圖片 17">
            <a:extLst>
              <a:ext uri="{FF2B5EF4-FFF2-40B4-BE49-F238E27FC236}">
                <a16:creationId xmlns:a16="http://schemas.microsoft.com/office/drawing/2014/main" id="{7B46409A-4750-7679-67D9-49E1495FD32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1193" y="2936355"/>
            <a:ext cx="549535" cy="549535"/>
          </a:xfrm>
          <a:prstGeom prst="rect">
            <a:avLst/>
          </a:prstGeom>
        </p:spPr>
      </p:pic>
      <p:pic>
        <p:nvPicPr>
          <p:cNvPr id="43" name="圖片 18">
            <a:extLst>
              <a:ext uri="{FF2B5EF4-FFF2-40B4-BE49-F238E27FC236}">
                <a16:creationId xmlns:a16="http://schemas.microsoft.com/office/drawing/2014/main" id="{5550A5DD-8B27-58BE-C0A0-CE262BAFB08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131" y="4111458"/>
            <a:ext cx="549535" cy="549535"/>
          </a:xfrm>
          <a:prstGeom prst="rect">
            <a:avLst/>
          </a:prstGeom>
        </p:spPr>
      </p:pic>
      <p:pic>
        <p:nvPicPr>
          <p:cNvPr id="44" name="圖片 19">
            <a:extLst>
              <a:ext uri="{FF2B5EF4-FFF2-40B4-BE49-F238E27FC236}">
                <a16:creationId xmlns:a16="http://schemas.microsoft.com/office/drawing/2014/main" id="{D6AC4F02-0256-290A-3A26-370B7FE01EC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1193" y="4698863"/>
            <a:ext cx="549535" cy="549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603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/>
      <p:bldP spid="24" grpId="0"/>
      <p:bldP spid="25" grpId="0"/>
      <p:bldP spid="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Re-weighting Training Data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870746" y="3001313"/>
                <a:ext cx="66579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TW" sz="2400" dirty="0"/>
                  <a:t> misclassified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746" y="3001313"/>
                <a:ext cx="6657975" cy="461665"/>
              </a:xfrm>
              <a:prstGeom prst="rect">
                <a:avLst/>
              </a:prstGeom>
              <a:blipFill>
                <a:blip r:embed="rId3"/>
                <a:stretch>
                  <a:fillRect l="-1524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870746" y="4105963"/>
                <a:ext cx="71723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TW" sz="2400" dirty="0"/>
                  <a:t> correctly classified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746" y="4105963"/>
                <a:ext cx="7172326" cy="461665"/>
              </a:xfrm>
              <a:prstGeom prst="rect">
                <a:avLst/>
              </a:prstGeom>
              <a:blipFill>
                <a:blip r:embed="rId4"/>
                <a:stretch>
                  <a:fillRect l="-1413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左大括弧 5"/>
          <p:cNvSpPr/>
          <p:nvPr/>
        </p:nvSpPr>
        <p:spPr>
          <a:xfrm>
            <a:off x="628650" y="3037912"/>
            <a:ext cx="343698" cy="1515343"/>
          </a:xfrm>
          <a:prstGeom prst="leftBrace">
            <a:avLst>
              <a:gd name="adj1" fmla="val 31737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3938527" y="3023539"/>
                <a:ext cx="338009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TW" sz="2400" dirty="0"/>
                  <a:t>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TW" sz="2400" dirty="0"/>
                  <a:t> multiplied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8527" y="3023539"/>
                <a:ext cx="3380092" cy="461665"/>
              </a:xfrm>
              <a:prstGeom prst="rect">
                <a:avLst/>
              </a:prstGeom>
              <a:blipFill>
                <a:blip r:embed="rId5"/>
                <a:stretch>
                  <a:fillRect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4248051" y="4050325"/>
                <a:ext cx="303063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TW" sz="2400" dirty="0"/>
                  <a:t>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TW" sz="2400" dirty="0"/>
                  <a:t> divided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8051" y="4050325"/>
                <a:ext cx="3030638" cy="461665"/>
              </a:xfrm>
              <a:prstGeom prst="rect">
                <a:avLst/>
              </a:prstGeom>
              <a:blipFill>
                <a:blip r:embed="rId6"/>
                <a:stretch>
                  <a:fillRect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/>
              <p:cNvSpPr txBox="1"/>
              <p:nvPr/>
            </p:nvSpPr>
            <p:spPr>
              <a:xfrm>
                <a:off x="-540160" y="5312415"/>
                <a:ext cx="64079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sz="2400" dirty="0"/>
                  <a:t>How to calculate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/>
                  <a:t>? 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40160" y="5312415"/>
                <a:ext cx="6407943" cy="461665"/>
              </a:xfrm>
              <a:prstGeom prst="rect">
                <a:avLst/>
              </a:prstGeom>
              <a:blipFill>
                <a:blip r:embed="rId7"/>
                <a:stretch>
                  <a:fillRect t="-8108" r="-2372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720400-F591-4902-84F1-FDF7D0882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9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37744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80F4A0-A1CA-4D8C-A0F1-3C8F96B59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E6C5DFE8-8BB4-A27E-8A07-4B0C62061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63" y="-172296"/>
            <a:ext cx="7886700" cy="1325563"/>
          </a:xfrm>
        </p:spPr>
        <p:txBody>
          <a:bodyPr/>
          <a:lstStyle/>
          <a:p>
            <a:r>
              <a:rPr lang="en-US" altLang="zh-TW" dirty="0"/>
              <a:t>Re-weighting Training Data</a:t>
            </a:r>
            <a:endParaRPr lang="zh-TW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D025C9-CCDF-A9B8-D623-E89471D4C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675" y="2933700"/>
            <a:ext cx="67246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583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80F4A0-A1CA-4D8C-A0F1-3C8F96B59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E6C5DFE8-8BB4-A27E-8A07-4B0C62061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63" y="-172296"/>
            <a:ext cx="7886700" cy="1325563"/>
          </a:xfrm>
        </p:spPr>
        <p:txBody>
          <a:bodyPr/>
          <a:lstStyle/>
          <a:p>
            <a:r>
              <a:rPr lang="en-US" altLang="zh-TW" dirty="0"/>
              <a:t>Re-weighting Training Data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323EA3D-9A79-B538-5EB9-63528236F6FA}"/>
                  </a:ext>
                </a:extLst>
              </p:cNvPr>
              <p:cNvSpPr txBox="1"/>
              <p:nvPr/>
            </p:nvSpPr>
            <p:spPr>
              <a:xfrm>
                <a:off x="1000905" y="2640384"/>
                <a:ext cx="7514445" cy="16024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altLang="zh-TW" sz="24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TW" sz="240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TW" sz="24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altLang="zh-TW" sz="2400" dirty="0"/>
              </a:p>
              <a:p>
                <a:pPr lvl="2"/>
                <a:r>
                  <a:rPr lang="en-US" altLang="zh-TW" sz="2400" dirty="0"/>
                  <a:t> </a:t>
                </a:r>
              </a:p>
              <a:p>
                <a:pPr lvl="2"/>
                <a:r>
                  <a:rPr lang="en-US" altLang="zh-TW" sz="2400" dirty="0"/>
                  <a:t> </a:t>
                </a:r>
              </a:p>
              <a:p>
                <a:pPr lvl="2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altLang="zh-TW" sz="24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TW" sz="240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TW" sz="2400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323EA3D-9A79-B538-5EB9-63528236F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905" y="2640384"/>
                <a:ext cx="7514445" cy="1602490"/>
              </a:xfrm>
              <a:prstGeom prst="rect">
                <a:avLst/>
              </a:prstGeom>
              <a:blipFill>
                <a:blip r:embed="rId3"/>
                <a:stretch>
                  <a:fillRect b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13">
                <a:extLst>
                  <a:ext uri="{FF2B5EF4-FFF2-40B4-BE49-F238E27FC236}">
                    <a16:creationId xmlns:a16="http://schemas.microsoft.com/office/drawing/2014/main" id="{87B41E33-A89A-53F2-841E-ABC6FB25B45D}"/>
                  </a:ext>
                </a:extLst>
              </p:cNvPr>
              <p:cNvSpPr/>
              <p:nvPr/>
            </p:nvSpPr>
            <p:spPr>
              <a:xfrm>
                <a:off x="45575" y="2627755"/>
                <a:ext cx="1841017" cy="461665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TW" sz="2400" dirty="0"/>
                  <a:t>: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9" name="矩形 13">
                <a:extLst>
                  <a:ext uri="{FF2B5EF4-FFF2-40B4-BE49-F238E27FC236}">
                    <a16:creationId xmlns:a16="http://schemas.microsoft.com/office/drawing/2014/main" id="{87B41E33-A89A-53F2-841E-ABC6FB25B4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75" y="2627755"/>
                <a:ext cx="1841017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3">
                <a:extLst>
                  <a:ext uri="{FF2B5EF4-FFF2-40B4-BE49-F238E27FC236}">
                    <a16:creationId xmlns:a16="http://schemas.microsoft.com/office/drawing/2014/main" id="{E4D1474C-5139-0E19-15CB-3DAB7DB418DE}"/>
                  </a:ext>
                </a:extLst>
              </p:cNvPr>
              <p:cNvSpPr/>
              <p:nvPr/>
            </p:nvSpPr>
            <p:spPr>
              <a:xfrm>
                <a:off x="0" y="3768580"/>
                <a:ext cx="1841017" cy="461665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TW" sz="2400" dirty="0"/>
                  <a:t>: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11" name="矩形 13">
                <a:extLst>
                  <a:ext uri="{FF2B5EF4-FFF2-40B4-BE49-F238E27FC236}">
                    <a16:creationId xmlns:a16="http://schemas.microsoft.com/office/drawing/2014/main" id="{E4D1474C-5139-0E19-15CB-3DAB7DB418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768580"/>
                <a:ext cx="1841017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72802BD-B57F-B1CE-397E-8D0D1880F6C2}"/>
                  </a:ext>
                </a:extLst>
              </p:cNvPr>
              <p:cNvSpPr txBox="1"/>
              <p:nvPr/>
            </p:nvSpPr>
            <p:spPr>
              <a:xfrm>
                <a:off x="2265745" y="4739451"/>
                <a:ext cx="4612510" cy="427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180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altLang="zh-TW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m:rPr>
                        <m:nor/>
                      </m:rPr>
                      <a:rPr lang="en-US" dirty="0"/>
                      <m:t>n</m:t>
                    </m:r>
                    <m:rad>
                      <m:radPr>
                        <m:degHide m:val="on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lin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i="1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72802BD-B57F-B1CE-397E-8D0D1880F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5745" y="4739451"/>
                <a:ext cx="4612510" cy="427746"/>
              </a:xfrm>
              <a:prstGeom prst="rect">
                <a:avLst/>
              </a:prstGeom>
              <a:blipFill>
                <a:blip r:embed="rId8"/>
                <a:stretch>
                  <a:fillRect t="-80556" b="-136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DD2DB2B-D336-1A77-E973-EF751D4A7F7E}"/>
                  </a:ext>
                </a:extLst>
              </p:cNvPr>
              <p:cNvSpPr txBox="1"/>
              <p:nvPr/>
            </p:nvSpPr>
            <p:spPr>
              <a:xfrm>
                <a:off x="4151695" y="3727959"/>
                <a:ext cx="4612510" cy="4780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TW" sz="240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TW" sz="24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TW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unc>
                          <m:func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altLang="zh-TW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altLang="zh-TW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func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DD2DB2B-D336-1A77-E973-EF751D4A7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695" y="3727959"/>
                <a:ext cx="4612510" cy="478080"/>
              </a:xfrm>
              <a:prstGeom prst="rect">
                <a:avLst/>
              </a:prstGeom>
              <a:blipFill>
                <a:blip r:embed="rId9"/>
                <a:stretch>
                  <a:fillRect b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09764D8-43FB-41D0-642C-2EAD182CD6A3}"/>
                  </a:ext>
                </a:extLst>
              </p:cNvPr>
              <p:cNvSpPr txBox="1"/>
              <p:nvPr/>
            </p:nvSpPr>
            <p:spPr>
              <a:xfrm>
                <a:off x="4176721" y="2622344"/>
                <a:ext cx="4612510" cy="4780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TW" sz="24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TW" sz="24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TW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unc>
                          <m:func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func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09764D8-43FB-41D0-642C-2EAD182CD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6721" y="2622344"/>
                <a:ext cx="4612510" cy="478080"/>
              </a:xfrm>
              <a:prstGeom prst="rect">
                <a:avLst/>
              </a:prstGeom>
              <a:blipFill>
                <a:blip r:embed="rId10"/>
                <a:stretch>
                  <a:fillRect b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60CF6-5ED4-4F82-16D9-4DD7D6D0C2C0}"/>
              </a:ext>
            </a:extLst>
          </p:cNvPr>
          <p:cNvGrpSpPr/>
          <p:nvPr/>
        </p:nvGrpSpPr>
        <p:grpSpPr>
          <a:xfrm>
            <a:off x="5514297" y="3499407"/>
            <a:ext cx="2202480" cy="867600"/>
            <a:chOff x="5514297" y="3499407"/>
            <a:chExt cx="2202480" cy="86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E1ADBF3-6FCB-7ED8-9494-2BE23B226856}"/>
                    </a:ext>
                  </a:extLst>
                </p14:cNvPr>
                <p14:cNvContentPartPr/>
                <p14:nvPr/>
              </p14:nvContentPartPr>
              <p14:xfrm>
                <a:off x="5514297" y="3585447"/>
                <a:ext cx="1056960" cy="7815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E1ADBF3-6FCB-7ED8-9494-2BE23B22685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508177" y="3579327"/>
                  <a:ext cx="1069200" cy="79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65EAF27-DE6E-C8F1-390C-0583AC2E1E35}"/>
                    </a:ext>
                  </a:extLst>
                </p14:cNvPr>
                <p14:cNvContentPartPr/>
                <p14:nvPr/>
              </p14:nvContentPartPr>
              <p14:xfrm>
                <a:off x="6777177" y="3815127"/>
                <a:ext cx="121320" cy="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65EAF27-DE6E-C8F1-390C-0583AC2E1E3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771057" y="3809007"/>
                  <a:ext cx="1335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734E663-5CCE-09F0-D317-CB2B31ECE92F}"/>
                    </a:ext>
                  </a:extLst>
                </p14:cNvPr>
                <p14:cNvContentPartPr/>
                <p14:nvPr/>
              </p14:nvContentPartPr>
              <p14:xfrm>
                <a:off x="6802737" y="3904407"/>
                <a:ext cx="105120" cy="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734E663-5CCE-09F0-D317-CB2B31ECE92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796617" y="3898287"/>
                  <a:ext cx="1173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D69DD3E-BE10-F600-7431-46D9C381E441}"/>
                    </a:ext>
                  </a:extLst>
                </p14:cNvPr>
                <p14:cNvContentPartPr/>
                <p14:nvPr/>
              </p14:nvContentPartPr>
              <p14:xfrm>
                <a:off x="7177137" y="3499407"/>
                <a:ext cx="539640" cy="3549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D69DD3E-BE10-F600-7431-46D9C381E44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171017" y="3493287"/>
                  <a:ext cx="551880" cy="36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8AF0BD1-AEAD-B8FF-6388-7E81EFFF3BBE}"/>
              </a:ext>
            </a:extLst>
          </p:cNvPr>
          <p:cNvGrpSpPr/>
          <p:nvPr/>
        </p:nvGrpSpPr>
        <p:grpSpPr>
          <a:xfrm>
            <a:off x="3820857" y="4291767"/>
            <a:ext cx="2610360" cy="1342440"/>
            <a:chOff x="3820857" y="4291767"/>
            <a:chExt cx="2610360" cy="134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97F08BE-E050-F770-F730-D4586C6D15F1}"/>
                    </a:ext>
                  </a:extLst>
                </p14:cNvPr>
                <p14:cNvContentPartPr/>
                <p14:nvPr/>
              </p14:nvContentPartPr>
              <p14:xfrm>
                <a:off x="3820857" y="4291767"/>
                <a:ext cx="1824120" cy="1342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97F08BE-E050-F770-F730-D4586C6D15F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814737" y="4285647"/>
                  <a:ext cx="1836360" cy="13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F6C0D15-6912-6B90-F5C8-4CE15EA8EDBB}"/>
                    </a:ext>
                  </a:extLst>
                </p14:cNvPr>
                <p14:cNvContentPartPr/>
                <p14:nvPr/>
              </p14:nvContentPartPr>
              <p14:xfrm>
                <a:off x="6012897" y="5059647"/>
                <a:ext cx="418320" cy="567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F6C0D15-6912-6B90-F5C8-4CE15EA8EDB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006777" y="5053527"/>
                  <a:ext cx="430560" cy="57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BF91822-3D6F-1123-FB3C-9C760183E929}"/>
                  </a:ext>
                </a:extLst>
              </p14:cNvPr>
              <p14:cNvContentPartPr/>
              <p14:nvPr/>
            </p14:nvContentPartPr>
            <p14:xfrm>
              <a:off x="2257017" y="5217327"/>
              <a:ext cx="1202040" cy="3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BF91822-3D6F-1123-FB3C-9C760183E92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250897" y="5211207"/>
                <a:ext cx="121428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A29AF813-92B6-2A40-39AB-83B273B01401}"/>
              </a:ext>
            </a:extLst>
          </p:cNvPr>
          <p:cNvGrpSpPr/>
          <p:nvPr/>
        </p:nvGrpSpPr>
        <p:grpSpPr>
          <a:xfrm>
            <a:off x="871737" y="1429047"/>
            <a:ext cx="1239840" cy="425160"/>
            <a:chOff x="871737" y="1429047"/>
            <a:chExt cx="1239840" cy="42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B9E6F92-FDF5-70D2-F14D-1A96FF58A4AA}"/>
                    </a:ext>
                  </a:extLst>
                </p14:cNvPr>
                <p14:cNvContentPartPr/>
                <p14:nvPr/>
              </p14:nvContentPartPr>
              <p14:xfrm>
                <a:off x="994497" y="1849167"/>
                <a:ext cx="220680" cy="50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B9E6F92-FDF5-70D2-F14D-1A96FF58A4A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88377" y="1843047"/>
                  <a:ext cx="23292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94C2440-192B-B128-5D1D-9847970E3875}"/>
                    </a:ext>
                  </a:extLst>
                </p14:cNvPr>
                <p14:cNvContentPartPr/>
                <p14:nvPr/>
              </p14:nvContentPartPr>
              <p14:xfrm>
                <a:off x="871737" y="1547847"/>
                <a:ext cx="324000" cy="32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94C2440-192B-B128-5D1D-9847970E387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65617" y="1541727"/>
                  <a:ext cx="3362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64DFB29-E264-069C-F7E4-8F61CDCEE7A0}"/>
                    </a:ext>
                  </a:extLst>
                </p14:cNvPr>
                <p14:cNvContentPartPr/>
                <p14:nvPr/>
              </p14:nvContentPartPr>
              <p14:xfrm>
                <a:off x="1061817" y="1429047"/>
                <a:ext cx="360" cy="2649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64DFB29-E264-069C-F7E4-8F61CDCEE7A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55697" y="1422927"/>
                  <a:ext cx="1260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C6075E6-33C0-465E-8339-A34014484AEF}"/>
                    </a:ext>
                  </a:extLst>
                </p14:cNvPr>
                <p14:cNvContentPartPr/>
                <p14:nvPr/>
              </p14:nvContentPartPr>
              <p14:xfrm>
                <a:off x="1399137" y="1616967"/>
                <a:ext cx="166320" cy="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C6075E6-33C0-465E-8339-A34014484AE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393017" y="1610847"/>
                  <a:ext cx="1785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6841FEA-441E-5530-8280-5D059B79208A}"/>
                    </a:ext>
                  </a:extLst>
                </p14:cNvPr>
                <p14:cNvContentPartPr/>
                <p14:nvPr/>
              </p14:nvContentPartPr>
              <p14:xfrm>
                <a:off x="1400577" y="1509687"/>
                <a:ext cx="124200" cy="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6841FEA-441E-5530-8280-5D059B79208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394457" y="1503567"/>
                  <a:ext cx="1364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F19DDEC-A002-6295-7807-6AA1E22A1769}"/>
                    </a:ext>
                  </a:extLst>
                </p14:cNvPr>
                <p14:cNvContentPartPr/>
                <p14:nvPr/>
              </p14:nvContentPartPr>
              <p14:xfrm>
                <a:off x="1873977" y="1460367"/>
                <a:ext cx="237600" cy="3801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F19DDEC-A002-6295-7807-6AA1E22A176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867857" y="1454247"/>
                  <a:ext cx="249840" cy="392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41036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80F4A0-A1CA-4D8C-A0F1-3C8F96B59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12</a:t>
            </a:fld>
            <a:endParaRPr lang="zh-TW" altLang="en-US" dirty="0"/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E6C5DFE8-8BB4-A27E-8A07-4B0C62061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63" y="-172296"/>
            <a:ext cx="7886700" cy="1325563"/>
          </a:xfrm>
        </p:spPr>
        <p:txBody>
          <a:bodyPr/>
          <a:lstStyle/>
          <a:p>
            <a:r>
              <a:rPr lang="en-US" altLang="zh-TW" dirty="0"/>
              <a:t>Re-weighting Training Data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323EA3D-9A79-B538-5EB9-63528236F6FA}"/>
                  </a:ext>
                </a:extLst>
              </p:cNvPr>
              <p:cNvSpPr txBox="1"/>
              <p:nvPr/>
            </p:nvSpPr>
            <p:spPr>
              <a:xfrm>
                <a:off x="1000905" y="2639632"/>
                <a:ext cx="7514445" cy="16024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altLang="zh-TW" sz="24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TW" sz="240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TW" sz="24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TW" sz="240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TW" sz="24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TW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p>
                    </m:sSup>
                  </m:oMath>
                </a14:m>
                <a:endParaRPr lang="en-US" altLang="zh-TW" sz="2400" dirty="0"/>
              </a:p>
              <a:p>
                <a:pPr lvl="2"/>
                <a:r>
                  <a:rPr lang="en-US" altLang="zh-TW" sz="2400" dirty="0"/>
                  <a:t> </a:t>
                </a:r>
              </a:p>
              <a:p>
                <a:pPr lvl="2"/>
                <a:r>
                  <a:rPr lang="en-US" altLang="zh-TW" sz="2400" dirty="0"/>
                  <a:t> 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altLang="zh-TW" sz="24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TW" sz="240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TW" sz="24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TW" sz="24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TW" sz="24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TW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323EA3D-9A79-B538-5EB9-63528236F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905" y="2639632"/>
                <a:ext cx="7514445" cy="1602490"/>
              </a:xfrm>
              <a:prstGeom prst="rect">
                <a:avLst/>
              </a:prstGeom>
              <a:blipFill>
                <a:blip r:embed="rId3"/>
                <a:stretch>
                  <a:fillRect b="-23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13">
                <a:extLst>
                  <a:ext uri="{FF2B5EF4-FFF2-40B4-BE49-F238E27FC236}">
                    <a16:creationId xmlns:a16="http://schemas.microsoft.com/office/drawing/2014/main" id="{87B41E33-A89A-53F2-841E-ABC6FB25B45D}"/>
                  </a:ext>
                </a:extLst>
              </p:cNvPr>
              <p:cNvSpPr/>
              <p:nvPr/>
            </p:nvSpPr>
            <p:spPr>
              <a:xfrm>
                <a:off x="45575" y="2627755"/>
                <a:ext cx="1841017" cy="461665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TW" sz="2400" dirty="0"/>
                  <a:t>: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9" name="矩形 13">
                <a:extLst>
                  <a:ext uri="{FF2B5EF4-FFF2-40B4-BE49-F238E27FC236}">
                    <a16:creationId xmlns:a16="http://schemas.microsoft.com/office/drawing/2014/main" id="{87B41E33-A89A-53F2-841E-ABC6FB25B4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75" y="2627755"/>
                <a:ext cx="1841017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3">
                <a:extLst>
                  <a:ext uri="{FF2B5EF4-FFF2-40B4-BE49-F238E27FC236}">
                    <a16:creationId xmlns:a16="http://schemas.microsoft.com/office/drawing/2014/main" id="{E4D1474C-5139-0E19-15CB-3DAB7DB418DE}"/>
                  </a:ext>
                </a:extLst>
              </p:cNvPr>
              <p:cNvSpPr/>
              <p:nvPr/>
            </p:nvSpPr>
            <p:spPr>
              <a:xfrm>
                <a:off x="0" y="3768580"/>
                <a:ext cx="1841017" cy="461665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TW" sz="2400" dirty="0"/>
                  <a:t>: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11" name="矩形 13">
                <a:extLst>
                  <a:ext uri="{FF2B5EF4-FFF2-40B4-BE49-F238E27FC236}">
                    <a16:creationId xmlns:a16="http://schemas.microsoft.com/office/drawing/2014/main" id="{E4D1474C-5139-0E19-15CB-3DAB7DB418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768580"/>
                <a:ext cx="1841017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C2E547A-5E2B-981F-134D-50E9DFB18FCC}"/>
                  </a:ext>
                </a:extLst>
              </p:cNvPr>
              <p:cNvSpPr txBox="1"/>
              <p:nvPr/>
            </p:nvSpPr>
            <p:spPr>
              <a:xfrm>
                <a:off x="564266" y="4909405"/>
                <a:ext cx="12767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C2E547A-5E2B-981F-134D-50E9DFB18F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266" y="4909405"/>
                <a:ext cx="1276751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10">
                <a:extLst>
                  <a:ext uri="{FF2B5EF4-FFF2-40B4-BE49-F238E27FC236}">
                    <a16:creationId xmlns:a16="http://schemas.microsoft.com/office/drawing/2014/main" id="{EF4B018C-753B-8F12-1B73-E8608615DB69}"/>
                  </a:ext>
                </a:extLst>
              </p:cNvPr>
              <p:cNvSpPr/>
              <p:nvPr/>
            </p:nvSpPr>
            <p:spPr>
              <a:xfrm>
                <a:off x="5386938" y="3089420"/>
                <a:ext cx="3869072" cy="4983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⇒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nor/>
                            </m:rPr>
                            <a:rPr lang="zh-TW" altLang="en-US" sz="2400" dirty="0"/>
                            <m:t> 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" name="矩形 10">
                <a:extLst>
                  <a:ext uri="{FF2B5EF4-FFF2-40B4-BE49-F238E27FC236}">
                    <a16:creationId xmlns:a16="http://schemas.microsoft.com/office/drawing/2014/main" id="{EF4B018C-753B-8F12-1B73-E8608615DB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6938" y="3089420"/>
                <a:ext cx="3869072" cy="498342"/>
              </a:xfrm>
              <a:prstGeom prst="rect">
                <a:avLst/>
              </a:prstGeom>
              <a:blipFill>
                <a:blip r:embed="rId7"/>
                <a:stretch>
                  <a:fillRect t="-25000"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0C49FEB-8361-8EFE-258B-F31855C4DAD8}"/>
                  </a:ext>
                </a:extLst>
              </p:cNvPr>
              <p:cNvSpPr txBox="1"/>
              <p:nvPr/>
            </p:nvSpPr>
            <p:spPr>
              <a:xfrm>
                <a:off x="564266" y="5576688"/>
                <a:ext cx="46703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TW" altLang="en-US" sz="1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zh-TW" sz="1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altLang="zh-TW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±1</m:t>
                    </m:r>
                  </m:oMath>
                </a14:m>
                <a:r>
                  <a:rPr lang="zh-TW" altLang="en-US" sz="1800" dirty="0"/>
                  <a:t> </a:t>
                </a:r>
                <a:r>
                  <a:rPr lang="en-US" altLang="zh-TW" sz="1800" dirty="0"/>
                  <a:t>(binary classification)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0C49FEB-8361-8EFE-258B-F31855C4DA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266" y="5576688"/>
                <a:ext cx="4670384" cy="369332"/>
              </a:xfrm>
              <a:prstGeom prst="rect">
                <a:avLst/>
              </a:prstGeom>
              <a:blipFill>
                <a:blip r:embed="rId8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B39C90-2A89-B42C-6DEE-044F7FBC2670}"/>
                  </a:ext>
                </a:extLst>
              </p:cNvPr>
              <p:cNvSpPr txBox="1"/>
              <p:nvPr/>
            </p:nvSpPr>
            <p:spPr>
              <a:xfrm>
                <a:off x="818909" y="4738974"/>
                <a:ext cx="4670384" cy="7101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  <m:sSup>
                                <m:sSup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          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sSup>
                                <m:sSup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          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B39C90-2A89-B42C-6DEE-044F7FBC26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909" y="4738974"/>
                <a:ext cx="4670384" cy="710194"/>
              </a:xfrm>
              <a:prstGeom prst="rect">
                <a:avLst/>
              </a:prstGeom>
              <a:blipFill>
                <a:blip r:embed="rId9"/>
                <a:stretch>
                  <a:fillRect t="-186207" b="-27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3032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5" grpId="0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 for </a:t>
            </a:r>
            <a:r>
              <a:rPr lang="en-US" altLang="zh-TW" dirty="0" err="1"/>
              <a:t>AdaBoost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5430" y="2506662"/>
                <a:ext cx="7886700" cy="4351338"/>
              </a:xfrm>
            </p:spPr>
            <p:txBody>
              <a:bodyPr/>
              <a:lstStyle/>
              <a:p>
                <a:r>
                  <a:rPr lang="en-US" altLang="zh-TW" dirty="0"/>
                  <a:t>How to aggregate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>
                        <a:latin typeface="Cambria Math" panose="02040503050406030204" pitchFamily="18" charset="0"/>
                      </a:rPr>
                      <m:t>…,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r>
                      <a:rPr lang="en-US" altLang="zh-TW">
                        <a:latin typeface="Cambria Math" panose="02040503050406030204" pitchFamily="18" charset="0"/>
                      </a:rPr>
                      <m:t>…,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TW" dirty="0"/>
              </a:p>
              <a:p>
                <a:endParaRPr lang="en-US" altLang="zh-TW" dirty="0"/>
              </a:p>
              <a:p>
                <a:pPr lvl="1"/>
                <a:r>
                  <a:rPr lang="en-US" altLang="zh-TW" sz="2800" dirty="0"/>
                  <a:t>Uniform weight: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zh-TW" sz="2800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TW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800" i="1">
                        <a:latin typeface="Cambria Math" panose="02040503050406030204" pitchFamily="18" charset="0"/>
                      </a:rPr>
                      <m:t>𝑠𝑖𝑔𝑛</m:t>
                    </m:r>
                    <m:d>
                      <m:d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nary>
                      </m:e>
                    </m:d>
                  </m:oMath>
                </a14:m>
                <a:endParaRPr lang="en-US" altLang="zh-TW" sz="2800" dirty="0"/>
              </a:p>
              <a:p>
                <a:pPr marL="914400" lvl="2" indent="0">
                  <a:buNone/>
                </a:pPr>
                <a:endParaRPr lang="en-US" altLang="zh-TW" sz="2800" dirty="0"/>
              </a:p>
              <a:p>
                <a:pPr lvl="1"/>
                <a:r>
                  <a:rPr lang="en-US" altLang="zh-TW" sz="2800" dirty="0"/>
                  <a:t>Non-uniform weight: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zh-TW" sz="2800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TW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800" i="1">
                        <a:latin typeface="Cambria Math" panose="02040503050406030204" pitchFamily="18" charset="0"/>
                      </a:rPr>
                      <m:t>𝑠𝑖𝑔𝑛</m:t>
                    </m:r>
                    <m:d>
                      <m:d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TW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280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nary>
                      </m:e>
                    </m:d>
                  </m:oMath>
                </a14:m>
                <a:endParaRPr lang="en-US" altLang="zh-TW" sz="2800" dirty="0"/>
              </a:p>
              <a:p>
                <a:pPr lvl="1"/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5430" y="2506662"/>
                <a:ext cx="7886700" cy="4351338"/>
              </a:xfrm>
              <a:blipFill>
                <a:blip r:embed="rId2"/>
                <a:stretch>
                  <a:fillRect l="-1447" t="-23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6E1FF-E1BE-4210-93A3-4BCBECB49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7213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 for </a:t>
            </a:r>
            <a:r>
              <a:rPr lang="en-US" altLang="zh-TW" dirty="0" err="1"/>
              <a:t>AdaBoost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736698" y="3336939"/>
                <a:ext cx="154260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=0.1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698" y="3336939"/>
                <a:ext cx="1542602" cy="369332"/>
              </a:xfrm>
              <a:prstGeom prst="rect">
                <a:avLst/>
              </a:prstGeom>
              <a:blipFill>
                <a:blip r:embed="rId2"/>
                <a:stretch>
                  <a:fillRect l="-2459" t="-6667" r="-2459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704601" y="4235148"/>
                <a:ext cx="154260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=0.4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601" y="4235148"/>
                <a:ext cx="1542602" cy="369332"/>
              </a:xfrm>
              <a:prstGeom prst="rect">
                <a:avLst/>
              </a:prstGeom>
              <a:blipFill>
                <a:blip r:embed="rId3"/>
                <a:stretch>
                  <a:fillRect l="-2439" t="-6667" r="-2439" b="-3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2436668" y="3336939"/>
                <a:ext cx="117596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sz="2400" dirty="0"/>
                  <a:t>1.10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6668" y="3336939"/>
                <a:ext cx="1175963" cy="369332"/>
              </a:xfrm>
              <a:prstGeom prst="rect">
                <a:avLst/>
              </a:prstGeom>
              <a:blipFill>
                <a:blip r:embed="rId4"/>
                <a:stretch>
                  <a:fillRect l="-6452" t="-20000" r="-13978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2436667" y="4235148"/>
                <a:ext cx="117596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sz="2400" dirty="0"/>
                  <a:t>0.20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6667" y="4235148"/>
                <a:ext cx="1175963" cy="369332"/>
              </a:xfrm>
              <a:prstGeom prst="rect">
                <a:avLst/>
              </a:prstGeom>
              <a:blipFill>
                <a:blip r:embed="rId5"/>
                <a:stretch>
                  <a:fillRect l="-6452" t="-23333" r="-13978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704601" y="2121626"/>
                <a:ext cx="2745945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𝑙𝑛</m:t>
                      </m:r>
                      <m:rad>
                        <m:radPr>
                          <m:degHide m:val="on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lin"/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601" y="2121626"/>
                <a:ext cx="2745945" cy="447238"/>
              </a:xfrm>
              <a:prstGeom prst="rect">
                <a:avLst/>
              </a:prstGeom>
              <a:blipFill>
                <a:blip r:embed="rId6"/>
                <a:stretch>
                  <a:fillRect l="-922" t="-125000" r="-3687" b="-20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6E1FF-E1BE-4210-93A3-4BCBECB49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14</a:t>
            </a:fld>
            <a:endParaRPr lang="zh-TW" alt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3900DFC-1BC6-8829-E9ED-06F6E37055C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0307" y="537970"/>
            <a:ext cx="2272607" cy="44204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5">
                <a:extLst>
                  <a:ext uri="{FF2B5EF4-FFF2-40B4-BE49-F238E27FC236}">
                    <a16:creationId xmlns:a16="http://schemas.microsoft.com/office/drawing/2014/main" id="{DCD8C4B4-8972-C517-3A9D-7682672F7114}"/>
                  </a:ext>
                </a:extLst>
              </p:cNvPr>
              <p:cNvSpPr txBox="1"/>
              <p:nvPr/>
            </p:nvSpPr>
            <p:spPr>
              <a:xfrm>
                <a:off x="8823765" y="4312337"/>
                <a:ext cx="3211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4" name="文字方塊 5">
                <a:extLst>
                  <a:ext uri="{FF2B5EF4-FFF2-40B4-BE49-F238E27FC236}">
                    <a16:creationId xmlns:a16="http://schemas.microsoft.com/office/drawing/2014/main" id="{DCD8C4B4-8972-C517-3A9D-7682672F71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3765" y="4312337"/>
                <a:ext cx="321177" cy="369332"/>
              </a:xfrm>
              <a:prstGeom prst="rect">
                <a:avLst/>
              </a:prstGeom>
              <a:blipFill>
                <a:blip r:embed="rId8"/>
                <a:stretch>
                  <a:fillRect l="-11538" r="-7692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8">
                <a:extLst>
                  <a:ext uri="{FF2B5EF4-FFF2-40B4-BE49-F238E27FC236}">
                    <a16:creationId xmlns:a16="http://schemas.microsoft.com/office/drawing/2014/main" id="{4C54A2FD-6912-3F6C-4A0C-E2FC71055FFB}"/>
                  </a:ext>
                </a:extLst>
              </p:cNvPr>
              <p:cNvSpPr txBox="1"/>
              <p:nvPr/>
            </p:nvSpPr>
            <p:spPr>
              <a:xfrm>
                <a:off x="7237805" y="2365465"/>
                <a:ext cx="37144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5" name="文字方塊 8">
                <a:extLst>
                  <a:ext uri="{FF2B5EF4-FFF2-40B4-BE49-F238E27FC236}">
                    <a16:creationId xmlns:a16="http://schemas.microsoft.com/office/drawing/2014/main" id="{4C54A2FD-6912-3F6C-4A0C-E2FC71055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805" y="2365465"/>
                <a:ext cx="371447" cy="369332"/>
              </a:xfrm>
              <a:prstGeom prst="rect">
                <a:avLst/>
              </a:prstGeom>
              <a:blipFill>
                <a:blip r:embed="rId9"/>
                <a:stretch>
                  <a:fillRect l="-9677" r="-3226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BF270D1-9CEF-5AEA-18B5-2524895F6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4801" y="5341507"/>
            <a:ext cx="3555657" cy="11513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Smaller errors lead to higher final weights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5126E6C-A826-20FF-B1E9-8732B18445B3}"/>
                  </a:ext>
                </a:extLst>
              </p:cNvPr>
              <p:cNvSpPr txBox="1"/>
              <p:nvPr/>
            </p:nvSpPr>
            <p:spPr>
              <a:xfrm>
                <a:off x="5684623" y="6161611"/>
                <a:ext cx="51393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5126E6C-A826-20FF-B1E9-8732B18445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4623" y="6161611"/>
                <a:ext cx="513939" cy="646331"/>
              </a:xfrm>
              <a:prstGeom prst="rect">
                <a:avLst/>
              </a:prstGeom>
              <a:blipFill>
                <a:blip r:embed="rId10"/>
                <a:stretch>
                  <a:fillRect l="-4762" r="-4762" b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E9ACD7A-5B1F-E74B-BC2C-3915D58261FA}"/>
                  </a:ext>
                </a:extLst>
              </p:cNvPr>
              <p:cNvSpPr txBox="1"/>
              <p:nvPr/>
            </p:nvSpPr>
            <p:spPr>
              <a:xfrm>
                <a:off x="6293983" y="5462670"/>
                <a:ext cx="51393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E9ACD7A-5B1F-E74B-BC2C-3915D5826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3983" y="5462670"/>
                <a:ext cx="513939" cy="646331"/>
              </a:xfrm>
              <a:prstGeom prst="rect">
                <a:avLst/>
              </a:prstGeom>
              <a:blipFill>
                <a:blip r:embed="rId11"/>
                <a:stretch>
                  <a:fillRect l="-4762" r="-19048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Down Arrow 18">
            <a:extLst>
              <a:ext uri="{FF2B5EF4-FFF2-40B4-BE49-F238E27FC236}">
                <a16:creationId xmlns:a16="http://schemas.microsoft.com/office/drawing/2014/main" id="{EE67EF3E-149E-08F2-70AA-BA7A461EDFA8}"/>
              </a:ext>
            </a:extLst>
          </p:cNvPr>
          <p:cNvSpPr/>
          <p:nvPr/>
        </p:nvSpPr>
        <p:spPr>
          <a:xfrm rot="10800000">
            <a:off x="5638281" y="5669973"/>
            <a:ext cx="513939" cy="606066"/>
          </a:xfrm>
          <a:prstGeom prst="downArrow">
            <a:avLst/>
          </a:prstGeom>
          <a:solidFill>
            <a:srgbClr val="38C61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F5FF83A2-C504-7A9D-422B-923E00C7B735}"/>
              </a:ext>
            </a:extLst>
          </p:cNvPr>
          <p:cNvSpPr/>
          <p:nvPr/>
        </p:nvSpPr>
        <p:spPr>
          <a:xfrm>
            <a:off x="6368437" y="6068356"/>
            <a:ext cx="513939" cy="60606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F04FB30-4CB7-9911-AA0E-21D9B08859EA}"/>
                  </a:ext>
                </a:extLst>
              </p:cNvPr>
              <p:cNvSpPr txBox="1"/>
              <p:nvPr/>
            </p:nvSpPr>
            <p:spPr>
              <a:xfrm>
                <a:off x="5089525" y="5123758"/>
                <a:ext cx="251972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Because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&lt;0.5: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F04FB30-4CB7-9911-AA0E-21D9B0885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9525" y="5123758"/>
                <a:ext cx="2519727" cy="461665"/>
              </a:xfrm>
              <a:prstGeom prst="rect">
                <a:avLst/>
              </a:prstGeom>
              <a:blipFill>
                <a:blip r:embed="rId12"/>
                <a:stretch>
                  <a:fillRect l="-3500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0926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1949545" y="2667734"/>
            <a:ext cx="2081178" cy="30841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矩形 51"/>
          <p:cNvSpPr/>
          <p:nvPr/>
        </p:nvSpPr>
        <p:spPr>
          <a:xfrm>
            <a:off x="970723" y="2651440"/>
            <a:ext cx="948409" cy="30841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Toy Example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t=1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2627093" y="2859314"/>
            <a:ext cx="62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+</a:t>
            </a:r>
            <a:endParaRPr lang="zh-TW" altLang="en-US" sz="2800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3086226" y="3382534"/>
            <a:ext cx="62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+</a:t>
            </a:r>
            <a:endParaRPr lang="zh-TW" altLang="en-US" sz="2800" dirty="0">
              <a:solidFill>
                <a:srgbClr val="0000FF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2002978" y="3120924"/>
            <a:ext cx="62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+</a:t>
            </a:r>
            <a:endParaRPr lang="zh-TW" altLang="en-US" sz="2800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1325462" y="3905754"/>
            <a:ext cx="62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+</a:t>
            </a:r>
            <a:endParaRPr lang="zh-TW" altLang="en-US" sz="2800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1398032" y="4670891"/>
            <a:ext cx="62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+</a:t>
            </a:r>
            <a:endParaRPr lang="zh-TW" altLang="en-US" sz="2800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031337" y="3856942"/>
            <a:ext cx="62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-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2137865" y="4936996"/>
            <a:ext cx="62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-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682664" y="3905754"/>
            <a:ext cx="62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-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3501816" y="3088909"/>
            <a:ext cx="62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-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3501815" y="4670891"/>
            <a:ext cx="62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-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70723" y="2675636"/>
            <a:ext cx="3060000" cy="30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1660121" y="3184601"/>
            <a:ext cx="68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1.0</a:t>
            </a:r>
            <a:endParaRPr lang="zh-TW" altLang="en-US" sz="2400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2275758" y="2886301"/>
            <a:ext cx="68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1.0</a:t>
            </a:r>
            <a:endParaRPr lang="zh-TW" altLang="en-US" sz="24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2743177" y="3388905"/>
            <a:ext cx="68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1.0</a:t>
            </a:r>
            <a:endParaRPr lang="zh-TW" altLang="en-US" sz="24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3171318" y="3049882"/>
            <a:ext cx="68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1.0</a:t>
            </a:r>
            <a:endParaRPr lang="zh-TW" altLang="en-US" sz="24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989429" y="3927746"/>
            <a:ext cx="68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1.0</a:t>
            </a:r>
            <a:endParaRPr lang="zh-TW" altLang="en-US" sz="24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1055097" y="4724724"/>
            <a:ext cx="68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1.0</a:t>
            </a:r>
            <a:endParaRPr lang="zh-TW" altLang="en-US" sz="24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1846562" y="4992487"/>
            <a:ext cx="68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1.0</a:t>
            </a:r>
            <a:endParaRPr lang="zh-TW" altLang="en-US" sz="24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3176634" y="4701668"/>
            <a:ext cx="68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1.0</a:t>
            </a:r>
            <a:endParaRPr lang="zh-TW" altLang="en-US" sz="24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2472059" y="4142957"/>
            <a:ext cx="68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1.0</a:t>
            </a:r>
            <a:endParaRPr lang="zh-TW" altLang="en-US" sz="2400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1809722" y="4088910"/>
            <a:ext cx="68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1.0</a:t>
            </a:r>
            <a:endParaRPr lang="zh-TW" altLang="en-US" sz="2400" dirty="0"/>
          </a:p>
        </p:txBody>
      </p:sp>
      <p:sp>
        <p:nvSpPr>
          <p:cNvPr id="47" name="文字方塊 46"/>
          <p:cNvSpPr txBox="1"/>
          <p:nvPr/>
        </p:nvSpPr>
        <p:spPr>
          <a:xfrm>
            <a:off x="4030723" y="784597"/>
            <a:ext cx="492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T=3, weak classifier = decision stump</a:t>
            </a:r>
            <a:endParaRPr lang="zh-TW" altLang="en-US" sz="2400" dirty="0"/>
          </a:p>
        </p:txBody>
      </p:sp>
      <p:cxnSp>
        <p:nvCxnSpPr>
          <p:cNvPr id="50" name="直線接點 49"/>
          <p:cNvCxnSpPr/>
          <p:nvPr/>
        </p:nvCxnSpPr>
        <p:spPr>
          <a:xfrm>
            <a:off x="1919132" y="2651440"/>
            <a:ext cx="0" cy="308419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50"/>
              <p:cNvSpPr txBox="1"/>
              <p:nvPr/>
            </p:nvSpPr>
            <p:spPr>
              <a:xfrm>
                <a:off x="1446985" y="5800504"/>
                <a:ext cx="94429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1" name="文字方塊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6985" y="5800504"/>
                <a:ext cx="944294" cy="461665"/>
              </a:xfrm>
              <a:prstGeom prst="rect">
                <a:avLst/>
              </a:prstGeom>
              <a:blipFill>
                <a:blip r:embed="rId2"/>
                <a:stretch>
                  <a:fillRect l="-645" b="-1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/>
              <p:cNvSpPr txBox="1"/>
              <p:nvPr/>
            </p:nvSpPr>
            <p:spPr>
              <a:xfrm>
                <a:off x="4122183" y="4519625"/>
                <a:ext cx="15157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=0.30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4" name="文字方塊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2183" y="4519625"/>
                <a:ext cx="1515798" cy="461665"/>
              </a:xfrm>
              <a:prstGeom prst="rect">
                <a:avLst/>
              </a:prstGeom>
              <a:blipFill>
                <a:blip r:embed="rId3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箭號: 向右 54"/>
          <p:cNvSpPr/>
          <p:nvPr/>
        </p:nvSpPr>
        <p:spPr>
          <a:xfrm>
            <a:off x="4287134" y="3856942"/>
            <a:ext cx="1160221" cy="62552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/>
              <p:cNvSpPr txBox="1"/>
              <p:nvPr/>
            </p:nvSpPr>
            <p:spPr>
              <a:xfrm>
                <a:off x="4115096" y="5049254"/>
                <a:ext cx="14905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=1.53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6" name="文字方塊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5096" y="5049254"/>
                <a:ext cx="1490501" cy="461665"/>
              </a:xfrm>
              <a:prstGeom prst="rect">
                <a:avLst/>
              </a:prstGeom>
              <a:blipFill>
                <a:blip r:embed="rId4"/>
                <a:stretch>
                  <a:fillRect r="-816" b="-13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/>
              <p:cNvSpPr txBox="1"/>
              <p:nvPr/>
            </p:nvSpPr>
            <p:spPr>
              <a:xfrm>
                <a:off x="4122183" y="5543731"/>
                <a:ext cx="14905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=0.42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7" name="文字方塊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2183" y="5543731"/>
                <a:ext cx="1490501" cy="461665"/>
              </a:xfrm>
              <a:prstGeom prst="rect">
                <a:avLst/>
              </a:prstGeom>
              <a:blipFill>
                <a:blip r:embed="rId5"/>
                <a:stretch>
                  <a:fillRect r="-408" b="-13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文字方塊 59"/>
          <p:cNvSpPr txBox="1"/>
          <p:nvPr/>
        </p:nvSpPr>
        <p:spPr>
          <a:xfrm>
            <a:off x="7392350" y="2759056"/>
            <a:ext cx="6241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0000FF"/>
                </a:solidFill>
              </a:rPr>
              <a:t>+</a:t>
            </a:r>
            <a:endParaRPr lang="zh-TW" altLang="en-US" sz="4200" dirty="0">
              <a:solidFill>
                <a:srgbClr val="0000FF"/>
              </a:solidFill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6073860" y="3982049"/>
            <a:ext cx="624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0000FF"/>
                </a:solidFill>
              </a:rPr>
              <a:t>+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6095637" y="4774350"/>
            <a:ext cx="624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0000FF"/>
                </a:solidFill>
              </a:rPr>
              <a:t>+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6711875" y="3916996"/>
            <a:ext cx="624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-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6876876" y="5026378"/>
            <a:ext cx="624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-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7407566" y="3966460"/>
            <a:ext cx="624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-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8211502" y="3105203"/>
            <a:ext cx="624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-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8199058" y="4747834"/>
            <a:ext cx="624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-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5680409" y="2691930"/>
            <a:ext cx="3060000" cy="30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文字方塊 70"/>
          <p:cNvSpPr txBox="1"/>
          <p:nvPr/>
        </p:nvSpPr>
        <p:spPr>
          <a:xfrm>
            <a:off x="6168439" y="3200895"/>
            <a:ext cx="884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1.53</a:t>
            </a:r>
            <a:endParaRPr lang="zh-TW" altLang="en-US" sz="2400" dirty="0"/>
          </a:p>
        </p:txBody>
      </p:sp>
      <p:sp>
        <p:nvSpPr>
          <p:cNvPr id="72" name="文字方塊 71"/>
          <p:cNvSpPr txBox="1"/>
          <p:nvPr/>
        </p:nvSpPr>
        <p:spPr>
          <a:xfrm>
            <a:off x="6912518" y="2902595"/>
            <a:ext cx="756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1.53</a:t>
            </a:r>
            <a:endParaRPr lang="zh-TW" altLang="en-US" sz="2400" dirty="0"/>
          </a:p>
        </p:txBody>
      </p:sp>
      <p:sp>
        <p:nvSpPr>
          <p:cNvPr id="73" name="文字方塊 72"/>
          <p:cNvSpPr txBox="1"/>
          <p:nvPr/>
        </p:nvSpPr>
        <p:spPr>
          <a:xfrm>
            <a:off x="7312091" y="3405199"/>
            <a:ext cx="824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1.53</a:t>
            </a:r>
            <a:endParaRPr lang="zh-TW" altLang="en-US" sz="2400" dirty="0"/>
          </a:p>
        </p:txBody>
      </p:sp>
      <p:sp>
        <p:nvSpPr>
          <p:cNvPr id="74" name="文字方塊 73"/>
          <p:cNvSpPr txBox="1"/>
          <p:nvPr/>
        </p:nvSpPr>
        <p:spPr>
          <a:xfrm>
            <a:off x="7743530" y="3066176"/>
            <a:ext cx="820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0.65</a:t>
            </a:r>
            <a:endParaRPr lang="zh-TW" altLang="en-US" sz="2400" dirty="0"/>
          </a:p>
        </p:txBody>
      </p:sp>
      <p:sp>
        <p:nvSpPr>
          <p:cNvPr id="75" name="文字方塊 74"/>
          <p:cNvSpPr txBox="1"/>
          <p:nvPr/>
        </p:nvSpPr>
        <p:spPr>
          <a:xfrm>
            <a:off x="5637981" y="3944040"/>
            <a:ext cx="7444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0.65</a:t>
            </a:r>
            <a:endParaRPr lang="zh-TW" altLang="en-US" sz="2400" dirty="0"/>
          </a:p>
        </p:txBody>
      </p:sp>
      <p:sp>
        <p:nvSpPr>
          <p:cNvPr id="76" name="文字方塊 75"/>
          <p:cNvSpPr txBox="1"/>
          <p:nvPr/>
        </p:nvSpPr>
        <p:spPr>
          <a:xfrm>
            <a:off x="5605597" y="4741018"/>
            <a:ext cx="8424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0.65</a:t>
            </a:r>
            <a:endParaRPr lang="zh-TW" altLang="en-US" sz="24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6448056" y="5008781"/>
            <a:ext cx="7914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0.65</a:t>
            </a:r>
            <a:endParaRPr lang="zh-TW" altLang="en-US" sz="24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7762462" y="4717962"/>
            <a:ext cx="807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0.65</a:t>
            </a:r>
            <a:endParaRPr lang="zh-TW" altLang="en-US" sz="2400" dirty="0"/>
          </a:p>
        </p:txBody>
      </p:sp>
      <p:sp>
        <p:nvSpPr>
          <p:cNvPr id="79" name="文字方塊 78"/>
          <p:cNvSpPr txBox="1"/>
          <p:nvPr/>
        </p:nvSpPr>
        <p:spPr>
          <a:xfrm>
            <a:off x="7181745" y="4159251"/>
            <a:ext cx="8207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0.65</a:t>
            </a:r>
            <a:endParaRPr lang="zh-TW" altLang="en-US" sz="2400" dirty="0"/>
          </a:p>
        </p:txBody>
      </p:sp>
      <p:sp>
        <p:nvSpPr>
          <p:cNvPr id="80" name="文字方塊 79"/>
          <p:cNvSpPr txBox="1"/>
          <p:nvPr/>
        </p:nvSpPr>
        <p:spPr>
          <a:xfrm>
            <a:off x="6519408" y="4105204"/>
            <a:ext cx="7349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0.65</a:t>
            </a:r>
            <a:endParaRPr lang="zh-TW" altLang="en-US" sz="2400" dirty="0"/>
          </a:p>
        </p:txBody>
      </p:sp>
      <p:sp>
        <p:nvSpPr>
          <p:cNvPr id="83" name="橢圓 82"/>
          <p:cNvSpPr/>
          <p:nvPr/>
        </p:nvSpPr>
        <p:spPr>
          <a:xfrm>
            <a:off x="1827274" y="3150002"/>
            <a:ext cx="628650" cy="4930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橢圓 83"/>
          <p:cNvSpPr/>
          <p:nvPr/>
        </p:nvSpPr>
        <p:spPr>
          <a:xfrm>
            <a:off x="2443291" y="2852913"/>
            <a:ext cx="628650" cy="4930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5" name="橢圓 84"/>
          <p:cNvSpPr/>
          <p:nvPr/>
        </p:nvSpPr>
        <p:spPr>
          <a:xfrm>
            <a:off x="2842792" y="3397606"/>
            <a:ext cx="699742" cy="4930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6" name="文字方塊 85"/>
          <p:cNvSpPr txBox="1"/>
          <p:nvPr/>
        </p:nvSpPr>
        <p:spPr>
          <a:xfrm>
            <a:off x="7834875" y="3259585"/>
            <a:ext cx="6241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0000FF"/>
                </a:solidFill>
              </a:rPr>
              <a:t>+</a:t>
            </a:r>
            <a:endParaRPr lang="zh-TW" altLang="en-US" sz="4200" dirty="0">
              <a:solidFill>
                <a:srgbClr val="0000FF"/>
              </a:solidFill>
            </a:endParaRPr>
          </a:p>
        </p:txBody>
      </p:sp>
      <p:sp>
        <p:nvSpPr>
          <p:cNvPr id="87" name="文字方塊 86"/>
          <p:cNvSpPr txBox="1"/>
          <p:nvPr/>
        </p:nvSpPr>
        <p:spPr>
          <a:xfrm>
            <a:off x="6711875" y="3034445"/>
            <a:ext cx="6241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0000FF"/>
                </a:solidFill>
              </a:rPr>
              <a:t>+</a:t>
            </a:r>
            <a:endParaRPr lang="zh-TW" altLang="en-US" sz="4200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E90DE-8222-4050-AE95-4D1E9ADE2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9779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2" grpId="0" animBg="1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47" grpId="0"/>
      <p:bldP spid="51" grpId="0"/>
      <p:bldP spid="54" grpId="0"/>
      <p:bldP spid="55" grpId="0" animBg="1"/>
      <p:bldP spid="56" grpId="0"/>
      <p:bldP spid="57" grpId="0"/>
      <p:bldP spid="60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 animBg="1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3" grpId="0" animBg="1"/>
      <p:bldP spid="84" grpId="0" animBg="1"/>
      <p:bldP spid="85" grpId="0" animBg="1"/>
      <p:bldP spid="86" grpId="0"/>
      <p:bldP spid="8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3658812" y="2783848"/>
            <a:ext cx="374931" cy="30841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/>
          <p:cNvSpPr/>
          <p:nvPr/>
        </p:nvSpPr>
        <p:spPr>
          <a:xfrm>
            <a:off x="984182" y="2776947"/>
            <a:ext cx="2634333" cy="30841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Toy Example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t=2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2697764" y="2875170"/>
            <a:ext cx="6241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0000FF"/>
                </a:solidFill>
              </a:rPr>
              <a:t>+</a:t>
            </a:r>
            <a:endParaRPr lang="zh-TW" altLang="en-US" sz="4200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379274" y="4098163"/>
            <a:ext cx="624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0000FF"/>
                </a:solidFill>
              </a:rPr>
              <a:t>+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1401051" y="4890464"/>
            <a:ext cx="624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0000FF"/>
                </a:solidFill>
              </a:rPr>
              <a:t>+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2017289" y="4033110"/>
            <a:ext cx="624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-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182290" y="5142492"/>
            <a:ext cx="624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-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712980" y="4082574"/>
            <a:ext cx="624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-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3516916" y="3221317"/>
            <a:ext cx="624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-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3504472" y="4863948"/>
            <a:ext cx="624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-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85823" y="2808044"/>
            <a:ext cx="3060000" cy="30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1473853" y="3317009"/>
            <a:ext cx="884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1.53</a:t>
            </a:r>
            <a:endParaRPr lang="zh-TW" altLang="en-US" sz="24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2217932" y="3018709"/>
            <a:ext cx="756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1.53</a:t>
            </a:r>
            <a:endParaRPr lang="zh-TW" altLang="en-US" sz="24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2617505" y="3521313"/>
            <a:ext cx="824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1.53</a:t>
            </a:r>
            <a:endParaRPr lang="zh-TW" altLang="en-US" sz="2400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3048944" y="3182290"/>
            <a:ext cx="820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0.65</a:t>
            </a:r>
            <a:endParaRPr lang="zh-TW" altLang="en-US" sz="24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943395" y="4060154"/>
            <a:ext cx="7444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0.65</a:t>
            </a:r>
            <a:endParaRPr lang="zh-TW" altLang="en-US" sz="24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911011" y="4857132"/>
            <a:ext cx="8424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0.65</a:t>
            </a:r>
            <a:endParaRPr lang="zh-TW" altLang="en-US" sz="24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753470" y="5124895"/>
            <a:ext cx="7914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0.65</a:t>
            </a:r>
            <a:endParaRPr lang="zh-TW" altLang="en-US" sz="24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3067876" y="4834076"/>
            <a:ext cx="807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0.65</a:t>
            </a:r>
            <a:endParaRPr lang="zh-TW" altLang="en-US" sz="24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2487159" y="4275365"/>
            <a:ext cx="8207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0.65</a:t>
            </a:r>
            <a:endParaRPr lang="zh-TW" altLang="en-US" sz="24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1824822" y="4221318"/>
            <a:ext cx="7349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0.65</a:t>
            </a:r>
            <a:endParaRPr lang="zh-TW" altLang="en-US" sz="24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3140289" y="3375699"/>
            <a:ext cx="6241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0000FF"/>
                </a:solidFill>
              </a:rPr>
              <a:t>+</a:t>
            </a:r>
            <a:endParaRPr lang="zh-TW" altLang="en-US" sz="4200" dirty="0">
              <a:solidFill>
                <a:srgbClr val="0000FF"/>
              </a:solidFill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2017289" y="3150559"/>
            <a:ext cx="6241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0000FF"/>
                </a:solidFill>
              </a:rPr>
              <a:t>+</a:t>
            </a:r>
            <a:endParaRPr lang="zh-TW" altLang="en-US" sz="4200" dirty="0">
              <a:solidFill>
                <a:srgbClr val="0000FF"/>
              </a:solidFill>
            </a:endParaRPr>
          </a:p>
        </p:txBody>
      </p:sp>
      <p:cxnSp>
        <p:nvCxnSpPr>
          <p:cNvPr id="28" name="直線接點 27"/>
          <p:cNvCxnSpPr/>
          <p:nvPr/>
        </p:nvCxnSpPr>
        <p:spPr>
          <a:xfrm>
            <a:off x="3618515" y="2783848"/>
            <a:ext cx="0" cy="308419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3184293" y="5819652"/>
                <a:ext cx="94429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4293" y="5819652"/>
                <a:ext cx="944294" cy="461665"/>
              </a:xfrm>
              <a:prstGeom prst="rect">
                <a:avLst/>
              </a:prstGeom>
              <a:blipFill>
                <a:blip r:embed="rId2"/>
                <a:stretch>
                  <a:fillRect l="-1290" b="-1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/>
              <p:cNvSpPr txBox="1"/>
              <p:nvPr/>
            </p:nvSpPr>
            <p:spPr>
              <a:xfrm>
                <a:off x="4107668" y="4519625"/>
                <a:ext cx="155268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=0.21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7668" y="4519625"/>
                <a:ext cx="1552687" cy="461665"/>
              </a:xfrm>
              <a:prstGeom prst="rect">
                <a:avLst/>
              </a:prstGeom>
              <a:blipFill>
                <a:blip r:embed="rId3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箭號: 向右 30"/>
          <p:cNvSpPr/>
          <p:nvPr/>
        </p:nvSpPr>
        <p:spPr>
          <a:xfrm>
            <a:off x="4287134" y="3856942"/>
            <a:ext cx="1160221" cy="62552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/>
              <p:cNvSpPr txBox="1"/>
              <p:nvPr/>
            </p:nvSpPr>
            <p:spPr>
              <a:xfrm>
                <a:off x="4115096" y="5049254"/>
                <a:ext cx="14905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=1.94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2" name="文字方塊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5096" y="5049254"/>
                <a:ext cx="1490501" cy="461665"/>
              </a:xfrm>
              <a:prstGeom prst="rect">
                <a:avLst/>
              </a:prstGeom>
              <a:blipFill>
                <a:blip r:embed="rId4"/>
                <a:stretch>
                  <a:fillRect l="-408" r="-408" b="-13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/>
              <p:cNvSpPr txBox="1"/>
              <p:nvPr/>
            </p:nvSpPr>
            <p:spPr>
              <a:xfrm>
                <a:off x="4122183" y="5543731"/>
                <a:ext cx="14905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=0.66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3" name="文字方塊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2183" y="5543731"/>
                <a:ext cx="1490501" cy="461665"/>
              </a:xfrm>
              <a:prstGeom prst="rect">
                <a:avLst/>
              </a:prstGeom>
              <a:blipFill>
                <a:blip r:embed="rId5"/>
                <a:stretch>
                  <a:fillRect r="-816" b="-13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橢圓 33"/>
          <p:cNvSpPr/>
          <p:nvPr/>
        </p:nvSpPr>
        <p:spPr>
          <a:xfrm>
            <a:off x="1842315" y="4299791"/>
            <a:ext cx="628650" cy="37518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/>
          <p:cNvSpPr/>
          <p:nvPr/>
        </p:nvSpPr>
        <p:spPr>
          <a:xfrm>
            <a:off x="2590615" y="4335622"/>
            <a:ext cx="628650" cy="37518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橢圓 35"/>
          <p:cNvSpPr/>
          <p:nvPr/>
        </p:nvSpPr>
        <p:spPr>
          <a:xfrm>
            <a:off x="1812440" y="5168052"/>
            <a:ext cx="628650" cy="37518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/>
          <p:cNvSpPr txBox="1"/>
          <p:nvPr/>
        </p:nvSpPr>
        <p:spPr>
          <a:xfrm>
            <a:off x="7335154" y="2962522"/>
            <a:ext cx="6241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+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5986776" y="4054619"/>
            <a:ext cx="62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>
                <a:solidFill>
                  <a:srgbClr val="0000FF"/>
                </a:solidFill>
              </a:rPr>
              <a:t>+</a:t>
            </a:r>
            <a:endParaRPr lang="zh-TW" altLang="en-US" sz="1200" dirty="0">
              <a:solidFill>
                <a:srgbClr val="0000FF"/>
              </a:solidFill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6008553" y="4846920"/>
            <a:ext cx="62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>
                <a:solidFill>
                  <a:srgbClr val="0000FF"/>
                </a:solidFill>
              </a:rPr>
              <a:t>+</a:t>
            </a:r>
            <a:endParaRPr lang="zh-TW" altLang="en-US" sz="1200" dirty="0">
              <a:solidFill>
                <a:srgbClr val="0000FF"/>
              </a:solidFill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6769931" y="3889782"/>
            <a:ext cx="624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-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6934932" y="4999164"/>
            <a:ext cx="624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-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7465622" y="3939246"/>
            <a:ext cx="624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-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8153446" y="3192287"/>
            <a:ext cx="62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>
                <a:solidFill>
                  <a:srgbClr val="FF0000"/>
                </a:solidFill>
              </a:rPr>
              <a:t>-</a:t>
            </a:r>
            <a:endParaRPr lang="zh-TW" altLang="en-US" sz="1200" dirty="0">
              <a:solidFill>
                <a:srgbClr val="FF0000"/>
              </a:solidFill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8141002" y="4834918"/>
            <a:ext cx="62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>
                <a:solidFill>
                  <a:srgbClr val="FF0000"/>
                </a:solidFill>
              </a:rPr>
              <a:t>-</a:t>
            </a:r>
            <a:endParaRPr lang="zh-TW" altLang="en-US" sz="1200" dirty="0">
              <a:solidFill>
                <a:srgbClr val="FF0000"/>
              </a:solidFill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680409" y="2764500"/>
            <a:ext cx="3060000" cy="30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文字方塊 45"/>
          <p:cNvSpPr txBox="1"/>
          <p:nvPr/>
        </p:nvSpPr>
        <p:spPr>
          <a:xfrm>
            <a:off x="6168439" y="3273465"/>
            <a:ext cx="884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0.78</a:t>
            </a:r>
            <a:endParaRPr lang="zh-TW" altLang="en-US" sz="2400" dirty="0"/>
          </a:p>
        </p:txBody>
      </p:sp>
      <p:sp>
        <p:nvSpPr>
          <p:cNvPr id="47" name="文字方塊 46"/>
          <p:cNvSpPr txBox="1"/>
          <p:nvPr/>
        </p:nvSpPr>
        <p:spPr>
          <a:xfrm>
            <a:off x="6912518" y="2975165"/>
            <a:ext cx="756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0.78</a:t>
            </a:r>
            <a:endParaRPr lang="zh-TW" altLang="en-US" sz="2400" dirty="0"/>
          </a:p>
        </p:txBody>
      </p:sp>
      <p:sp>
        <p:nvSpPr>
          <p:cNvPr id="48" name="文字方塊 47"/>
          <p:cNvSpPr txBox="1"/>
          <p:nvPr/>
        </p:nvSpPr>
        <p:spPr>
          <a:xfrm>
            <a:off x="7312091" y="3477769"/>
            <a:ext cx="824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0.78</a:t>
            </a:r>
            <a:endParaRPr lang="zh-TW" altLang="en-US" sz="2400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7773339" y="3166436"/>
            <a:ext cx="820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0.33</a:t>
            </a:r>
            <a:endParaRPr lang="zh-TW" altLang="en-US" dirty="0"/>
          </a:p>
        </p:txBody>
      </p:sp>
      <p:sp>
        <p:nvSpPr>
          <p:cNvPr id="50" name="文字方塊 49"/>
          <p:cNvSpPr txBox="1"/>
          <p:nvPr/>
        </p:nvSpPr>
        <p:spPr>
          <a:xfrm>
            <a:off x="5637981" y="4016610"/>
            <a:ext cx="744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0.33</a:t>
            </a:r>
            <a:endParaRPr lang="zh-TW" altLang="en-US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5605597" y="4813588"/>
            <a:ext cx="842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0.33</a:t>
            </a:r>
            <a:endParaRPr lang="zh-TW" altLang="en-US" dirty="0"/>
          </a:p>
        </p:txBody>
      </p:sp>
      <p:sp>
        <p:nvSpPr>
          <p:cNvPr id="52" name="文字方塊 51"/>
          <p:cNvSpPr txBox="1"/>
          <p:nvPr/>
        </p:nvSpPr>
        <p:spPr>
          <a:xfrm>
            <a:off x="6448056" y="5081351"/>
            <a:ext cx="7914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1.26</a:t>
            </a:r>
            <a:endParaRPr lang="zh-TW" altLang="en-US" sz="2400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7762462" y="4790532"/>
            <a:ext cx="807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0.33</a:t>
            </a:r>
            <a:endParaRPr lang="zh-TW" altLang="en-US" dirty="0"/>
          </a:p>
        </p:txBody>
      </p:sp>
      <p:sp>
        <p:nvSpPr>
          <p:cNvPr id="54" name="文字方塊 53"/>
          <p:cNvSpPr txBox="1"/>
          <p:nvPr/>
        </p:nvSpPr>
        <p:spPr>
          <a:xfrm>
            <a:off x="7181745" y="4231821"/>
            <a:ext cx="8207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1.26</a:t>
            </a:r>
            <a:endParaRPr lang="zh-TW" altLang="en-US" sz="2400" dirty="0"/>
          </a:p>
        </p:txBody>
      </p:sp>
      <p:sp>
        <p:nvSpPr>
          <p:cNvPr id="55" name="文字方塊 54"/>
          <p:cNvSpPr txBox="1"/>
          <p:nvPr/>
        </p:nvSpPr>
        <p:spPr>
          <a:xfrm>
            <a:off x="6519408" y="4177774"/>
            <a:ext cx="7349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1.26</a:t>
            </a:r>
            <a:endParaRPr lang="zh-TW" altLang="en-US" sz="2400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7777679" y="3463051"/>
            <a:ext cx="6241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+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6654679" y="3237911"/>
            <a:ext cx="6241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+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/>
              <p:cNvSpPr txBox="1"/>
              <p:nvPr/>
            </p:nvSpPr>
            <p:spPr>
              <a:xfrm>
                <a:off x="1814478" y="2040333"/>
                <a:ext cx="14905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=0.42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8" name="文字方塊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4478" y="2040333"/>
                <a:ext cx="1490501" cy="461665"/>
              </a:xfrm>
              <a:prstGeom prst="rect">
                <a:avLst/>
              </a:prstGeom>
              <a:blipFill>
                <a:blip r:embed="rId6"/>
                <a:stretch>
                  <a:fillRect r="-410" b="-1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字方塊 58"/>
              <p:cNvSpPr txBox="1"/>
              <p:nvPr/>
            </p:nvSpPr>
            <p:spPr>
              <a:xfrm>
                <a:off x="2377585" y="1459856"/>
                <a:ext cx="94429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sz="2400" dirty="0"/>
                  <a:t>: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59" name="文字方塊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7585" y="1459856"/>
                <a:ext cx="944294" cy="461665"/>
              </a:xfrm>
              <a:prstGeom prst="rect">
                <a:avLst/>
              </a:prstGeom>
              <a:blipFill>
                <a:blip r:embed="rId7"/>
                <a:stretch>
                  <a:fillRect l="-5161" t="-10526" r="-9677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0" name="圖片 5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86907" y="1383859"/>
            <a:ext cx="1250206" cy="1250206"/>
          </a:xfrm>
          <a:prstGeom prst="rect">
            <a:avLst/>
          </a:prstGeom>
        </p:spPr>
      </p:pic>
      <p:sp>
        <p:nvSpPr>
          <p:cNvPr id="61" name="Slide Number Placeholder 60">
            <a:extLst>
              <a:ext uri="{FF2B5EF4-FFF2-40B4-BE49-F238E27FC236}">
                <a16:creationId xmlns:a16="http://schemas.microsoft.com/office/drawing/2014/main" id="{F9635A0C-0BD7-4E7E-BC74-1325DCC46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7527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9" grpId="0"/>
      <p:bldP spid="30" grpId="0"/>
      <p:bldP spid="31" grpId="0" animBg="1"/>
      <p:bldP spid="32" grpId="0"/>
      <p:bldP spid="33" grpId="0"/>
      <p:bldP spid="34" grpId="0" animBg="1"/>
      <p:bldP spid="35" grpId="0" animBg="1"/>
      <p:bldP spid="36" grpId="0" animBg="1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 animBg="1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/>
          <p:cNvSpPr/>
          <p:nvPr/>
        </p:nvSpPr>
        <p:spPr>
          <a:xfrm>
            <a:off x="901040" y="4166423"/>
            <a:ext cx="3034542" cy="1899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 37"/>
          <p:cNvSpPr/>
          <p:nvPr/>
        </p:nvSpPr>
        <p:spPr>
          <a:xfrm>
            <a:off x="887099" y="3031227"/>
            <a:ext cx="3048483" cy="10901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Toy Example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t=3</a:t>
            </a:r>
            <a:endParaRPr lang="zh-TW" altLang="en-US" dirty="0"/>
          </a:p>
          <a:p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1677732" y="2142393"/>
                <a:ext cx="14905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=0.42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7732" y="2142393"/>
                <a:ext cx="1490501" cy="461665"/>
              </a:xfrm>
              <a:prstGeom prst="rect">
                <a:avLst/>
              </a:prstGeom>
              <a:blipFill>
                <a:blip r:embed="rId2"/>
                <a:stretch>
                  <a:fillRect r="-408" b="-13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2240839" y="1561916"/>
                <a:ext cx="94429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sz="2400" dirty="0"/>
                  <a:t>: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0839" y="1561916"/>
                <a:ext cx="944294" cy="461665"/>
              </a:xfrm>
              <a:prstGeom prst="rect">
                <a:avLst/>
              </a:prstGeom>
              <a:blipFill>
                <a:blip r:embed="rId3"/>
                <a:stretch>
                  <a:fillRect l="-5844" t="-10526" r="-9740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0161" y="1485919"/>
            <a:ext cx="1250206" cy="12502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4640662" y="2110870"/>
                <a:ext cx="14905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=0.66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662" y="2110870"/>
                <a:ext cx="1490501" cy="461665"/>
              </a:xfrm>
              <a:prstGeom prst="rect">
                <a:avLst/>
              </a:prstGeom>
              <a:blipFill>
                <a:blip r:embed="rId5"/>
                <a:stretch>
                  <a:fillRect r="-816" b="-13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5066360" y="1530392"/>
                <a:ext cx="94429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sz="2400" dirty="0"/>
                  <a:t>: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6360" y="1530392"/>
                <a:ext cx="944294" cy="461665"/>
              </a:xfrm>
              <a:prstGeom prst="rect">
                <a:avLst/>
              </a:prstGeom>
              <a:blipFill>
                <a:blip r:embed="rId6"/>
                <a:stretch>
                  <a:fillRect l="-5161" t="-10526" r="-18710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圖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1164" y="1454397"/>
            <a:ext cx="1281728" cy="1281728"/>
          </a:xfrm>
          <a:prstGeom prst="rect">
            <a:avLst/>
          </a:prstGeom>
        </p:spPr>
      </p:pic>
      <p:sp>
        <p:nvSpPr>
          <p:cNvPr id="11" name="文字方塊 10"/>
          <p:cNvSpPr txBox="1"/>
          <p:nvPr/>
        </p:nvSpPr>
        <p:spPr>
          <a:xfrm>
            <a:off x="2546893" y="3204229"/>
            <a:ext cx="6241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+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1198515" y="4296326"/>
            <a:ext cx="62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>
                <a:solidFill>
                  <a:srgbClr val="0000FF"/>
                </a:solidFill>
              </a:rPr>
              <a:t>+</a:t>
            </a:r>
            <a:endParaRPr lang="zh-TW" altLang="en-US" sz="1200" dirty="0">
              <a:solidFill>
                <a:srgbClr val="0000FF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1220292" y="5088627"/>
            <a:ext cx="62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>
                <a:solidFill>
                  <a:srgbClr val="0000FF"/>
                </a:solidFill>
              </a:rPr>
              <a:t>+</a:t>
            </a:r>
            <a:endParaRPr lang="zh-TW" altLang="en-US" sz="1200" dirty="0">
              <a:solidFill>
                <a:srgbClr val="0000FF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1981670" y="4131489"/>
            <a:ext cx="624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-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146671" y="5240871"/>
            <a:ext cx="624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-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2677361" y="4180953"/>
            <a:ext cx="624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-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3365185" y="3433994"/>
            <a:ext cx="62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>
                <a:solidFill>
                  <a:srgbClr val="FF0000"/>
                </a:solidFill>
              </a:rPr>
              <a:t>-</a:t>
            </a:r>
            <a:endParaRPr lang="zh-TW" altLang="en-US" sz="1200" dirty="0">
              <a:solidFill>
                <a:srgbClr val="FF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3352741" y="5076625"/>
            <a:ext cx="62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>
                <a:solidFill>
                  <a:srgbClr val="FF0000"/>
                </a:solidFill>
              </a:rPr>
              <a:t>-</a:t>
            </a:r>
            <a:endParaRPr lang="zh-TW" altLang="en-US" sz="1200" dirty="0">
              <a:solidFill>
                <a:srgbClr val="FF0000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92148" y="3006207"/>
            <a:ext cx="3060000" cy="30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/>
          <p:cNvSpPr txBox="1"/>
          <p:nvPr/>
        </p:nvSpPr>
        <p:spPr>
          <a:xfrm>
            <a:off x="1380178" y="3515172"/>
            <a:ext cx="884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0.78</a:t>
            </a:r>
            <a:endParaRPr lang="zh-TW" altLang="en-US" sz="24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2124257" y="3216872"/>
            <a:ext cx="756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0.78</a:t>
            </a:r>
            <a:endParaRPr lang="zh-TW" altLang="en-US" sz="24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2523830" y="3719476"/>
            <a:ext cx="824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0.78</a:t>
            </a:r>
            <a:endParaRPr lang="zh-TW" altLang="en-US" sz="24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2985078" y="3408143"/>
            <a:ext cx="820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0.33</a:t>
            </a:r>
            <a:endParaRPr lang="zh-TW" altLang="en-US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849720" y="4258317"/>
            <a:ext cx="744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0.33</a:t>
            </a:r>
            <a:endParaRPr lang="zh-TW" altLang="en-US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817336" y="5055295"/>
            <a:ext cx="842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0.33</a:t>
            </a:r>
            <a:endParaRPr lang="zh-TW" altLang="en-US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1659795" y="5323058"/>
            <a:ext cx="7914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1.26</a:t>
            </a:r>
            <a:endParaRPr lang="zh-TW" altLang="en-US" sz="24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974201" y="5032239"/>
            <a:ext cx="807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0.33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2393484" y="4473528"/>
            <a:ext cx="8207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1.26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1731147" y="4419481"/>
            <a:ext cx="7349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1.26</a:t>
            </a:r>
            <a:endParaRPr lang="zh-TW" altLang="en-US" sz="24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2989418" y="3704758"/>
            <a:ext cx="6241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+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1866418" y="3479618"/>
            <a:ext cx="6241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+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/>
              <p:cNvSpPr txBox="1"/>
              <p:nvPr/>
            </p:nvSpPr>
            <p:spPr>
              <a:xfrm>
                <a:off x="4031381" y="4497451"/>
                <a:ext cx="155268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=0.13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2" name="文字方塊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1381" y="4497451"/>
                <a:ext cx="1552687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/>
              <p:cNvSpPr txBox="1"/>
              <p:nvPr/>
            </p:nvSpPr>
            <p:spPr>
              <a:xfrm>
                <a:off x="4038809" y="5027080"/>
                <a:ext cx="14905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=2.59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4" name="文字方塊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809" y="5027080"/>
                <a:ext cx="1490501" cy="461665"/>
              </a:xfrm>
              <a:prstGeom prst="rect">
                <a:avLst/>
              </a:prstGeom>
              <a:blipFill>
                <a:blip r:embed="rId9"/>
                <a:stretch>
                  <a:fillRect l="-410" r="-820" b="-1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/>
              <p:cNvSpPr txBox="1"/>
              <p:nvPr/>
            </p:nvSpPr>
            <p:spPr>
              <a:xfrm>
                <a:off x="4045896" y="5521557"/>
                <a:ext cx="14905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=0.95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5" name="文字方塊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5896" y="5521557"/>
                <a:ext cx="1490501" cy="461665"/>
              </a:xfrm>
              <a:prstGeom prst="rect">
                <a:avLst/>
              </a:prstGeom>
              <a:blipFill>
                <a:blip r:embed="rId10"/>
                <a:stretch>
                  <a:fillRect r="-1230" b="-1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直線接點 35"/>
          <p:cNvCxnSpPr/>
          <p:nvPr/>
        </p:nvCxnSpPr>
        <p:spPr>
          <a:xfrm rot="5400000">
            <a:off x="2393484" y="2594008"/>
            <a:ext cx="0" cy="308419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橢圓 38"/>
          <p:cNvSpPr/>
          <p:nvPr/>
        </p:nvSpPr>
        <p:spPr>
          <a:xfrm>
            <a:off x="968205" y="4226122"/>
            <a:ext cx="628650" cy="37518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橢圓 39"/>
          <p:cNvSpPr/>
          <p:nvPr/>
        </p:nvSpPr>
        <p:spPr>
          <a:xfrm>
            <a:off x="3170198" y="3402290"/>
            <a:ext cx="628650" cy="37518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橢圓 40"/>
          <p:cNvSpPr/>
          <p:nvPr/>
        </p:nvSpPr>
        <p:spPr>
          <a:xfrm>
            <a:off x="968205" y="5020788"/>
            <a:ext cx="628650" cy="37518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/>
              <p:cNvSpPr txBox="1"/>
              <p:nvPr/>
            </p:nvSpPr>
            <p:spPr>
              <a:xfrm>
                <a:off x="-9275" y="3885598"/>
                <a:ext cx="94429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2" name="文字方塊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275" y="3885598"/>
                <a:ext cx="944294" cy="461665"/>
              </a:xfrm>
              <a:prstGeom prst="rect">
                <a:avLst/>
              </a:prstGeom>
              <a:blipFill>
                <a:blip r:embed="rId11"/>
                <a:stretch>
                  <a:fillRect l="-1290"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/>
              <p:cNvSpPr txBox="1"/>
              <p:nvPr/>
            </p:nvSpPr>
            <p:spPr>
              <a:xfrm>
                <a:off x="5835168" y="3848273"/>
                <a:ext cx="14905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=0.95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4" name="文字方塊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5168" y="3848273"/>
                <a:ext cx="1490501" cy="461665"/>
              </a:xfrm>
              <a:prstGeom prst="rect">
                <a:avLst/>
              </a:prstGeom>
              <a:blipFill>
                <a:blip r:embed="rId12"/>
                <a:stretch>
                  <a:fillRect r="-1224" b="-13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/>
              <p:cNvSpPr txBox="1"/>
              <p:nvPr/>
            </p:nvSpPr>
            <p:spPr>
              <a:xfrm>
                <a:off x="6260866" y="3267795"/>
                <a:ext cx="94429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sz="2400" dirty="0"/>
                  <a:t>: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45" name="文字方塊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866" y="3267795"/>
                <a:ext cx="944294" cy="461665"/>
              </a:xfrm>
              <a:prstGeom prst="rect">
                <a:avLst/>
              </a:prstGeom>
              <a:blipFill>
                <a:blip r:embed="rId13"/>
                <a:stretch>
                  <a:fillRect l="-5161" t="-10526" r="-18710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7" name="圖片 4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75033" y="3152865"/>
            <a:ext cx="1298156" cy="1290118"/>
          </a:xfrm>
          <a:prstGeom prst="rect">
            <a:avLst/>
          </a:prstGeom>
        </p:spPr>
      </p:pic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97F6B4B6-8A1C-4BFE-AE6E-4DE2AB8C6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7238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8" grpId="0"/>
      <p:bldP spid="9" grpId="0"/>
      <p:bldP spid="32" grpId="0"/>
      <p:bldP spid="34" grpId="0"/>
      <p:bldP spid="35" grpId="0"/>
      <p:bldP spid="39" grpId="0" animBg="1"/>
      <p:bldP spid="40" grpId="0" animBg="1"/>
      <p:bldP spid="41" grpId="0" animBg="1"/>
      <p:bldP spid="42" grpId="0"/>
      <p:bldP spid="44" grpId="0"/>
      <p:bldP spid="4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3102246" y="3574791"/>
            <a:ext cx="898789" cy="12002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矩形 45"/>
          <p:cNvSpPr/>
          <p:nvPr/>
        </p:nvSpPr>
        <p:spPr>
          <a:xfrm>
            <a:off x="4084169" y="4840328"/>
            <a:ext cx="1615522" cy="18177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矩形 44"/>
          <p:cNvSpPr/>
          <p:nvPr/>
        </p:nvSpPr>
        <p:spPr>
          <a:xfrm>
            <a:off x="5788100" y="4799197"/>
            <a:ext cx="380944" cy="18177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矩形 43"/>
          <p:cNvSpPr/>
          <p:nvPr/>
        </p:nvSpPr>
        <p:spPr>
          <a:xfrm>
            <a:off x="4068352" y="3555098"/>
            <a:ext cx="1626585" cy="12002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Toy Example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57678" y="1444059"/>
                <a:ext cx="7886700" cy="4351338"/>
              </a:xfrm>
            </p:spPr>
            <p:txBody>
              <a:bodyPr/>
              <a:lstStyle/>
              <a:p>
                <a:r>
                  <a:rPr lang="en-US" altLang="zh-TW" dirty="0"/>
                  <a:t>Final Classifier: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𝑠𝑖𝑔𝑛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TW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nary>
                      </m:e>
                    </m:d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678" y="1444059"/>
                <a:ext cx="7886700" cy="4351338"/>
              </a:xfrm>
              <a:blipFill>
                <a:blip r:embed="rId2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1326952" y="2441484"/>
                <a:ext cx="86582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0.42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952" y="2441484"/>
                <a:ext cx="865827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2780" y="2062975"/>
            <a:ext cx="1250206" cy="12502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3827862" y="2441483"/>
                <a:ext cx="78768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0.66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7862" y="2441483"/>
                <a:ext cx="787681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6300996" y="2441483"/>
                <a:ext cx="7688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0.95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0996" y="2441483"/>
                <a:ext cx="768832" cy="461665"/>
              </a:xfrm>
              <a:prstGeom prst="rect">
                <a:avLst/>
              </a:prstGeom>
              <a:blipFill>
                <a:blip r:embed="rId7"/>
                <a:stretch>
                  <a:fillRect l="-794" r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"/>
          <p:cNvSpPr txBox="1"/>
          <p:nvPr/>
        </p:nvSpPr>
        <p:spPr>
          <a:xfrm>
            <a:off x="3346910" y="2406512"/>
            <a:ext cx="7215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+</a:t>
            </a:r>
            <a:endParaRPr lang="zh-TW" altLang="en-US" sz="28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5788100" y="2414697"/>
            <a:ext cx="7215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+</a:t>
            </a:r>
            <a:endParaRPr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441895" y="2441483"/>
                <a:ext cx="94230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𝑠𝑖𝑔𝑛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(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95" y="2441483"/>
                <a:ext cx="942309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8436004" y="2414697"/>
                <a:ext cx="23083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6004" y="2414697"/>
                <a:ext cx="230832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5776697" y="3574790"/>
            <a:ext cx="380944" cy="11786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3102246" y="4835911"/>
            <a:ext cx="948409" cy="1781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4758616" y="3740659"/>
            <a:ext cx="62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+</a:t>
            </a:r>
            <a:endParaRPr lang="zh-TW" altLang="en-US" sz="2800" dirty="0">
              <a:solidFill>
                <a:srgbClr val="0000FF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5217749" y="4263879"/>
            <a:ext cx="62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+</a:t>
            </a:r>
            <a:endParaRPr lang="zh-TW" altLang="en-US" sz="2800" dirty="0">
              <a:solidFill>
                <a:srgbClr val="0000FF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4134501" y="4002269"/>
            <a:ext cx="62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+</a:t>
            </a:r>
            <a:endParaRPr lang="zh-TW" altLang="en-US" sz="2800" dirty="0">
              <a:solidFill>
                <a:srgbClr val="0000FF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3456985" y="4787099"/>
            <a:ext cx="62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+</a:t>
            </a:r>
            <a:endParaRPr lang="zh-TW" altLang="en-US" sz="2800" dirty="0">
              <a:solidFill>
                <a:srgbClr val="0000FF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3529555" y="5552236"/>
            <a:ext cx="62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+</a:t>
            </a:r>
            <a:endParaRPr lang="zh-TW" altLang="en-US" sz="2800" dirty="0">
              <a:solidFill>
                <a:srgbClr val="0000FF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4162860" y="4738287"/>
            <a:ext cx="62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-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4269388" y="5818341"/>
            <a:ext cx="62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-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814187" y="4787099"/>
            <a:ext cx="62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-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633339" y="3970254"/>
            <a:ext cx="62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-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5633338" y="5552236"/>
            <a:ext cx="62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-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102246" y="3556981"/>
            <a:ext cx="3060000" cy="30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7" name="直線接點 36"/>
          <p:cNvCxnSpPr/>
          <p:nvPr/>
        </p:nvCxnSpPr>
        <p:spPr>
          <a:xfrm>
            <a:off x="4050655" y="3532785"/>
            <a:ext cx="0" cy="308419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>
            <a:off x="5744558" y="3556981"/>
            <a:ext cx="0" cy="308419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 rot="5400000">
            <a:off x="4615543" y="3245001"/>
            <a:ext cx="0" cy="308419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圖片 9">
            <a:extLst>
              <a:ext uri="{FF2B5EF4-FFF2-40B4-BE49-F238E27FC236}">
                <a16:creationId xmlns:a16="http://schemas.microsoft.com/office/drawing/2014/main" id="{AF04B864-3BA6-4080-B464-AF644202BEE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06330" y="2018877"/>
            <a:ext cx="1281728" cy="1281728"/>
          </a:xfrm>
          <a:prstGeom prst="rect">
            <a:avLst/>
          </a:prstGeom>
        </p:spPr>
      </p:pic>
      <p:pic>
        <p:nvPicPr>
          <p:cNvPr id="35" name="圖片 46">
            <a:extLst>
              <a:ext uri="{FF2B5EF4-FFF2-40B4-BE49-F238E27FC236}">
                <a16:creationId xmlns:a16="http://schemas.microsoft.com/office/drawing/2014/main" id="{02651AC3-88FF-4CE8-842D-C550DA51914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15390" y="2018877"/>
            <a:ext cx="1298156" cy="1290118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B0BB5A-103C-46D3-9A23-31E76CB98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9846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6" grpId="0" animBg="1"/>
      <p:bldP spid="45" grpId="0" animBg="1"/>
      <p:bldP spid="44" grpId="0" animBg="1"/>
      <p:bldP spid="12" grpId="0"/>
      <p:bldP spid="13" grpId="0"/>
      <p:bldP spid="14" grpId="0" animBg="1"/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B0FB8-F499-BF84-5215-88FA53E1E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Boosting </a:t>
            </a:r>
            <a:r>
              <a:rPr lang="en-US" sz="3600" dirty="0"/>
              <a:t>(</a:t>
            </a:r>
            <a:r>
              <a:rPr lang="en-US" sz="3600" dirty="0">
                <a:solidFill>
                  <a:srgbClr val="00B050"/>
                </a:solidFill>
              </a:rPr>
              <a:t>Advantages</a:t>
            </a:r>
            <a:r>
              <a:rPr lang="en-US" sz="3600" dirty="0"/>
              <a:t> &amp; </a:t>
            </a:r>
            <a:r>
              <a:rPr lang="en-US" sz="3600" dirty="0">
                <a:solidFill>
                  <a:srgbClr val="FF0000"/>
                </a:solidFill>
              </a:rPr>
              <a:t>Disadvantages</a:t>
            </a:r>
            <a:r>
              <a:rPr lang="en-US" sz="360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21400-9322-11AC-EDBF-652D20200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rgbClr val="00B050"/>
                </a:solidFill>
              </a:rPr>
              <a:t>Reduces Bias 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rgbClr val="00B050"/>
                </a:solidFill>
              </a:rPr>
              <a:t>High accuracy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rgbClr val="00B050"/>
                </a:solidFill>
              </a:rPr>
              <a:t>Adaptive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rgbClr val="FF0000"/>
                </a:solidFill>
              </a:rPr>
              <a:t>Less Parallelizable 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rgbClr val="FF0000"/>
                </a:solidFill>
              </a:rPr>
              <a:t>Overfitting if boosting rounds are high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45C4F-2EB6-7E4E-5CB0-3C23A2967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58542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1F7BC-1EA4-7620-5418-399545A6C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Boosting VS Bagging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ED9442-3112-E948-6339-373447E16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20</a:t>
            </a:fld>
            <a:endParaRPr lang="zh-TW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53D6CD3-DCAA-9BC5-33E6-7D92470672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117745"/>
              </p:ext>
            </p:extLst>
          </p:nvPr>
        </p:nvGraphicFramePr>
        <p:xfrm>
          <a:off x="1114567" y="1980242"/>
          <a:ext cx="6500883" cy="3659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9075">
                  <a:extLst>
                    <a:ext uri="{9D8B030D-6E8A-4147-A177-3AD203B41FA5}">
                      <a16:colId xmlns:a16="http://schemas.microsoft.com/office/drawing/2014/main" val="1448995052"/>
                    </a:ext>
                  </a:extLst>
                </a:gridCol>
                <a:gridCol w="3152632">
                  <a:extLst>
                    <a:ext uri="{9D8B030D-6E8A-4147-A177-3AD203B41FA5}">
                      <a16:colId xmlns:a16="http://schemas.microsoft.com/office/drawing/2014/main" val="1105742881"/>
                    </a:ext>
                  </a:extLst>
                </a:gridCol>
                <a:gridCol w="2279176">
                  <a:extLst>
                    <a:ext uri="{9D8B030D-6E8A-4147-A177-3AD203B41FA5}">
                      <a16:colId xmlns:a16="http://schemas.microsoft.com/office/drawing/2014/main" val="1731267462"/>
                    </a:ext>
                  </a:extLst>
                </a:gridCol>
              </a:tblGrid>
              <a:tr h="697076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Bagging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pattFill prst="pct40">
                      <a:fgClr>
                        <a:schemeClr val="accent6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Boosting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pattFill prst="lgGrid">
                      <a:fgClr>
                        <a:schemeClr val="accent6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41464569"/>
                  </a:ext>
                </a:extLst>
              </a:tr>
              <a:tr h="12198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Use Case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Sentiment Analysis from Customer Reviews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pattFill prst="pct40">
                      <a:fgClr>
                        <a:schemeClr val="accent5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Face Recognition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pattFill prst="lgGrid">
                      <a:fgClr>
                        <a:schemeClr val="accent5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774605686"/>
                  </a:ext>
                </a:extLst>
              </a:tr>
              <a:tr h="871345"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Why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dirty="0"/>
                        <a:t>Subtle reviews don’t matter. </a:t>
                      </a:r>
                      <a:r>
                        <a:rPr lang="en-US" sz="1400" dirty="0"/>
                        <a:t>many models on random samples which smooths out randomness</a:t>
                      </a:r>
                      <a:endParaRPr lang="en-US" sz="140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pattFill prst="pct40">
                      <a:fgClr>
                        <a:schemeClr val="accent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Subtle features matter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/>
                        <a:t>Emphasis on minor differences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pattFill prst="lgGrid">
                      <a:fgClr>
                        <a:schemeClr val="accent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650591395"/>
                  </a:ext>
                </a:extLst>
              </a:tr>
              <a:tr h="87134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dirty="0"/>
                        <a:t>High variance due to diversity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pattFill prst="pct40">
                      <a:fgClr>
                        <a:schemeClr val="accent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dirty="0"/>
                        <a:t>High precision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pattFill prst="lgGrid">
                      <a:fgClr>
                        <a:schemeClr val="accent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647266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7358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DD8EC752FB8D499511AF68883F833D" ma:contentTypeVersion="2" ma:contentTypeDescription="Create a new document." ma:contentTypeScope="" ma:versionID="f84ddb135c1571503ffe9b852f88ff4b">
  <xsd:schema xmlns:xsd="http://www.w3.org/2001/XMLSchema" xmlns:xs="http://www.w3.org/2001/XMLSchema" xmlns:p="http://schemas.microsoft.com/office/2006/metadata/properties" xmlns:ns2="90b6e8b5-3977-450e-85ee-257dd1163315" targetNamespace="http://schemas.microsoft.com/office/2006/metadata/properties" ma:root="true" ma:fieldsID="84d524c653b18f20ea5b2ff976123b71" ns2:_="">
    <xsd:import namespace="90b6e8b5-3977-450e-85ee-257dd11633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b6e8b5-3977-450e-85ee-257dd11633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D766147-3C77-40E2-A003-93D26FF174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0b6e8b5-3977-450e-85ee-257dd116331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D55F94F-3F33-4E2D-9EAC-3B79D0CAA16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8DA9D70-E979-4776-A387-EBC5D74F357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6773</TotalTime>
  <Words>959</Words>
  <Application>Microsoft Macintosh PowerPoint</Application>
  <PresentationFormat>On-screen Show (4:3)</PresentationFormat>
  <Paragraphs>340</Paragraphs>
  <Slides>20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Apple Braille</vt:lpstr>
      <vt:lpstr>Arial</vt:lpstr>
      <vt:lpstr>Calibri</vt:lpstr>
      <vt:lpstr>Calibri Light</vt:lpstr>
      <vt:lpstr>Cambria Math</vt:lpstr>
      <vt:lpstr>Office 佈景主題</vt:lpstr>
      <vt:lpstr>COMP6246 Machine Learning Technologies</vt:lpstr>
      <vt:lpstr>Random Forest vs Boosting</vt:lpstr>
      <vt:lpstr>Adaboost (Adaptive Boosting)</vt:lpstr>
      <vt:lpstr>Adaboost</vt:lpstr>
      <vt:lpstr>Different classifiers</vt:lpstr>
      <vt:lpstr>Adaboost</vt:lpstr>
      <vt:lpstr>Re-weighting Training Data</vt:lpstr>
      <vt:lpstr>Re-weighting Training Data</vt:lpstr>
      <vt:lpstr>Re-weighting Training Data</vt:lpstr>
      <vt:lpstr>Re-weighting Training Data</vt:lpstr>
      <vt:lpstr>Re-weighting Training Data</vt:lpstr>
      <vt:lpstr>Re-weighting Training Data</vt:lpstr>
      <vt:lpstr>Algorithm for AdaBoost</vt:lpstr>
      <vt:lpstr>Algorithm for AdaBoost</vt:lpstr>
      <vt:lpstr>Toy Example</vt:lpstr>
      <vt:lpstr>Toy Example</vt:lpstr>
      <vt:lpstr>Toy Example</vt:lpstr>
      <vt:lpstr>Toy Example</vt:lpstr>
      <vt:lpstr>Boosting (Advantages &amp; Disadvantages)</vt:lpstr>
      <vt:lpstr>Boosting VS Bagging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Hung-yi Lee</dc:creator>
  <cp:lastModifiedBy>adeeba rafi</cp:lastModifiedBy>
  <cp:revision>326</cp:revision>
  <dcterms:created xsi:type="dcterms:W3CDTF">2016-12-25T05:53:12Z</dcterms:created>
  <dcterms:modified xsi:type="dcterms:W3CDTF">2026-10-06T10:40:30Z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0x01010016DD8EC752FB8D499511AF68883F833D</vt:lpwstr>
  </property>
</Properties>
</file>